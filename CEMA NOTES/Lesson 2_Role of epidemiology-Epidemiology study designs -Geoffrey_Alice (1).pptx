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10287000" cx="18288000"/>
  <p:notesSz cx="6858000" cy="9144000"/>
  <p:embeddedFontLst>
    <p:embeddedFont>
      <p:font typeface="Montserrat"/>
      <p:bold r:id="rId32"/>
      <p:boldItalic r:id="rId33"/>
    </p:embeddedFont>
    <p:embeddedFont>
      <p:font typeface="Poppins"/>
      <p:bold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6" roundtripDataSignature="AMtx7mhiWdLWq+7PQi/vvooqCYx6YBxcB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EC06A7-9534-49B4-A900-4250624DD7C2}">
  <a:tblStyle styleId="{EAEC06A7-9534-49B4-A900-4250624DD7C2}"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boldItalic.fntdata"/><Relationship Id="rId10" Type="http://schemas.openxmlformats.org/officeDocument/2006/relationships/slide" Target="slides/slide4.xml"/><Relationship Id="rId32" Type="http://schemas.openxmlformats.org/officeDocument/2006/relationships/font" Target="fonts/Montserrat-bold.fntdata"/><Relationship Id="rId13" Type="http://schemas.openxmlformats.org/officeDocument/2006/relationships/slide" Target="slides/slide7.xml"/><Relationship Id="rId35" Type="http://schemas.openxmlformats.org/officeDocument/2006/relationships/font" Target="fonts/Poppins-boldItalic.fntdata"/><Relationship Id="rId12" Type="http://schemas.openxmlformats.org/officeDocument/2006/relationships/slide" Target="slides/slide6.xml"/><Relationship Id="rId34" Type="http://schemas.openxmlformats.org/officeDocument/2006/relationships/font" Target="fonts/Poppins-bold.fntdata"/><Relationship Id="rId15" Type="http://schemas.openxmlformats.org/officeDocument/2006/relationships/slide" Target="slides/slide9.xml"/><Relationship Id="rId14" Type="http://schemas.openxmlformats.org/officeDocument/2006/relationships/slide" Target="slides/slide8.xml"/><Relationship Id="rId36" Type="http://customschemas.google.com/relationships/presentationmetadata" Target="meta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298450" lvl="0" marL="457200" rtl="0" algn="l">
              <a:lnSpc>
                <a:spcPct val="115000"/>
              </a:lnSpc>
              <a:spcBef>
                <a:spcPts val="1200"/>
              </a:spcBef>
              <a:spcAft>
                <a:spcPts val="0"/>
              </a:spcAft>
              <a:buClr>
                <a:schemeClr val="dk1"/>
              </a:buClr>
              <a:buSzPts val="1100"/>
              <a:buChar char="●"/>
            </a:pPr>
            <a:r>
              <a:rPr lang="en-GB" sz="1100"/>
              <a:t>One of the fundamental assumptions of epidemiology is that disease does not occur in isolation—understanding the context is key to effective prevention and control. </a:t>
            </a:r>
            <a:endParaRPr sz="1100"/>
          </a:p>
          <a:p>
            <a:pPr indent="-298450" lvl="0" marL="457200" rtl="0" algn="l">
              <a:lnSpc>
                <a:spcPct val="115000"/>
              </a:lnSpc>
              <a:spcBef>
                <a:spcPts val="0"/>
              </a:spcBef>
              <a:spcAft>
                <a:spcPts val="0"/>
              </a:spcAft>
              <a:buClr>
                <a:schemeClr val="dk1"/>
              </a:buClr>
              <a:buSzPts val="1100"/>
              <a:buChar char="●"/>
            </a:pPr>
            <a:r>
              <a:rPr lang="en-GB" sz="1100"/>
              <a:t>Disease is not randomly distributed; certain populations, locations, and time periods face higher risks. </a:t>
            </a:r>
            <a:endParaRPr sz="1100"/>
          </a:p>
          <a:p>
            <a:pPr indent="-298450" lvl="0" marL="457200" rtl="0" algn="l">
              <a:lnSpc>
                <a:spcPct val="115000"/>
              </a:lnSpc>
              <a:spcBef>
                <a:spcPts val="0"/>
              </a:spcBef>
              <a:spcAft>
                <a:spcPts val="0"/>
              </a:spcAft>
              <a:buClr>
                <a:schemeClr val="dk1"/>
              </a:buClr>
              <a:buSzPts val="1100"/>
              <a:buChar char="●"/>
            </a:pPr>
            <a:r>
              <a:rPr lang="en-GB" sz="1100"/>
              <a:t>These patterns often point to underlying causes or risk factors.</a:t>
            </a:r>
            <a:endParaRPr sz="1100"/>
          </a:p>
          <a:p>
            <a:pPr indent="-298450" lvl="0" marL="457200" rtl="0" algn="l">
              <a:lnSpc>
                <a:spcPct val="115000"/>
              </a:lnSpc>
              <a:spcBef>
                <a:spcPts val="0"/>
              </a:spcBef>
              <a:spcAft>
                <a:spcPts val="0"/>
              </a:spcAft>
              <a:buClr>
                <a:schemeClr val="dk1"/>
              </a:buClr>
              <a:buSzPts val="1100"/>
              <a:buChar char="●"/>
            </a:pPr>
            <a:r>
              <a:rPr lang="en-GB" sz="1100"/>
              <a:t>Epidemiology uses a systematic approach to compare disease occurrence across different subgroups. </a:t>
            </a:r>
            <a:endParaRPr sz="1100"/>
          </a:p>
          <a:p>
            <a:pPr indent="-298450" lvl="0" marL="457200" rtl="0" algn="l">
              <a:lnSpc>
                <a:spcPct val="115000"/>
              </a:lnSpc>
              <a:spcBef>
                <a:spcPts val="0"/>
              </a:spcBef>
              <a:spcAft>
                <a:spcPts val="0"/>
              </a:spcAft>
              <a:buClr>
                <a:schemeClr val="dk1"/>
              </a:buClr>
              <a:buSzPts val="1100"/>
              <a:buChar char="●"/>
            </a:pPr>
            <a:r>
              <a:rPr lang="en-GB" sz="1100"/>
              <a:t>This involves identifying the people most affected (e.g., by age, sex, occupation, socioeconomic status), mapping geographic hotspots or high-risk areas, and tracking time trends, seasonality, and epidemic curves.</a:t>
            </a:r>
            <a:endParaRPr sz="1100"/>
          </a:p>
          <a:p>
            <a:pPr indent="-298450" lvl="0" marL="457200" rtl="0" algn="l">
              <a:lnSpc>
                <a:spcPct val="115000"/>
              </a:lnSpc>
              <a:spcBef>
                <a:spcPts val="0"/>
              </a:spcBef>
              <a:spcAft>
                <a:spcPts val="0"/>
              </a:spcAft>
              <a:buClr>
                <a:schemeClr val="dk1"/>
              </a:buClr>
              <a:buSzPts val="1100"/>
              <a:buChar char="●"/>
            </a:pPr>
            <a:r>
              <a:rPr lang="en-GB" sz="1100"/>
              <a:t>The observed patterns form the basis for generating hypotheses about the determinants of disease. </a:t>
            </a:r>
            <a:endParaRPr sz="1100"/>
          </a:p>
          <a:p>
            <a:pPr indent="-298450" lvl="0" marL="457200" rtl="0" algn="l">
              <a:lnSpc>
                <a:spcPct val="115000"/>
              </a:lnSpc>
              <a:spcBef>
                <a:spcPts val="0"/>
              </a:spcBef>
              <a:spcAft>
                <a:spcPts val="0"/>
              </a:spcAft>
              <a:buClr>
                <a:schemeClr val="dk1"/>
              </a:buClr>
              <a:buSzPts val="1100"/>
              <a:buChar char="●"/>
            </a:pPr>
            <a:r>
              <a:rPr lang="en-GB" sz="1100"/>
              <a:t>These hypotheses are then tested through well-designed epidemiological studies. </a:t>
            </a:r>
            <a:endParaRPr sz="1100"/>
          </a:p>
          <a:p>
            <a:pPr indent="-298450" lvl="0" marL="457200" rtl="0" algn="l">
              <a:lnSpc>
                <a:spcPct val="115000"/>
              </a:lnSpc>
              <a:spcBef>
                <a:spcPts val="0"/>
              </a:spcBef>
              <a:spcAft>
                <a:spcPts val="0"/>
              </a:spcAft>
              <a:buClr>
                <a:schemeClr val="dk1"/>
              </a:buClr>
              <a:buSzPts val="1100"/>
              <a:buChar char="●"/>
            </a:pPr>
            <a:r>
              <a:rPr lang="en-GB" sz="1100"/>
              <a:t>The ultimate goal is to move from understanding patterns to developing and implementing interventions that prevent disease.</a:t>
            </a:r>
            <a:endParaRPr sz="1100"/>
          </a:p>
          <a:p>
            <a:pPr indent="0" lvl="0" marL="457200" rtl="0" algn="l">
              <a:lnSpc>
                <a:spcPct val="115000"/>
              </a:lnSpc>
              <a:spcBef>
                <a:spcPts val="1200"/>
              </a:spcBef>
              <a:spcAft>
                <a:spcPts val="0"/>
              </a:spcAft>
              <a:buNone/>
            </a:pPr>
            <a:r>
              <a:t/>
            </a:r>
            <a:endParaRPr b="1" sz="1100"/>
          </a:p>
          <a:p>
            <a:pPr indent="0" lvl="0" marL="0" rtl="0" algn="l">
              <a:spcBef>
                <a:spcPts val="0"/>
              </a:spcBef>
              <a:spcAft>
                <a:spcPts val="0"/>
              </a:spcAft>
              <a:buNone/>
            </a:pPr>
            <a:r>
              <a:t/>
            </a:r>
            <a:endParaRPr sz="1100"/>
          </a:p>
        </p:txBody>
      </p:sp>
      <p:sp>
        <p:nvSpPr>
          <p:cNvPr id="351" name="Google Shape;35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1200"/>
              </a:spcBef>
              <a:spcAft>
                <a:spcPts val="0"/>
              </a:spcAft>
              <a:buSzPts val="1400"/>
              <a:buChar char="●"/>
            </a:pPr>
            <a:r>
              <a:rPr lang="en-GB"/>
              <a:t>D</a:t>
            </a:r>
            <a:r>
              <a:rPr lang="en-GB"/>
              <a:t>irectly influences the validity of findings, the potential for bias, and the ability to draw causal inferences.</a:t>
            </a:r>
            <a:endParaRPr/>
          </a:p>
          <a:p>
            <a:pPr indent="-317500" lvl="0" marL="457200" rtl="0" algn="l">
              <a:lnSpc>
                <a:spcPct val="115000"/>
              </a:lnSpc>
              <a:spcBef>
                <a:spcPts val="0"/>
              </a:spcBef>
              <a:spcAft>
                <a:spcPts val="0"/>
              </a:spcAft>
              <a:buSzPts val="1400"/>
              <a:buChar char="●"/>
            </a:pPr>
            <a:r>
              <a:rPr lang="en-GB"/>
              <a:t>The goals of many research studies are to evaluate the association between an exposure (eg, bednet use) and an outcome (eg, malaria incidence) and to identify the factors that may modify the exposure’s effect on the outcome.</a:t>
            </a:r>
            <a:endParaRPr/>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t/>
            </a:r>
            <a:endParaRPr sz="1100"/>
          </a:p>
          <a:p>
            <a:pPr indent="0" lvl="0" marL="0" rtl="0" algn="l">
              <a:lnSpc>
                <a:spcPct val="115000"/>
              </a:lnSpc>
              <a:spcBef>
                <a:spcPts val="1200"/>
              </a:spcBef>
              <a:spcAft>
                <a:spcPts val="0"/>
              </a:spcAft>
              <a:buClr>
                <a:schemeClr val="dk1"/>
              </a:buClr>
              <a:buSzPts val="1100"/>
              <a:buFont typeface="Arial"/>
              <a:buNone/>
            </a:pPr>
            <a:r>
              <a:rPr lang="en-GB" sz="1100"/>
              <a:t>Would you like me to also make a </a:t>
            </a:r>
            <a:r>
              <a:rPr b="1" lang="en-GB" sz="1100"/>
              <a:t>short, bullet-style version</a:t>
            </a:r>
            <a:r>
              <a:rPr lang="en-GB" sz="1100"/>
              <a:t> that fits neatly on a presentation slide?</a:t>
            </a:r>
            <a:endParaRPr sz="1100"/>
          </a:p>
          <a:p>
            <a:pPr indent="0" lvl="0" marL="0" rtl="0" algn="l">
              <a:spcBef>
                <a:spcPts val="1200"/>
              </a:spcBef>
              <a:spcAft>
                <a:spcPts val="0"/>
              </a:spcAft>
              <a:buNone/>
            </a:pPr>
            <a:r>
              <a:t/>
            </a:r>
            <a:endParaRPr/>
          </a:p>
        </p:txBody>
      </p:sp>
      <p:sp>
        <p:nvSpPr>
          <p:cNvPr id="380" name="Google Shape;38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Clr>
                <a:schemeClr val="dk1"/>
              </a:buClr>
              <a:buSzPts val="1400"/>
              <a:buChar char="●"/>
            </a:pPr>
            <a:r>
              <a:rPr lang="en-GB"/>
              <a:t>In experimental studies, the investigator assesses the efficacy of a product or intervention for the treatment or prevention of diseases or health problems.</a:t>
            </a:r>
            <a:endParaRPr/>
          </a:p>
          <a:p>
            <a:pPr indent="-317500" lvl="0" marL="457200" rtl="0" algn="l">
              <a:lnSpc>
                <a:spcPct val="115000"/>
              </a:lnSpc>
              <a:spcBef>
                <a:spcPts val="0"/>
              </a:spcBef>
              <a:spcAft>
                <a:spcPts val="0"/>
              </a:spcAft>
              <a:buClr>
                <a:schemeClr val="dk1"/>
              </a:buClr>
              <a:buSzPts val="1400"/>
              <a:buChar char="●"/>
            </a:pPr>
            <a:r>
              <a:rPr lang="en-GB"/>
              <a:t>These studies are designed to establish causality by controlling the allocation of the intervention.</a:t>
            </a:r>
            <a:endParaRPr/>
          </a:p>
          <a:p>
            <a:pPr indent="-304800" lvl="0" marL="457200" rtl="0" algn="l">
              <a:lnSpc>
                <a:spcPct val="115000"/>
              </a:lnSpc>
              <a:spcBef>
                <a:spcPts val="0"/>
              </a:spcBef>
              <a:spcAft>
                <a:spcPts val="0"/>
              </a:spcAft>
              <a:buClr>
                <a:schemeClr val="dk1"/>
              </a:buClr>
              <a:buSzPts val="1200"/>
              <a:buChar char="●"/>
            </a:pPr>
            <a:r>
              <a:rPr lang="en-GB"/>
              <a:t>Clinical Trials are considered the gold standard for evaluating interventions because they use rigorous methods to minimise bias. </a:t>
            </a:r>
            <a:endParaRPr/>
          </a:p>
          <a:p>
            <a:pPr indent="-304800" lvl="0" marL="457200" rtl="0" algn="l">
              <a:spcBef>
                <a:spcPts val="0"/>
              </a:spcBef>
              <a:spcAft>
                <a:spcPts val="0"/>
              </a:spcAft>
              <a:buClr>
                <a:schemeClr val="dk1"/>
              </a:buClr>
              <a:buSzPts val="1200"/>
              <a:buChar char="●"/>
            </a:pPr>
            <a:r>
              <a:rPr lang="en-GB"/>
              <a:t>The most common type, Randomised Controlled Trials, involves randomly assigning participants to a treatment or a control groups</a:t>
            </a:r>
            <a:endParaRPr/>
          </a:p>
          <a:p>
            <a:pPr indent="-317500" lvl="0" marL="457200" rtl="0" algn="l">
              <a:spcBef>
                <a:spcPts val="0"/>
              </a:spcBef>
              <a:spcAft>
                <a:spcPts val="0"/>
              </a:spcAft>
              <a:buClr>
                <a:schemeClr val="dk1"/>
              </a:buClr>
              <a:buSzPts val="1400"/>
              <a:buChar char="●"/>
            </a:pPr>
            <a:r>
              <a:rPr lang="en-GB"/>
              <a:t>RCTs determines whether experimental treatments are effective and safe under a “controlled environment”</a:t>
            </a:r>
            <a:endParaRPr/>
          </a:p>
          <a:p>
            <a:pPr indent="-317500" lvl="0" marL="457200" rtl="0" algn="l">
              <a:spcBef>
                <a:spcPts val="0"/>
              </a:spcBef>
              <a:spcAft>
                <a:spcPts val="0"/>
              </a:spcAft>
              <a:buClr>
                <a:schemeClr val="dk1"/>
              </a:buClr>
              <a:buSzPts val="1400"/>
              <a:buChar char="●"/>
            </a:pPr>
            <a:r>
              <a:rPr lang="en-GB"/>
              <a:t>Beyond traditional RCT, there are several other experimental study designs e.g. cluster randomised trial, adaptive trial design etc</a:t>
            </a:r>
            <a:endParaRPr/>
          </a:p>
          <a:p>
            <a:pPr indent="0" lvl="0" marL="0" rtl="0" algn="l">
              <a:spcBef>
                <a:spcPts val="0"/>
              </a:spcBef>
              <a:spcAft>
                <a:spcPts val="0"/>
              </a:spcAft>
              <a:buNone/>
            </a:pPr>
            <a:r>
              <a:t/>
            </a:r>
            <a:endParaRPr/>
          </a:p>
        </p:txBody>
      </p:sp>
      <p:sp>
        <p:nvSpPr>
          <p:cNvPr id="438" name="Google Shape;43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17500" lvl="0" marL="457200" rtl="0" algn="l">
              <a:spcBef>
                <a:spcPts val="0"/>
              </a:spcBef>
              <a:spcAft>
                <a:spcPts val="0"/>
              </a:spcAft>
              <a:buSzPts val="1400"/>
              <a:buChar char="●"/>
            </a:pPr>
            <a:r>
              <a:rPr lang="en-GB"/>
              <a:t>In experimental design, the study begins with a baseline period to compare key outcomes and confounder between groups after randomisation.</a:t>
            </a:r>
            <a:r>
              <a:rPr lang="en-GB"/>
              <a:t>, </a:t>
            </a:r>
            <a:endParaRPr/>
          </a:p>
          <a:p>
            <a:pPr indent="-317500" lvl="0" marL="457200" rtl="0" algn="l">
              <a:spcBef>
                <a:spcPts val="0"/>
              </a:spcBef>
              <a:spcAft>
                <a:spcPts val="0"/>
              </a:spcAft>
              <a:buSzPts val="1400"/>
              <a:buChar char="●"/>
            </a:pPr>
            <a:r>
              <a:rPr lang="en-GB"/>
              <a:t>Participants are then randomisation into intervention and control groups. </a:t>
            </a:r>
            <a:endParaRPr/>
          </a:p>
          <a:p>
            <a:pPr indent="-317500" lvl="0" marL="457200" rtl="0" algn="l">
              <a:spcBef>
                <a:spcPts val="0"/>
              </a:spcBef>
              <a:spcAft>
                <a:spcPts val="0"/>
              </a:spcAft>
              <a:buSzPts val="1400"/>
              <a:buChar char="●"/>
            </a:pPr>
            <a:r>
              <a:rPr lang="en-GB"/>
              <a:t>Followed by a follow-up period to measures the outcome of interest to assess the intervention’s effect.</a:t>
            </a:r>
            <a:endParaRPr/>
          </a:p>
        </p:txBody>
      </p:sp>
      <p:sp>
        <p:nvSpPr>
          <p:cNvPr id="467" name="Google Shape;46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400"/>
              </a:spcBef>
              <a:spcAft>
                <a:spcPts val="0"/>
              </a:spcAft>
              <a:buSzPts val="1400"/>
              <a:buChar char="●"/>
            </a:pPr>
            <a:r>
              <a:rPr lang="en-GB"/>
              <a:t>Observational</a:t>
            </a:r>
            <a:r>
              <a:rPr lang="en-GB"/>
              <a:t> studies may be descriptive in nature (</a:t>
            </a:r>
            <a:r>
              <a:rPr lang="en-GB"/>
              <a:t>describing the frequency or characteristics of event</a:t>
            </a:r>
            <a:r>
              <a:rPr lang="en-GB"/>
              <a:t>s) or analytic (testing relationships between exposure and outcomes).  </a:t>
            </a:r>
            <a:endParaRPr/>
          </a:p>
          <a:p>
            <a:pPr indent="0" lvl="0" marL="0" rtl="0" algn="l">
              <a:lnSpc>
                <a:spcPct val="90000"/>
              </a:lnSpc>
              <a:spcBef>
                <a:spcPts val="0"/>
              </a:spcBef>
              <a:spcAft>
                <a:spcPts val="0"/>
              </a:spcAft>
              <a:buNone/>
            </a:pPr>
            <a:r>
              <a:t/>
            </a:r>
            <a:endParaRPr/>
          </a:p>
          <a:p>
            <a:pPr indent="0" lvl="0" marL="0" rtl="0" algn="l">
              <a:lnSpc>
                <a:spcPct val="115000"/>
              </a:lnSpc>
              <a:spcBef>
                <a:spcPts val="400"/>
              </a:spcBef>
              <a:spcAft>
                <a:spcPts val="0"/>
              </a:spcAft>
              <a:buNone/>
            </a:pPr>
            <a:r>
              <a:t/>
            </a:r>
            <a:endParaRPr/>
          </a:p>
        </p:txBody>
      </p:sp>
      <p:sp>
        <p:nvSpPr>
          <p:cNvPr id="495" name="Google Shape;49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317500" lvl="0" marL="457200" rtl="0" algn="l">
              <a:lnSpc>
                <a:spcPct val="115000"/>
              </a:lnSpc>
              <a:spcBef>
                <a:spcPts val="400"/>
              </a:spcBef>
              <a:spcAft>
                <a:spcPts val="0"/>
              </a:spcAft>
              <a:buSzPts val="1400"/>
              <a:buChar char="●"/>
            </a:pPr>
            <a:r>
              <a:rPr lang="en-GB"/>
              <a:t>Cross-sectional studies assesses both the outcome and exposure at a single point in time or over a very short period.</a:t>
            </a:r>
            <a:endParaRPr/>
          </a:p>
          <a:p>
            <a:pPr indent="-317500" lvl="0" marL="457200" rtl="0" algn="l">
              <a:lnSpc>
                <a:spcPct val="115000"/>
              </a:lnSpc>
              <a:spcBef>
                <a:spcPts val="0"/>
              </a:spcBef>
              <a:spcAft>
                <a:spcPts val="0"/>
              </a:spcAft>
              <a:buSzPts val="1400"/>
              <a:buChar char="●"/>
            </a:pPr>
            <a:r>
              <a:rPr lang="en-GB"/>
              <a:t>They provide a “snapshot” of the </a:t>
            </a:r>
            <a:r>
              <a:rPr lang="en-GB"/>
              <a:t>population</a:t>
            </a:r>
            <a:r>
              <a:rPr lang="en-GB"/>
              <a:t>, allowing estimation of the prevalence of disease and explore associations between exposures and outcomes.</a:t>
            </a:r>
            <a:endParaRPr/>
          </a:p>
          <a:p>
            <a:pPr indent="0" lvl="0" marL="457200" rtl="0" algn="l">
              <a:lnSpc>
                <a:spcPct val="115000"/>
              </a:lnSpc>
              <a:spcBef>
                <a:spcPts val="0"/>
              </a:spcBef>
              <a:spcAft>
                <a:spcPts val="0"/>
              </a:spcAft>
              <a:buNone/>
            </a:pPr>
            <a:r>
              <a:t/>
            </a:r>
            <a:endParaRPr/>
          </a:p>
          <a:p>
            <a:pPr indent="0" lvl="0" marL="0" rtl="0" algn="l">
              <a:spcBef>
                <a:spcPts val="0"/>
              </a:spcBef>
              <a:spcAft>
                <a:spcPts val="0"/>
              </a:spcAft>
              <a:buNone/>
            </a:pPr>
            <a:r>
              <a:t/>
            </a:r>
            <a:endParaRPr/>
          </a:p>
        </p:txBody>
      </p:sp>
      <p:sp>
        <p:nvSpPr>
          <p:cNvPr id="524" name="Google Shape;52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4" name="Google Shape;554;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23850" lvl="0" marL="457200" rtl="0" algn="l">
              <a:lnSpc>
                <a:spcPct val="115000"/>
              </a:lnSpc>
              <a:spcBef>
                <a:spcPts val="0"/>
              </a:spcBef>
              <a:spcAft>
                <a:spcPts val="0"/>
              </a:spcAft>
              <a:buClr>
                <a:schemeClr val="dk1"/>
              </a:buClr>
              <a:buSzPts val="1500"/>
              <a:buChar char="●"/>
            </a:pPr>
            <a:r>
              <a:rPr b="1" lang="en-GB"/>
              <a:t>Case-control studies</a:t>
            </a:r>
            <a:r>
              <a:rPr lang="en-GB"/>
              <a:t> begin by identifying individuals with the outcome of interest (malaria cases) and a comparable group without the outcome (controls). </a:t>
            </a:r>
            <a:endParaRPr/>
          </a:p>
          <a:p>
            <a:pPr indent="-323850" lvl="0" marL="457200" rtl="0" algn="l">
              <a:lnSpc>
                <a:spcPct val="115000"/>
              </a:lnSpc>
              <a:spcBef>
                <a:spcPts val="0"/>
              </a:spcBef>
              <a:spcAft>
                <a:spcPts val="0"/>
              </a:spcAft>
              <a:buClr>
                <a:schemeClr val="dk1"/>
              </a:buClr>
              <a:buSzPts val="1500"/>
              <a:buChar char="●"/>
            </a:pPr>
            <a:r>
              <a:rPr lang="en-GB"/>
              <a:t>Researchers then look back in time to assess prior exposures or risk factors.</a:t>
            </a:r>
            <a:r>
              <a:rPr lang="en-GB"/>
              <a:t>They can identify associations but not causality. </a:t>
            </a:r>
            <a:endParaRPr/>
          </a:p>
        </p:txBody>
      </p:sp>
      <p:sp>
        <p:nvSpPr>
          <p:cNvPr id="555" name="Google Shape;555;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317500" lvl="0" marL="457200" rtl="0" algn="l">
              <a:lnSpc>
                <a:spcPct val="115000"/>
              </a:lnSpc>
              <a:spcBef>
                <a:spcPts val="0"/>
              </a:spcBef>
              <a:spcAft>
                <a:spcPts val="0"/>
              </a:spcAft>
              <a:buClr>
                <a:schemeClr val="dk1"/>
              </a:buClr>
              <a:buSzPts val="1400"/>
              <a:buChar char="●"/>
            </a:pPr>
            <a:r>
              <a:rPr lang="en-GB"/>
              <a:t>Cohort </a:t>
            </a:r>
            <a:r>
              <a:rPr lang="en-GB"/>
              <a:t>study</a:t>
            </a:r>
            <a:r>
              <a:rPr lang="en-GB"/>
              <a:t> begin by </a:t>
            </a:r>
            <a:r>
              <a:rPr lang="en-GB"/>
              <a:t>classifying participants into exposed and unexposed groups, then follows them over time to observe the occurrence of the outcome of interest. </a:t>
            </a:r>
            <a:endParaRPr/>
          </a:p>
          <a:p>
            <a:pPr indent="-323850" lvl="0" marL="457200" rtl="0" algn="l">
              <a:lnSpc>
                <a:spcPct val="115000"/>
              </a:lnSpc>
              <a:spcBef>
                <a:spcPts val="0"/>
              </a:spcBef>
              <a:spcAft>
                <a:spcPts val="0"/>
              </a:spcAft>
              <a:buClr>
                <a:schemeClr val="dk1"/>
              </a:buClr>
              <a:buSzPts val="1500"/>
              <a:buChar char="●"/>
            </a:pPr>
            <a:r>
              <a:rPr lang="en-GB"/>
              <a:t>They can be </a:t>
            </a:r>
            <a:r>
              <a:rPr b="1" lang="en-GB"/>
              <a:t>prospective</a:t>
            </a:r>
            <a:r>
              <a:rPr lang="en-GB"/>
              <a:t> (tracking participants forward in time from exposure to outcome) or </a:t>
            </a:r>
            <a:r>
              <a:rPr b="1" lang="en-GB"/>
              <a:t>retrospective</a:t>
            </a:r>
            <a:r>
              <a:rPr lang="en-GB"/>
              <a:t> (using existing records to reconstruct exposure and follow-up).</a:t>
            </a:r>
            <a:endParaRPr/>
          </a:p>
        </p:txBody>
      </p:sp>
      <p:sp>
        <p:nvSpPr>
          <p:cNvPr id="585" name="Google Shape;58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37483fee6fc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g37483fee6fc_0_2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g37483fee6fc_0_2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7483fee6fc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3" name="Google Shape;673;g37483fee6fc_0_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4" name="Google Shape;674;g37483fee6fc_0_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2" name="Google Shape;70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2" name="Google Shape;732;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3" name="Google Shape;733;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3" name="Google Shape;76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3" name="Google Shape;793;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6"/>
          <p:cNvSpPr/>
          <p:nvPr>
            <p:ph idx="2" type="pic"/>
          </p:nvPr>
        </p:nvSpPr>
        <p:spPr>
          <a:xfrm>
            <a:off x="1792288" y="612775"/>
            <a:ext cx="5486400" cy="4114800"/>
          </a:xfrm>
          <a:prstGeom prst="rect">
            <a:avLst/>
          </a:prstGeom>
          <a:noFill/>
          <a:ln>
            <a:noFill/>
          </a:ln>
        </p:spPr>
      </p:sp>
      <p:sp>
        <p:nvSpPr>
          <p:cNvPr id="68" name="Google Shape;68;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7.png"/><Relationship Id="rId10" Type="http://schemas.openxmlformats.org/officeDocument/2006/relationships/image" Target="../media/image12.png"/><Relationship Id="rId9"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7.png"/><Relationship Id="rId10" Type="http://schemas.openxmlformats.org/officeDocument/2006/relationships/image" Target="../media/image12.png"/><Relationship Id="rId9"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6.png"/><Relationship Id="rId11" Type="http://schemas.openxmlformats.org/officeDocument/2006/relationships/image" Target="../media/image17.png"/><Relationship Id="rId10" Type="http://schemas.openxmlformats.org/officeDocument/2006/relationships/image" Target="../media/image15.png"/><Relationship Id="rId12" Type="http://schemas.openxmlformats.org/officeDocument/2006/relationships/image" Target="../media/image24.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 Id="rId10" Type="http://schemas.openxmlformats.org/officeDocument/2006/relationships/image" Target="../media/image18.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7.png"/><Relationship Id="rId10" Type="http://schemas.openxmlformats.org/officeDocument/2006/relationships/image" Target="../media/image12.png"/><Relationship Id="rId9"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6.png"/><Relationship Id="rId11" Type="http://schemas.openxmlformats.org/officeDocument/2006/relationships/hyperlink" Target="https://www.harvard.com/book/9781451193282" TargetMode="External"/><Relationship Id="rId10" Type="http://schemas.openxmlformats.org/officeDocument/2006/relationships/hyperlink" Target="https://www.taylorfrancis.com/books/mono/10.1201/b16343/epidemiology-mark-woodward-mark-woodward" TargetMode="External"/><Relationship Id="rId12" Type="http://schemas.openxmlformats.org/officeDocument/2006/relationships/hyperlink" Target="https://www.abebooks.com/9781584880097/Epidemiology-Study-Design-Data-Analysis-1584880090/plp" TargetMode="External"/><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6.png"/><Relationship Id="rId10" Type="http://schemas.openxmlformats.org/officeDocument/2006/relationships/image" Target="../media/image20.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 Id="rId10" Type="http://schemas.openxmlformats.org/officeDocument/2006/relationships/image" Target="../media/image21.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6.png"/><Relationship Id="rId10" Type="http://schemas.openxmlformats.org/officeDocument/2006/relationships/image" Target="../media/image23.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6.png"/><Relationship Id="rId10" Type="http://schemas.openxmlformats.org/officeDocument/2006/relationships/image" Target="../media/image25.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2.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89" name="Google Shape;89;p1"/>
          <p:cNvGrpSpPr/>
          <p:nvPr/>
        </p:nvGrpSpPr>
        <p:grpSpPr>
          <a:xfrm>
            <a:off x="5243485" y="271789"/>
            <a:ext cx="7801030" cy="1683812"/>
            <a:chOff x="0" y="0"/>
            <a:chExt cx="10401373" cy="2245083"/>
          </a:xfrm>
        </p:grpSpPr>
        <p:sp>
          <p:nvSpPr>
            <p:cNvPr id="90" name="Google Shape;90;p1"/>
            <p:cNvSpPr/>
            <p:nvPr/>
          </p:nvSpPr>
          <p:spPr>
            <a:xfrm>
              <a:off x="0" y="379389"/>
              <a:ext cx="3895248" cy="1204473"/>
            </a:xfrm>
            <a:custGeom>
              <a:rect b="b" l="l" r="r" t="t"/>
              <a:pathLst>
                <a:path extrusionOk="0" h="1204473" w="3895248">
                  <a:moveTo>
                    <a:pt x="0" y="0"/>
                  </a:moveTo>
                  <a:lnTo>
                    <a:pt x="3895248" y="0"/>
                  </a:lnTo>
                  <a:lnTo>
                    <a:pt x="3895248" y="1204474"/>
                  </a:lnTo>
                  <a:lnTo>
                    <a:pt x="0" y="1204474"/>
                  </a:lnTo>
                  <a:lnTo>
                    <a:pt x="0" y="0"/>
                  </a:lnTo>
                  <a:close/>
                </a:path>
              </a:pathLst>
            </a:custGeom>
            <a:blipFill rotWithShape="1">
              <a:blip r:embed="rId4">
                <a:alphaModFix/>
              </a:blip>
              <a:stretch>
                <a:fillRect b="-56412" l="0" r="-1363" t="-7536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1"/>
            <p:cNvSpPr/>
            <p:nvPr/>
          </p:nvSpPr>
          <p:spPr>
            <a:xfrm>
              <a:off x="4253623" y="0"/>
              <a:ext cx="2245083" cy="2245083"/>
            </a:xfrm>
            <a:custGeom>
              <a:rect b="b" l="l" r="r" t="t"/>
              <a:pathLst>
                <a:path extrusionOk="0" h="2245083" w="2245083">
                  <a:moveTo>
                    <a:pt x="0" y="0"/>
                  </a:moveTo>
                  <a:lnTo>
                    <a:pt x="2245083" y="0"/>
                  </a:lnTo>
                  <a:lnTo>
                    <a:pt x="2245083" y="2245083"/>
                  </a:lnTo>
                  <a:lnTo>
                    <a:pt x="0" y="224508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 name="Google Shape;92;p1"/>
            <p:cNvSpPr/>
            <p:nvPr/>
          </p:nvSpPr>
          <p:spPr>
            <a:xfrm>
              <a:off x="6863968" y="8925"/>
              <a:ext cx="3537405" cy="1574938"/>
            </a:xfrm>
            <a:custGeom>
              <a:rect b="b" l="l" r="r" t="t"/>
              <a:pathLst>
                <a:path extrusionOk="0" h="1574938" w="3537405">
                  <a:moveTo>
                    <a:pt x="0" y="0"/>
                  </a:moveTo>
                  <a:lnTo>
                    <a:pt x="3537405" y="0"/>
                  </a:lnTo>
                  <a:lnTo>
                    <a:pt x="3537405" y="1574938"/>
                  </a:lnTo>
                  <a:lnTo>
                    <a:pt x="0" y="1574938"/>
                  </a:lnTo>
                  <a:lnTo>
                    <a:pt x="0" y="0"/>
                  </a:lnTo>
                  <a:close/>
                </a:path>
              </a:pathLst>
            </a:custGeom>
            <a:blipFill rotWithShape="1">
              <a:blip r:embed="rId6">
                <a:alphaModFix/>
              </a:blip>
              <a:stretch>
                <a:fillRect b="-3378" l="0" r="0" t="-1445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3" name="Google Shape;93;p1"/>
          <p:cNvSpPr/>
          <p:nvPr/>
        </p:nvSpPr>
        <p:spPr>
          <a:xfrm rot="-5400000">
            <a:off x="14878023" y="9525"/>
            <a:ext cx="3400452" cy="3400452"/>
          </a:xfrm>
          <a:custGeom>
            <a:rect b="b" l="l" r="r" t="t"/>
            <a:pathLst>
              <a:path extrusionOk="0" h="3400452" w="3400452">
                <a:moveTo>
                  <a:pt x="0" y="0"/>
                </a:moveTo>
                <a:lnTo>
                  <a:pt x="3400452" y="0"/>
                </a:lnTo>
                <a:lnTo>
                  <a:pt x="3400452" y="3400452"/>
                </a:lnTo>
                <a:lnTo>
                  <a:pt x="0" y="340045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 name="Google Shape;94;p1"/>
          <p:cNvSpPr txBox="1"/>
          <p:nvPr/>
        </p:nvSpPr>
        <p:spPr>
          <a:xfrm>
            <a:off x="2686851" y="6723212"/>
            <a:ext cx="6457149" cy="662425"/>
          </a:xfrm>
          <a:prstGeom prst="rect">
            <a:avLst/>
          </a:prstGeom>
          <a:noFill/>
          <a:ln>
            <a:noFill/>
          </a:ln>
        </p:spPr>
        <p:txBody>
          <a:bodyPr anchorCtr="0" anchor="t" bIns="0" lIns="0" spcFirstLastPara="1" rIns="0" wrap="square" tIns="0">
            <a:spAutoFit/>
          </a:bodyPr>
          <a:lstStyle/>
          <a:p>
            <a:pPr indent="0" lvl="0" marL="0" marR="0" rtl="0" algn="ctr">
              <a:lnSpc>
                <a:spcPct val="78656"/>
              </a:lnSpc>
              <a:spcBef>
                <a:spcPts val="0"/>
              </a:spcBef>
              <a:spcAft>
                <a:spcPts val="0"/>
              </a:spcAft>
              <a:buNone/>
            </a:pPr>
            <a:r>
              <a:rPr b="1" i="1" lang="en-GB" sz="3200">
                <a:solidFill>
                  <a:srgbClr val="000000"/>
                </a:solidFill>
                <a:latin typeface="Montserrat"/>
                <a:ea typeface="Montserrat"/>
                <a:cs typeface="Montserrat"/>
                <a:sym typeface="Montserrat"/>
              </a:rPr>
              <a:t>Githinji Geoffrey,</a:t>
            </a:r>
            <a:endParaRPr/>
          </a:p>
          <a:p>
            <a:pPr indent="0" lvl="0" marL="0" marR="0" rtl="0" algn="ctr">
              <a:lnSpc>
                <a:spcPct val="78656"/>
              </a:lnSpc>
              <a:spcBef>
                <a:spcPts val="0"/>
              </a:spcBef>
              <a:spcAft>
                <a:spcPts val="0"/>
              </a:spcAft>
              <a:buNone/>
            </a:pPr>
            <a:r>
              <a:rPr b="1" i="1" lang="en-GB" sz="3200">
                <a:solidFill>
                  <a:srgbClr val="000000"/>
                </a:solidFill>
                <a:latin typeface="Montserrat"/>
                <a:ea typeface="Montserrat"/>
                <a:cs typeface="Montserrat"/>
                <a:sym typeface="Montserrat"/>
              </a:rPr>
              <a:t>Infectious Disease Modeller</a:t>
            </a:r>
            <a:endParaRPr/>
          </a:p>
        </p:txBody>
      </p:sp>
      <p:sp>
        <p:nvSpPr>
          <p:cNvPr id="95" name="Google Shape;95;p1"/>
          <p:cNvSpPr txBox="1"/>
          <p:nvPr/>
        </p:nvSpPr>
        <p:spPr>
          <a:xfrm>
            <a:off x="1700226" y="4162233"/>
            <a:ext cx="14272113" cy="1590179"/>
          </a:xfrm>
          <a:prstGeom prst="rect">
            <a:avLst/>
          </a:prstGeom>
          <a:noFill/>
          <a:ln>
            <a:noFill/>
          </a:ln>
        </p:spPr>
        <p:txBody>
          <a:bodyPr anchorCtr="0" anchor="t" bIns="0" lIns="0" spcFirstLastPara="1" rIns="0" wrap="square" tIns="0">
            <a:spAutoFit/>
          </a:bodyPr>
          <a:lstStyle/>
          <a:p>
            <a:pPr indent="0" lvl="0" marL="0" marR="0" rtl="0" algn="l">
              <a:lnSpc>
                <a:spcPct val="101999"/>
              </a:lnSpc>
              <a:spcBef>
                <a:spcPts val="0"/>
              </a:spcBef>
              <a:spcAft>
                <a:spcPts val="0"/>
              </a:spcAft>
              <a:buNone/>
            </a:pPr>
            <a:r>
              <a:rPr b="1" lang="en-GB" sz="6103">
                <a:solidFill>
                  <a:srgbClr val="1D9BF0"/>
                </a:solidFill>
                <a:latin typeface="Montserrat"/>
                <a:ea typeface="Montserrat"/>
                <a:cs typeface="Montserrat"/>
                <a:sym typeface="Montserrat"/>
              </a:rPr>
              <a:t>Role of epidemiology in public health &amp; disease control</a:t>
            </a:r>
            <a:endParaRPr i="1" sz="6103">
              <a:solidFill>
                <a:srgbClr val="000000"/>
              </a:solidFill>
              <a:latin typeface="Montserrat"/>
              <a:ea typeface="Montserrat"/>
              <a:cs typeface="Montserrat"/>
              <a:sym typeface="Montserrat"/>
            </a:endParaRPr>
          </a:p>
        </p:txBody>
      </p:sp>
      <p:sp>
        <p:nvSpPr>
          <p:cNvPr id="96" name="Google Shape;96;p1"/>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1"/>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 name="Google Shape;98;p1"/>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1"/>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1"/>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1"/>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1"/>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 name="Google Shape;103;p1"/>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1"/>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 name="Google Shape;105;p1"/>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1"/>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7" name="Google Shape;107;p1"/>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1"/>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1"/>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1"/>
          <p:cNvSpPr/>
          <p:nvPr/>
        </p:nvSpPr>
        <p:spPr>
          <a:xfrm rot="5400000">
            <a:off x="0" y="6896073"/>
            <a:ext cx="3400452" cy="3400452"/>
          </a:xfrm>
          <a:custGeom>
            <a:rect b="b" l="l" r="r" t="t"/>
            <a:pathLst>
              <a:path extrusionOk="0" h="3400452" w="3400452">
                <a:moveTo>
                  <a:pt x="0" y="0"/>
                </a:moveTo>
                <a:lnTo>
                  <a:pt x="3400452" y="0"/>
                </a:lnTo>
                <a:lnTo>
                  <a:pt x="3400452" y="3400452"/>
                </a:lnTo>
                <a:lnTo>
                  <a:pt x="0" y="340045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1"/>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2" name="Google Shape;112;p1"/>
          <p:cNvSpPr txBox="1"/>
          <p:nvPr/>
        </p:nvSpPr>
        <p:spPr>
          <a:xfrm>
            <a:off x="16303102" y="9651707"/>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2"/>
          <p:cNvPicPr preferRelativeResize="0"/>
          <p:nvPr/>
        </p:nvPicPr>
        <p:blipFill rotWithShape="1">
          <a:blip r:embed="rId3">
            <a:alphaModFix/>
          </a:blip>
          <a:srcRect b="0" l="0" r="0" t="0"/>
          <a:stretch/>
        </p:blipFill>
        <p:spPr>
          <a:xfrm>
            <a:off x="9160329" y="2760046"/>
            <a:ext cx="7860963" cy="6809697"/>
          </a:xfrm>
          <a:prstGeom prst="rect">
            <a:avLst/>
          </a:prstGeom>
          <a:noFill/>
          <a:ln>
            <a:noFill/>
          </a:ln>
        </p:spPr>
      </p:pic>
      <p:sp>
        <p:nvSpPr>
          <p:cNvPr id="118" name="Google Shape;118;p2"/>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19" name="Google Shape;119;p2"/>
          <p:cNvGrpSpPr/>
          <p:nvPr/>
        </p:nvGrpSpPr>
        <p:grpSpPr>
          <a:xfrm>
            <a:off x="5727906" y="218055"/>
            <a:ext cx="6832187" cy="1491696"/>
            <a:chOff x="0" y="0"/>
            <a:chExt cx="9109583" cy="1988928"/>
          </a:xfrm>
        </p:grpSpPr>
        <p:sp>
          <p:nvSpPr>
            <p:cNvPr id="120" name="Google Shape;120;p2"/>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5">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2"/>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6">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2"/>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7">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3" name="Google Shape;123;p2"/>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4" name="Google Shape;124;p2"/>
          <p:cNvSpPr txBox="1"/>
          <p:nvPr/>
        </p:nvSpPr>
        <p:spPr>
          <a:xfrm>
            <a:off x="1301319" y="1471610"/>
            <a:ext cx="4635119" cy="1154162"/>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Applied Epidemiology</a:t>
            </a:r>
            <a:endParaRPr/>
          </a:p>
        </p:txBody>
      </p:sp>
      <p:sp>
        <p:nvSpPr>
          <p:cNvPr id="125" name="Google Shape;125;p2"/>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2"/>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2"/>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8" name="Google Shape;128;p2"/>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9" name="Google Shape;129;p2"/>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2"/>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2"/>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2" name="Google Shape;132;p2"/>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2"/>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2"/>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5" name="Google Shape;135;p2"/>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6" name="Google Shape;136;p2"/>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2"/>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8" name="Google Shape;138;p2"/>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9" name="Google Shape;139;p2"/>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2"/>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 name="Google Shape;141;p2"/>
          <p:cNvSpPr txBox="1"/>
          <p:nvPr/>
        </p:nvSpPr>
        <p:spPr>
          <a:xfrm>
            <a:off x="1323447" y="2769571"/>
            <a:ext cx="7514395" cy="6947095"/>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000000"/>
              </a:buClr>
              <a:buSzPts val="2800"/>
              <a:buFont typeface="Arial"/>
              <a:buNone/>
            </a:pPr>
            <a:r>
              <a:rPr b="1" i="0" lang="en-GB" sz="2800" u="none" cap="none" strike="noStrike">
                <a:solidFill>
                  <a:srgbClr val="000000"/>
                </a:solidFill>
                <a:latin typeface="Arial"/>
                <a:ea typeface="Arial"/>
                <a:cs typeface="Arial"/>
                <a:sym typeface="Arial"/>
              </a:rPr>
              <a:t>“ Without monitoring and understanding </a:t>
            </a:r>
            <a:endParaRPr/>
          </a:p>
          <a:p>
            <a:pPr indent="0" lvl="0" marL="0" marR="0" rtl="0" algn="ctr">
              <a:lnSpc>
                <a:spcPct val="90000"/>
              </a:lnSpc>
              <a:spcBef>
                <a:spcPts val="1000"/>
              </a:spcBef>
              <a:spcAft>
                <a:spcPts val="0"/>
              </a:spcAft>
              <a:buClr>
                <a:srgbClr val="000000"/>
              </a:buClr>
              <a:buSzPts val="2800"/>
              <a:buFont typeface="Arial"/>
              <a:buNone/>
            </a:pPr>
            <a:r>
              <a:rPr b="1" i="0" lang="en-GB" sz="2800" u="none" cap="none" strike="noStrike">
                <a:solidFill>
                  <a:srgbClr val="000000"/>
                </a:solidFill>
                <a:latin typeface="Arial"/>
                <a:ea typeface="Arial"/>
                <a:cs typeface="Arial"/>
                <a:sym typeface="Arial"/>
              </a:rPr>
              <a:t>how diseases spread, we cannot prevent them ”</a:t>
            </a:r>
            <a:endParaRPr/>
          </a:p>
          <a:p>
            <a:pPr indent="-228600" lvl="0" marL="228600" marR="0" rtl="0" algn="l">
              <a:lnSpc>
                <a:spcPct val="90000"/>
              </a:lnSpc>
              <a:spcBef>
                <a:spcPts val="1000"/>
              </a:spcBef>
              <a:spcAft>
                <a:spcPts val="0"/>
              </a:spcAft>
              <a:buClr>
                <a:srgbClr val="000000"/>
              </a:buClr>
              <a:buSzPts val="2400"/>
              <a:buFont typeface="Arial"/>
              <a:buChar char="•"/>
            </a:pPr>
            <a:r>
              <a:rPr b="1" i="0" lang="en-GB" sz="2400" u="none" cap="none" strike="noStrike">
                <a:solidFill>
                  <a:srgbClr val="000000"/>
                </a:solidFill>
                <a:latin typeface="Arial"/>
                <a:ea typeface="Arial"/>
                <a:cs typeface="Arial"/>
                <a:sym typeface="Arial"/>
              </a:rPr>
              <a:t>Applied epidemiology </a:t>
            </a:r>
            <a:r>
              <a:rPr b="0" i="0" lang="en-GB" sz="2400" u="none" cap="none" strike="noStrike">
                <a:solidFill>
                  <a:srgbClr val="000000"/>
                </a:solidFill>
                <a:latin typeface="Arial"/>
                <a:ea typeface="Arial"/>
                <a:cs typeface="Arial"/>
                <a:sym typeface="Arial"/>
              </a:rPr>
              <a:t>- application of epidemiologic principles to address public health issues</a:t>
            </a:r>
            <a:endParaRPr/>
          </a:p>
          <a:p>
            <a:pPr indent="-228600" lvl="0" marL="228600" marR="0" rtl="0" algn="l">
              <a:lnSpc>
                <a:spcPct val="90000"/>
              </a:lnSpc>
              <a:spcBef>
                <a:spcPts val="1000"/>
              </a:spcBef>
              <a:spcAft>
                <a:spcPts val="0"/>
              </a:spcAft>
              <a:buClr>
                <a:srgbClr val="000000"/>
              </a:buClr>
              <a:buSzPts val="2400"/>
              <a:buFont typeface="Arial"/>
              <a:buChar char="•"/>
            </a:pPr>
            <a:r>
              <a:rPr b="0" i="0" lang="en-GB" sz="2400" u="none" cap="none" strike="noStrike">
                <a:solidFill>
                  <a:srgbClr val="000000"/>
                </a:solidFill>
                <a:latin typeface="Arial"/>
                <a:ea typeface="Arial"/>
                <a:cs typeface="Arial"/>
                <a:sym typeface="Arial"/>
              </a:rPr>
              <a:t>Epidemiology serves as a critical bridge -  connecting pure scientific discovery with practical public health action</a:t>
            </a:r>
            <a:endParaRPr/>
          </a:p>
          <a:p>
            <a:pPr indent="-228600" lvl="0" marL="228600" marR="0" rtl="0" algn="l">
              <a:lnSpc>
                <a:spcPct val="90000"/>
              </a:lnSpc>
              <a:spcBef>
                <a:spcPts val="1000"/>
              </a:spcBef>
              <a:spcAft>
                <a:spcPts val="0"/>
              </a:spcAft>
              <a:buClr>
                <a:srgbClr val="000000"/>
              </a:buClr>
              <a:buSzPts val="2400"/>
              <a:buFont typeface="Arial"/>
              <a:buChar char="•"/>
            </a:pPr>
            <a:r>
              <a:rPr b="0" i="0" lang="en-GB" sz="2400" u="none" cap="none" strike="noStrike">
                <a:solidFill>
                  <a:srgbClr val="000000"/>
                </a:solidFill>
                <a:latin typeface="Arial"/>
                <a:ea typeface="Arial"/>
                <a:cs typeface="Arial"/>
                <a:sym typeface="Arial"/>
              </a:rPr>
              <a:t>synthesizes knowledge from diverse scientific fields to translate complex scientific understanding into tangible health improvements</a:t>
            </a:r>
            <a:endParaRPr/>
          </a:p>
          <a:p>
            <a:pPr indent="-228600" lvl="0" marL="228600" marR="0" rtl="0" algn="l">
              <a:lnSpc>
                <a:spcPct val="90000"/>
              </a:lnSpc>
              <a:spcBef>
                <a:spcPts val="1000"/>
              </a:spcBef>
              <a:spcAft>
                <a:spcPts val="0"/>
              </a:spcAft>
              <a:buClr>
                <a:srgbClr val="000000"/>
              </a:buClr>
              <a:buSzPts val="2800"/>
              <a:buFont typeface="Arial"/>
              <a:buChar char="•"/>
            </a:pPr>
            <a:r>
              <a:rPr b="0" i="0" lang="en-GB" sz="2800" u="none" cap="none" strike="noStrike">
                <a:solidFill>
                  <a:srgbClr val="000000"/>
                </a:solidFill>
                <a:latin typeface="Arial"/>
                <a:ea typeface="Arial"/>
                <a:cs typeface="Arial"/>
                <a:sym typeface="Arial"/>
              </a:rPr>
              <a:t>Work to assess, monitor, investigate and prevent public health problems</a:t>
            </a:r>
            <a:endParaRPr/>
          </a:p>
          <a:p>
            <a:pPr indent="-228600" lvl="0" marL="228600" marR="0" rtl="0" algn="l">
              <a:lnSpc>
                <a:spcPct val="90000"/>
              </a:lnSpc>
              <a:spcBef>
                <a:spcPts val="1000"/>
              </a:spcBef>
              <a:spcAft>
                <a:spcPts val="0"/>
              </a:spcAft>
              <a:buClr>
                <a:srgbClr val="000000"/>
              </a:buClr>
              <a:buSzPts val="2800"/>
              <a:buFont typeface="Arial"/>
              <a:buChar char="•"/>
            </a:pPr>
            <a:r>
              <a:rPr b="0" i="0" lang="en-GB" sz="2800" u="none" cap="none" strike="noStrike">
                <a:solidFill>
                  <a:srgbClr val="000000"/>
                </a:solidFill>
                <a:latin typeface="Arial"/>
                <a:ea typeface="Arial"/>
                <a:cs typeface="Arial"/>
                <a:sym typeface="Arial"/>
              </a:rPr>
              <a:t>Provide crucial information for </a:t>
            </a:r>
            <a:endParaRPr/>
          </a:p>
          <a:p>
            <a:pPr indent="-228600" lvl="1" marL="685800" marR="0" rtl="0" algn="l">
              <a:lnSpc>
                <a:spcPct val="90000"/>
              </a:lnSpc>
              <a:spcBef>
                <a:spcPts val="500"/>
              </a:spcBef>
              <a:spcAft>
                <a:spcPts val="0"/>
              </a:spcAft>
              <a:buClr>
                <a:srgbClr val="000000"/>
              </a:buClr>
              <a:buSzPts val="2400"/>
              <a:buFont typeface="Arial"/>
              <a:buChar char="•"/>
            </a:pPr>
            <a:r>
              <a:rPr b="0" i="0" lang="en-GB" sz="2400" u="none" cap="none" strike="noStrike">
                <a:solidFill>
                  <a:srgbClr val="000000"/>
                </a:solidFill>
                <a:latin typeface="Arial"/>
                <a:ea typeface="Arial"/>
                <a:cs typeface="Arial"/>
                <a:sym typeface="Arial"/>
              </a:rPr>
              <a:t>Health promotion</a:t>
            </a:r>
            <a:endParaRPr/>
          </a:p>
          <a:p>
            <a:pPr indent="-228600" lvl="1" marL="685800" marR="0" rtl="0" algn="l">
              <a:lnSpc>
                <a:spcPct val="90000"/>
              </a:lnSpc>
              <a:spcBef>
                <a:spcPts val="500"/>
              </a:spcBef>
              <a:spcAft>
                <a:spcPts val="0"/>
              </a:spcAft>
              <a:buClr>
                <a:srgbClr val="000000"/>
              </a:buClr>
              <a:buSzPts val="2400"/>
              <a:buFont typeface="Arial"/>
              <a:buChar char="•"/>
            </a:pPr>
            <a:r>
              <a:rPr b="0" i="0" lang="en-GB" sz="2400" u="none" cap="none" strike="noStrike">
                <a:solidFill>
                  <a:srgbClr val="000000"/>
                </a:solidFill>
                <a:latin typeface="Arial"/>
                <a:ea typeface="Arial"/>
                <a:cs typeface="Arial"/>
                <a:sym typeface="Arial"/>
              </a:rPr>
              <a:t>Public health policy</a:t>
            </a:r>
            <a:endParaRPr/>
          </a:p>
          <a:p>
            <a:pPr indent="-228600" lvl="1" marL="685800" marR="0" rtl="0" algn="l">
              <a:lnSpc>
                <a:spcPct val="90000"/>
              </a:lnSpc>
              <a:spcBef>
                <a:spcPts val="500"/>
              </a:spcBef>
              <a:spcAft>
                <a:spcPts val="0"/>
              </a:spcAft>
              <a:buClr>
                <a:srgbClr val="000000"/>
              </a:buClr>
              <a:buSzPts val="2400"/>
              <a:buFont typeface="Arial"/>
              <a:buChar char="•"/>
            </a:pPr>
            <a:r>
              <a:rPr b="0" i="0" lang="en-GB" sz="2400" u="none" cap="none" strike="noStrike">
                <a:solidFill>
                  <a:srgbClr val="000000"/>
                </a:solidFill>
                <a:latin typeface="Arial"/>
                <a:ea typeface="Arial"/>
                <a:cs typeface="Arial"/>
                <a:sym typeface="Arial"/>
              </a:rPr>
              <a:t>Management efforts</a:t>
            </a:r>
            <a:endParaRPr/>
          </a:p>
        </p:txBody>
      </p:sp>
      <p:sp>
        <p:nvSpPr>
          <p:cNvPr id="142" name="Google Shape;142;p2"/>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A chart of red circles and numbers&#10;&#10;AI-generated content may be incorrect." id="147" name="Google Shape;147;p3"/>
          <p:cNvPicPr preferRelativeResize="0"/>
          <p:nvPr/>
        </p:nvPicPr>
        <p:blipFill rotWithShape="1">
          <a:blip r:embed="rId3">
            <a:alphaModFix/>
          </a:blip>
          <a:srcRect b="0" l="0" r="0" t="0"/>
          <a:stretch/>
        </p:blipFill>
        <p:spPr>
          <a:xfrm>
            <a:off x="8889782" y="2993135"/>
            <a:ext cx="8318219" cy="6031405"/>
          </a:xfrm>
          <a:prstGeom prst="rect">
            <a:avLst/>
          </a:prstGeom>
          <a:noFill/>
          <a:ln>
            <a:noFill/>
          </a:ln>
        </p:spPr>
      </p:pic>
      <p:sp>
        <p:nvSpPr>
          <p:cNvPr id="148" name="Google Shape;148;p3"/>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49" name="Google Shape;149;p3"/>
          <p:cNvGrpSpPr/>
          <p:nvPr/>
        </p:nvGrpSpPr>
        <p:grpSpPr>
          <a:xfrm>
            <a:off x="5727906" y="218055"/>
            <a:ext cx="6832187" cy="1491696"/>
            <a:chOff x="0" y="0"/>
            <a:chExt cx="9109583" cy="1988928"/>
          </a:xfrm>
        </p:grpSpPr>
        <p:sp>
          <p:nvSpPr>
            <p:cNvPr id="150" name="Google Shape;150;p3"/>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5">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 name="Google Shape;151;p3"/>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6">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3"/>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7">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3" name="Google Shape;153;p3"/>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 name="Google Shape;154;p3"/>
          <p:cNvSpPr txBox="1"/>
          <p:nvPr/>
        </p:nvSpPr>
        <p:spPr>
          <a:xfrm>
            <a:off x="1564199" y="2183048"/>
            <a:ext cx="4635119" cy="1154162"/>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Epidemiology Core Functions</a:t>
            </a:r>
            <a:endParaRPr/>
          </a:p>
        </p:txBody>
      </p:sp>
      <p:sp>
        <p:nvSpPr>
          <p:cNvPr id="155" name="Google Shape;155;p3"/>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 name="Google Shape;156;p3"/>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3"/>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8" name="Google Shape;158;p3"/>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3"/>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 name="Google Shape;160;p3"/>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 name="Google Shape;161;p3"/>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3"/>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3" name="Google Shape;163;p3"/>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 name="Google Shape;164;p3"/>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 name="Google Shape;165;p3"/>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3"/>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3"/>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3"/>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 name="Google Shape;169;p3"/>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 name="Google Shape;170;p3"/>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3"/>
          <p:cNvSpPr txBox="1"/>
          <p:nvPr/>
        </p:nvSpPr>
        <p:spPr>
          <a:xfrm>
            <a:off x="869081" y="3346735"/>
            <a:ext cx="7799775" cy="6894195"/>
          </a:xfrm>
          <a:prstGeom prst="rect">
            <a:avLst/>
          </a:prstGeom>
          <a:noFill/>
          <a:ln>
            <a:noFill/>
          </a:ln>
        </p:spPr>
        <p:txBody>
          <a:bodyPr anchorCtr="0" anchor="t" bIns="0" lIns="0" spcFirstLastPara="1" rIns="0" wrap="square" tIns="0">
            <a:spAutoFit/>
          </a:bodyPr>
          <a:lstStyle/>
          <a:p>
            <a:pPr indent="-342900" lvl="0" marL="342900" marR="0" rtl="0" algn="l">
              <a:spcBef>
                <a:spcPts val="0"/>
              </a:spcBef>
              <a:spcAft>
                <a:spcPts val="0"/>
              </a:spcAft>
              <a:buClr>
                <a:schemeClr val="dk1"/>
              </a:buClr>
              <a:buSzPts val="2800"/>
              <a:buFont typeface="Arial"/>
              <a:buChar char="•"/>
            </a:pPr>
            <a:r>
              <a:rPr b="1" lang="en-GB" sz="2800">
                <a:solidFill>
                  <a:schemeClr val="dk1"/>
                </a:solidFill>
                <a:latin typeface="Arial"/>
                <a:ea typeface="Arial"/>
                <a:cs typeface="Arial"/>
                <a:sym typeface="Arial"/>
              </a:rPr>
              <a:t>Disease Surveillance: The Backbone of Public Health</a:t>
            </a:r>
            <a:endParaRPr/>
          </a:p>
          <a:p>
            <a:pPr indent="-342900" lvl="1" marL="800100" marR="0" rtl="0" algn="l">
              <a:spcBef>
                <a:spcPts val="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Systematic, ongoing collection, analysis, and interpretation of health data, which is crucial for guiding public health action</a:t>
            </a:r>
            <a:endParaRPr/>
          </a:p>
          <a:p>
            <a:pPr indent="-342900" lvl="1" marL="800100" marR="0" rtl="0" algn="l">
              <a:spcBef>
                <a:spcPts val="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Primary goals of surveillance:</a:t>
            </a:r>
            <a:endParaRPr/>
          </a:p>
          <a:p>
            <a:pPr indent="-342900" lvl="2" marL="1257300" marR="0" rtl="0" algn="l">
              <a:spcBef>
                <a:spcPts val="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Early outbreak detection</a:t>
            </a:r>
            <a:endParaRPr/>
          </a:p>
          <a:p>
            <a:pPr indent="-342900" lvl="2" marL="1257300" marR="0" rtl="0" algn="l">
              <a:spcBef>
                <a:spcPts val="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Continuous monitoring of disease trends over time</a:t>
            </a:r>
            <a:endParaRPr/>
          </a:p>
          <a:p>
            <a:pPr indent="-342900" lvl="2" marL="1257300" marR="0" rtl="0" algn="l">
              <a:spcBef>
                <a:spcPts val="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Evaluating the effectiveness of public health interventions</a:t>
            </a:r>
            <a:endParaRPr/>
          </a:p>
          <a:p>
            <a:pPr indent="-342900" lvl="1" marL="800100" marR="0" rtl="0" algn="l">
              <a:spcBef>
                <a:spcPts val="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Data derived from surveillance</a:t>
            </a:r>
            <a:endParaRPr/>
          </a:p>
          <a:p>
            <a:pPr indent="-342900" lvl="2" marL="1257300" marR="0" rtl="0" algn="l">
              <a:spcBef>
                <a:spcPts val="0"/>
              </a:spcBef>
              <a:spcAft>
                <a:spcPts val="0"/>
              </a:spcAft>
              <a:buClr>
                <a:schemeClr val="dk1"/>
              </a:buClr>
              <a:buSzPts val="2800"/>
              <a:buFont typeface="Arial"/>
              <a:buChar char="•"/>
            </a:pPr>
            <a:r>
              <a:rPr b="0" i="0" lang="en-GB" sz="2800" u="none" cap="none" strike="noStrike">
                <a:solidFill>
                  <a:schemeClr val="dk1"/>
                </a:solidFill>
                <a:latin typeface="Arial"/>
                <a:ea typeface="Arial"/>
                <a:cs typeface="Arial"/>
                <a:sym typeface="Arial"/>
              </a:rPr>
              <a:t>Directly informs public health decision-making, resource allocation, and policy development at local, national, and international levels</a:t>
            </a:r>
            <a:endParaRPr/>
          </a:p>
        </p:txBody>
      </p:sp>
      <p:sp>
        <p:nvSpPr>
          <p:cNvPr id="172" name="Google Shape;172;p3"/>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4"/>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79" name="Google Shape;179;p4"/>
          <p:cNvGrpSpPr/>
          <p:nvPr/>
        </p:nvGrpSpPr>
        <p:grpSpPr>
          <a:xfrm>
            <a:off x="5727906" y="218055"/>
            <a:ext cx="6832187" cy="1491696"/>
            <a:chOff x="0" y="0"/>
            <a:chExt cx="9109583" cy="1988928"/>
          </a:xfrm>
        </p:grpSpPr>
        <p:sp>
          <p:nvSpPr>
            <p:cNvPr id="180" name="Google Shape;180;p4"/>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4"/>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4"/>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83" name="Google Shape;183;p4"/>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4" name="Google Shape;184;p4"/>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5" name="Google Shape;185;p4"/>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4"/>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 name="Google Shape;187;p4"/>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 name="Google Shape;188;p4"/>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 name="Google Shape;189;p4"/>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4"/>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 name="Google Shape;191;p4"/>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 name="Google Shape;192;p4"/>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 name="Google Shape;193;p4"/>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4"/>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 name="Google Shape;195;p4"/>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 name="Google Shape;196;p4"/>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7" name="Google Shape;197;p4"/>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4"/>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9" name="Google Shape;199;p4"/>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 name="Google Shape;200;p4"/>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pic>
        <p:nvPicPr>
          <p:cNvPr id="201" name="Google Shape;201;p4"/>
          <p:cNvPicPr preferRelativeResize="0"/>
          <p:nvPr/>
        </p:nvPicPr>
        <p:blipFill rotWithShape="1">
          <a:blip r:embed="rId10">
            <a:alphaModFix/>
          </a:blip>
          <a:srcRect b="0" l="0" r="0" t="0"/>
          <a:stretch/>
        </p:blipFill>
        <p:spPr>
          <a:xfrm>
            <a:off x="230449" y="1248306"/>
            <a:ext cx="9997032" cy="5571594"/>
          </a:xfrm>
          <a:prstGeom prst="rect">
            <a:avLst/>
          </a:prstGeom>
          <a:noFill/>
          <a:ln>
            <a:noFill/>
          </a:ln>
        </p:spPr>
      </p:pic>
      <p:pic>
        <p:nvPicPr>
          <p:cNvPr id="202" name="Google Shape;202;p4"/>
          <p:cNvPicPr preferRelativeResize="0"/>
          <p:nvPr/>
        </p:nvPicPr>
        <p:blipFill rotWithShape="1">
          <a:blip r:embed="rId11">
            <a:alphaModFix/>
          </a:blip>
          <a:srcRect b="0" l="0" r="0" t="0"/>
          <a:stretch/>
        </p:blipFill>
        <p:spPr>
          <a:xfrm>
            <a:off x="11179477" y="1202996"/>
            <a:ext cx="6766397" cy="6660556"/>
          </a:xfrm>
          <a:prstGeom prst="rect">
            <a:avLst/>
          </a:prstGeom>
          <a:noFill/>
          <a:ln>
            <a:noFill/>
          </a:ln>
        </p:spPr>
      </p:pic>
      <p:pic>
        <p:nvPicPr>
          <p:cNvPr id="203" name="Google Shape;203;p4"/>
          <p:cNvPicPr preferRelativeResize="0"/>
          <p:nvPr/>
        </p:nvPicPr>
        <p:blipFill rotWithShape="1">
          <a:blip r:embed="rId12">
            <a:alphaModFix/>
          </a:blip>
          <a:srcRect b="0" l="0" r="0" t="0"/>
          <a:stretch/>
        </p:blipFill>
        <p:spPr>
          <a:xfrm>
            <a:off x="230449" y="7201300"/>
            <a:ext cx="12116449" cy="294138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5"/>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09" name="Google Shape;209;p5"/>
          <p:cNvGrpSpPr/>
          <p:nvPr/>
        </p:nvGrpSpPr>
        <p:grpSpPr>
          <a:xfrm>
            <a:off x="5727906" y="218055"/>
            <a:ext cx="6832187" cy="1491696"/>
            <a:chOff x="0" y="0"/>
            <a:chExt cx="9109583" cy="1988928"/>
          </a:xfrm>
        </p:grpSpPr>
        <p:sp>
          <p:nvSpPr>
            <p:cNvPr id="210" name="Google Shape;210;p5"/>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5"/>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2" name="Google Shape;212;p5"/>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3" name="Google Shape;213;p5"/>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4" name="Google Shape;214;p5"/>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Epidemiology Core Functions</a:t>
            </a:r>
            <a:endParaRPr/>
          </a:p>
        </p:txBody>
      </p:sp>
      <p:sp>
        <p:nvSpPr>
          <p:cNvPr id="215" name="Google Shape;215;p5"/>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6" name="Google Shape;216;p5"/>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5"/>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5"/>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5"/>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0" name="Google Shape;220;p5"/>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1" name="Google Shape;221;p5"/>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5"/>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5"/>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4" name="Google Shape;224;p5"/>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5"/>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5"/>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5"/>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5"/>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5"/>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5"/>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1" name="Google Shape;231;p5"/>
          <p:cNvSpPr txBox="1"/>
          <p:nvPr/>
        </p:nvSpPr>
        <p:spPr>
          <a:xfrm>
            <a:off x="1624481" y="2437949"/>
            <a:ext cx="14960069" cy="7079502"/>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4000"/>
              <a:buFont typeface="Arial"/>
              <a:buNone/>
            </a:pPr>
            <a:r>
              <a:rPr b="1" i="0" lang="en-GB" sz="4000" u="none" cap="none" strike="noStrike">
                <a:solidFill>
                  <a:srgbClr val="000000"/>
                </a:solidFill>
                <a:latin typeface="Arial"/>
                <a:ea typeface="Arial"/>
                <a:cs typeface="Arial"/>
                <a:sym typeface="Arial"/>
              </a:rPr>
              <a:t>Outbreak Investigation: Rapid Response and Containment</a:t>
            </a:r>
            <a:endParaRPr/>
          </a:p>
          <a:p>
            <a:pPr indent="-254000" lvl="0" marL="228600" marR="0" rtl="0" algn="l">
              <a:lnSpc>
                <a:spcPct val="90000"/>
              </a:lnSpc>
              <a:spcBef>
                <a:spcPts val="1000"/>
              </a:spcBef>
              <a:spcAft>
                <a:spcPts val="0"/>
              </a:spcAft>
              <a:buClr>
                <a:srgbClr val="000000"/>
              </a:buClr>
              <a:buSzPts val="4000"/>
              <a:buFont typeface="Arial"/>
              <a:buChar char="•"/>
            </a:pPr>
            <a:r>
              <a:rPr b="0" i="0" lang="en-GB" sz="4000" u="none" cap="none" strike="noStrike">
                <a:solidFill>
                  <a:srgbClr val="000000"/>
                </a:solidFill>
                <a:latin typeface="Arial"/>
                <a:ea typeface="Arial"/>
                <a:cs typeface="Arial"/>
                <a:sym typeface="Arial"/>
              </a:rPr>
              <a:t>Typically triggered by routine surveillance systems</a:t>
            </a:r>
            <a:endParaRPr/>
          </a:p>
          <a:p>
            <a:pPr indent="-254000" lvl="0" marL="228600" marR="0" rtl="0" algn="l">
              <a:lnSpc>
                <a:spcPct val="90000"/>
              </a:lnSpc>
              <a:spcBef>
                <a:spcPts val="1000"/>
              </a:spcBef>
              <a:spcAft>
                <a:spcPts val="0"/>
              </a:spcAft>
              <a:buClr>
                <a:srgbClr val="000000"/>
              </a:buClr>
              <a:buSzPts val="4000"/>
              <a:buFont typeface="Arial"/>
              <a:buChar char="•"/>
            </a:pPr>
            <a:r>
              <a:rPr b="0" i="0" lang="en-GB" sz="4000" u="none" cap="none" strike="noStrike">
                <a:solidFill>
                  <a:srgbClr val="000000"/>
                </a:solidFill>
                <a:latin typeface="Arial"/>
                <a:ea typeface="Arial"/>
                <a:cs typeface="Arial"/>
                <a:sym typeface="Arial"/>
              </a:rPr>
              <a:t>Outbreak investigation - direct applied consequence of effective surveillance</a:t>
            </a:r>
            <a:endParaRPr/>
          </a:p>
          <a:p>
            <a:pPr indent="-254000" lvl="0" marL="228600" marR="0" rtl="0" algn="l">
              <a:lnSpc>
                <a:spcPct val="90000"/>
              </a:lnSpc>
              <a:spcBef>
                <a:spcPts val="1000"/>
              </a:spcBef>
              <a:spcAft>
                <a:spcPts val="0"/>
              </a:spcAft>
              <a:buClr>
                <a:srgbClr val="000000"/>
              </a:buClr>
              <a:buSzPts val="4000"/>
              <a:buFont typeface="Arial"/>
              <a:buChar char="•"/>
            </a:pPr>
            <a:r>
              <a:rPr b="0" i="0" lang="en-GB" sz="4000" u="none" cap="none" strike="noStrike">
                <a:solidFill>
                  <a:srgbClr val="000000"/>
                </a:solidFill>
                <a:latin typeface="Arial"/>
                <a:ea typeface="Arial"/>
                <a:cs typeface="Arial"/>
                <a:sym typeface="Arial"/>
              </a:rPr>
              <a:t>Rapid identification of an outbreak is paramount for effective containment</a:t>
            </a:r>
            <a:endParaRPr/>
          </a:p>
          <a:p>
            <a:pPr indent="-254000" lvl="0" marL="228600" marR="0" rtl="0" algn="l">
              <a:lnSpc>
                <a:spcPct val="90000"/>
              </a:lnSpc>
              <a:spcBef>
                <a:spcPts val="1000"/>
              </a:spcBef>
              <a:spcAft>
                <a:spcPts val="0"/>
              </a:spcAft>
              <a:buClr>
                <a:srgbClr val="000000"/>
              </a:buClr>
              <a:buSzPts val="4000"/>
              <a:buFont typeface="Arial"/>
              <a:buChar char="•"/>
            </a:pPr>
            <a:r>
              <a:rPr b="0" i="0" lang="en-GB" sz="4000" u="none" cap="none" strike="noStrike">
                <a:solidFill>
                  <a:srgbClr val="000000"/>
                </a:solidFill>
                <a:latin typeface="Arial"/>
                <a:ea typeface="Arial"/>
                <a:cs typeface="Arial"/>
                <a:sym typeface="Arial"/>
              </a:rPr>
              <a:t>Illustrates seamless operational loop</a:t>
            </a:r>
            <a:endParaRPr/>
          </a:p>
          <a:p>
            <a:pPr indent="-228600" lvl="1" marL="685800" marR="0" rtl="0" algn="l">
              <a:lnSpc>
                <a:spcPct val="90000"/>
              </a:lnSpc>
              <a:spcBef>
                <a:spcPts val="500"/>
              </a:spcBef>
              <a:spcAft>
                <a:spcPts val="0"/>
              </a:spcAft>
              <a:buClr>
                <a:srgbClr val="000000"/>
              </a:buClr>
              <a:buSzPts val="3600"/>
              <a:buFont typeface="Arial"/>
              <a:buChar char="•"/>
            </a:pPr>
            <a:r>
              <a:rPr b="0" i="0" lang="en-GB" sz="3600" u="none" cap="none" strike="noStrike">
                <a:solidFill>
                  <a:srgbClr val="000000"/>
                </a:solidFill>
                <a:latin typeface="Arial"/>
                <a:ea typeface="Arial"/>
                <a:cs typeface="Arial"/>
                <a:sym typeface="Arial"/>
              </a:rPr>
              <a:t>Where surveillance triggers investigation</a:t>
            </a:r>
            <a:endParaRPr/>
          </a:p>
          <a:p>
            <a:pPr indent="-228600" lvl="1" marL="685800" marR="0" rtl="0" algn="l">
              <a:lnSpc>
                <a:spcPct val="90000"/>
              </a:lnSpc>
              <a:spcBef>
                <a:spcPts val="500"/>
              </a:spcBef>
              <a:spcAft>
                <a:spcPts val="0"/>
              </a:spcAft>
              <a:buClr>
                <a:srgbClr val="000000"/>
              </a:buClr>
              <a:buSzPts val="3600"/>
              <a:buFont typeface="Arial"/>
              <a:buChar char="•"/>
            </a:pPr>
            <a:r>
              <a:rPr b="0" i="0" lang="en-GB" sz="3600" u="none" cap="none" strike="noStrike">
                <a:solidFill>
                  <a:srgbClr val="000000"/>
                </a:solidFill>
                <a:latin typeface="Arial"/>
                <a:ea typeface="Arial"/>
                <a:cs typeface="Arial"/>
                <a:sym typeface="Arial"/>
              </a:rPr>
              <a:t>Investigation applies epidemiological study methods to understand the problem</a:t>
            </a:r>
            <a:endParaRPr/>
          </a:p>
          <a:p>
            <a:pPr indent="-228600" lvl="1" marL="685800" marR="0" rtl="0" algn="l">
              <a:lnSpc>
                <a:spcPct val="90000"/>
              </a:lnSpc>
              <a:spcBef>
                <a:spcPts val="500"/>
              </a:spcBef>
              <a:spcAft>
                <a:spcPts val="0"/>
              </a:spcAft>
              <a:buClr>
                <a:srgbClr val="000000"/>
              </a:buClr>
              <a:buSzPts val="3600"/>
              <a:buFont typeface="Arial"/>
              <a:buChar char="•"/>
            </a:pPr>
            <a:r>
              <a:rPr b="0" i="0" lang="en-GB" sz="3600" u="none" cap="none" strike="noStrike">
                <a:solidFill>
                  <a:srgbClr val="000000"/>
                </a:solidFill>
                <a:latin typeface="Arial"/>
                <a:ea typeface="Arial"/>
                <a:cs typeface="Arial"/>
                <a:sym typeface="Arial"/>
              </a:rPr>
              <a:t>The findings then feed back into refined surveillance and control measures</a:t>
            </a:r>
            <a:endParaRPr b="0" i="0" sz="4000" u="none" cap="none" strike="noStrike">
              <a:solidFill>
                <a:srgbClr val="000000"/>
              </a:solidFill>
              <a:latin typeface="Arial"/>
              <a:ea typeface="Arial"/>
              <a:cs typeface="Arial"/>
              <a:sym typeface="Arial"/>
            </a:endParaRPr>
          </a:p>
        </p:txBody>
      </p:sp>
      <p:sp>
        <p:nvSpPr>
          <p:cNvPr id="232" name="Google Shape;232;p5"/>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6"/>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38" name="Google Shape;238;p6"/>
          <p:cNvGrpSpPr/>
          <p:nvPr/>
        </p:nvGrpSpPr>
        <p:grpSpPr>
          <a:xfrm>
            <a:off x="5727906" y="218055"/>
            <a:ext cx="6832187" cy="1491696"/>
            <a:chOff x="0" y="0"/>
            <a:chExt cx="9109583" cy="1988928"/>
          </a:xfrm>
        </p:grpSpPr>
        <p:sp>
          <p:nvSpPr>
            <p:cNvPr id="239" name="Google Shape;239;p6"/>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0" name="Google Shape;240;p6"/>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1" name="Google Shape;241;p6"/>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2" name="Google Shape;242;p6"/>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3" name="Google Shape;243;p6"/>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Epidemiology Core Functions</a:t>
            </a:r>
            <a:endParaRPr/>
          </a:p>
        </p:txBody>
      </p:sp>
      <p:sp>
        <p:nvSpPr>
          <p:cNvPr id="244" name="Google Shape;244;p6"/>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5" name="Google Shape;245;p6"/>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6"/>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6"/>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6"/>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9" name="Google Shape;249;p6"/>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6"/>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1" name="Google Shape;251;p6"/>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2" name="Google Shape;252;p6"/>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3" name="Google Shape;253;p6"/>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4" name="Google Shape;254;p6"/>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5" name="Google Shape;255;p6"/>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6" name="Google Shape;256;p6"/>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6"/>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8" name="Google Shape;258;p6"/>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6"/>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6"/>
          <p:cNvSpPr txBox="1"/>
          <p:nvPr/>
        </p:nvSpPr>
        <p:spPr>
          <a:xfrm>
            <a:off x="1624481" y="2437948"/>
            <a:ext cx="15284245" cy="6440546"/>
          </a:xfrm>
          <a:prstGeom prst="rect">
            <a:avLst/>
          </a:prstGeom>
          <a:noFill/>
          <a:ln>
            <a:noFill/>
          </a:ln>
        </p:spPr>
        <p:txBody>
          <a:bodyPr anchorCtr="0" anchor="t" bIns="0" lIns="0" spcFirstLastPara="1" rIns="0" wrap="square" tIns="0">
            <a:spAutoFit/>
          </a:bodyPr>
          <a:lstStyle/>
          <a:p>
            <a:pPr indent="-571500" lvl="0" marL="571500" marR="0" rtl="0" algn="l">
              <a:lnSpc>
                <a:spcPct val="90000"/>
              </a:lnSpc>
              <a:spcBef>
                <a:spcPts val="0"/>
              </a:spcBef>
              <a:spcAft>
                <a:spcPts val="0"/>
              </a:spcAft>
              <a:buClr>
                <a:srgbClr val="000000"/>
              </a:buClr>
              <a:buSzPts val="3600"/>
              <a:buFont typeface="Arial"/>
              <a:buChar char="•"/>
            </a:pPr>
            <a:r>
              <a:rPr b="1" i="0" lang="en-GB" sz="3600" u="none" cap="none" strike="noStrike">
                <a:solidFill>
                  <a:srgbClr val="000000"/>
                </a:solidFill>
                <a:latin typeface="Arial"/>
                <a:ea typeface="Arial"/>
                <a:cs typeface="Arial"/>
                <a:sym typeface="Arial"/>
              </a:rPr>
              <a:t>Guiding Interventions &amp; Policy: Malaria Control in Focus</a:t>
            </a:r>
            <a:endParaRPr/>
          </a:p>
          <a:p>
            <a:pPr indent="-457200" lvl="0" marL="457200" marR="0" rtl="0" algn="l">
              <a:lnSpc>
                <a:spcPct val="90000"/>
              </a:lnSpc>
              <a:spcBef>
                <a:spcPts val="1000"/>
              </a:spcBef>
              <a:spcAft>
                <a:spcPts val="0"/>
              </a:spcAft>
              <a:buClr>
                <a:srgbClr val="000000"/>
              </a:buClr>
              <a:buSzPts val="3200"/>
              <a:buFont typeface="Arial"/>
              <a:buChar char="•"/>
            </a:pPr>
            <a:r>
              <a:rPr b="0" i="0" lang="en-GB" sz="3200" u="none" cap="none" strike="noStrike">
                <a:solidFill>
                  <a:srgbClr val="000000"/>
                </a:solidFill>
                <a:latin typeface="Arial"/>
                <a:ea typeface="Arial"/>
                <a:cs typeface="Arial"/>
                <a:sym typeface="Arial"/>
              </a:rPr>
              <a:t>Epidemiological insights - translated into effective public health interventions and policy formulation</a:t>
            </a:r>
            <a:endParaRPr/>
          </a:p>
          <a:p>
            <a:pPr indent="-457200" lvl="0" marL="457200" marR="0" rtl="0" algn="l">
              <a:lnSpc>
                <a:spcPct val="90000"/>
              </a:lnSpc>
              <a:spcBef>
                <a:spcPts val="1000"/>
              </a:spcBef>
              <a:spcAft>
                <a:spcPts val="0"/>
              </a:spcAft>
              <a:buClr>
                <a:srgbClr val="000000"/>
              </a:buClr>
              <a:buSzPts val="3200"/>
              <a:buFont typeface="Arial"/>
              <a:buChar char="•"/>
            </a:pPr>
            <a:r>
              <a:rPr b="0" i="0" lang="en-GB" sz="3200" u="none" cap="none" strike="noStrike">
                <a:solidFill>
                  <a:srgbClr val="000000"/>
                </a:solidFill>
                <a:latin typeface="Arial"/>
                <a:ea typeface="Arial"/>
                <a:cs typeface="Arial"/>
                <a:sym typeface="Arial"/>
              </a:rPr>
              <a:t>Translating Epidemiological Insights into Action</a:t>
            </a:r>
            <a:endParaRPr/>
          </a:p>
          <a:p>
            <a:pPr indent="-457200" lvl="1" marL="914400" marR="0" rtl="0" algn="l">
              <a:lnSpc>
                <a:spcPct val="90000"/>
              </a:lnSpc>
              <a:spcBef>
                <a:spcPts val="500"/>
              </a:spcBef>
              <a:spcAft>
                <a:spcPts val="0"/>
              </a:spcAft>
              <a:buClr>
                <a:srgbClr val="000000"/>
              </a:buClr>
              <a:buSzPts val="2800"/>
              <a:buFont typeface="Arial"/>
              <a:buChar char="•"/>
            </a:pPr>
            <a:r>
              <a:rPr b="0" i="0" lang="en-GB" sz="2800" u="none" cap="none" strike="noStrike">
                <a:solidFill>
                  <a:srgbClr val="000000"/>
                </a:solidFill>
                <a:latin typeface="Arial"/>
                <a:ea typeface="Arial"/>
                <a:cs typeface="Arial"/>
                <a:sym typeface="Arial"/>
              </a:rPr>
              <a:t>Plays a crucial role in assessing the short- and long-term impacts of various disease control strategies</a:t>
            </a:r>
            <a:endParaRPr/>
          </a:p>
          <a:p>
            <a:pPr indent="-457200" lvl="1" marL="914400" marR="0" rtl="0" algn="l">
              <a:lnSpc>
                <a:spcPct val="90000"/>
              </a:lnSpc>
              <a:spcBef>
                <a:spcPts val="500"/>
              </a:spcBef>
              <a:spcAft>
                <a:spcPts val="0"/>
              </a:spcAft>
              <a:buClr>
                <a:srgbClr val="000000"/>
              </a:buClr>
              <a:buSzPts val="2800"/>
              <a:buFont typeface="Arial"/>
              <a:buChar char="•"/>
            </a:pPr>
            <a:r>
              <a:rPr b="0" i="0" lang="en-GB" sz="2800" u="none" cap="none" strike="noStrike">
                <a:solidFill>
                  <a:srgbClr val="000000"/>
                </a:solidFill>
                <a:latin typeface="Arial"/>
                <a:ea typeface="Arial"/>
                <a:cs typeface="Arial"/>
                <a:sym typeface="Arial"/>
              </a:rPr>
              <a:t>Examples – Evaluating Vector Controls measures – LLINs, Chemo preventive therapies, Understanding key epidemiological factors - risk factors for disease, patterns of transmission etc</a:t>
            </a:r>
            <a:endParaRPr/>
          </a:p>
          <a:p>
            <a:pPr indent="-457200" lvl="0" marL="457200" marR="0" rtl="0" algn="l">
              <a:lnSpc>
                <a:spcPct val="90000"/>
              </a:lnSpc>
              <a:spcBef>
                <a:spcPts val="1000"/>
              </a:spcBef>
              <a:spcAft>
                <a:spcPts val="0"/>
              </a:spcAft>
              <a:buClr>
                <a:srgbClr val="000000"/>
              </a:buClr>
              <a:buSzPts val="3200"/>
              <a:buFont typeface="Arial"/>
              <a:buChar char="•"/>
            </a:pPr>
            <a:r>
              <a:rPr b="0" i="0" lang="en-GB" sz="3200" u="none" cap="none" strike="noStrike">
                <a:solidFill>
                  <a:srgbClr val="000000"/>
                </a:solidFill>
                <a:latin typeface="Arial"/>
                <a:ea typeface="Arial"/>
                <a:cs typeface="Arial"/>
                <a:sym typeface="Arial"/>
              </a:rPr>
              <a:t>Emerging Trends &amp; Future Directions</a:t>
            </a:r>
            <a:endParaRPr/>
          </a:p>
          <a:p>
            <a:pPr indent="-457200" lvl="1" marL="914400" marR="0" rtl="0" algn="l">
              <a:lnSpc>
                <a:spcPct val="90000"/>
              </a:lnSpc>
              <a:spcBef>
                <a:spcPts val="1000"/>
              </a:spcBef>
              <a:spcAft>
                <a:spcPts val="0"/>
              </a:spcAft>
              <a:buClr>
                <a:srgbClr val="000000"/>
              </a:buClr>
              <a:buSzPts val="3200"/>
              <a:buFont typeface="Arial"/>
              <a:buChar char="•"/>
            </a:pPr>
            <a:r>
              <a:rPr b="0" i="0" lang="en-GB" sz="3200" u="none" cap="none" strike="noStrike">
                <a:solidFill>
                  <a:srgbClr val="000000"/>
                </a:solidFill>
                <a:latin typeface="Arial"/>
                <a:ea typeface="Arial"/>
                <a:cs typeface="Arial"/>
                <a:sym typeface="Arial"/>
              </a:rPr>
              <a:t>Modern epidemiology is increasingly integrating cutting-edge technologies - LLMs</a:t>
            </a:r>
            <a:endParaRPr/>
          </a:p>
          <a:p>
            <a:pPr indent="-457200" lvl="1" marL="914400" marR="0" rtl="0" algn="l">
              <a:lnSpc>
                <a:spcPct val="90000"/>
              </a:lnSpc>
              <a:spcBef>
                <a:spcPts val="1000"/>
              </a:spcBef>
              <a:spcAft>
                <a:spcPts val="0"/>
              </a:spcAft>
              <a:buClr>
                <a:srgbClr val="000000"/>
              </a:buClr>
              <a:buSzPts val="3200"/>
              <a:buFont typeface="Arial"/>
              <a:buChar char="•"/>
            </a:pPr>
            <a:r>
              <a:rPr b="0" i="0" lang="en-GB" sz="3200" u="none" cap="none" strike="noStrike">
                <a:solidFill>
                  <a:srgbClr val="000000"/>
                </a:solidFill>
                <a:latin typeface="Arial"/>
                <a:ea typeface="Arial"/>
                <a:cs typeface="Arial"/>
                <a:sym typeface="Arial"/>
              </a:rPr>
              <a:t>Addressing rapid transformation driven by technological advancements</a:t>
            </a:r>
            <a:endParaRPr/>
          </a:p>
          <a:p>
            <a:pPr indent="-457200" lvl="0" marL="457200" marR="0" rtl="0" algn="l">
              <a:lnSpc>
                <a:spcPct val="90000"/>
              </a:lnSpc>
              <a:spcBef>
                <a:spcPts val="1000"/>
              </a:spcBef>
              <a:spcAft>
                <a:spcPts val="0"/>
              </a:spcAft>
              <a:buClr>
                <a:srgbClr val="000000"/>
              </a:buClr>
              <a:buSzPts val="3200"/>
              <a:buFont typeface="Arial"/>
              <a:buChar char="•"/>
            </a:pPr>
            <a:r>
              <a:rPr b="0" i="0" lang="en-GB" sz="3200" u="none" cap="none" strike="noStrike">
                <a:solidFill>
                  <a:srgbClr val="000000"/>
                </a:solidFill>
                <a:latin typeface="Arial"/>
                <a:ea typeface="Arial"/>
                <a:cs typeface="Arial"/>
                <a:sym typeface="Arial"/>
              </a:rPr>
              <a:t>Persistent foundational challenges</a:t>
            </a:r>
            <a:endParaRPr/>
          </a:p>
        </p:txBody>
      </p:sp>
      <p:sp>
        <p:nvSpPr>
          <p:cNvPr id="261" name="Google Shape;261;p6"/>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7"/>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67" name="Google Shape;267;p7"/>
          <p:cNvGrpSpPr/>
          <p:nvPr/>
        </p:nvGrpSpPr>
        <p:grpSpPr>
          <a:xfrm>
            <a:off x="5727906" y="218055"/>
            <a:ext cx="6832187" cy="1491696"/>
            <a:chOff x="0" y="0"/>
            <a:chExt cx="9109583" cy="1988928"/>
          </a:xfrm>
        </p:grpSpPr>
        <p:sp>
          <p:nvSpPr>
            <p:cNvPr id="268" name="Google Shape;268;p7"/>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9" name="Google Shape;269;p7"/>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0" name="Google Shape;270;p7"/>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71" name="Google Shape;271;p7"/>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2" name="Google Shape;272;p7"/>
          <p:cNvSpPr txBox="1"/>
          <p:nvPr/>
        </p:nvSpPr>
        <p:spPr>
          <a:xfrm>
            <a:off x="1604071" y="1449968"/>
            <a:ext cx="14839503" cy="1154162"/>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Kenya Malaria Strategic Plan 2023 - 2027 Goal and Targets</a:t>
            </a:r>
            <a:endParaRPr b="1" sz="4407">
              <a:solidFill>
                <a:srgbClr val="F4743B"/>
              </a:solidFill>
              <a:latin typeface="Montserrat"/>
              <a:ea typeface="Montserrat"/>
              <a:cs typeface="Montserrat"/>
              <a:sym typeface="Montserrat"/>
            </a:endParaRPr>
          </a:p>
        </p:txBody>
      </p:sp>
      <p:sp>
        <p:nvSpPr>
          <p:cNvPr id="273" name="Google Shape;273;p7"/>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4" name="Google Shape;274;p7"/>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5" name="Google Shape;275;p7"/>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7"/>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7" name="Google Shape;277;p7"/>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8" name="Google Shape;278;p7"/>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9" name="Google Shape;279;p7"/>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7"/>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1" name="Google Shape;281;p7"/>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2" name="Google Shape;282;p7"/>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3" name="Google Shape;283;p7"/>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4" name="Google Shape;284;p7"/>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7"/>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7"/>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7"/>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7"/>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9" name="Google Shape;289;p7"/>
          <p:cNvSpPr txBox="1"/>
          <p:nvPr/>
        </p:nvSpPr>
        <p:spPr>
          <a:xfrm>
            <a:off x="1565113" y="2666637"/>
            <a:ext cx="7578887" cy="4841197"/>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4400"/>
              <a:buFont typeface="Arial"/>
              <a:buNone/>
            </a:pPr>
            <a:r>
              <a:rPr b="1" i="0" lang="en-GB" sz="4400" u="none" cap="none" strike="noStrike">
                <a:solidFill>
                  <a:srgbClr val="000000"/>
                </a:solidFill>
                <a:latin typeface="Arial"/>
                <a:ea typeface="Arial"/>
                <a:cs typeface="Arial"/>
                <a:sym typeface="Arial"/>
              </a:rPr>
              <a:t>Goals</a:t>
            </a:r>
            <a:endParaRPr b="0" i="0" sz="4400" u="none" cap="none" strike="noStrike">
              <a:solidFill>
                <a:srgbClr val="000000"/>
              </a:solidFill>
              <a:latin typeface="Arial"/>
              <a:ea typeface="Arial"/>
              <a:cs typeface="Arial"/>
              <a:sym typeface="Arial"/>
            </a:endParaRPr>
          </a:p>
          <a:p>
            <a:pPr indent="-742950" lvl="0" marL="742950" marR="0" rtl="0" algn="l">
              <a:lnSpc>
                <a:spcPct val="107000"/>
              </a:lnSpc>
              <a:spcBef>
                <a:spcPts val="500"/>
              </a:spcBef>
              <a:spcAft>
                <a:spcPts val="0"/>
              </a:spcAft>
              <a:buClr>
                <a:srgbClr val="000000"/>
              </a:buClr>
              <a:buSzPts val="3600"/>
              <a:buFont typeface="Calibri"/>
              <a:buAutoNum type="arabicPeriod"/>
            </a:pPr>
            <a:r>
              <a:rPr b="1" i="0" lang="en-GB" sz="3600" u="none" cap="none" strike="noStrike">
                <a:solidFill>
                  <a:srgbClr val="000000"/>
                </a:solidFill>
                <a:latin typeface="Arial"/>
                <a:ea typeface="Arial"/>
                <a:cs typeface="Arial"/>
                <a:sym typeface="Arial"/>
              </a:rPr>
              <a:t>To reduce malaria incidence by at least 80 percent and deaths by at least 90 percent of the 2023 levels by 2027/28</a:t>
            </a:r>
            <a:endParaRPr b="0" i="0" sz="3600" u="none" cap="none" strike="noStrike">
              <a:solidFill>
                <a:srgbClr val="000000"/>
              </a:solidFill>
              <a:latin typeface="Arial"/>
              <a:ea typeface="Arial"/>
              <a:cs typeface="Arial"/>
              <a:sym typeface="Arial"/>
            </a:endParaRPr>
          </a:p>
          <a:p>
            <a:pPr indent="-742950" lvl="0" marL="742950" marR="0" rtl="0" algn="l">
              <a:lnSpc>
                <a:spcPct val="90000"/>
              </a:lnSpc>
              <a:spcBef>
                <a:spcPts val="1000"/>
              </a:spcBef>
              <a:spcAft>
                <a:spcPts val="0"/>
              </a:spcAft>
              <a:buClr>
                <a:srgbClr val="000000"/>
              </a:buClr>
              <a:buSzPts val="3600"/>
              <a:buFont typeface="Calibri"/>
              <a:buAutoNum type="arabicPeriod"/>
            </a:pPr>
            <a:r>
              <a:rPr b="1" i="0" lang="en-GB" sz="3600" u="none" cap="none" strike="noStrike">
                <a:solidFill>
                  <a:srgbClr val="000000"/>
                </a:solidFill>
                <a:latin typeface="Arial"/>
                <a:ea typeface="Arial"/>
                <a:cs typeface="Arial"/>
                <a:sym typeface="Arial"/>
              </a:rPr>
              <a:t>To interrupt indigenous malaria transmission in selected counties by 2027/2028</a:t>
            </a:r>
            <a:endParaRPr b="0" i="0" sz="4400" u="none" cap="none" strike="noStrike">
              <a:solidFill>
                <a:srgbClr val="000000"/>
              </a:solidFill>
              <a:latin typeface="Arial"/>
              <a:ea typeface="Arial"/>
              <a:cs typeface="Arial"/>
              <a:sym typeface="Arial"/>
            </a:endParaRPr>
          </a:p>
        </p:txBody>
      </p:sp>
      <p:sp>
        <p:nvSpPr>
          <p:cNvPr id="290" name="Google Shape;290;p7"/>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pic>
        <p:nvPicPr>
          <p:cNvPr descr="A graph with a red line and blue line&#10;&#10;Description automatically generated" id="291" name="Google Shape;291;p7"/>
          <p:cNvPicPr preferRelativeResize="0"/>
          <p:nvPr/>
        </p:nvPicPr>
        <p:blipFill rotWithShape="1">
          <a:blip r:embed="rId10">
            <a:alphaModFix/>
          </a:blip>
          <a:srcRect b="0" l="0" r="0" t="0"/>
          <a:stretch/>
        </p:blipFill>
        <p:spPr>
          <a:xfrm>
            <a:off x="9259263" y="2604130"/>
            <a:ext cx="8750022" cy="677262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pic>
        <p:nvPicPr>
          <p:cNvPr id="296" name="Google Shape;296;p8"/>
          <p:cNvPicPr preferRelativeResize="0"/>
          <p:nvPr/>
        </p:nvPicPr>
        <p:blipFill rotWithShape="1">
          <a:blip r:embed="rId3">
            <a:alphaModFix/>
          </a:blip>
          <a:srcRect b="0" l="0" r="0" t="0"/>
          <a:stretch/>
        </p:blipFill>
        <p:spPr>
          <a:xfrm>
            <a:off x="937385" y="1248306"/>
            <a:ext cx="16099869" cy="7628994"/>
          </a:xfrm>
          <a:prstGeom prst="rect">
            <a:avLst/>
          </a:prstGeom>
          <a:noFill/>
          <a:ln>
            <a:noFill/>
          </a:ln>
        </p:spPr>
      </p:pic>
      <p:sp>
        <p:nvSpPr>
          <p:cNvPr id="297" name="Google Shape;297;p8"/>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298" name="Google Shape;298;p8"/>
          <p:cNvGrpSpPr/>
          <p:nvPr/>
        </p:nvGrpSpPr>
        <p:grpSpPr>
          <a:xfrm>
            <a:off x="5727906" y="218055"/>
            <a:ext cx="6832187" cy="1491696"/>
            <a:chOff x="0" y="0"/>
            <a:chExt cx="9109583" cy="1988928"/>
          </a:xfrm>
        </p:grpSpPr>
        <p:sp>
          <p:nvSpPr>
            <p:cNvPr id="299" name="Google Shape;299;p8"/>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5">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0" name="Google Shape;300;p8"/>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6">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8"/>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7">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2" name="Google Shape;302;p8"/>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3" name="Google Shape;303;p8"/>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4" name="Google Shape;304;p8"/>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8"/>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6" name="Google Shape;306;p8"/>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7" name="Google Shape;307;p8"/>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8"/>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8"/>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0" name="Google Shape;310;p8"/>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8"/>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8"/>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3" name="Google Shape;313;p8"/>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4" name="Google Shape;314;p8"/>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9">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8"/>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8"/>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9">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7" name="Google Shape;317;p8"/>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8" name="Google Shape;318;p8"/>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8"/>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9"/>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25" name="Google Shape;325;p9"/>
          <p:cNvGrpSpPr/>
          <p:nvPr/>
        </p:nvGrpSpPr>
        <p:grpSpPr>
          <a:xfrm>
            <a:off x="5243485" y="271789"/>
            <a:ext cx="7801030" cy="1683812"/>
            <a:chOff x="0" y="0"/>
            <a:chExt cx="10401373" cy="2245083"/>
          </a:xfrm>
        </p:grpSpPr>
        <p:sp>
          <p:nvSpPr>
            <p:cNvPr id="326" name="Google Shape;326;p9"/>
            <p:cNvSpPr/>
            <p:nvPr/>
          </p:nvSpPr>
          <p:spPr>
            <a:xfrm>
              <a:off x="0" y="379389"/>
              <a:ext cx="3895248" cy="1204473"/>
            </a:xfrm>
            <a:custGeom>
              <a:rect b="b" l="l" r="r" t="t"/>
              <a:pathLst>
                <a:path extrusionOk="0" h="1204473" w="3895248">
                  <a:moveTo>
                    <a:pt x="0" y="0"/>
                  </a:moveTo>
                  <a:lnTo>
                    <a:pt x="3895248" y="0"/>
                  </a:lnTo>
                  <a:lnTo>
                    <a:pt x="3895248" y="1204474"/>
                  </a:lnTo>
                  <a:lnTo>
                    <a:pt x="0" y="1204474"/>
                  </a:lnTo>
                  <a:lnTo>
                    <a:pt x="0" y="0"/>
                  </a:lnTo>
                  <a:close/>
                </a:path>
              </a:pathLst>
            </a:custGeom>
            <a:blipFill rotWithShape="1">
              <a:blip r:embed="rId4">
                <a:alphaModFix/>
              </a:blip>
              <a:stretch>
                <a:fillRect b="-56412" l="0" r="-1363" t="-7536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9"/>
            <p:cNvSpPr/>
            <p:nvPr/>
          </p:nvSpPr>
          <p:spPr>
            <a:xfrm>
              <a:off x="4253623" y="0"/>
              <a:ext cx="2245083" cy="2245083"/>
            </a:xfrm>
            <a:custGeom>
              <a:rect b="b" l="l" r="r" t="t"/>
              <a:pathLst>
                <a:path extrusionOk="0" h="2245083" w="2245083">
                  <a:moveTo>
                    <a:pt x="0" y="0"/>
                  </a:moveTo>
                  <a:lnTo>
                    <a:pt x="2245083" y="0"/>
                  </a:lnTo>
                  <a:lnTo>
                    <a:pt x="2245083" y="2245083"/>
                  </a:lnTo>
                  <a:lnTo>
                    <a:pt x="0" y="2245083"/>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9"/>
            <p:cNvSpPr/>
            <p:nvPr/>
          </p:nvSpPr>
          <p:spPr>
            <a:xfrm>
              <a:off x="6863968" y="8925"/>
              <a:ext cx="3537405" cy="1574938"/>
            </a:xfrm>
            <a:custGeom>
              <a:rect b="b" l="l" r="r" t="t"/>
              <a:pathLst>
                <a:path extrusionOk="0" h="1574938" w="3537405">
                  <a:moveTo>
                    <a:pt x="0" y="0"/>
                  </a:moveTo>
                  <a:lnTo>
                    <a:pt x="3537405" y="0"/>
                  </a:lnTo>
                  <a:lnTo>
                    <a:pt x="3537405" y="1574938"/>
                  </a:lnTo>
                  <a:lnTo>
                    <a:pt x="0" y="1574938"/>
                  </a:lnTo>
                  <a:lnTo>
                    <a:pt x="0" y="0"/>
                  </a:lnTo>
                  <a:close/>
                </a:path>
              </a:pathLst>
            </a:custGeom>
            <a:blipFill rotWithShape="1">
              <a:blip r:embed="rId6">
                <a:alphaModFix/>
              </a:blip>
              <a:stretch>
                <a:fillRect b="-3378" l="0" r="0" t="-14454"/>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29" name="Google Shape;329;p9"/>
          <p:cNvSpPr/>
          <p:nvPr/>
        </p:nvSpPr>
        <p:spPr>
          <a:xfrm rot="-5400000">
            <a:off x="14878023" y="9525"/>
            <a:ext cx="3400452" cy="3400452"/>
          </a:xfrm>
          <a:custGeom>
            <a:rect b="b" l="l" r="r" t="t"/>
            <a:pathLst>
              <a:path extrusionOk="0" h="3400452" w="3400452">
                <a:moveTo>
                  <a:pt x="0" y="0"/>
                </a:moveTo>
                <a:lnTo>
                  <a:pt x="3400452" y="0"/>
                </a:lnTo>
                <a:lnTo>
                  <a:pt x="3400452" y="3400452"/>
                </a:lnTo>
                <a:lnTo>
                  <a:pt x="0" y="340045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9"/>
          <p:cNvSpPr txBox="1"/>
          <p:nvPr/>
        </p:nvSpPr>
        <p:spPr>
          <a:xfrm>
            <a:off x="2682088" y="6311160"/>
            <a:ext cx="6457149" cy="354521"/>
          </a:xfrm>
          <a:prstGeom prst="rect">
            <a:avLst/>
          </a:prstGeom>
          <a:noFill/>
          <a:ln>
            <a:noFill/>
          </a:ln>
        </p:spPr>
        <p:txBody>
          <a:bodyPr anchorCtr="0" anchor="t" bIns="0" lIns="0" spcFirstLastPara="1" rIns="0" wrap="square" tIns="0">
            <a:spAutoFit/>
          </a:bodyPr>
          <a:lstStyle/>
          <a:p>
            <a:pPr indent="0" lvl="0" marL="0" marR="0" rtl="0" algn="ctr">
              <a:lnSpc>
                <a:spcPct val="69916"/>
              </a:lnSpc>
              <a:spcBef>
                <a:spcPts val="0"/>
              </a:spcBef>
              <a:spcAft>
                <a:spcPts val="0"/>
              </a:spcAft>
              <a:buNone/>
            </a:pPr>
            <a:r>
              <a:rPr b="1" i="1" lang="en-GB" sz="3600">
                <a:solidFill>
                  <a:srgbClr val="000000"/>
                </a:solidFill>
                <a:latin typeface="Montserrat"/>
                <a:ea typeface="Montserrat"/>
                <a:cs typeface="Montserrat"/>
                <a:sym typeface="Montserrat"/>
              </a:rPr>
              <a:t>Alice Kamau</a:t>
            </a:r>
            <a:endParaRPr/>
          </a:p>
        </p:txBody>
      </p:sp>
      <p:sp>
        <p:nvSpPr>
          <p:cNvPr id="331" name="Google Shape;331;p9"/>
          <p:cNvSpPr txBox="1"/>
          <p:nvPr/>
        </p:nvSpPr>
        <p:spPr>
          <a:xfrm>
            <a:off x="1700226" y="4162233"/>
            <a:ext cx="14272113" cy="1590179"/>
          </a:xfrm>
          <a:prstGeom prst="rect">
            <a:avLst/>
          </a:prstGeom>
          <a:noFill/>
          <a:ln>
            <a:noFill/>
          </a:ln>
        </p:spPr>
        <p:txBody>
          <a:bodyPr anchorCtr="0" anchor="t" bIns="0" lIns="0" spcFirstLastPara="1" rIns="0" wrap="square" tIns="0">
            <a:spAutoFit/>
          </a:bodyPr>
          <a:lstStyle/>
          <a:p>
            <a:pPr indent="0" lvl="0" marL="0" marR="0" rtl="0" algn="l">
              <a:lnSpc>
                <a:spcPct val="101999"/>
              </a:lnSpc>
              <a:spcBef>
                <a:spcPts val="0"/>
              </a:spcBef>
              <a:spcAft>
                <a:spcPts val="0"/>
              </a:spcAft>
              <a:buNone/>
            </a:pPr>
            <a:r>
              <a:rPr b="1" lang="en-GB" sz="6103">
                <a:solidFill>
                  <a:srgbClr val="1D9BF0"/>
                </a:solidFill>
                <a:latin typeface="Montserrat"/>
                <a:ea typeface="Montserrat"/>
                <a:cs typeface="Montserrat"/>
                <a:sym typeface="Montserrat"/>
              </a:rPr>
              <a:t>Epidemiology study designs and their applications</a:t>
            </a:r>
            <a:endParaRPr i="1" sz="6103">
              <a:solidFill>
                <a:srgbClr val="000000"/>
              </a:solidFill>
              <a:latin typeface="Montserrat"/>
              <a:ea typeface="Montserrat"/>
              <a:cs typeface="Montserrat"/>
              <a:sym typeface="Montserrat"/>
            </a:endParaRPr>
          </a:p>
        </p:txBody>
      </p:sp>
      <p:sp>
        <p:nvSpPr>
          <p:cNvPr id="332" name="Google Shape;332;p9"/>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3" name="Google Shape;333;p9"/>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4" name="Google Shape;334;p9"/>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5" name="Google Shape;335;p9"/>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6" name="Google Shape;336;p9"/>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7" name="Google Shape;337;p9"/>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9"/>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9" name="Google Shape;339;p9"/>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9"/>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1" name="Google Shape;341;p9"/>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9"/>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9"/>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9"/>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9"/>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6" name="Google Shape;346;p9"/>
          <p:cNvSpPr/>
          <p:nvPr/>
        </p:nvSpPr>
        <p:spPr>
          <a:xfrm rot="5400000">
            <a:off x="0" y="6896073"/>
            <a:ext cx="3400452" cy="3400452"/>
          </a:xfrm>
          <a:custGeom>
            <a:rect b="b" l="l" r="r" t="t"/>
            <a:pathLst>
              <a:path extrusionOk="0" h="3400452" w="3400452">
                <a:moveTo>
                  <a:pt x="0" y="0"/>
                </a:moveTo>
                <a:lnTo>
                  <a:pt x="3400452" y="0"/>
                </a:lnTo>
                <a:lnTo>
                  <a:pt x="3400452" y="3400452"/>
                </a:lnTo>
                <a:lnTo>
                  <a:pt x="0" y="3400452"/>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9"/>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8" name="Google Shape;348;p9"/>
          <p:cNvSpPr txBox="1"/>
          <p:nvPr/>
        </p:nvSpPr>
        <p:spPr>
          <a:xfrm>
            <a:off x="16303102" y="9651707"/>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1"/>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54" name="Google Shape;354;p11"/>
          <p:cNvGrpSpPr/>
          <p:nvPr/>
        </p:nvGrpSpPr>
        <p:grpSpPr>
          <a:xfrm>
            <a:off x="5727906" y="218055"/>
            <a:ext cx="6832187" cy="1491696"/>
            <a:chOff x="0" y="0"/>
            <a:chExt cx="9109583" cy="1988928"/>
          </a:xfrm>
        </p:grpSpPr>
        <p:sp>
          <p:nvSpPr>
            <p:cNvPr id="355" name="Google Shape;355;p11"/>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p11"/>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7" name="Google Shape;357;p11"/>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8" name="Google Shape;358;p11"/>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9" name="Google Shape;359;p11"/>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Fundamental assumptions of Epi</a:t>
            </a:r>
            <a:endParaRPr/>
          </a:p>
        </p:txBody>
      </p:sp>
      <p:sp>
        <p:nvSpPr>
          <p:cNvPr id="360" name="Google Shape;360;p11"/>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11"/>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1"/>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11"/>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11"/>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11"/>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6" name="Google Shape;366;p11"/>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7" name="Google Shape;367;p11"/>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8" name="Google Shape;368;p11"/>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9" name="Google Shape;369;p11"/>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11"/>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1" name="Google Shape;371;p11"/>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1"/>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11"/>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1"/>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5" name="Google Shape;375;p11"/>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11"/>
          <p:cNvSpPr txBox="1"/>
          <p:nvPr/>
        </p:nvSpPr>
        <p:spPr>
          <a:xfrm>
            <a:off x="1624481" y="2437948"/>
            <a:ext cx="15284100" cy="7190700"/>
          </a:xfrm>
          <a:prstGeom prst="rect">
            <a:avLst/>
          </a:prstGeom>
          <a:noFill/>
          <a:ln>
            <a:noFill/>
          </a:ln>
        </p:spPr>
        <p:txBody>
          <a:bodyPr anchorCtr="0" anchor="t" bIns="0" lIns="0" spcFirstLastPara="1" rIns="0" wrap="square" tIns="0">
            <a:spAutoFit/>
          </a:bodyPr>
          <a:lstStyle/>
          <a:p>
            <a:pPr indent="-234950" lvl="0" marL="228600" marR="0" rtl="0" algn="l">
              <a:lnSpc>
                <a:spcPct val="90000"/>
              </a:lnSpc>
              <a:spcBef>
                <a:spcPts val="0"/>
              </a:spcBef>
              <a:spcAft>
                <a:spcPts val="0"/>
              </a:spcAft>
              <a:buClr>
                <a:srgbClr val="000000"/>
              </a:buClr>
              <a:buSzPts val="3700"/>
              <a:buFont typeface="Arial"/>
              <a:buChar char="•"/>
            </a:pPr>
            <a:r>
              <a:rPr b="0" i="0" lang="en-GB" sz="3700" u="none" cap="none" strike="noStrike">
                <a:solidFill>
                  <a:srgbClr val="000000"/>
                </a:solidFill>
                <a:latin typeface="Arial"/>
                <a:ea typeface="Arial"/>
                <a:cs typeface="Arial"/>
                <a:sym typeface="Arial"/>
              </a:rPr>
              <a:t>Disease does not occur in </a:t>
            </a:r>
            <a:r>
              <a:rPr lang="en-GB" sz="3700"/>
              <a:t>isolation</a:t>
            </a:r>
            <a:endParaRPr sz="1500"/>
          </a:p>
          <a:p>
            <a:pPr indent="-234950" lvl="1" marL="685800" marR="0" rtl="0" algn="l">
              <a:lnSpc>
                <a:spcPct val="90000"/>
              </a:lnSpc>
              <a:spcBef>
                <a:spcPts val="500"/>
              </a:spcBef>
              <a:spcAft>
                <a:spcPts val="0"/>
              </a:spcAft>
              <a:buClr>
                <a:srgbClr val="000000"/>
              </a:buClr>
              <a:buSzPts val="3300"/>
              <a:buFont typeface="Arial"/>
              <a:buChar char="•"/>
            </a:pPr>
            <a:r>
              <a:rPr b="0" i="0" lang="en-GB" sz="3300" u="none" cap="none" strike="noStrike">
                <a:solidFill>
                  <a:srgbClr val="000000"/>
                </a:solidFill>
                <a:latin typeface="Arial"/>
                <a:ea typeface="Arial"/>
                <a:cs typeface="Arial"/>
                <a:sym typeface="Arial"/>
              </a:rPr>
              <a:t>Disease is not randomly distributed throughout a population</a:t>
            </a:r>
            <a:endParaRPr sz="1500"/>
          </a:p>
          <a:p>
            <a:pPr indent="-234950" lvl="1" marL="685800" marR="0" rtl="0" algn="l">
              <a:lnSpc>
                <a:spcPct val="90000"/>
              </a:lnSpc>
              <a:spcBef>
                <a:spcPts val="500"/>
              </a:spcBef>
              <a:spcAft>
                <a:spcPts val="0"/>
              </a:spcAft>
              <a:buClr>
                <a:srgbClr val="000000"/>
              </a:buClr>
              <a:buSzPts val="3300"/>
              <a:buFont typeface="Arial"/>
              <a:buChar char="•"/>
            </a:pPr>
            <a:r>
              <a:rPr b="0" i="0" lang="en-GB" sz="3300" u="none" cap="none" strike="noStrike">
                <a:solidFill>
                  <a:srgbClr val="000000"/>
                </a:solidFill>
                <a:latin typeface="Arial"/>
                <a:ea typeface="Arial"/>
                <a:cs typeface="Arial"/>
                <a:sym typeface="Arial"/>
              </a:rPr>
              <a:t>Epidemiology uses systematic approach to study the differences in disease distribution in subgroups</a:t>
            </a:r>
            <a:endParaRPr sz="1500"/>
          </a:p>
          <a:p>
            <a:pPr indent="-234950" lvl="1" marL="685800" marR="0" rtl="0" algn="l">
              <a:lnSpc>
                <a:spcPct val="90000"/>
              </a:lnSpc>
              <a:spcBef>
                <a:spcPts val="500"/>
              </a:spcBef>
              <a:spcAft>
                <a:spcPts val="0"/>
              </a:spcAft>
              <a:buClr>
                <a:srgbClr val="000000"/>
              </a:buClr>
              <a:buSzPts val="3300"/>
              <a:buFont typeface="Arial"/>
              <a:buChar char="•"/>
            </a:pPr>
            <a:r>
              <a:rPr b="0" i="0" lang="en-GB" sz="3300" u="none" cap="none" strike="noStrike">
                <a:solidFill>
                  <a:srgbClr val="000000"/>
                </a:solidFill>
                <a:latin typeface="Arial"/>
                <a:ea typeface="Arial"/>
                <a:cs typeface="Arial"/>
                <a:sym typeface="Arial"/>
              </a:rPr>
              <a:t>Allows for study of causal and preventive factors</a:t>
            </a:r>
            <a:endParaRPr sz="1500"/>
          </a:p>
          <a:p>
            <a:pPr indent="-25400" lvl="1" marL="685800" marR="0" rtl="0" algn="l">
              <a:lnSpc>
                <a:spcPct val="90000"/>
              </a:lnSpc>
              <a:spcBef>
                <a:spcPts val="500"/>
              </a:spcBef>
              <a:spcAft>
                <a:spcPts val="0"/>
              </a:spcAft>
              <a:buClr>
                <a:schemeClr val="dk1"/>
              </a:buClr>
              <a:buSzPts val="3200"/>
              <a:buFont typeface="Arial"/>
              <a:buNone/>
            </a:pPr>
            <a:r>
              <a:t/>
            </a:r>
            <a:endParaRPr b="0" i="0" sz="3300" u="none" cap="none" strike="noStrike">
              <a:solidFill>
                <a:srgbClr val="000000"/>
              </a:solidFill>
              <a:latin typeface="Arial"/>
              <a:ea typeface="Arial"/>
              <a:cs typeface="Arial"/>
              <a:sym typeface="Arial"/>
            </a:endParaRPr>
          </a:p>
          <a:p>
            <a:pPr indent="-234950" lvl="1" marL="228600" marR="0" rtl="0" algn="l">
              <a:lnSpc>
                <a:spcPct val="90000"/>
              </a:lnSpc>
              <a:spcBef>
                <a:spcPts val="1000"/>
              </a:spcBef>
              <a:spcAft>
                <a:spcPts val="0"/>
              </a:spcAft>
              <a:buClr>
                <a:srgbClr val="000000"/>
              </a:buClr>
              <a:buSzPts val="3700"/>
              <a:buFont typeface="Arial"/>
              <a:buChar char="•"/>
            </a:pPr>
            <a:r>
              <a:rPr b="0" i="0" lang="en-GB" sz="3700" u="none" cap="none" strike="noStrike">
                <a:solidFill>
                  <a:srgbClr val="000000"/>
                </a:solidFill>
                <a:latin typeface="Arial"/>
                <a:ea typeface="Arial"/>
                <a:cs typeface="Arial"/>
                <a:sym typeface="Arial"/>
              </a:rPr>
              <a:t>Assesses disease distribution	</a:t>
            </a:r>
            <a:endParaRPr sz="1500"/>
          </a:p>
          <a:p>
            <a:pPr indent="-234950" lvl="2" marL="685800" marR="0" rtl="0" algn="l">
              <a:lnSpc>
                <a:spcPct val="90000"/>
              </a:lnSpc>
              <a:spcBef>
                <a:spcPts val="1000"/>
              </a:spcBef>
              <a:spcAft>
                <a:spcPts val="0"/>
              </a:spcAft>
              <a:buClr>
                <a:srgbClr val="000000"/>
              </a:buClr>
              <a:buSzPts val="3300"/>
              <a:buFont typeface="Arial"/>
              <a:buChar char="•"/>
            </a:pPr>
            <a:r>
              <a:rPr b="0" i="0" lang="en-GB" sz="3300" u="none" cap="none" strike="noStrike">
                <a:solidFill>
                  <a:srgbClr val="000000"/>
                </a:solidFill>
                <a:latin typeface="Arial"/>
                <a:ea typeface="Arial"/>
                <a:cs typeface="Arial"/>
                <a:sym typeface="Arial"/>
              </a:rPr>
              <a:t>Who is getting the disease (e.g. sex, ag</a:t>
            </a:r>
            <a:r>
              <a:rPr lang="en-GB" sz="3300"/>
              <a:t>e)</a:t>
            </a:r>
            <a:r>
              <a:rPr b="0" i="0" lang="en-GB" sz="3300" u="none" cap="none" strike="noStrike">
                <a:solidFill>
                  <a:srgbClr val="000000"/>
                </a:solidFill>
                <a:latin typeface="Arial"/>
                <a:ea typeface="Arial"/>
                <a:cs typeface="Arial"/>
                <a:sym typeface="Arial"/>
              </a:rPr>
              <a:t>?</a:t>
            </a:r>
            <a:endParaRPr sz="1500"/>
          </a:p>
          <a:p>
            <a:pPr indent="-234950" lvl="2" marL="685800" marR="0" rtl="0" algn="l">
              <a:lnSpc>
                <a:spcPct val="90000"/>
              </a:lnSpc>
              <a:spcBef>
                <a:spcPts val="1000"/>
              </a:spcBef>
              <a:spcAft>
                <a:spcPts val="0"/>
              </a:spcAft>
              <a:buClr>
                <a:srgbClr val="000000"/>
              </a:buClr>
              <a:buSzPts val="3300"/>
              <a:buFont typeface="Arial"/>
              <a:buChar char="•"/>
            </a:pPr>
            <a:r>
              <a:rPr b="0" i="0" lang="en-GB" sz="3300" u="none" cap="none" strike="noStrike">
                <a:solidFill>
                  <a:srgbClr val="000000"/>
                </a:solidFill>
                <a:latin typeface="Arial"/>
                <a:ea typeface="Arial"/>
                <a:cs typeface="Arial"/>
                <a:sym typeface="Arial"/>
              </a:rPr>
              <a:t>Where is the disease occurring (e.g. hotspots)?</a:t>
            </a:r>
            <a:endParaRPr sz="1500"/>
          </a:p>
          <a:p>
            <a:pPr indent="-234950" lvl="2" marL="685800" marR="0" rtl="0" algn="l">
              <a:lnSpc>
                <a:spcPct val="90000"/>
              </a:lnSpc>
              <a:spcBef>
                <a:spcPts val="1000"/>
              </a:spcBef>
              <a:spcAft>
                <a:spcPts val="0"/>
              </a:spcAft>
              <a:buClr>
                <a:srgbClr val="000000"/>
              </a:buClr>
              <a:buSzPts val="3300"/>
              <a:buFont typeface="Arial"/>
              <a:buChar char="•"/>
            </a:pPr>
            <a:r>
              <a:rPr b="0" i="0" lang="en-GB" sz="3300" u="none" cap="none" strike="noStrike">
                <a:solidFill>
                  <a:srgbClr val="000000"/>
                </a:solidFill>
                <a:latin typeface="Arial"/>
                <a:ea typeface="Arial"/>
                <a:cs typeface="Arial"/>
                <a:sym typeface="Arial"/>
              </a:rPr>
              <a:t>When is the disease occurring </a:t>
            </a:r>
            <a:r>
              <a:rPr lang="en-GB" sz="3300"/>
              <a:t>(e.g. </a:t>
            </a:r>
            <a:r>
              <a:rPr b="0" i="0" lang="en-GB" sz="3300" u="none" cap="none" strike="noStrike">
                <a:solidFill>
                  <a:srgbClr val="000000"/>
                </a:solidFill>
                <a:latin typeface="Arial"/>
                <a:ea typeface="Arial"/>
                <a:cs typeface="Arial"/>
                <a:sym typeface="Arial"/>
              </a:rPr>
              <a:t>seasonality)?</a:t>
            </a:r>
            <a:endParaRPr sz="1500"/>
          </a:p>
          <a:p>
            <a:pPr indent="-25400" lvl="2" marL="685800" marR="0" rtl="0" algn="l">
              <a:lnSpc>
                <a:spcPct val="90000"/>
              </a:lnSpc>
              <a:spcBef>
                <a:spcPts val="1000"/>
              </a:spcBef>
              <a:spcAft>
                <a:spcPts val="0"/>
              </a:spcAft>
              <a:buClr>
                <a:schemeClr val="dk1"/>
              </a:buClr>
              <a:buSzPts val="3200"/>
              <a:buFont typeface="Arial"/>
              <a:buNone/>
            </a:pPr>
            <a:r>
              <a:t/>
            </a:r>
            <a:endParaRPr b="0" i="0" sz="3300" u="none" cap="none" strike="noStrike">
              <a:solidFill>
                <a:srgbClr val="000000"/>
              </a:solidFill>
              <a:latin typeface="Arial"/>
              <a:ea typeface="Arial"/>
              <a:cs typeface="Arial"/>
              <a:sym typeface="Arial"/>
            </a:endParaRPr>
          </a:p>
          <a:p>
            <a:pPr indent="-234950" lvl="1" marL="228600" marR="0" rtl="0" algn="l">
              <a:lnSpc>
                <a:spcPct val="90000"/>
              </a:lnSpc>
              <a:spcBef>
                <a:spcPts val="1000"/>
              </a:spcBef>
              <a:spcAft>
                <a:spcPts val="0"/>
              </a:spcAft>
              <a:buClr>
                <a:srgbClr val="000000"/>
              </a:buClr>
              <a:buSzPts val="3700"/>
              <a:buFont typeface="Arial"/>
              <a:buChar char="•"/>
            </a:pPr>
            <a:r>
              <a:rPr b="0" i="0" lang="en-GB" sz="3700" u="none" cap="none" strike="noStrike">
                <a:solidFill>
                  <a:srgbClr val="000000"/>
                </a:solidFill>
                <a:latin typeface="Arial"/>
                <a:ea typeface="Arial"/>
                <a:cs typeface="Arial"/>
                <a:sym typeface="Arial"/>
              </a:rPr>
              <a:t>Identifies determinants of disease – hypothesis are tested using epi studies</a:t>
            </a:r>
            <a:endParaRPr sz="1500"/>
          </a:p>
        </p:txBody>
      </p:sp>
      <p:sp>
        <p:nvSpPr>
          <p:cNvPr id="377" name="Google Shape;377;p11"/>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2"/>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383" name="Google Shape;383;p12"/>
          <p:cNvGrpSpPr/>
          <p:nvPr/>
        </p:nvGrpSpPr>
        <p:grpSpPr>
          <a:xfrm>
            <a:off x="5727906" y="218055"/>
            <a:ext cx="6832187" cy="1491696"/>
            <a:chOff x="0" y="0"/>
            <a:chExt cx="9109583" cy="1988928"/>
          </a:xfrm>
        </p:grpSpPr>
        <p:sp>
          <p:nvSpPr>
            <p:cNvPr id="384" name="Google Shape;384;p12"/>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12"/>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6" name="Google Shape;386;p12"/>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87" name="Google Shape;387;p12"/>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8" name="Google Shape;388;p12"/>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Why study designs matter</a:t>
            </a:r>
            <a:endParaRPr/>
          </a:p>
        </p:txBody>
      </p:sp>
      <p:sp>
        <p:nvSpPr>
          <p:cNvPr id="389" name="Google Shape;389;p12"/>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0" name="Google Shape;390;p12"/>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12"/>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2" name="Google Shape;392;p12"/>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2"/>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4" name="Google Shape;394;p12"/>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2"/>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6" name="Google Shape;396;p12"/>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2"/>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8" name="Google Shape;398;p12"/>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2"/>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0" name="Google Shape;400;p12"/>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1" name="Google Shape;401;p12"/>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2"/>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3" name="Google Shape;403;p12"/>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2"/>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5" name="Google Shape;405;p12"/>
          <p:cNvSpPr txBox="1"/>
          <p:nvPr/>
        </p:nvSpPr>
        <p:spPr>
          <a:xfrm>
            <a:off x="1624481" y="2437948"/>
            <a:ext cx="15284100" cy="6993300"/>
          </a:xfrm>
          <a:prstGeom prst="rect">
            <a:avLst/>
          </a:prstGeom>
          <a:noFill/>
          <a:ln>
            <a:noFill/>
          </a:ln>
        </p:spPr>
        <p:txBody>
          <a:bodyPr anchorCtr="0" anchor="t" bIns="0" lIns="0" spcFirstLastPara="1" rIns="0" wrap="square" tIns="0">
            <a:spAutoFit/>
          </a:bodyPr>
          <a:lstStyle/>
          <a:p>
            <a:pPr indent="0" lvl="0" marL="228600" marR="0" rtl="0" algn="l">
              <a:lnSpc>
                <a:spcPct val="90000"/>
              </a:lnSpc>
              <a:spcBef>
                <a:spcPts val="0"/>
              </a:spcBef>
              <a:spcAft>
                <a:spcPts val="0"/>
              </a:spcAft>
              <a:buClr>
                <a:schemeClr val="dk1"/>
              </a:buClr>
              <a:buSzPts val="4400"/>
              <a:buFont typeface="Arial"/>
              <a:buNone/>
            </a:pPr>
            <a:r>
              <a:t/>
            </a:r>
            <a:endParaRPr b="0" i="0" sz="4400" u="none" cap="none" strike="noStrike">
              <a:solidFill>
                <a:srgbClr val="000000"/>
              </a:solidFill>
              <a:latin typeface="Arial"/>
              <a:ea typeface="Arial"/>
              <a:cs typeface="Arial"/>
              <a:sym typeface="Arial"/>
            </a:endParaRPr>
          </a:p>
          <a:p>
            <a:pPr indent="-279400" lvl="0" marL="228600" marR="0" rtl="0" algn="l">
              <a:lnSpc>
                <a:spcPct val="90000"/>
              </a:lnSpc>
              <a:spcBef>
                <a:spcPts val="1000"/>
              </a:spcBef>
              <a:spcAft>
                <a:spcPts val="0"/>
              </a:spcAft>
              <a:buClr>
                <a:srgbClr val="000000"/>
              </a:buClr>
              <a:buSzPts val="4400"/>
              <a:buFont typeface="Arial"/>
              <a:buChar char="•"/>
            </a:pPr>
            <a:r>
              <a:rPr b="0" i="0" lang="en-GB" sz="4400" u="none" cap="none" strike="noStrike">
                <a:solidFill>
                  <a:srgbClr val="000000"/>
                </a:solidFill>
                <a:latin typeface="Arial"/>
                <a:ea typeface="Arial"/>
                <a:cs typeface="Arial"/>
                <a:sym typeface="Arial"/>
              </a:rPr>
              <a:t>Study designs vary based on the research question, feasibility, and ethical considerations.</a:t>
            </a:r>
            <a:endParaRPr/>
          </a:p>
          <a:p>
            <a:pPr indent="0" lvl="0" marL="228600" marR="0" rtl="0" algn="l">
              <a:lnSpc>
                <a:spcPct val="90000"/>
              </a:lnSpc>
              <a:spcBef>
                <a:spcPts val="1000"/>
              </a:spcBef>
              <a:spcAft>
                <a:spcPts val="0"/>
              </a:spcAft>
              <a:buClr>
                <a:schemeClr val="dk1"/>
              </a:buClr>
              <a:buSzPts val="4400"/>
              <a:buFont typeface="Arial"/>
              <a:buNone/>
            </a:pPr>
            <a:r>
              <a:t/>
            </a:r>
            <a:endParaRPr b="0" i="0" sz="4400" u="none" cap="none" strike="noStrike">
              <a:solidFill>
                <a:srgbClr val="000000"/>
              </a:solidFill>
              <a:latin typeface="Arial"/>
              <a:ea typeface="Arial"/>
              <a:cs typeface="Arial"/>
              <a:sym typeface="Arial"/>
            </a:endParaRPr>
          </a:p>
          <a:p>
            <a:pPr indent="-279400" lvl="0" marL="228600" marR="0" rtl="0" algn="l">
              <a:lnSpc>
                <a:spcPct val="90000"/>
              </a:lnSpc>
              <a:spcBef>
                <a:spcPts val="1000"/>
              </a:spcBef>
              <a:spcAft>
                <a:spcPts val="0"/>
              </a:spcAft>
              <a:buClr>
                <a:srgbClr val="000000"/>
              </a:buClr>
              <a:buSzPts val="4400"/>
              <a:buFont typeface="Arial"/>
              <a:buChar char="•"/>
            </a:pPr>
            <a:r>
              <a:rPr b="0" i="0" lang="en-GB" sz="4400" u="none" cap="none" strike="noStrike">
                <a:solidFill>
                  <a:srgbClr val="000000"/>
                </a:solidFill>
                <a:latin typeface="Arial"/>
                <a:ea typeface="Arial"/>
                <a:cs typeface="Arial"/>
                <a:sym typeface="Arial"/>
              </a:rPr>
              <a:t>Guides how we </a:t>
            </a:r>
            <a:r>
              <a:rPr b="1" i="0" lang="en-GB" sz="4400" u="none" cap="none" strike="noStrike">
                <a:solidFill>
                  <a:srgbClr val="000000"/>
                </a:solidFill>
                <a:latin typeface="Arial"/>
                <a:ea typeface="Arial"/>
                <a:cs typeface="Arial"/>
                <a:sym typeface="Arial"/>
              </a:rPr>
              <a:t>collect, analyse, and interpret data</a:t>
            </a:r>
            <a:endParaRPr/>
          </a:p>
          <a:p>
            <a:pPr indent="0" lvl="0" marL="228600" marR="0" rtl="0" algn="l">
              <a:lnSpc>
                <a:spcPct val="90000"/>
              </a:lnSpc>
              <a:spcBef>
                <a:spcPts val="1000"/>
              </a:spcBef>
              <a:spcAft>
                <a:spcPts val="0"/>
              </a:spcAft>
              <a:buClr>
                <a:schemeClr val="dk1"/>
              </a:buClr>
              <a:buSzPts val="4400"/>
              <a:buFont typeface="Arial"/>
              <a:buNone/>
            </a:pPr>
            <a:r>
              <a:t/>
            </a:r>
            <a:endParaRPr b="0" i="0" sz="4400" u="none" cap="none" strike="noStrike">
              <a:solidFill>
                <a:srgbClr val="000000"/>
              </a:solidFill>
              <a:latin typeface="Arial"/>
              <a:ea typeface="Arial"/>
              <a:cs typeface="Arial"/>
              <a:sym typeface="Arial"/>
            </a:endParaRPr>
          </a:p>
          <a:p>
            <a:pPr indent="-279400" lvl="0" marL="228600" marR="0" rtl="0" algn="l">
              <a:lnSpc>
                <a:spcPct val="90000"/>
              </a:lnSpc>
              <a:spcBef>
                <a:spcPts val="1000"/>
              </a:spcBef>
              <a:spcAft>
                <a:spcPts val="0"/>
              </a:spcAft>
              <a:buClr>
                <a:srgbClr val="000000"/>
              </a:buClr>
              <a:buSzPts val="4400"/>
              <a:buFont typeface="Arial"/>
              <a:buChar char="•"/>
            </a:pPr>
            <a:r>
              <a:rPr b="0" i="0" lang="en-GB" sz="4400" u="none" cap="none" strike="noStrike">
                <a:solidFill>
                  <a:srgbClr val="000000"/>
                </a:solidFill>
                <a:latin typeface="Arial"/>
                <a:ea typeface="Arial"/>
                <a:cs typeface="Arial"/>
                <a:sym typeface="Arial"/>
              </a:rPr>
              <a:t>Impacts </a:t>
            </a:r>
            <a:r>
              <a:rPr b="1" i="0" lang="en-GB" sz="4400" u="none" cap="none" strike="noStrike">
                <a:solidFill>
                  <a:srgbClr val="000000"/>
                </a:solidFill>
                <a:latin typeface="Arial"/>
                <a:ea typeface="Arial"/>
                <a:cs typeface="Arial"/>
                <a:sym typeface="Arial"/>
              </a:rPr>
              <a:t>validity</a:t>
            </a:r>
            <a:r>
              <a:rPr b="0" i="0" lang="en-GB" sz="4400" u="none" cap="none" strike="noStrike">
                <a:solidFill>
                  <a:srgbClr val="000000"/>
                </a:solidFill>
                <a:latin typeface="Arial"/>
                <a:ea typeface="Arial"/>
                <a:cs typeface="Arial"/>
                <a:sym typeface="Arial"/>
              </a:rPr>
              <a:t>, </a:t>
            </a:r>
            <a:r>
              <a:rPr b="1" i="0" lang="en-GB" sz="4400" u="none" cap="none" strike="noStrike">
                <a:solidFill>
                  <a:srgbClr val="000000"/>
                </a:solidFill>
                <a:latin typeface="Arial"/>
                <a:ea typeface="Arial"/>
                <a:cs typeface="Arial"/>
                <a:sym typeface="Arial"/>
              </a:rPr>
              <a:t>bias</a:t>
            </a:r>
            <a:r>
              <a:rPr b="0" i="0" lang="en-GB" sz="4400" u="none" cap="none" strike="noStrike">
                <a:solidFill>
                  <a:srgbClr val="000000"/>
                </a:solidFill>
                <a:latin typeface="Arial"/>
                <a:ea typeface="Arial"/>
                <a:cs typeface="Arial"/>
                <a:sym typeface="Arial"/>
              </a:rPr>
              <a:t>, and </a:t>
            </a:r>
            <a:r>
              <a:rPr b="1" i="0" lang="en-GB" sz="4400" u="none" cap="none" strike="noStrike">
                <a:solidFill>
                  <a:srgbClr val="000000"/>
                </a:solidFill>
                <a:latin typeface="Arial"/>
                <a:ea typeface="Arial"/>
                <a:cs typeface="Arial"/>
                <a:sym typeface="Arial"/>
              </a:rPr>
              <a:t>causality</a:t>
            </a:r>
            <a:endParaRPr/>
          </a:p>
          <a:p>
            <a:pPr indent="0" lvl="0" marL="228600" marR="0" rtl="0" algn="l">
              <a:lnSpc>
                <a:spcPct val="90000"/>
              </a:lnSpc>
              <a:spcBef>
                <a:spcPts val="1000"/>
              </a:spcBef>
              <a:spcAft>
                <a:spcPts val="0"/>
              </a:spcAft>
              <a:buClr>
                <a:schemeClr val="dk1"/>
              </a:buClr>
              <a:buSzPts val="4400"/>
              <a:buFont typeface="Arial"/>
              <a:buNone/>
            </a:pPr>
            <a:r>
              <a:t/>
            </a:r>
            <a:endParaRPr b="0" i="0" sz="4400" u="none" cap="none" strike="noStrike">
              <a:solidFill>
                <a:srgbClr val="000000"/>
              </a:solidFill>
              <a:latin typeface="Arial"/>
              <a:ea typeface="Arial"/>
              <a:cs typeface="Arial"/>
              <a:sym typeface="Arial"/>
            </a:endParaRPr>
          </a:p>
          <a:p>
            <a:pPr indent="-279400" lvl="0" marL="228600" marR="0" rtl="0" algn="l">
              <a:lnSpc>
                <a:spcPct val="90000"/>
              </a:lnSpc>
              <a:spcBef>
                <a:spcPts val="1000"/>
              </a:spcBef>
              <a:spcAft>
                <a:spcPts val="0"/>
              </a:spcAft>
              <a:buClr>
                <a:srgbClr val="000000"/>
              </a:buClr>
              <a:buSzPts val="4400"/>
              <a:buFont typeface="Arial"/>
              <a:buChar char="•"/>
            </a:pPr>
            <a:r>
              <a:rPr lang="en-GB" sz="4400"/>
              <a:t>Goal: evaluate association between an exposure and outcome as well as effect modifiers</a:t>
            </a:r>
            <a:endParaRPr b="0" i="0" sz="8000" u="none" cap="none" strike="noStrike">
              <a:solidFill>
                <a:srgbClr val="000000"/>
              </a:solidFill>
              <a:latin typeface="Arial"/>
              <a:ea typeface="Arial"/>
              <a:cs typeface="Arial"/>
              <a:sym typeface="Arial"/>
            </a:endParaRPr>
          </a:p>
        </p:txBody>
      </p:sp>
      <p:sp>
        <p:nvSpPr>
          <p:cNvPr id="406" name="Google Shape;406;p12"/>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13"/>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12" name="Google Shape;412;p13"/>
          <p:cNvGrpSpPr/>
          <p:nvPr/>
        </p:nvGrpSpPr>
        <p:grpSpPr>
          <a:xfrm>
            <a:off x="5727906" y="218055"/>
            <a:ext cx="6832187" cy="1491696"/>
            <a:chOff x="0" y="0"/>
            <a:chExt cx="9109583" cy="1988928"/>
          </a:xfrm>
        </p:grpSpPr>
        <p:sp>
          <p:nvSpPr>
            <p:cNvPr id="413" name="Google Shape;413;p13"/>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3"/>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5" name="Google Shape;415;p13"/>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6" name="Google Shape;416;p13"/>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7" name="Google Shape;417;p13"/>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Classification of Study Designs</a:t>
            </a:r>
            <a:endParaRPr/>
          </a:p>
        </p:txBody>
      </p:sp>
      <p:sp>
        <p:nvSpPr>
          <p:cNvPr id="418" name="Google Shape;418;p13"/>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9" name="Google Shape;419;p13"/>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0" name="Google Shape;420;p13"/>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3"/>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2" name="Google Shape;422;p13"/>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3"/>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4" name="Google Shape;424;p13"/>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3"/>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6" name="Google Shape;426;p13"/>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3"/>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8" name="Google Shape;428;p13"/>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3"/>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0" name="Google Shape;430;p13"/>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13"/>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2" name="Google Shape;432;p13"/>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3"/>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4" name="Google Shape;434;p13"/>
          <p:cNvSpPr txBox="1"/>
          <p:nvPr/>
        </p:nvSpPr>
        <p:spPr>
          <a:xfrm>
            <a:off x="1624481" y="2437948"/>
            <a:ext cx="15284100" cy="5975400"/>
          </a:xfrm>
          <a:prstGeom prst="rect">
            <a:avLst/>
          </a:prstGeom>
          <a:noFill/>
          <a:ln>
            <a:noFill/>
          </a:ln>
        </p:spPr>
        <p:txBody>
          <a:bodyPr anchorCtr="0" anchor="t" bIns="0" lIns="0" spcFirstLastPara="1" rIns="0" wrap="square" tIns="0">
            <a:spAutoFit/>
          </a:bodyPr>
          <a:lstStyle/>
          <a:p>
            <a:pPr indent="-279400" lvl="0" marL="228600" marR="0" rtl="0" algn="l">
              <a:lnSpc>
                <a:spcPct val="90000"/>
              </a:lnSpc>
              <a:spcBef>
                <a:spcPts val="0"/>
              </a:spcBef>
              <a:spcAft>
                <a:spcPts val="0"/>
              </a:spcAft>
              <a:buClr>
                <a:srgbClr val="000000"/>
              </a:buClr>
              <a:buSzPts val="4400"/>
              <a:buFont typeface="Arial"/>
              <a:buChar char="•"/>
            </a:pPr>
            <a:r>
              <a:rPr b="1" i="0" lang="en-GB" sz="4400" u="none" cap="none" strike="noStrike">
                <a:solidFill>
                  <a:srgbClr val="000000"/>
                </a:solidFill>
                <a:latin typeface="Arial"/>
                <a:ea typeface="Arial"/>
                <a:cs typeface="Arial"/>
                <a:sym typeface="Arial"/>
              </a:rPr>
              <a:t>Two broad categories:</a:t>
            </a:r>
            <a:endParaRPr/>
          </a:p>
          <a:p>
            <a:pPr indent="-279400" lvl="1" marL="685800" marR="0" rtl="0" algn="l">
              <a:lnSpc>
                <a:spcPct val="90000"/>
              </a:lnSpc>
              <a:spcBef>
                <a:spcPts val="500"/>
              </a:spcBef>
              <a:spcAft>
                <a:spcPts val="0"/>
              </a:spcAft>
              <a:buClr>
                <a:srgbClr val="000000"/>
              </a:buClr>
              <a:buSzPts val="4400"/>
              <a:buFont typeface="Arial"/>
              <a:buChar char="•"/>
            </a:pPr>
            <a:r>
              <a:rPr b="0" i="0" lang="en-GB" sz="4400" u="none" cap="none" strike="noStrike">
                <a:solidFill>
                  <a:srgbClr val="000000"/>
                </a:solidFill>
                <a:latin typeface="Arial"/>
                <a:ea typeface="Arial"/>
                <a:cs typeface="Arial"/>
                <a:sym typeface="Arial"/>
              </a:rPr>
              <a:t>Experimental studies</a:t>
            </a:r>
            <a:endParaRPr/>
          </a:p>
          <a:p>
            <a:pPr indent="-279400" lvl="1" marL="685800" marR="0" rtl="0" algn="l">
              <a:lnSpc>
                <a:spcPct val="90000"/>
              </a:lnSpc>
              <a:spcBef>
                <a:spcPts val="500"/>
              </a:spcBef>
              <a:spcAft>
                <a:spcPts val="0"/>
              </a:spcAft>
              <a:buClr>
                <a:srgbClr val="000000"/>
              </a:buClr>
              <a:buSzPts val="4400"/>
              <a:buFont typeface="Arial"/>
              <a:buChar char="•"/>
            </a:pPr>
            <a:r>
              <a:rPr b="0" i="0" lang="en-GB" sz="4400" u="none" cap="none" strike="noStrike">
                <a:solidFill>
                  <a:srgbClr val="000000"/>
                </a:solidFill>
                <a:latin typeface="Arial"/>
                <a:ea typeface="Arial"/>
                <a:cs typeface="Arial"/>
                <a:sym typeface="Arial"/>
              </a:rPr>
              <a:t>Observational studies</a:t>
            </a: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800"/>
              <a:buFont typeface="Arial"/>
              <a:buNone/>
            </a:pPr>
            <a:r>
              <a:rPr b="0" i="0" lang="en-GB" sz="2800" u="none" cap="none" strike="noStrike">
                <a:solidFill>
                  <a:srgbClr val="000000"/>
                </a:solidFill>
                <a:latin typeface="Arial"/>
                <a:ea typeface="Arial"/>
                <a:cs typeface="Arial"/>
                <a:sym typeface="Arial"/>
              </a:rPr>
              <a:t>References</a:t>
            </a:r>
            <a:endParaRPr/>
          </a:p>
          <a:p>
            <a:pPr indent="-228600" lvl="0" marL="228600" marR="0" rtl="0" algn="l">
              <a:lnSpc>
                <a:spcPct val="90000"/>
              </a:lnSpc>
              <a:spcBef>
                <a:spcPts val="1000"/>
              </a:spcBef>
              <a:spcAft>
                <a:spcPts val="0"/>
              </a:spcAft>
              <a:buClr>
                <a:srgbClr val="000000"/>
              </a:buClr>
              <a:buSzPts val="2000"/>
              <a:buFont typeface="Arial"/>
              <a:buChar char="•"/>
            </a:pPr>
            <a:r>
              <a:rPr b="0" i="0" lang="en-GB" sz="2000" u="none" cap="none" strike="noStrike">
                <a:solidFill>
                  <a:srgbClr val="000000"/>
                </a:solidFill>
                <a:latin typeface="Arial"/>
                <a:ea typeface="Arial"/>
                <a:cs typeface="Arial"/>
                <a:sym typeface="Arial"/>
              </a:rPr>
              <a:t>Manja V, Lakshminrusimha S. Epidemiology and Clinical Research Design, Part 1: Study Types. </a:t>
            </a:r>
            <a:r>
              <a:rPr b="0" i="1" lang="en-GB" sz="2000" u="none" cap="none" strike="noStrike">
                <a:solidFill>
                  <a:srgbClr val="000000"/>
                </a:solidFill>
                <a:latin typeface="Arial"/>
                <a:ea typeface="Arial"/>
                <a:cs typeface="Arial"/>
                <a:sym typeface="Arial"/>
              </a:rPr>
              <a:t>Neoreviews</a:t>
            </a:r>
            <a:r>
              <a:rPr b="0" i="0" lang="en-GB" sz="2000" u="none" cap="none" strike="noStrike">
                <a:solidFill>
                  <a:srgbClr val="000000"/>
                </a:solidFill>
                <a:latin typeface="Arial"/>
                <a:ea typeface="Arial"/>
                <a:cs typeface="Arial"/>
                <a:sym typeface="Arial"/>
              </a:rPr>
              <a:t>. 2014;15(12):e558-e569. doi:10.1542/neo.15-12-e558</a:t>
            </a:r>
            <a:endParaRPr/>
          </a:p>
          <a:p>
            <a:pPr indent="-228600" lvl="0" marL="228600" marR="0" rtl="0" algn="l">
              <a:lnSpc>
                <a:spcPct val="90000"/>
              </a:lnSpc>
              <a:spcBef>
                <a:spcPts val="1000"/>
              </a:spcBef>
              <a:spcAft>
                <a:spcPts val="0"/>
              </a:spcAft>
              <a:buClr>
                <a:srgbClr val="000000"/>
              </a:buClr>
              <a:buSzPts val="2000"/>
              <a:buFont typeface="Arial"/>
              <a:buChar char="•"/>
            </a:pPr>
            <a:r>
              <a:rPr b="0" i="0" lang="en-GB" sz="2000" u="none" cap="none" strike="noStrike">
                <a:solidFill>
                  <a:srgbClr val="000000"/>
                </a:solidFill>
                <a:latin typeface="Arial"/>
                <a:ea typeface="Arial"/>
                <a:cs typeface="Arial"/>
                <a:sym typeface="Arial"/>
              </a:rPr>
              <a:t>Manja V, Lakshminrusimha S. Epidemiology and Clinical Research Design, Part 2: Principles. </a:t>
            </a:r>
            <a:r>
              <a:rPr b="0" i="1" lang="en-GB" sz="2000" u="none" cap="none" strike="noStrike">
                <a:solidFill>
                  <a:srgbClr val="000000"/>
                </a:solidFill>
                <a:latin typeface="Arial"/>
                <a:ea typeface="Arial"/>
                <a:cs typeface="Arial"/>
                <a:sym typeface="Arial"/>
              </a:rPr>
              <a:t>Neoreviews</a:t>
            </a:r>
            <a:r>
              <a:rPr b="0" i="0" lang="en-GB" sz="2000" u="none" cap="none" strike="noStrike">
                <a:solidFill>
                  <a:srgbClr val="000000"/>
                </a:solidFill>
                <a:latin typeface="Arial"/>
                <a:ea typeface="Arial"/>
                <a:cs typeface="Arial"/>
                <a:sym typeface="Arial"/>
              </a:rPr>
              <a:t>. 2015;16(2):e94-e108. doi:10.1542/neo.16-2-e94</a:t>
            </a:r>
            <a:endParaRPr/>
          </a:p>
          <a:p>
            <a:pPr indent="-177800" lvl="0" marL="228600" marR="0" rtl="0" algn="l">
              <a:lnSpc>
                <a:spcPct val="90000"/>
              </a:lnSpc>
              <a:spcBef>
                <a:spcPts val="1000"/>
              </a:spcBef>
              <a:spcAft>
                <a:spcPts val="0"/>
              </a:spcAft>
              <a:buClr>
                <a:srgbClr val="000000"/>
              </a:buClr>
              <a:buSzPts val="2000"/>
              <a:buFont typeface="Arial"/>
              <a:buChar char="•"/>
            </a:pPr>
            <a:r>
              <a:rPr b="0" i="0" lang="en-GB" sz="2000" u="sng" cap="none" strike="noStrike">
                <a:solidFill>
                  <a:srgbClr val="000000"/>
                </a:solidFill>
                <a:latin typeface="Arial"/>
                <a:ea typeface="Arial"/>
                <a:cs typeface="Arial"/>
                <a:sym typeface="Arial"/>
                <a:hlinkClick r:id="rId10">
                  <a:extLst>
                    <a:ext uri="{A12FA001-AC4F-418D-AE19-62706E023703}">
                      <ahyp:hlinkClr val="tx"/>
                    </a:ext>
                  </a:extLst>
                </a:hlinkClick>
              </a:rPr>
              <a:t>https://www.taylorfrancis.com/books/mono/10.1201/b16343/epidemiology-mark-woodward-mark-woodward</a:t>
            </a:r>
            <a:r>
              <a:rPr b="0" i="0" lang="en-GB" sz="2000" u="none" cap="none" strike="noStrike">
                <a:solidFill>
                  <a:srgbClr val="000000"/>
                </a:solidFill>
                <a:latin typeface="Arial"/>
                <a:ea typeface="Arial"/>
                <a:cs typeface="Arial"/>
                <a:sym typeface="Arial"/>
              </a:rPr>
              <a:t> </a:t>
            </a:r>
            <a:endParaRPr sz="2000"/>
          </a:p>
          <a:p>
            <a:pPr indent="-177800" lvl="0" marL="228600" marR="0" rtl="0" algn="l">
              <a:lnSpc>
                <a:spcPct val="90000"/>
              </a:lnSpc>
              <a:spcBef>
                <a:spcPts val="1000"/>
              </a:spcBef>
              <a:spcAft>
                <a:spcPts val="0"/>
              </a:spcAft>
              <a:buClr>
                <a:srgbClr val="000000"/>
              </a:buClr>
              <a:buSzPts val="2000"/>
              <a:buFont typeface="Arial"/>
              <a:buChar char="•"/>
            </a:pPr>
            <a:r>
              <a:rPr b="0" i="0" lang="en-GB" sz="2000" u="sng" cap="none" strike="noStrike">
                <a:solidFill>
                  <a:srgbClr val="000000"/>
                </a:solidFill>
                <a:latin typeface="Arial"/>
                <a:ea typeface="Arial"/>
                <a:cs typeface="Arial"/>
                <a:sym typeface="Arial"/>
                <a:hlinkClick r:id="rId11">
                  <a:extLst>
                    <a:ext uri="{A12FA001-AC4F-418D-AE19-62706E023703}">
                      <ahyp:hlinkClr val="tx"/>
                    </a:ext>
                  </a:extLst>
                </a:hlinkClick>
              </a:rPr>
              <a:t>https://www.harvard.com/book/9781451193282</a:t>
            </a:r>
            <a:endParaRPr b="0" i="0" sz="2000" u="none" cap="none" strike="noStrike">
              <a:solidFill>
                <a:srgbClr val="000000"/>
              </a:solidFill>
              <a:latin typeface="Arial"/>
              <a:ea typeface="Arial"/>
              <a:cs typeface="Arial"/>
              <a:sym typeface="Arial"/>
            </a:endParaRPr>
          </a:p>
          <a:p>
            <a:pPr indent="-177800" lvl="0" marL="228600" marR="0" rtl="0" algn="l">
              <a:lnSpc>
                <a:spcPct val="90000"/>
              </a:lnSpc>
              <a:spcBef>
                <a:spcPts val="1000"/>
              </a:spcBef>
              <a:spcAft>
                <a:spcPts val="0"/>
              </a:spcAft>
              <a:buClr>
                <a:srgbClr val="000000"/>
              </a:buClr>
              <a:buSzPts val="2000"/>
              <a:buFont typeface="Arial"/>
              <a:buChar char="•"/>
            </a:pPr>
            <a:r>
              <a:rPr b="0" i="0" lang="en-GB" sz="2000" u="sng" cap="none" strike="noStrike">
                <a:solidFill>
                  <a:srgbClr val="000000"/>
                </a:solidFill>
                <a:latin typeface="Arial"/>
                <a:ea typeface="Arial"/>
                <a:cs typeface="Arial"/>
                <a:sym typeface="Arial"/>
                <a:hlinkClick r:id="rId12">
                  <a:extLst>
                    <a:ext uri="{A12FA001-AC4F-418D-AE19-62706E023703}">
                      <ahyp:hlinkClr val="tx"/>
                    </a:ext>
                  </a:extLst>
                </a:hlinkClick>
              </a:rPr>
              <a:t>https://www.abebooks.com/9781584880097/Epidemiology-Study-Design-Data-Analysis-1584880090/plp</a:t>
            </a:r>
            <a:r>
              <a:rPr b="0" i="0" lang="en-GB" sz="2000" u="none" cap="none" strike="noStrike">
                <a:solidFill>
                  <a:srgbClr val="000000"/>
                </a:solidFill>
                <a:latin typeface="Arial"/>
                <a:ea typeface="Arial"/>
                <a:cs typeface="Arial"/>
                <a:sym typeface="Arial"/>
              </a:rPr>
              <a:t> </a:t>
            </a:r>
            <a:endParaRPr sz="2000"/>
          </a:p>
          <a:p>
            <a:pPr indent="0" lvl="0" marL="0" marR="0" rtl="0" algn="l">
              <a:lnSpc>
                <a:spcPct val="90000"/>
              </a:lnSpc>
              <a:spcBef>
                <a:spcPts val="1000"/>
              </a:spcBef>
              <a:spcAft>
                <a:spcPts val="0"/>
              </a:spcAft>
              <a:buNone/>
            </a:pPr>
            <a:r>
              <a:t/>
            </a:r>
            <a:endParaRPr b="0" i="0" sz="2000" u="none" cap="none" strike="noStrike">
              <a:solidFill>
                <a:srgbClr val="000000"/>
              </a:solidFill>
              <a:latin typeface="Arial"/>
              <a:ea typeface="Arial"/>
              <a:cs typeface="Arial"/>
              <a:sym typeface="Arial"/>
            </a:endParaRPr>
          </a:p>
        </p:txBody>
      </p:sp>
      <p:sp>
        <p:nvSpPr>
          <p:cNvPr id="435" name="Google Shape;435;p13"/>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15"/>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41" name="Google Shape;441;p15"/>
          <p:cNvGrpSpPr/>
          <p:nvPr/>
        </p:nvGrpSpPr>
        <p:grpSpPr>
          <a:xfrm>
            <a:off x="5727906" y="218055"/>
            <a:ext cx="6832187" cy="1491696"/>
            <a:chOff x="0" y="0"/>
            <a:chExt cx="9109583" cy="1988928"/>
          </a:xfrm>
        </p:grpSpPr>
        <p:sp>
          <p:nvSpPr>
            <p:cNvPr id="442" name="Google Shape;442;p15"/>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3" name="Google Shape;443;p15"/>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15"/>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5" name="Google Shape;445;p15"/>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5"/>
          <p:cNvSpPr txBox="1"/>
          <p:nvPr/>
        </p:nvSpPr>
        <p:spPr>
          <a:xfrm>
            <a:off x="1301329" y="1471600"/>
            <a:ext cx="7900500" cy="677400"/>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0">
                <a:solidFill>
                  <a:srgbClr val="F4743B"/>
                </a:solidFill>
              </a:rPr>
              <a:t>Experimental Study Designs</a:t>
            </a:r>
            <a:r>
              <a:rPr lang="en-GB" sz="4400">
                <a:solidFill>
                  <a:schemeClr val="dk1"/>
                </a:solidFill>
              </a:rPr>
              <a:t> </a:t>
            </a:r>
            <a:endParaRPr>
              <a:solidFill>
                <a:schemeClr val="accent2"/>
              </a:solidFill>
            </a:endParaRPr>
          </a:p>
        </p:txBody>
      </p:sp>
      <p:sp>
        <p:nvSpPr>
          <p:cNvPr id="447" name="Google Shape;447;p15"/>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5"/>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9" name="Google Shape;449;p15"/>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15"/>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1" name="Google Shape;451;p15"/>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5"/>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3" name="Google Shape;453;p15"/>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15"/>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15"/>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5"/>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7" name="Google Shape;457;p15"/>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8" name="Google Shape;458;p15"/>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15"/>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15"/>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5"/>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p15"/>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5"/>
          <p:cNvSpPr txBox="1"/>
          <p:nvPr/>
        </p:nvSpPr>
        <p:spPr>
          <a:xfrm>
            <a:off x="929375" y="2548516"/>
            <a:ext cx="15594900" cy="6270900"/>
          </a:xfrm>
          <a:prstGeom prst="rect">
            <a:avLst/>
          </a:prstGeom>
          <a:noFill/>
          <a:ln>
            <a:noFill/>
          </a:ln>
        </p:spPr>
        <p:txBody>
          <a:bodyPr anchorCtr="0" anchor="t" bIns="0" lIns="0" spcFirstLastPara="1" rIns="0" wrap="square" tIns="0">
            <a:spAutoFit/>
          </a:bodyPr>
          <a:lstStyle/>
          <a:p>
            <a:pPr indent="-533400" lvl="0" marL="457200" marR="0" rtl="0" algn="l">
              <a:lnSpc>
                <a:spcPct val="100000"/>
              </a:lnSpc>
              <a:spcBef>
                <a:spcPts val="0"/>
              </a:spcBef>
              <a:spcAft>
                <a:spcPts val="0"/>
              </a:spcAft>
              <a:buClr>
                <a:schemeClr val="dk1"/>
              </a:buClr>
              <a:buSzPts val="4800"/>
              <a:buChar char="•"/>
            </a:pPr>
            <a:r>
              <a:rPr lang="en-GB" sz="4800">
                <a:solidFill>
                  <a:schemeClr val="dk1"/>
                </a:solidFill>
              </a:rPr>
              <a:t>A</a:t>
            </a:r>
            <a:r>
              <a:rPr lang="en-GB" sz="4800">
                <a:solidFill>
                  <a:schemeClr val="dk1"/>
                </a:solidFill>
              </a:rPr>
              <a:t>ssesses efficacy of a product or intervention.</a:t>
            </a:r>
            <a:endParaRPr sz="4800">
              <a:solidFill>
                <a:schemeClr val="dk1"/>
              </a:solidFill>
            </a:endParaRPr>
          </a:p>
          <a:p>
            <a:pPr indent="-533400" lvl="0" marL="457200" rtl="0" algn="l">
              <a:lnSpc>
                <a:spcPct val="115000"/>
              </a:lnSpc>
              <a:spcBef>
                <a:spcPts val="0"/>
              </a:spcBef>
              <a:spcAft>
                <a:spcPts val="0"/>
              </a:spcAft>
              <a:buClr>
                <a:schemeClr val="dk1"/>
              </a:buClr>
              <a:buSzPts val="4800"/>
              <a:buChar char="•"/>
            </a:pPr>
            <a:r>
              <a:rPr lang="en-GB" sz="4800">
                <a:solidFill>
                  <a:schemeClr val="dk1"/>
                </a:solidFill>
              </a:rPr>
              <a:t>Designed to establish causality</a:t>
            </a:r>
            <a:endParaRPr sz="4800">
              <a:solidFill>
                <a:schemeClr val="dk1"/>
              </a:solidFill>
            </a:endParaRPr>
          </a:p>
          <a:p>
            <a:pPr indent="-533400" lvl="0" marL="457200" rtl="0" algn="l">
              <a:lnSpc>
                <a:spcPct val="115000"/>
              </a:lnSpc>
              <a:spcBef>
                <a:spcPts val="0"/>
              </a:spcBef>
              <a:spcAft>
                <a:spcPts val="0"/>
              </a:spcAft>
              <a:buClr>
                <a:schemeClr val="dk1"/>
              </a:buClr>
              <a:buSzPts val="4800"/>
              <a:buChar char="•"/>
            </a:pPr>
            <a:r>
              <a:rPr lang="en-GB" sz="4800">
                <a:solidFill>
                  <a:schemeClr val="dk1"/>
                </a:solidFill>
              </a:rPr>
              <a:t>Clinical trials are the gold standard</a:t>
            </a:r>
            <a:endParaRPr sz="4800">
              <a:solidFill>
                <a:schemeClr val="dk1"/>
              </a:solidFill>
            </a:endParaRPr>
          </a:p>
          <a:p>
            <a:pPr indent="-533400" lvl="0" marL="457200" marR="0" rtl="0" algn="l">
              <a:lnSpc>
                <a:spcPct val="100000"/>
              </a:lnSpc>
              <a:spcBef>
                <a:spcPts val="0"/>
              </a:spcBef>
              <a:spcAft>
                <a:spcPts val="0"/>
              </a:spcAft>
              <a:buSzPts val="4800"/>
              <a:buChar char="•"/>
            </a:pPr>
            <a:r>
              <a:rPr b="0" i="0" lang="en-GB" sz="4800" u="none" cap="none" strike="noStrike">
                <a:solidFill>
                  <a:srgbClr val="000000"/>
                </a:solidFill>
                <a:latin typeface="Arial"/>
                <a:ea typeface="Arial"/>
                <a:cs typeface="Arial"/>
                <a:sym typeface="Arial"/>
              </a:rPr>
              <a:t>Randomi</a:t>
            </a:r>
            <a:r>
              <a:rPr lang="en-GB" sz="4800"/>
              <a:t>s</a:t>
            </a:r>
            <a:r>
              <a:rPr b="0" i="0" lang="en-GB" sz="4800" u="none" cap="none" strike="noStrike">
                <a:solidFill>
                  <a:srgbClr val="000000"/>
                </a:solidFill>
                <a:latin typeface="Arial"/>
                <a:ea typeface="Arial"/>
                <a:cs typeface="Arial"/>
                <a:sym typeface="Arial"/>
              </a:rPr>
              <a:t>ed Controlled Trials (RCTs) </a:t>
            </a:r>
            <a:r>
              <a:rPr lang="en-GB" sz="4800">
                <a:solidFill>
                  <a:schemeClr val="dk1"/>
                </a:solidFill>
              </a:rPr>
              <a:t>determines whether experimental treatments are effective and safe</a:t>
            </a:r>
            <a:endParaRPr sz="4800">
              <a:solidFill>
                <a:schemeClr val="dk1"/>
              </a:solidFill>
            </a:endParaRPr>
          </a:p>
          <a:p>
            <a:pPr indent="-533400" lvl="0" marL="457200" marR="0" rtl="0" algn="l">
              <a:lnSpc>
                <a:spcPct val="100000"/>
              </a:lnSpc>
              <a:spcBef>
                <a:spcPts val="0"/>
              </a:spcBef>
              <a:spcAft>
                <a:spcPts val="0"/>
              </a:spcAft>
              <a:buClr>
                <a:schemeClr val="dk1"/>
              </a:buClr>
              <a:buSzPts val="4800"/>
              <a:buChar char="•"/>
            </a:pPr>
            <a:r>
              <a:rPr lang="en-GB" sz="4800">
                <a:solidFill>
                  <a:schemeClr val="dk1"/>
                </a:solidFill>
              </a:rPr>
              <a:t>Others:</a:t>
            </a:r>
            <a:endParaRPr sz="4800">
              <a:solidFill>
                <a:schemeClr val="dk1"/>
              </a:solidFill>
            </a:endParaRPr>
          </a:p>
          <a:p>
            <a:pPr indent="-450850" lvl="4" marL="2286000" marR="0" rtl="0" algn="l">
              <a:lnSpc>
                <a:spcPct val="100000"/>
              </a:lnSpc>
              <a:spcBef>
                <a:spcPts val="0"/>
              </a:spcBef>
              <a:spcAft>
                <a:spcPts val="0"/>
              </a:spcAft>
              <a:buClr>
                <a:srgbClr val="000000"/>
              </a:buClr>
              <a:buSzPts val="3500"/>
              <a:buFont typeface="Arial"/>
              <a:buChar char="○"/>
            </a:pPr>
            <a:r>
              <a:rPr b="0" i="0" lang="en-GB" sz="3500" u="none" cap="none" strike="noStrike">
                <a:solidFill>
                  <a:srgbClr val="000000"/>
                </a:solidFill>
                <a:latin typeface="Arial"/>
                <a:ea typeface="Arial"/>
                <a:cs typeface="Arial"/>
                <a:sym typeface="Arial"/>
              </a:rPr>
              <a:t>Cluster randomized trial</a:t>
            </a:r>
            <a:endParaRPr sz="100"/>
          </a:p>
          <a:p>
            <a:pPr indent="-450850" lvl="4" marL="2286000" marR="0" rtl="0" algn="l">
              <a:lnSpc>
                <a:spcPct val="100000"/>
              </a:lnSpc>
              <a:spcBef>
                <a:spcPts val="0"/>
              </a:spcBef>
              <a:spcAft>
                <a:spcPts val="0"/>
              </a:spcAft>
              <a:buClr>
                <a:srgbClr val="000000"/>
              </a:buClr>
              <a:buSzPts val="3500"/>
              <a:buFont typeface="Arial"/>
              <a:buChar char="○"/>
            </a:pPr>
            <a:r>
              <a:rPr b="0" i="0" lang="en-GB" sz="3500" u="none" cap="none" strike="noStrike">
                <a:solidFill>
                  <a:srgbClr val="000000"/>
                </a:solidFill>
                <a:latin typeface="Arial"/>
                <a:ea typeface="Arial"/>
                <a:cs typeface="Arial"/>
                <a:sym typeface="Arial"/>
              </a:rPr>
              <a:t>Adaptive </a:t>
            </a:r>
            <a:endParaRPr sz="100"/>
          </a:p>
          <a:p>
            <a:pPr indent="-450850" lvl="4" marL="2286000" marR="0" rtl="0" algn="l">
              <a:lnSpc>
                <a:spcPct val="100000"/>
              </a:lnSpc>
              <a:spcBef>
                <a:spcPts val="0"/>
              </a:spcBef>
              <a:spcAft>
                <a:spcPts val="0"/>
              </a:spcAft>
              <a:buClr>
                <a:srgbClr val="000000"/>
              </a:buClr>
              <a:buSzPts val="3500"/>
              <a:buFont typeface="Arial"/>
              <a:buChar char="○"/>
            </a:pPr>
            <a:r>
              <a:rPr b="0" i="0" lang="en-GB" sz="3500" u="none" cap="none" strike="noStrike">
                <a:solidFill>
                  <a:srgbClr val="000000"/>
                </a:solidFill>
                <a:latin typeface="Arial"/>
                <a:ea typeface="Arial"/>
                <a:cs typeface="Arial"/>
                <a:sym typeface="Arial"/>
              </a:rPr>
              <a:t>Stepped-wedge etc.</a:t>
            </a:r>
            <a:endParaRPr sz="100"/>
          </a:p>
        </p:txBody>
      </p:sp>
      <p:sp>
        <p:nvSpPr>
          <p:cNvPr id="464" name="Google Shape;464;p15"/>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2</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16"/>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70" name="Google Shape;470;p16"/>
          <p:cNvGrpSpPr/>
          <p:nvPr/>
        </p:nvGrpSpPr>
        <p:grpSpPr>
          <a:xfrm>
            <a:off x="5727906" y="218055"/>
            <a:ext cx="6832187" cy="1491696"/>
            <a:chOff x="0" y="0"/>
            <a:chExt cx="9109583" cy="1988928"/>
          </a:xfrm>
        </p:grpSpPr>
        <p:sp>
          <p:nvSpPr>
            <p:cNvPr id="471" name="Google Shape;471;p16"/>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16"/>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16"/>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4" name="Google Shape;474;p16"/>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6"/>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16"/>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7" name="Google Shape;477;p16"/>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6"/>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9" name="Google Shape;479;p16"/>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6"/>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1" name="Google Shape;481;p16"/>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16"/>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3" name="Google Shape;483;p16"/>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6"/>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16"/>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6"/>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7" name="Google Shape;487;p16"/>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8" name="Google Shape;488;p16"/>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6"/>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0" name="Google Shape;490;p16"/>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p16"/>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2</a:t>
            </a:r>
            <a:endParaRPr/>
          </a:p>
        </p:txBody>
      </p:sp>
      <p:pic>
        <p:nvPicPr>
          <p:cNvPr id="492" name="Google Shape;492;p16"/>
          <p:cNvPicPr preferRelativeResize="0"/>
          <p:nvPr/>
        </p:nvPicPr>
        <p:blipFill rotWithShape="1">
          <a:blip r:embed="rId10">
            <a:alphaModFix/>
          </a:blip>
          <a:srcRect b="0" l="0" r="0" t="0"/>
          <a:stretch/>
        </p:blipFill>
        <p:spPr>
          <a:xfrm>
            <a:off x="937386" y="1248306"/>
            <a:ext cx="12397614" cy="851706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17"/>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98" name="Google Shape;498;p17"/>
          <p:cNvGrpSpPr/>
          <p:nvPr/>
        </p:nvGrpSpPr>
        <p:grpSpPr>
          <a:xfrm>
            <a:off x="5727906" y="218055"/>
            <a:ext cx="6832187" cy="1491696"/>
            <a:chOff x="0" y="0"/>
            <a:chExt cx="9109583" cy="1988928"/>
          </a:xfrm>
        </p:grpSpPr>
        <p:sp>
          <p:nvSpPr>
            <p:cNvPr id="499" name="Google Shape;499;p17"/>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p17"/>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1" name="Google Shape;501;p17"/>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2" name="Google Shape;502;p17"/>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17"/>
          <p:cNvSpPr txBox="1"/>
          <p:nvPr/>
        </p:nvSpPr>
        <p:spPr>
          <a:xfrm>
            <a:off x="369404" y="1709750"/>
            <a:ext cx="8874300" cy="678300"/>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Observational Study Designs</a:t>
            </a:r>
            <a:endParaRPr/>
          </a:p>
        </p:txBody>
      </p:sp>
      <p:sp>
        <p:nvSpPr>
          <p:cNvPr id="504" name="Google Shape;504;p17"/>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p17"/>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6" name="Google Shape;506;p17"/>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17"/>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17"/>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9" name="Google Shape;509;p17"/>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17"/>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1" name="Google Shape;511;p17"/>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17"/>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p17"/>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7"/>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5" name="Google Shape;515;p17"/>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17"/>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p17"/>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17"/>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9" name="Google Shape;519;p17"/>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17"/>
          <p:cNvSpPr txBox="1"/>
          <p:nvPr/>
        </p:nvSpPr>
        <p:spPr>
          <a:xfrm>
            <a:off x="369401" y="2487100"/>
            <a:ext cx="15613500" cy="7388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800"/>
              <a:buFont typeface="Arial"/>
              <a:buNone/>
            </a:pPr>
            <a:r>
              <a:rPr b="1" i="0" lang="en-GB" sz="4800" u="none" cap="none" strike="noStrike">
                <a:solidFill>
                  <a:srgbClr val="000000"/>
                </a:solidFill>
              </a:rPr>
              <a:t>Descriptive</a:t>
            </a:r>
            <a:r>
              <a:rPr b="0" i="0" lang="en-GB" sz="4800" u="none" cap="none" strike="noStrike">
                <a:solidFill>
                  <a:srgbClr val="000000"/>
                </a:solidFill>
                <a:latin typeface="Arial"/>
                <a:ea typeface="Arial"/>
                <a:cs typeface="Arial"/>
                <a:sym typeface="Arial"/>
              </a:rPr>
              <a:t> - </a:t>
            </a:r>
            <a:r>
              <a:rPr lang="en-GB" sz="4800">
                <a:solidFill>
                  <a:schemeClr val="dk1"/>
                </a:solidFill>
              </a:rPr>
              <a:t>describing the frequency or characteristics of event</a:t>
            </a:r>
            <a:endParaRPr b="0" i="0" sz="4800" u="none" cap="none" strike="noStrike">
              <a:solidFill>
                <a:srgbClr val="000000"/>
              </a:solidFill>
              <a:latin typeface="Arial"/>
              <a:ea typeface="Arial"/>
              <a:cs typeface="Arial"/>
              <a:sym typeface="Arial"/>
            </a:endParaRPr>
          </a:p>
          <a:p>
            <a:pPr indent="-533400" lvl="0" marL="457200" marR="0" rtl="0" algn="l">
              <a:lnSpc>
                <a:spcPct val="100000"/>
              </a:lnSpc>
              <a:spcBef>
                <a:spcPts val="0"/>
              </a:spcBef>
              <a:spcAft>
                <a:spcPts val="0"/>
              </a:spcAft>
              <a:buSzPts val="4800"/>
              <a:buChar char="●"/>
            </a:pPr>
            <a:r>
              <a:rPr b="0" i="0" lang="en-GB" sz="4800" u="none" cap="none" strike="noStrike">
                <a:solidFill>
                  <a:srgbClr val="000000"/>
                </a:solidFill>
                <a:latin typeface="Arial"/>
                <a:ea typeface="Arial"/>
                <a:cs typeface="Arial"/>
                <a:sym typeface="Arial"/>
              </a:rPr>
              <a:t>Case reports - </a:t>
            </a:r>
            <a:r>
              <a:rPr lang="en-GB" sz="4800">
                <a:solidFill>
                  <a:schemeClr val="dk1"/>
                </a:solidFill>
              </a:rPr>
              <a:t>is a detailed presentation of a single case or a handful of cases</a:t>
            </a:r>
            <a:r>
              <a:rPr b="0" i="0" lang="en-GB" sz="4800" u="none" cap="none" strike="noStrike">
                <a:solidFill>
                  <a:srgbClr val="000000"/>
                </a:solidFill>
                <a:latin typeface="Arial"/>
                <a:ea typeface="Arial"/>
                <a:cs typeface="Arial"/>
                <a:sym typeface="Arial"/>
              </a:rPr>
              <a:t>, </a:t>
            </a:r>
            <a:endParaRPr b="0" i="0" sz="4800" u="none" cap="none" strike="noStrike">
              <a:solidFill>
                <a:srgbClr val="000000"/>
              </a:solidFill>
              <a:latin typeface="Arial"/>
              <a:ea typeface="Arial"/>
              <a:cs typeface="Arial"/>
              <a:sym typeface="Arial"/>
            </a:endParaRPr>
          </a:p>
          <a:p>
            <a:pPr indent="-533400" lvl="0" marL="457200" marR="0" rtl="0" algn="l">
              <a:lnSpc>
                <a:spcPct val="100000"/>
              </a:lnSpc>
              <a:spcBef>
                <a:spcPts val="0"/>
              </a:spcBef>
              <a:spcAft>
                <a:spcPts val="0"/>
              </a:spcAft>
              <a:buSzPts val="4800"/>
              <a:buChar char="●"/>
            </a:pPr>
            <a:r>
              <a:rPr lang="en-GB" sz="4800"/>
              <a:t>C</a:t>
            </a:r>
            <a:r>
              <a:rPr b="0" i="0" lang="en-GB" sz="4800" u="none" cap="none" strike="noStrike">
                <a:solidFill>
                  <a:srgbClr val="000000"/>
                </a:solidFill>
                <a:latin typeface="Arial"/>
                <a:ea typeface="Arial"/>
                <a:cs typeface="Arial"/>
                <a:sym typeface="Arial"/>
              </a:rPr>
              <a:t>ase series - </a:t>
            </a:r>
            <a:r>
              <a:rPr lang="en-GB" sz="4800">
                <a:solidFill>
                  <a:schemeClr val="dk1"/>
                </a:solidFill>
              </a:rPr>
              <a:t>is a general report on new/unique conditions</a:t>
            </a:r>
            <a:endParaRPr sz="4800">
              <a:solidFill>
                <a:schemeClr val="dk1"/>
              </a:solidFill>
            </a:endParaRPr>
          </a:p>
          <a:p>
            <a:pPr indent="0" lvl="0" marL="0" marR="0" rtl="0" algn="l">
              <a:lnSpc>
                <a:spcPct val="100000"/>
              </a:lnSpc>
              <a:spcBef>
                <a:spcPts val="0"/>
              </a:spcBef>
              <a:spcAft>
                <a:spcPts val="0"/>
              </a:spcAft>
              <a:buClr>
                <a:srgbClr val="000000"/>
              </a:buClr>
              <a:buSzPts val="4800"/>
              <a:buFont typeface="Arial"/>
              <a:buNone/>
            </a:pPr>
            <a:r>
              <a:t/>
            </a:r>
            <a:endParaRPr sz="4800"/>
          </a:p>
          <a:p>
            <a:pPr indent="0" lvl="0" marL="0" marR="0" rtl="0" algn="l">
              <a:lnSpc>
                <a:spcPct val="100000"/>
              </a:lnSpc>
              <a:spcBef>
                <a:spcPts val="0"/>
              </a:spcBef>
              <a:spcAft>
                <a:spcPts val="0"/>
              </a:spcAft>
              <a:buClr>
                <a:srgbClr val="000000"/>
              </a:buClr>
              <a:buSzPts val="4800"/>
              <a:buFont typeface="Arial"/>
              <a:buNone/>
            </a:pPr>
            <a:r>
              <a:rPr b="1" i="0" lang="en-GB" sz="4800" u="none" cap="none" strike="noStrike">
                <a:solidFill>
                  <a:srgbClr val="000000"/>
                </a:solidFill>
              </a:rPr>
              <a:t>Analytical -</a:t>
            </a:r>
            <a:r>
              <a:rPr b="0" i="0" lang="en-GB" sz="4800" u="none" cap="none" strike="noStrike">
                <a:solidFill>
                  <a:srgbClr val="000000"/>
                </a:solidFill>
                <a:latin typeface="Arial"/>
                <a:ea typeface="Arial"/>
                <a:cs typeface="Arial"/>
                <a:sym typeface="Arial"/>
              </a:rPr>
              <a:t> </a:t>
            </a:r>
            <a:r>
              <a:rPr lang="en-GB" sz="4800">
                <a:solidFill>
                  <a:schemeClr val="dk1"/>
                </a:solidFill>
              </a:rPr>
              <a:t>testing relationships between exposure and outcomes</a:t>
            </a:r>
            <a:r>
              <a:rPr b="0" i="0" lang="en-GB" sz="4800" u="none" cap="none" strike="noStrike">
                <a:solidFill>
                  <a:srgbClr val="000000"/>
                </a:solidFill>
                <a:latin typeface="Arial"/>
                <a:ea typeface="Arial"/>
                <a:cs typeface="Arial"/>
                <a:sym typeface="Arial"/>
              </a:rPr>
              <a:t>: </a:t>
            </a:r>
            <a:r>
              <a:rPr lang="en-GB" sz="4800">
                <a:solidFill>
                  <a:schemeClr val="dk1"/>
                </a:solidFill>
              </a:rPr>
              <a:t>C</a:t>
            </a:r>
            <a:r>
              <a:rPr lang="en-GB" sz="4800">
                <a:solidFill>
                  <a:schemeClr val="dk1"/>
                </a:solidFill>
              </a:rPr>
              <a:t>ross-sectional studies, </a:t>
            </a:r>
            <a:r>
              <a:rPr lang="en-GB" sz="4800"/>
              <a:t>c</a:t>
            </a:r>
            <a:r>
              <a:rPr b="0" i="0" lang="en-GB" sz="4800" u="none" cap="none" strike="noStrike">
                <a:solidFill>
                  <a:srgbClr val="000000"/>
                </a:solidFill>
                <a:latin typeface="Arial"/>
                <a:ea typeface="Arial"/>
                <a:cs typeface="Arial"/>
                <a:sym typeface="Arial"/>
              </a:rPr>
              <a:t>ase-control, cohort (prospective &amp; retrospective)</a:t>
            </a:r>
            <a:endParaRPr sz="4800"/>
          </a:p>
        </p:txBody>
      </p:sp>
      <p:sp>
        <p:nvSpPr>
          <p:cNvPr id="521" name="Google Shape;521;p17"/>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18"/>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27" name="Google Shape;527;p18"/>
          <p:cNvGrpSpPr/>
          <p:nvPr/>
        </p:nvGrpSpPr>
        <p:grpSpPr>
          <a:xfrm>
            <a:off x="5727906" y="218055"/>
            <a:ext cx="6832187" cy="1491696"/>
            <a:chOff x="0" y="0"/>
            <a:chExt cx="9109583" cy="1988928"/>
          </a:xfrm>
        </p:grpSpPr>
        <p:sp>
          <p:nvSpPr>
            <p:cNvPr id="528" name="Google Shape;528;p18"/>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18"/>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18"/>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31" name="Google Shape;531;p18"/>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2" name="Google Shape;532;p18"/>
          <p:cNvSpPr txBox="1"/>
          <p:nvPr/>
        </p:nvSpPr>
        <p:spPr>
          <a:xfrm>
            <a:off x="828446" y="1307218"/>
            <a:ext cx="6867754"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Cross-sectional Design</a:t>
            </a:r>
            <a:endParaRPr/>
          </a:p>
        </p:txBody>
      </p:sp>
      <p:sp>
        <p:nvSpPr>
          <p:cNvPr id="533" name="Google Shape;533;p18"/>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18"/>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18"/>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6" name="Google Shape;536;p18"/>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7" name="Google Shape;537;p18"/>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8" name="Google Shape;538;p18"/>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18"/>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0" name="Google Shape;540;p18"/>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1" name="Google Shape;541;p18"/>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2" name="Google Shape;542;p18"/>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3" name="Google Shape;543;p18"/>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18"/>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5" name="Google Shape;545;p18"/>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6" name="Google Shape;546;p18"/>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18"/>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18"/>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18"/>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2</a:t>
            </a:r>
            <a:endParaRPr/>
          </a:p>
        </p:txBody>
      </p:sp>
      <p:pic>
        <p:nvPicPr>
          <p:cNvPr id="550" name="Google Shape;550;p18"/>
          <p:cNvPicPr preferRelativeResize="0"/>
          <p:nvPr/>
        </p:nvPicPr>
        <p:blipFill rotWithShape="1">
          <a:blip r:embed="rId10">
            <a:alphaModFix/>
          </a:blip>
          <a:srcRect b="0" l="0" r="0" t="0"/>
          <a:stretch/>
        </p:blipFill>
        <p:spPr>
          <a:xfrm>
            <a:off x="104985" y="2341206"/>
            <a:ext cx="13574326" cy="7278521"/>
          </a:xfrm>
          <a:prstGeom prst="rect">
            <a:avLst/>
          </a:prstGeom>
          <a:noFill/>
          <a:ln>
            <a:noFill/>
          </a:ln>
        </p:spPr>
      </p:pic>
      <p:graphicFrame>
        <p:nvGraphicFramePr>
          <p:cNvPr id="551" name="Google Shape;551;p18"/>
          <p:cNvGraphicFramePr/>
          <p:nvPr/>
        </p:nvGraphicFramePr>
        <p:xfrm>
          <a:off x="11861866" y="2341200"/>
          <a:ext cx="3000000" cy="3000000"/>
        </p:xfrm>
        <a:graphic>
          <a:graphicData uri="http://schemas.openxmlformats.org/drawingml/2006/table">
            <a:tbl>
              <a:tblPr bandRow="1" firstCol="1" firstRow="1">
                <a:noFill/>
                <a:tableStyleId>{EAEC06A7-9534-49B4-A900-4250624DD7C2}</a:tableStyleId>
              </a:tblPr>
              <a:tblGrid>
                <a:gridCol w="1733025"/>
                <a:gridCol w="1855750"/>
                <a:gridCol w="2067225"/>
              </a:tblGrid>
              <a:tr h="678025">
                <a:tc>
                  <a:txBody>
                    <a:bodyPr/>
                    <a:lstStyle/>
                    <a:p>
                      <a:pPr indent="0" lvl="0" marL="0" marR="0" rtl="0" algn="ctr">
                        <a:spcBef>
                          <a:spcPts val="0"/>
                        </a:spcBef>
                        <a:spcAft>
                          <a:spcPts val="0"/>
                        </a:spcAft>
                        <a:buClr>
                          <a:schemeClr val="dk1"/>
                        </a:buClr>
                        <a:buSzPts val="1100"/>
                        <a:buFont typeface="Arial"/>
                        <a:buNone/>
                      </a:pPr>
                      <a:r>
                        <a:rPr lang="en-GB" sz="1600">
                          <a:latin typeface="Arial"/>
                          <a:ea typeface="Arial"/>
                          <a:cs typeface="Arial"/>
                          <a:sym typeface="Arial"/>
                        </a:rPr>
                        <a:t>Description</a:t>
                      </a:r>
                      <a:endParaRPr sz="1900"/>
                    </a:p>
                  </a:txBody>
                  <a:tcPr marT="6025" marB="6025" marR="6025" marL="6025" anchor="ctr"/>
                </a:tc>
                <a:tc>
                  <a:txBody>
                    <a:bodyPr/>
                    <a:lstStyle/>
                    <a:p>
                      <a:pPr indent="0" lvl="0" marL="0" marR="0" rtl="0" algn="ctr">
                        <a:spcBef>
                          <a:spcPts val="0"/>
                        </a:spcBef>
                        <a:spcAft>
                          <a:spcPts val="0"/>
                        </a:spcAft>
                        <a:buClr>
                          <a:schemeClr val="dk1"/>
                        </a:buClr>
                        <a:buSzPts val="1100"/>
                        <a:buFont typeface="Arial"/>
                        <a:buNone/>
                      </a:pPr>
                      <a:r>
                        <a:rPr lang="en-GB" sz="1600">
                          <a:latin typeface="Arial"/>
                          <a:ea typeface="Arial"/>
                          <a:cs typeface="Arial"/>
                          <a:sym typeface="Arial"/>
                        </a:rPr>
                        <a:t>Key Feature</a:t>
                      </a:r>
                      <a:endParaRPr sz="1600">
                        <a:latin typeface="Arial"/>
                        <a:ea typeface="Arial"/>
                        <a:cs typeface="Arial"/>
                        <a:sym typeface="Arial"/>
                      </a:endParaRPr>
                    </a:p>
                  </a:txBody>
                  <a:tcPr marT="6025" marB="6025" marR="6025" marL="6025" anchor="ctr"/>
                </a:tc>
                <a:tc>
                  <a:txBody>
                    <a:bodyPr/>
                    <a:lstStyle/>
                    <a:p>
                      <a:pPr indent="0" lvl="0" marL="0" marR="0" rtl="0" algn="ctr">
                        <a:spcBef>
                          <a:spcPts val="0"/>
                        </a:spcBef>
                        <a:spcAft>
                          <a:spcPts val="0"/>
                        </a:spcAft>
                        <a:buClr>
                          <a:schemeClr val="dk1"/>
                        </a:buClr>
                        <a:buSzPts val="1100"/>
                        <a:buFont typeface="Arial"/>
                        <a:buNone/>
                      </a:pPr>
                      <a:r>
                        <a:rPr lang="en-GB" sz="1600">
                          <a:latin typeface="Arial"/>
                          <a:ea typeface="Arial"/>
                          <a:cs typeface="Arial"/>
                          <a:sym typeface="Arial"/>
                        </a:rPr>
                        <a:t>Example Use Case</a:t>
                      </a:r>
                      <a:endParaRPr sz="1600">
                        <a:latin typeface="Arial"/>
                        <a:ea typeface="Arial"/>
                        <a:cs typeface="Arial"/>
                        <a:sym typeface="Arial"/>
                      </a:endParaRPr>
                    </a:p>
                  </a:txBody>
                  <a:tcPr marT="6025" marB="6025" marR="6025" marL="6025" anchor="ctr"/>
                </a:tc>
              </a:tr>
              <a:tr h="3727575">
                <a:tc>
                  <a:txBody>
                    <a:bodyPr/>
                    <a:lstStyle/>
                    <a:p>
                      <a:pPr indent="0" lvl="0" marL="0" marR="0" rtl="0" algn="l">
                        <a:spcBef>
                          <a:spcPts val="0"/>
                        </a:spcBef>
                        <a:spcAft>
                          <a:spcPts val="0"/>
                        </a:spcAft>
                        <a:buClr>
                          <a:schemeClr val="dk1"/>
                        </a:buClr>
                        <a:buSzPts val="1400"/>
                        <a:buFont typeface="Arial"/>
                        <a:buNone/>
                      </a:pPr>
                      <a:r>
                        <a:rPr lang="en-GB" sz="2100">
                          <a:solidFill>
                            <a:schemeClr val="dk1"/>
                          </a:solidFill>
                          <a:latin typeface="Arial"/>
                          <a:ea typeface="Arial"/>
                          <a:cs typeface="Arial"/>
                          <a:sym typeface="Arial"/>
                        </a:rPr>
                        <a:t>Assess exposure and outcome at a single point in time</a:t>
                      </a:r>
                      <a:r>
                        <a:rPr lang="en-GB" sz="2100">
                          <a:latin typeface="Arial"/>
                          <a:ea typeface="Arial"/>
                          <a:cs typeface="Arial"/>
                          <a:sym typeface="Arial"/>
                        </a:rPr>
                        <a:t> </a:t>
                      </a:r>
                      <a:endParaRPr sz="2100">
                        <a:latin typeface="Arial"/>
                        <a:ea typeface="Arial"/>
                        <a:cs typeface="Arial"/>
                        <a:sym typeface="Arial"/>
                      </a:endParaRPr>
                    </a:p>
                  </a:txBody>
                  <a:tcPr marT="6025" marB="6025" marR="6025" marL="6025" anchor="ctr"/>
                </a:tc>
                <a:tc>
                  <a:txBody>
                    <a:bodyPr/>
                    <a:lstStyle/>
                    <a:p>
                      <a:pPr indent="0" lvl="0" marL="0" marR="0" rtl="0" algn="l">
                        <a:spcBef>
                          <a:spcPts val="0"/>
                        </a:spcBef>
                        <a:spcAft>
                          <a:spcPts val="0"/>
                        </a:spcAft>
                        <a:buClr>
                          <a:schemeClr val="dk1"/>
                        </a:buClr>
                        <a:buSzPts val="1400"/>
                        <a:buFont typeface="Arial"/>
                        <a:buNone/>
                      </a:pPr>
                      <a:r>
                        <a:rPr lang="en-GB" sz="2100">
                          <a:latin typeface="Arial"/>
                          <a:ea typeface="Arial"/>
                          <a:cs typeface="Arial"/>
                          <a:sym typeface="Arial"/>
                        </a:rPr>
                        <a:t>Snapshot in time</a:t>
                      </a:r>
                      <a:endParaRPr sz="2100"/>
                    </a:p>
                    <a:p>
                      <a:pPr indent="0" lvl="0" marL="0" marR="0" rtl="0" algn="l">
                        <a:spcBef>
                          <a:spcPts val="0"/>
                        </a:spcBef>
                        <a:spcAft>
                          <a:spcPts val="0"/>
                        </a:spcAft>
                        <a:buNone/>
                      </a:pPr>
                      <a:r>
                        <a:rPr lang="en-GB" sz="2100">
                          <a:latin typeface="Arial"/>
                          <a:ea typeface="Arial"/>
                          <a:cs typeface="Arial"/>
                          <a:sym typeface="Arial"/>
                        </a:rPr>
                        <a:t>Strengths: Quick, cheap</a:t>
                      </a:r>
                      <a:endParaRPr sz="2100"/>
                    </a:p>
                    <a:p>
                      <a:pPr indent="0" lvl="0" marL="0" marR="0" rtl="0" algn="l">
                        <a:spcBef>
                          <a:spcPts val="0"/>
                        </a:spcBef>
                        <a:spcAft>
                          <a:spcPts val="0"/>
                        </a:spcAft>
                        <a:buNone/>
                      </a:pPr>
                      <a:r>
                        <a:rPr lang="en-GB" sz="2100">
                          <a:latin typeface="Arial"/>
                          <a:ea typeface="Arial"/>
                          <a:cs typeface="Arial"/>
                          <a:sym typeface="Arial"/>
                        </a:rPr>
                        <a:t>Limitations: No temporality</a:t>
                      </a:r>
                      <a:endParaRPr sz="2100"/>
                    </a:p>
                    <a:p>
                      <a:pPr indent="0" lvl="0" marL="0" marR="0" rtl="0" algn="l">
                        <a:spcBef>
                          <a:spcPts val="0"/>
                        </a:spcBef>
                        <a:spcAft>
                          <a:spcPts val="0"/>
                        </a:spcAft>
                        <a:buClr>
                          <a:schemeClr val="dk1"/>
                        </a:buClr>
                        <a:buSzPts val="1400"/>
                        <a:buFont typeface="Calibri"/>
                        <a:buNone/>
                      </a:pPr>
                      <a:r>
                        <a:t/>
                      </a:r>
                      <a:endParaRPr sz="2100">
                        <a:latin typeface="Arial"/>
                        <a:ea typeface="Arial"/>
                        <a:cs typeface="Arial"/>
                        <a:sym typeface="Arial"/>
                      </a:endParaRPr>
                    </a:p>
                  </a:txBody>
                  <a:tcPr marT="6025" marB="6025" marR="6025" marL="6025" anchor="ctr"/>
                </a:tc>
                <a:tc>
                  <a:txBody>
                    <a:bodyPr/>
                    <a:lstStyle/>
                    <a:p>
                      <a:pPr indent="0" lvl="0" marL="0" rtl="0" algn="l">
                        <a:lnSpc>
                          <a:spcPct val="115000"/>
                        </a:lnSpc>
                        <a:spcBef>
                          <a:spcPts val="0"/>
                        </a:spcBef>
                        <a:spcAft>
                          <a:spcPts val="0"/>
                        </a:spcAft>
                        <a:buNone/>
                      </a:pPr>
                      <a:r>
                        <a:rPr lang="en-GB" sz="2100">
                          <a:latin typeface="Arial"/>
                          <a:ea typeface="Arial"/>
                          <a:cs typeface="Arial"/>
                          <a:sym typeface="Arial"/>
                        </a:rPr>
                        <a:t>H</a:t>
                      </a:r>
                      <a:r>
                        <a:rPr lang="en-GB" sz="2100">
                          <a:latin typeface="Arial"/>
                          <a:ea typeface="Arial"/>
                          <a:cs typeface="Arial"/>
                          <a:sym typeface="Arial"/>
                        </a:rPr>
                        <a:t>ousehold survey measuring both malaria infection status (outcome) and bed net use (exposure) during a single survey round</a:t>
                      </a:r>
                      <a:endParaRPr sz="2100">
                        <a:latin typeface="Arial"/>
                        <a:ea typeface="Arial"/>
                        <a:cs typeface="Arial"/>
                        <a:sym typeface="Arial"/>
                      </a:endParaRPr>
                    </a:p>
                  </a:txBody>
                  <a:tcPr marT="6025" marB="6025" marR="6025" marL="6025"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19"/>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58" name="Google Shape;558;p19"/>
          <p:cNvGrpSpPr/>
          <p:nvPr/>
        </p:nvGrpSpPr>
        <p:grpSpPr>
          <a:xfrm>
            <a:off x="5727906" y="218055"/>
            <a:ext cx="6832187" cy="1491696"/>
            <a:chOff x="0" y="0"/>
            <a:chExt cx="9109583" cy="1988928"/>
          </a:xfrm>
        </p:grpSpPr>
        <p:sp>
          <p:nvSpPr>
            <p:cNvPr id="559" name="Google Shape;559;p19"/>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19"/>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19"/>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62" name="Google Shape;562;p19"/>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19"/>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19"/>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5" name="Google Shape;565;p19"/>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19"/>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19"/>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19"/>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19"/>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0" name="Google Shape;570;p19"/>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1" name="Google Shape;571;p19"/>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19"/>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3" name="Google Shape;573;p19"/>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4" name="Google Shape;574;p19"/>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5" name="Google Shape;575;p19"/>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6" name="Google Shape;576;p19"/>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7" name="Google Shape;577;p19"/>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19"/>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9" name="Google Shape;579;p19"/>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2</a:t>
            </a:r>
            <a:endParaRPr/>
          </a:p>
        </p:txBody>
      </p:sp>
      <p:pic>
        <p:nvPicPr>
          <p:cNvPr id="580" name="Google Shape;580;p19"/>
          <p:cNvPicPr preferRelativeResize="0"/>
          <p:nvPr/>
        </p:nvPicPr>
        <p:blipFill rotWithShape="1">
          <a:blip r:embed="rId10">
            <a:alphaModFix/>
          </a:blip>
          <a:srcRect b="0" l="0" r="0" t="0"/>
          <a:stretch/>
        </p:blipFill>
        <p:spPr>
          <a:xfrm>
            <a:off x="479045" y="1430376"/>
            <a:ext cx="11489049" cy="8501236"/>
          </a:xfrm>
          <a:prstGeom prst="rect">
            <a:avLst/>
          </a:prstGeom>
          <a:noFill/>
          <a:ln>
            <a:noFill/>
          </a:ln>
        </p:spPr>
      </p:pic>
      <p:graphicFrame>
        <p:nvGraphicFramePr>
          <p:cNvPr id="581" name="Google Shape;581;p19"/>
          <p:cNvGraphicFramePr/>
          <p:nvPr/>
        </p:nvGraphicFramePr>
        <p:xfrm>
          <a:off x="12248616" y="1884288"/>
          <a:ext cx="3000000" cy="3000000"/>
        </p:xfrm>
        <a:graphic>
          <a:graphicData uri="http://schemas.openxmlformats.org/drawingml/2006/table">
            <a:tbl>
              <a:tblPr bandRow="1" firstCol="1" firstRow="1">
                <a:noFill/>
                <a:tableStyleId>{EAEC06A7-9534-49B4-A900-4250624DD7C2}</a:tableStyleId>
              </a:tblPr>
              <a:tblGrid>
                <a:gridCol w="1613425"/>
                <a:gridCol w="1650000"/>
                <a:gridCol w="2002275"/>
              </a:tblGrid>
              <a:tr h="766750">
                <a:tc>
                  <a:txBody>
                    <a:bodyPr/>
                    <a:lstStyle/>
                    <a:p>
                      <a:pPr indent="0" lvl="0" marL="0" marR="0" rtl="0" algn="ctr">
                        <a:spcBef>
                          <a:spcPts val="0"/>
                        </a:spcBef>
                        <a:spcAft>
                          <a:spcPts val="0"/>
                        </a:spcAft>
                        <a:buClr>
                          <a:schemeClr val="dk1"/>
                        </a:buClr>
                        <a:buSzPts val="1100"/>
                        <a:buFont typeface="Arial"/>
                        <a:buNone/>
                      </a:pPr>
                      <a:r>
                        <a:rPr lang="en-GB" sz="2000">
                          <a:latin typeface="Arial"/>
                          <a:ea typeface="Arial"/>
                          <a:cs typeface="Arial"/>
                          <a:sym typeface="Arial"/>
                        </a:rPr>
                        <a:t>Description</a:t>
                      </a:r>
                      <a:endParaRPr sz="3000">
                        <a:solidFill>
                          <a:schemeClr val="dk1"/>
                        </a:solidFill>
                        <a:latin typeface="Arial"/>
                        <a:ea typeface="Arial"/>
                        <a:cs typeface="Arial"/>
                        <a:sym typeface="Arial"/>
                      </a:endParaRPr>
                    </a:p>
                  </a:txBody>
                  <a:tcPr marT="6025" marB="6025" marR="6025" marL="60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lang="en-GB" sz="2000">
                          <a:latin typeface="Arial"/>
                          <a:ea typeface="Arial"/>
                          <a:cs typeface="Arial"/>
                          <a:sym typeface="Arial"/>
                        </a:rPr>
                        <a:t>Key Feature</a:t>
                      </a:r>
                      <a:endParaRPr sz="2000">
                        <a:latin typeface="Arial"/>
                        <a:ea typeface="Arial"/>
                        <a:cs typeface="Arial"/>
                        <a:sym typeface="Arial"/>
                      </a:endParaRPr>
                    </a:p>
                  </a:txBody>
                  <a:tcPr marT="6025" marB="6025" marR="6025" marL="60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lang="en-GB" sz="2000">
                          <a:latin typeface="Arial"/>
                          <a:ea typeface="Arial"/>
                          <a:cs typeface="Arial"/>
                          <a:sym typeface="Arial"/>
                        </a:rPr>
                        <a:t>Example Use Case</a:t>
                      </a:r>
                      <a:endParaRPr sz="2000">
                        <a:latin typeface="Arial"/>
                        <a:ea typeface="Arial"/>
                        <a:cs typeface="Arial"/>
                        <a:sym typeface="Arial"/>
                      </a:endParaRPr>
                    </a:p>
                  </a:txBody>
                  <a:tcPr marT="6025" marB="6025" marR="6025" marL="60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2164775">
                <a:tc>
                  <a:txBody>
                    <a:bodyPr/>
                    <a:lstStyle/>
                    <a:p>
                      <a:pPr indent="0" lvl="0" marL="0" marR="0" rtl="0" algn="l">
                        <a:spcBef>
                          <a:spcPts val="0"/>
                        </a:spcBef>
                        <a:spcAft>
                          <a:spcPts val="0"/>
                        </a:spcAft>
                        <a:buClr>
                          <a:schemeClr val="dk1"/>
                        </a:buClr>
                        <a:buSzPts val="1400"/>
                        <a:buFont typeface="Arial"/>
                        <a:buNone/>
                      </a:pPr>
                      <a:r>
                        <a:rPr lang="en-GB" sz="2100">
                          <a:solidFill>
                            <a:schemeClr val="dk1"/>
                          </a:solidFill>
                          <a:latin typeface="Arial"/>
                          <a:ea typeface="Arial"/>
                          <a:cs typeface="Arial"/>
                          <a:sym typeface="Arial"/>
                        </a:rPr>
                        <a:t>Compare individuals with a condition (cases) to those without (controls)</a:t>
                      </a:r>
                      <a:r>
                        <a:rPr lang="en-GB" sz="2100">
                          <a:latin typeface="Arial"/>
                          <a:ea typeface="Arial"/>
                          <a:cs typeface="Arial"/>
                          <a:sym typeface="Arial"/>
                        </a:rPr>
                        <a:t> </a:t>
                      </a:r>
                      <a:endParaRPr sz="2100">
                        <a:latin typeface="Arial"/>
                        <a:ea typeface="Arial"/>
                        <a:cs typeface="Arial"/>
                        <a:sym typeface="Arial"/>
                      </a:endParaRPr>
                    </a:p>
                  </a:txBody>
                  <a:tcPr marT="6025" marB="6025" marR="6025" marL="6025" anchor="ctr">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1400"/>
                        <a:buFont typeface="Arial"/>
                        <a:buNone/>
                      </a:pPr>
                      <a:r>
                        <a:rPr lang="en-GB" sz="2100">
                          <a:latin typeface="Arial"/>
                          <a:ea typeface="Arial"/>
                          <a:cs typeface="Arial"/>
                          <a:sym typeface="Arial"/>
                        </a:rPr>
                        <a:t>Outcome → Exposure</a:t>
                      </a:r>
                      <a:endParaRPr sz="2100"/>
                    </a:p>
                    <a:p>
                      <a:pPr indent="0" lvl="0" marL="0" marR="0" rtl="0" algn="l">
                        <a:spcBef>
                          <a:spcPts val="0"/>
                        </a:spcBef>
                        <a:spcAft>
                          <a:spcPts val="0"/>
                        </a:spcAft>
                        <a:buNone/>
                      </a:pPr>
                      <a:r>
                        <a:rPr lang="en-GB" sz="2100">
                          <a:latin typeface="Arial"/>
                          <a:ea typeface="Arial"/>
                          <a:cs typeface="Arial"/>
                          <a:sym typeface="Arial"/>
                        </a:rPr>
                        <a:t>Strengths: Good for rare diseases</a:t>
                      </a:r>
                      <a:endParaRPr sz="2100"/>
                    </a:p>
                    <a:p>
                      <a:pPr indent="0" lvl="0" marL="0" marR="0" rtl="0" algn="l">
                        <a:spcBef>
                          <a:spcPts val="0"/>
                        </a:spcBef>
                        <a:spcAft>
                          <a:spcPts val="0"/>
                        </a:spcAft>
                        <a:buNone/>
                      </a:pPr>
                      <a:r>
                        <a:rPr lang="en-GB" sz="2100">
                          <a:latin typeface="Arial"/>
                          <a:ea typeface="Arial"/>
                          <a:cs typeface="Arial"/>
                          <a:sym typeface="Arial"/>
                        </a:rPr>
                        <a:t>Limitations: Recall and selection bias</a:t>
                      </a:r>
                      <a:endParaRPr sz="2100"/>
                    </a:p>
                    <a:p>
                      <a:pPr indent="0" lvl="0" marL="0" marR="0" rtl="0" algn="l">
                        <a:spcBef>
                          <a:spcPts val="0"/>
                        </a:spcBef>
                        <a:spcAft>
                          <a:spcPts val="0"/>
                        </a:spcAft>
                        <a:buClr>
                          <a:schemeClr val="dk1"/>
                        </a:buClr>
                        <a:buSzPts val="1400"/>
                        <a:buFont typeface="Calibri"/>
                        <a:buNone/>
                      </a:pPr>
                      <a:r>
                        <a:t/>
                      </a:r>
                      <a:endParaRPr sz="2100">
                        <a:latin typeface="Arial"/>
                        <a:ea typeface="Arial"/>
                        <a:cs typeface="Arial"/>
                        <a:sym typeface="Arial"/>
                      </a:endParaRPr>
                    </a:p>
                  </a:txBody>
                  <a:tcPr marT="6025" marB="6025" marR="6025" marL="6025" anchor="ctr">
                    <a:lnT cap="flat" cmpd="sng" w="38100">
                      <a:solidFill>
                        <a:schemeClr val="lt1"/>
                      </a:solidFill>
                      <a:prstDash val="solid"/>
                      <a:round/>
                      <a:headEnd len="sm" w="sm" type="none"/>
                      <a:tailEnd len="sm" w="sm" type="none"/>
                    </a:lnT>
                  </a:tcPr>
                </a:tc>
                <a:tc>
                  <a:txBody>
                    <a:bodyPr/>
                    <a:lstStyle/>
                    <a:p>
                      <a:pPr indent="0" lvl="0" marL="0" rtl="0" algn="l">
                        <a:spcBef>
                          <a:spcPts val="0"/>
                        </a:spcBef>
                        <a:spcAft>
                          <a:spcPts val="0"/>
                        </a:spcAft>
                        <a:buClr>
                          <a:schemeClr val="dk1"/>
                        </a:buClr>
                        <a:buSzPts val="1400"/>
                        <a:buFont typeface="Arial"/>
                        <a:buNone/>
                      </a:pPr>
                      <a:r>
                        <a:t/>
                      </a:r>
                      <a:endParaRPr sz="2100">
                        <a:latin typeface="Arial"/>
                        <a:ea typeface="Arial"/>
                        <a:cs typeface="Arial"/>
                        <a:sym typeface="Arial"/>
                      </a:endParaRPr>
                    </a:p>
                    <a:p>
                      <a:pPr indent="0" lvl="0" marL="0" rtl="0" algn="l">
                        <a:lnSpc>
                          <a:spcPct val="115000"/>
                        </a:lnSpc>
                        <a:spcBef>
                          <a:spcPts val="0"/>
                        </a:spcBef>
                        <a:spcAft>
                          <a:spcPts val="0"/>
                        </a:spcAft>
                        <a:buNone/>
                      </a:pPr>
                      <a:r>
                        <a:rPr lang="en-GB" sz="2100">
                          <a:latin typeface="Arial"/>
                          <a:ea typeface="Arial"/>
                          <a:cs typeface="Arial"/>
                          <a:sym typeface="Arial"/>
                        </a:rPr>
                        <a:t>I</a:t>
                      </a:r>
                      <a:r>
                        <a:rPr lang="en-GB" sz="2100">
                          <a:latin typeface="Arial"/>
                          <a:ea typeface="Arial"/>
                          <a:cs typeface="Arial"/>
                          <a:sym typeface="Arial"/>
                        </a:rPr>
                        <a:t>nvestigating a malaria outbreak by comparing recent travel history among confirmed malaria cases versus healthy community controls.</a:t>
                      </a:r>
                      <a:endParaRPr sz="2100">
                        <a:latin typeface="Arial"/>
                        <a:ea typeface="Arial"/>
                        <a:cs typeface="Arial"/>
                        <a:sym typeface="Arial"/>
                      </a:endParaRPr>
                    </a:p>
                    <a:p>
                      <a:pPr indent="0" lvl="0" marL="0" marR="0" rtl="0" algn="l">
                        <a:spcBef>
                          <a:spcPts val="0"/>
                        </a:spcBef>
                        <a:spcAft>
                          <a:spcPts val="0"/>
                        </a:spcAft>
                        <a:buClr>
                          <a:schemeClr val="dk1"/>
                        </a:buClr>
                        <a:buSzPts val="1400"/>
                        <a:buFont typeface="Arial"/>
                        <a:buNone/>
                      </a:pPr>
                      <a:r>
                        <a:t/>
                      </a:r>
                      <a:endParaRPr sz="2100">
                        <a:latin typeface="Arial"/>
                        <a:ea typeface="Arial"/>
                        <a:cs typeface="Arial"/>
                        <a:sym typeface="Arial"/>
                      </a:endParaRPr>
                    </a:p>
                  </a:txBody>
                  <a:tcPr marT="6025" marB="6025" marR="6025" marL="6025" anchor="ctr">
                    <a:lnT cap="flat" cmpd="sng" w="38100">
                      <a:solidFill>
                        <a:schemeClr val="lt1"/>
                      </a:solidFill>
                      <a:prstDash val="solid"/>
                      <a:round/>
                      <a:headEnd len="sm" w="sm" type="none"/>
                      <a:tailEnd len="sm" w="sm" type="none"/>
                    </a:lnT>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20"/>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88" name="Google Shape;588;p20"/>
          <p:cNvGrpSpPr/>
          <p:nvPr/>
        </p:nvGrpSpPr>
        <p:grpSpPr>
          <a:xfrm>
            <a:off x="5727906" y="218055"/>
            <a:ext cx="6832187" cy="1491696"/>
            <a:chOff x="0" y="0"/>
            <a:chExt cx="9109583" cy="1988928"/>
          </a:xfrm>
        </p:grpSpPr>
        <p:sp>
          <p:nvSpPr>
            <p:cNvPr id="589" name="Google Shape;589;p20"/>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0" name="Google Shape;590;p20"/>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1" name="Google Shape;591;p20"/>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2" name="Google Shape;592;p20"/>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3" name="Google Shape;593;p20"/>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4" name="Google Shape;594;p20"/>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5" name="Google Shape;595;p20"/>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20"/>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7" name="Google Shape;597;p20"/>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8" name="Google Shape;598;p20"/>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9" name="Google Shape;599;p20"/>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0" name="Google Shape;600;p20"/>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1" name="Google Shape;601;p20"/>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2" name="Google Shape;602;p20"/>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20"/>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20"/>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5" name="Google Shape;605;p20"/>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6" name="Google Shape;606;p20"/>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7" name="Google Shape;607;p20"/>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20"/>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20"/>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2</a:t>
            </a:r>
            <a:endParaRPr/>
          </a:p>
        </p:txBody>
      </p:sp>
      <p:pic>
        <p:nvPicPr>
          <p:cNvPr id="610" name="Google Shape;610;p20"/>
          <p:cNvPicPr preferRelativeResize="0"/>
          <p:nvPr/>
        </p:nvPicPr>
        <p:blipFill rotWithShape="1">
          <a:blip r:embed="rId10">
            <a:alphaModFix/>
          </a:blip>
          <a:srcRect b="0" l="0" r="0" t="0"/>
          <a:stretch/>
        </p:blipFill>
        <p:spPr>
          <a:xfrm>
            <a:off x="827615" y="1709755"/>
            <a:ext cx="10887404" cy="7713778"/>
          </a:xfrm>
          <a:prstGeom prst="rect">
            <a:avLst/>
          </a:prstGeom>
          <a:noFill/>
          <a:ln>
            <a:noFill/>
          </a:ln>
        </p:spPr>
      </p:pic>
      <p:graphicFrame>
        <p:nvGraphicFramePr>
          <p:cNvPr id="611" name="Google Shape;611;p20"/>
          <p:cNvGraphicFramePr/>
          <p:nvPr/>
        </p:nvGraphicFramePr>
        <p:xfrm>
          <a:off x="12038441" y="1874775"/>
          <a:ext cx="3000000" cy="3000000"/>
        </p:xfrm>
        <a:graphic>
          <a:graphicData uri="http://schemas.openxmlformats.org/drawingml/2006/table">
            <a:tbl>
              <a:tblPr bandRow="1" firstCol="1" firstRow="1">
                <a:noFill/>
                <a:tableStyleId>{EAEC06A7-9534-49B4-A900-4250624DD7C2}</a:tableStyleId>
              </a:tblPr>
              <a:tblGrid>
                <a:gridCol w="1601100"/>
                <a:gridCol w="1637400"/>
                <a:gridCol w="1987000"/>
              </a:tblGrid>
              <a:tr h="1192550">
                <a:tc>
                  <a:txBody>
                    <a:bodyPr/>
                    <a:lstStyle/>
                    <a:p>
                      <a:pPr indent="0" lvl="0" marL="0" marR="0" rtl="0" algn="ctr">
                        <a:spcBef>
                          <a:spcPts val="0"/>
                        </a:spcBef>
                        <a:spcAft>
                          <a:spcPts val="0"/>
                        </a:spcAft>
                        <a:buClr>
                          <a:schemeClr val="dk1"/>
                        </a:buClr>
                        <a:buSzPts val="1100"/>
                        <a:buFont typeface="Arial"/>
                        <a:buNone/>
                      </a:pPr>
                      <a:r>
                        <a:rPr lang="en-GB" sz="2000">
                          <a:latin typeface="Arial"/>
                          <a:ea typeface="Arial"/>
                          <a:cs typeface="Arial"/>
                          <a:sym typeface="Arial"/>
                        </a:rPr>
                        <a:t>Description</a:t>
                      </a:r>
                      <a:endParaRPr sz="3000">
                        <a:solidFill>
                          <a:schemeClr val="dk1"/>
                        </a:solidFill>
                        <a:latin typeface="Arial"/>
                        <a:ea typeface="Arial"/>
                        <a:cs typeface="Arial"/>
                        <a:sym typeface="Arial"/>
                      </a:endParaRPr>
                    </a:p>
                  </a:txBody>
                  <a:tcPr marT="6025" marB="6025" marR="6025" marL="60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lang="en-GB" sz="2000">
                          <a:latin typeface="Arial"/>
                          <a:ea typeface="Arial"/>
                          <a:cs typeface="Arial"/>
                          <a:sym typeface="Arial"/>
                        </a:rPr>
                        <a:t>Key Feature</a:t>
                      </a:r>
                      <a:endParaRPr sz="2000">
                        <a:latin typeface="Arial"/>
                        <a:ea typeface="Arial"/>
                        <a:cs typeface="Arial"/>
                        <a:sym typeface="Arial"/>
                      </a:endParaRPr>
                    </a:p>
                  </a:txBody>
                  <a:tcPr marT="6025" marB="6025" marR="6025" marL="60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1100"/>
                        <a:buFont typeface="Arial"/>
                        <a:buNone/>
                      </a:pPr>
                      <a:r>
                        <a:rPr lang="en-GB" sz="2100">
                          <a:latin typeface="Arial"/>
                          <a:ea typeface="Arial"/>
                          <a:cs typeface="Arial"/>
                          <a:sym typeface="Arial"/>
                        </a:rPr>
                        <a:t>Example Use Case</a:t>
                      </a:r>
                      <a:endParaRPr sz="2100">
                        <a:latin typeface="Arial"/>
                        <a:ea typeface="Arial"/>
                        <a:cs typeface="Arial"/>
                        <a:sym typeface="Arial"/>
                      </a:endParaRPr>
                    </a:p>
                  </a:txBody>
                  <a:tcPr marT="6025" marB="6025" marR="6025" marL="602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2778375">
                <a:tc>
                  <a:txBody>
                    <a:bodyPr/>
                    <a:lstStyle/>
                    <a:p>
                      <a:pPr indent="0" lvl="0" marL="0" marR="0" rtl="0" algn="l">
                        <a:spcBef>
                          <a:spcPts val="0"/>
                        </a:spcBef>
                        <a:spcAft>
                          <a:spcPts val="0"/>
                        </a:spcAft>
                        <a:buClr>
                          <a:schemeClr val="dk1"/>
                        </a:buClr>
                        <a:buSzPts val="1400"/>
                        <a:buFont typeface="Arial"/>
                        <a:buNone/>
                      </a:pPr>
                      <a:r>
                        <a:rPr lang="en-GB" sz="2100">
                          <a:solidFill>
                            <a:schemeClr val="dk1"/>
                          </a:solidFill>
                          <a:latin typeface="Arial"/>
                          <a:ea typeface="Arial"/>
                          <a:cs typeface="Arial"/>
                          <a:sym typeface="Arial"/>
                        </a:rPr>
                        <a:t>Follow a group over time to assess outcome occurrence</a:t>
                      </a:r>
                      <a:r>
                        <a:rPr lang="en-GB" sz="2100">
                          <a:latin typeface="Arial"/>
                          <a:ea typeface="Arial"/>
                          <a:cs typeface="Arial"/>
                          <a:sym typeface="Arial"/>
                        </a:rPr>
                        <a:t> </a:t>
                      </a:r>
                      <a:endParaRPr sz="2100">
                        <a:latin typeface="Arial"/>
                        <a:ea typeface="Arial"/>
                        <a:cs typeface="Arial"/>
                        <a:sym typeface="Arial"/>
                      </a:endParaRPr>
                    </a:p>
                  </a:txBody>
                  <a:tcPr marT="6025" marB="6025" marR="6025" marL="6025" anchor="ctr">
                    <a:lnT cap="flat" cmpd="sng" w="38100">
                      <a:solidFill>
                        <a:schemeClr val="lt1"/>
                      </a:solidFill>
                      <a:prstDash val="solid"/>
                      <a:round/>
                      <a:headEnd len="sm" w="sm" type="none"/>
                      <a:tailEnd len="sm" w="sm" type="none"/>
                    </a:lnT>
                  </a:tcPr>
                </a:tc>
                <a:tc>
                  <a:txBody>
                    <a:bodyPr/>
                    <a:lstStyle/>
                    <a:p>
                      <a:pPr indent="0" lvl="0" marL="0" marR="0" rtl="0" algn="l">
                        <a:spcBef>
                          <a:spcPts val="0"/>
                        </a:spcBef>
                        <a:spcAft>
                          <a:spcPts val="0"/>
                        </a:spcAft>
                        <a:buClr>
                          <a:schemeClr val="dk1"/>
                        </a:buClr>
                        <a:buSzPts val="1400"/>
                        <a:buFont typeface="Arial"/>
                        <a:buNone/>
                      </a:pPr>
                      <a:r>
                        <a:rPr lang="en-GB" sz="2100">
                          <a:latin typeface="Arial"/>
                          <a:ea typeface="Arial"/>
                          <a:cs typeface="Arial"/>
                          <a:sym typeface="Arial"/>
                        </a:rPr>
                        <a:t>Exposure → Outcome</a:t>
                      </a:r>
                      <a:endParaRPr sz="2100"/>
                    </a:p>
                    <a:p>
                      <a:pPr indent="0" lvl="0" marL="0" marR="0" rtl="0" algn="l">
                        <a:spcBef>
                          <a:spcPts val="0"/>
                        </a:spcBef>
                        <a:spcAft>
                          <a:spcPts val="0"/>
                        </a:spcAft>
                        <a:buNone/>
                      </a:pPr>
                      <a:r>
                        <a:rPr lang="en-GB" sz="2100">
                          <a:latin typeface="Arial"/>
                          <a:ea typeface="Arial"/>
                          <a:cs typeface="Arial"/>
                          <a:sym typeface="Arial"/>
                        </a:rPr>
                        <a:t>Strengths: Establish temporality</a:t>
                      </a:r>
                      <a:endParaRPr sz="2100"/>
                    </a:p>
                    <a:p>
                      <a:pPr indent="0" lvl="0" marL="0" marR="0" rtl="0" algn="l">
                        <a:spcBef>
                          <a:spcPts val="0"/>
                        </a:spcBef>
                        <a:spcAft>
                          <a:spcPts val="0"/>
                        </a:spcAft>
                        <a:buNone/>
                      </a:pPr>
                      <a:r>
                        <a:rPr lang="en-GB" sz="2100">
                          <a:latin typeface="Arial"/>
                          <a:ea typeface="Arial"/>
                          <a:cs typeface="Arial"/>
                          <a:sym typeface="Arial"/>
                        </a:rPr>
                        <a:t>Limitations: Expensive, time consuming, </a:t>
                      </a:r>
                      <a:r>
                        <a:rPr lang="en-GB" sz="2100">
                          <a:latin typeface="Arial"/>
                          <a:ea typeface="Arial"/>
                          <a:cs typeface="Arial"/>
                          <a:sym typeface="Arial"/>
                        </a:rPr>
                        <a:t>loss to follow-up</a:t>
                      </a:r>
                      <a:endParaRPr sz="2100"/>
                    </a:p>
                    <a:p>
                      <a:pPr indent="0" lvl="0" marL="0" marR="0" rtl="0" algn="l">
                        <a:spcBef>
                          <a:spcPts val="0"/>
                        </a:spcBef>
                        <a:spcAft>
                          <a:spcPts val="0"/>
                        </a:spcAft>
                        <a:buClr>
                          <a:schemeClr val="dk1"/>
                        </a:buClr>
                        <a:buSzPts val="1400"/>
                        <a:buFont typeface="Calibri"/>
                        <a:buNone/>
                      </a:pPr>
                      <a:r>
                        <a:t/>
                      </a:r>
                      <a:endParaRPr sz="2100">
                        <a:latin typeface="Arial"/>
                        <a:ea typeface="Arial"/>
                        <a:cs typeface="Arial"/>
                        <a:sym typeface="Arial"/>
                      </a:endParaRPr>
                    </a:p>
                  </a:txBody>
                  <a:tcPr marT="6025" marB="6025" marR="6025" marL="6025" anchor="ctr">
                    <a:lnT cap="flat" cmpd="sng" w="38100">
                      <a:solidFill>
                        <a:schemeClr val="lt1"/>
                      </a:solidFill>
                      <a:prstDash val="solid"/>
                      <a:round/>
                      <a:headEnd len="sm" w="sm" type="none"/>
                      <a:tailEnd len="sm" w="sm" type="none"/>
                    </a:lnT>
                  </a:tcPr>
                </a:tc>
                <a:tc>
                  <a:txBody>
                    <a:bodyPr/>
                    <a:lstStyle/>
                    <a:p>
                      <a:pPr indent="0" lvl="0" marL="0" rtl="0" algn="l">
                        <a:lnSpc>
                          <a:spcPct val="115000"/>
                        </a:lnSpc>
                        <a:spcBef>
                          <a:spcPts val="0"/>
                        </a:spcBef>
                        <a:spcAft>
                          <a:spcPts val="0"/>
                        </a:spcAft>
                        <a:buNone/>
                      </a:pPr>
                      <a:r>
                        <a:rPr lang="en-GB" sz="2100">
                          <a:latin typeface="Arial"/>
                          <a:ea typeface="Arial"/>
                          <a:cs typeface="Arial"/>
                          <a:sym typeface="Arial"/>
                        </a:rPr>
                        <a:t>Following a cohort of children who use bed nets (exposed) and those who do not (unexposed) to compare the incidence of malaria over two years</a:t>
                      </a:r>
                      <a:endParaRPr sz="2100">
                        <a:latin typeface="Arial"/>
                        <a:ea typeface="Arial"/>
                        <a:cs typeface="Arial"/>
                        <a:sym typeface="Arial"/>
                      </a:endParaRPr>
                    </a:p>
                  </a:txBody>
                  <a:tcPr marT="6025" marB="6025" marR="6025" marL="6025" anchor="ctr">
                    <a:lnT cap="flat" cmpd="sng" w="38100">
                      <a:solidFill>
                        <a:schemeClr val="lt1"/>
                      </a:solidFill>
                      <a:prstDash val="solid"/>
                      <a:round/>
                      <a:headEnd len="sm" w="sm" type="none"/>
                      <a:tailEnd len="sm" w="sm" type="none"/>
                    </a:lnT>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21"/>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18" name="Google Shape;618;p21"/>
          <p:cNvGrpSpPr/>
          <p:nvPr/>
        </p:nvGrpSpPr>
        <p:grpSpPr>
          <a:xfrm>
            <a:off x="5727906" y="218055"/>
            <a:ext cx="6832187" cy="1491696"/>
            <a:chOff x="0" y="0"/>
            <a:chExt cx="9109583" cy="1988928"/>
          </a:xfrm>
        </p:grpSpPr>
        <p:sp>
          <p:nvSpPr>
            <p:cNvPr id="619" name="Google Shape;619;p21"/>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0" name="Google Shape;620;p21"/>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1" name="Google Shape;621;p21"/>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2" name="Google Shape;622;p21"/>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21"/>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Summary</a:t>
            </a:r>
            <a:endParaRPr/>
          </a:p>
        </p:txBody>
      </p:sp>
      <p:sp>
        <p:nvSpPr>
          <p:cNvPr id="624" name="Google Shape;624;p21"/>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5" name="Google Shape;625;p21"/>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6" name="Google Shape;626;p21"/>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21"/>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21"/>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9" name="Google Shape;629;p21"/>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21"/>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1" name="Google Shape;631;p21"/>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2" name="Google Shape;632;p21"/>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21"/>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4" name="Google Shape;634;p21"/>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5" name="Google Shape;635;p21"/>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21"/>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7" name="Google Shape;637;p21"/>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21"/>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9" name="Google Shape;639;p21"/>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21"/>
          <p:cNvSpPr txBox="1"/>
          <p:nvPr/>
        </p:nvSpPr>
        <p:spPr>
          <a:xfrm>
            <a:off x="1624475" y="2437949"/>
            <a:ext cx="15293700" cy="7584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chemeClr val="dk1"/>
              </a:buClr>
              <a:buSzPts val="4400"/>
              <a:buFont typeface="Arial"/>
              <a:buNone/>
            </a:pPr>
            <a:r>
              <a:t/>
            </a:r>
            <a:endParaRPr b="0" i="0" sz="5600" u="none" cap="none" strike="noStrike">
              <a:solidFill>
                <a:srgbClr val="000000"/>
              </a:solidFill>
              <a:latin typeface="Arial"/>
              <a:ea typeface="Arial"/>
              <a:cs typeface="Arial"/>
              <a:sym typeface="Arial"/>
            </a:endParaRPr>
          </a:p>
          <a:p>
            <a:pPr indent="-533400" lvl="0" marL="457200" rtl="0" algn="l">
              <a:lnSpc>
                <a:spcPct val="90000"/>
              </a:lnSpc>
              <a:spcBef>
                <a:spcPts val="1000"/>
              </a:spcBef>
              <a:spcAft>
                <a:spcPts val="0"/>
              </a:spcAft>
              <a:buSzPts val="4800"/>
              <a:buChar char="•"/>
            </a:pPr>
            <a:r>
              <a:rPr lang="en-GB" sz="4800">
                <a:solidFill>
                  <a:schemeClr val="dk1"/>
                </a:solidFill>
              </a:rPr>
              <a:t>Study designs guide how we generate evidence</a:t>
            </a:r>
            <a:endParaRPr sz="4800">
              <a:solidFill>
                <a:schemeClr val="dk1"/>
              </a:solidFill>
            </a:endParaRPr>
          </a:p>
          <a:p>
            <a:pPr indent="0" lvl="0" marL="457200" rtl="0" algn="l">
              <a:lnSpc>
                <a:spcPct val="90000"/>
              </a:lnSpc>
              <a:spcBef>
                <a:spcPts val="1000"/>
              </a:spcBef>
              <a:spcAft>
                <a:spcPts val="0"/>
              </a:spcAft>
              <a:buNone/>
            </a:pPr>
            <a:r>
              <a:t/>
            </a:r>
            <a:endParaRPr sz="4800">
              <a:solidFill>
                <a:schemeClr val="dk1"/>
              </a:solidFill>
            </a:endParaRPr>
          </a:p>
          <a:p>
            <a:pPr indent="-533400" lvl="0" marL="457200" rtl="0" algn="l">
              <a:lnSpc>
                <a:spcPct val="90000"/>
              </a:lnSpc>
              <a:spcBef>
                <a:spcPts val="1000"/>
              </a:spcBef>
              <a:spcAft>
                <a:spcPts val="0"/>
              </a:spcAft>
              <a:buSzPts val="4800"/>
              <a:buChar char="•"/>
            </a:pPr>
            <a:r>
              <a:rPr lang="en-GB" sz="4800">
                <a:solidFill>
                  <a:schemeClr val="dk1"/>
                </a:solidFill>
              </a:rPr>
              <a:t>Observational vs experimental</a:t>
            </a:r>
            <a:endParaRPr sz="4800">
              <a:solidFill>
                <a:schemeClr val="dk1"/>
              </a:solidFill>
            </a:endParaRPr>
          </a:p>
          <a:p>
            <a:pPr indent="0" lvl="0" marL="457200" rtl="0" algn="l">
              <a:lnSpc>
                <a:spcPct val="90000"/>
              </a:lnSpc>
              <a:spcBef>
                <a:spcPts val="1000"/>
              </a:spcBef>
              <a:spcAft>
                <a:spcPts val="0"/>
              </a:spcAft>
              <a:buNone/>
            </a:pPr>
            <a:r>
              <a:t/>
            </a:r>
            <a:endParaRPr sz="4800">
              <a:solidFill>
                <a:schemeClr val="dk1"/>
              </a:solidFill>
            </a:endParaRPr>
          </a:p>
          <a:p>
            <a:pPr indent="-533400" lvl="0" marL="457200" rtl="0" algn="l">
              <a:lnSpc>
                <a:spcPct val="90000"/>
              </a:lnSpc>
              <a:spcBef>
                <a:spcPts val="1000"/>
              </a:spcBef>
              <a:spcAft>
                <a:spcPts val="0"/>
              </a:spcAft>
              <a:buSzPts val="4800"/>
              <a:buChar char="•"/>
            </a:pPr>
            <a:r>
              <a:rPr lang="en-GB" sz="4800">
                <a:solidFill>
                  <a:schemeClr val="dk1"/>
                </a:solidFill>
              </a:rPr>
              <a:t>Correct application is key to reliable conclusions</a:t>
            </a:r>
            <a:endParaRPr sz="4800">
              <a:solidFill>
                <a:schemeClr val="dk1"/>
              </a:solidFill>
            </a:endParaRPr>
          </a:p>
          <a:p>
            <a:pPr indent="0" lvl="0" marL="457200" rtl="0" algn="l">
              <a:lnSpc>
                <a:spcPct val="90000"/>
              </a:lnSpc>
              <a:spcBef>
                <a:spcPts val="1000"/>
              </a:spcBef>
              <a:spcAft>
                <a:spcPts val="0"/>
              </a:spcAft>
              <a:buNone/>
            </a:pPr>
            <a:r>
              <a:t/>
            </a:r>
            <a:endParaRPr sz="4800">
              <a:solidFill>
                <a:schemeClr val="dk1"/>
              </a:solidFill>
            </a:endParaRPr>
          </a:p>
          <a:p>
            <a:pPr indent="-533400" lvl="0" marL="457200" rtl="0" algn="l">
              <a:lnSpc>
                <a:spcPct val="90000"/>
              </a:lnSpc>
              <a:spcBef>
                <a:spcPts val="1000"/>
              </a:spcBef>
              <a:spcAft>
                <a:spcPts val="0"/>
              </a:spcAft>
              <a:buSzPts val="4800"/>
              <a:buChar char="•"/>
            </a:pPr>
            <a:r>
              <a:rPr lang="en-GB" sz="4800">
                <a:solidFill>
                  <a:schemeClr val="dk1"/>
                </a:solidFill>
              </a:rPr>
              <a:t>Think: “What is the best design to answer my question?”</a:t>
            </a:r>
            <a:endParaRPr sz="4800"/>
          </a:p>
        </p:txBody>
      </p:sp>
      <p:sp>
        <p:nvSpPr>
          <p:cNvPr id="641" name="Google Shape;641;p21"/>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7483fee6fc_0_29"/>
          <p:cNvSpPr/>
          <p:nvPr/>
        </p:nvSpPr>
        <p:spPr>
          <a:xfrm rot="2700000">
            <a:off x="17084873" y="4740790"/>
            <a:ext cx="806054" cy="806054"/>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48" name="Google Shape;648;g37483fee6fc_0_29"/>
          <p:cNvGrpSpPr/>
          <p:nvPr/>
        </p:nvGrpSpPr>
        <p:grpSpPr>
          <a:xfrm>
            <a:off x="5727906" y="218055"/>
            <a:ext cx="6832187" cy="1491696"/>
            <a:chOff x="0" y="0"/>
            <a:chExt cx="9109583" cy="1988928"/>
          </a:xfrm>
        </p:grpSpPr>
        <p:sp>
          <p:nvSpPr>
            <p:cNvPr id="649" name="Google Shape;649;g37483fee6fc_0_29"/>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9" l="0" r="-1359" t="-7393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g37483fee6fc_0_29"/>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9" r="-56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1" name="Google Shape;651;g37483fee6fc_0_29"/>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8" l="0" r="0" t="-1371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52" name="Google Shape;652;g37483fee6fc_0_29"/>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g37483fee6fc_0_29"/>
          <p:cNvSpPr txBox="1"/>
          <p:nvPr/>
        </p:nvSpPr>
        <p:spPr>
          <a:xfrm>
            <a:off x="1724256" y="4041064"/>
            <a:ext cx="14839500" cy="1463400"/>
          </a:xfrm>
          <a:prstGeom prst="rect">
            <a:avLst/>
          </a:prstGeom>
          <a:noFill/>
          <a:ln>
            <a:noFill/>
          </a:ln>
        </p:spPr>
        <p:txBody>
          <a:bodyPr anchorCtr="0" anchor="t" bIns="0" lIns="0" spcFirstLastPara="1" rIns="0" wrap="square" tIns="0">
            <a:spAutoFit/>
          </a:bodyPr>
          <a:lstStyle/>
          <a:p>
            <a:pPr indent="0" lvl="0" marL="0" marR="0" rtl="0" algn="ctr">
              <a:lnSpc>
                <a:spcPct val="101996"/>
              </a:lnSpc>
              <a:spcBef>
                <a:spcPts val="0"/>
              </a:spcBef>
              <a:spcAft>
                <a:spcPts val="0"/>
              </a:spcAft>
              <a:buNone/>
            </a:pPr>
            <a:r>
              <a:rPr b="1" lang="en-GB" sz="9507">
                <a:solidFill>
                  <a:srgbClr val="F4743B"/>
                </a:solidFill>
                <a:latin typeface="Montserrat"/>
                <a:ea typeface="Montserrat"/>
                <a:cs typeface="Montserrat"/>
                <a:sym typeface="Montserrat"/>
              </a:rPr>
              <a:t>Questions?</a:t>
            </a:r>
            <a:endParaRPr sz="6500"/>
          </a:p>
        </p:txBody>
      </p:sp>
      <p:sp>
        <p:nvSpPr>
          <p:cNvPr id="654" name="Google Shape;654;g37483fee6fc_0_29"/>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5" name="Google Shape;655;g37483fee6fc_0_29"/>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6" name="Google Shape;656;g37483fee6fc_0_29"/>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7" name="Google Shape;657;g37483fee6fc_0_29"/>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8" name="Google Shape;658;g37483fee6fc_0_29"/>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9" name="Google Shape;659;g37483fee6fc_0_29"/>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0" name="Google Shape;660;g37483fee6fc_0_29"/>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1" name="Google Shape;661;g37483fee6fc_0_29"/>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g37483fee6fc_0_29"/>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29"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3" name="Google Shape;663;g37483fee6fc_0_29"/>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29"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4" name="Google Shape;664;g37483fee6fc_0_29"/>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5" name="Google Shape;665;g37483fee6fc_0_29"/>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6" name="Google Shape;666;g37483fee6fc_0_29"/>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29"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7" name="Google Shape;667;g37483fee6fc_0_29"/>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29"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8" name="Google Shape;668;g37483fee6fc_0_29"/>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9" name="Google Shape;669;g37483fee6fc_0_29"/>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0" name="Google Shape;670;g37483fee6fc_0_29"/>
          <p:cNvSpPr txBox="1"/>
          <p:nvPr/>
        </p:nvSpPr>
        <p:spPr>
          <a:xfrm>
            <a:off x="16265918" y="9619723"/>
            <a:ext cx="258300" cy="483900"/>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g37483fee6fc_0_58"/>
          <p:cNvSpPr/>
          <p:nvPr/>
        </p:nvSpPr>
        <p:spPr>
          <a:xfrm rot="2700000">
            <a:off x="17084873" y="4740790"/>
            <a:ext cx="806054" cy="806054"/>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677" name="Google Shape;677;g37483fee6fc_0_58"/>
          <p:cNvGrpSpPr/>
          <p:nvPr/>
        </p:nvGrpSpPr>
        <p:grpSpPr>
          <a:xfrm>
            <a:off x="5727906" y="218055"/>
            <a:ext cx="6832187" cy="1491696"/>
            <a:chOff x="0" y="0"/>
            <a:chExt cx="9109583" cy="1988928"/>
          </a:xfrm>
        </p:grpSpPr>
        <p:sp>
          <p:nvSpPr>
            <p:cNvPr id="678" name="Google Shape;678;g37483fee6fc_0_58"/>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9" l="0" r="-1359" t="-7393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9" name="Google Shape;679;g37483fee6fc_0_58"/>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9" r="-569"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g37483fee6fc_0_58"/>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8" l="0" r="0" t="-13718"/>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1" name="Google Shape;681;g37483fee6fc_0_58"/>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2" name="Google Shape;682;g37483fee6fc_0_58"/>
          <p:cNvSpPr txBox="1"/>
          <p:nvPr/>
        </p:nvSpPr>
        <p:spPr>
          <a:xfrm>
            <a:off x="1724256" y="4041064"/>
            <a:ext cx="14839500" cy="1463400"/>
          </a:xfrm>
          <a:prstGeom prst="rect">
            <a:avLst/>
          </a:prstGeom>
          <a:noFill/>
          <a:ln>
            <a:noFill/>
          </a:ln>
        </p:spPr>
        <p:txBody>
          <a:bodyPr anchorCtr="0" anchor="t" bIns="0" lIns="0" spcFirstLastPara="1" rIns="0" wrap="square" tIns="0">
            <a:spAutoFit/>
          </a:bodyPr>
          <a:lstStyle/>
          <a:p>
            <a:pPr indent="0" lvl="0" marL="0" marR="0" rtl="0" algn="ctr">
              <a:lnSpc>
                <a:spcPct val="101996"/>
              </a:lnSpc>
              <a:spcBef>
                <a:spcPts val="0"/>
              </a:spcBef>
              <a:spcAft>
                <a:spcPts val="0"/>
              </a:spcAft>
              <a:buNone/>
            </a:pPr>
            <a:r>
              <a:rPr b="1" lang="en-GB" sz="9507">
                <a:solidFill>
                  <a:srgbClr val="F4743B"/>
                </a:solidFill>
                <a:latin typeface="Montserrat"/>
                <a:ea typeface="Montserrat"/>
                <a:cs typeface="Montserrat"/>
                <a:sym typeface="Montserrat"/>
              </a:rPr>
              <a:t>Practical</a:t>
            </a:r>
            <a:endParaRPr sz="6500"/>
          </a:p>
        </p:txBody>
      </p:sp>
      <p:sp>
        <p:nvSpPr>
          <p:cNvPr id="683" name="Google Shape;683;g37483fee6fc_0_58"/>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4" name="Google Shape;684;g37483fee6fc_0_58"/>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5" name="Google Shape;685;g37483fee6fc_0_58"/>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6" name="Google Shape;686;g37483fee6fc_0_58"/>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7" name="Google Shape;687;g37483fee6fc_0_58"/>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8" name="Google Shape;688;g37483fee6fc_0_58"/>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9" name="Google Shape;689;g37483fee6fc_0_58"/>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0" name="Google Shape;690;g37483fee6fc_0_58"/>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1" name="Google Shape;691;g37483fee6fc_0_58"/>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29"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2" name="Google Shape;692;g37483fee6fc_0_58"/>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29"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3" name="Google Shape;693;g37483fee6fc_0_58"/>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4" name="Google Shape;694;g37483fee6fc_0_58"/>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29"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5" name="Google Shape;695;g37483fee6fc_0_58"/>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29"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6" name="Google Shape;696;g37483fee6fc_0_58"/>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29"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g37483fee6fc_0_58"/>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g37483fee6fc_0_58"/>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9" name="Google Shape;699;g37483fee6fc_0_58"/>
          <p:cNvSpPr txBox="1"/>
          <p:nvPr/>
        </p:nvSpPr>
        <p:spPr>
          <a:xfrm>
            <a:off x="16265918" y="9619723"/>
            <a:ext cx="258300" cy="483900"/>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23"/>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06" name="Google Shape;706;p23"/>
          <p:cNvGrpSpPr/>
          <p:nvPr/>
        </p:nvGrpSpPr>
        <p:grpSpPr>
          <a:xfrm>
            <a:off x="5727906" y="218055"/>
            <a:ext cx="6832187" cy="1491696"/>
            <a:chOff x="0" y="0"/>
            <a:chExt cx="9109583" cy="1988928"/>
          </a:xfrm>
        </p:grpSpPr>
        <p:sp>
          <p:nvSpPr>
            <p:cNvPr id="707" name="Google Shape;707;p23"/>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8" name="Google Shape;708;p23"/>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9" name="Google Shape;709;p23"/>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0" name="Google Shape;710;p23"/>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1" name="Google Shape;711;p23"/>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Lesson 2 Group Exercises:</a:t>
            </a:r>
            <a:endParaRPr/>
          </a:p>
        </p:txBody>
      </p:sp>
      <p:sp>
        <p:nvSpPr>
          <p:cNvPr id="712" name="Google Shape;712;p23"/>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3" name="Google Shape;713;p23"/>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4" name="Google Shape;714;p23"/>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5" name="Google Shape;715;p23"/>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6" name="Google Shape;716;p23"/>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23"/>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8" name="Google Shape;718;p23"/>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9" name="Google Shape;719;p23"/>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23"/>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1" name="Google Shape;721;p23"/>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23"/>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3" name="Google Shape;723;p23"/>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23"/>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5" name="Google Shape;725;p23"/>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23"/>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7" name="Google Shape;727;p23"/>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8" name="Google Shape;728;p23"/>
          <p:cNvSpPr txBox="1"/>
          <p:nvPr/>
        </p:nvSpPr>
        <p:spPr>
          <a:xfrm>
            <a:off x="1624481" y="2437948"/>
            <a:ext cx="15284245" cy="691368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4000"/>
              <a:buFont typeface="Arial"/>
              <a:buNone/>
            </a:pPr>
            <a:r>
              <a:rPr b="1" i="0" lang="en-GB" sz="4000" u="none" cap="none" strike="noStrike">
                <a:solidFill>
                  <a:srgbClr val="000000"/>
                </a:solidFill>
                <a:latin typeface="Arial"/>
                <a:ea typeface="Arial"/>
                <a:cs typeface="Arial"/>
                <a:sym typeface="Arial"/>
              </a:rPr>
              <a:t>Instructions for the groups:</a:t>
            </a:r>
            <a:r>
              <a:rPr b="0" i="0" lang="en-GB" sz="4000" u="none" cap="none" strike="noStrike">
                <a:solidFill>
                  <a:srgbClr val="000000"/>
                </a:solidFill>
                <a:latin typeface="Arial"/>
                <a:ea typeface="Arial"/>
                <a:cs typeface="Arial"/>
                <a:sym typeface="Arial"/>
              </a:rPr>
              <a:t> </a:t>
            </a:r>
            <a:endParaRPr/>
          </a:p>
          <a:p>
            <a:pPr indent="-254000" lvl="0" marL="228600" marR="0" rtl="0" algn="l">
              <a:lnSpc>
                <a:spcPct val="90000"/>
              </a:lnSpc>
              <a:spcBef>
                <a:spcPts val="1000"/>
              </a:spcBef>
              <a:spcAft>
                <a:spcPts val="0"/>
              </a:spcAft>
              <a:buClr>
                <a:srgbClr val="000000"/>
              </a:buClr>
              <a:buSzPts val="4000"/>
              <a:buFont typeface="Arial"/>
              <a:buChar char="•"/>
            </a:pPr>
            <a:r>
              <a:rPr b="0" i="0" lang="en-GB" sz="4000" u="none" cap="none" strike="noStrike">
                <a:solidFill>
                  <a:srgbClr val="000000"/>
                </a:solidFill>
                <a:latin typeface="Arial"/>
                <a:ea typeface="Arial"/>
                <a:cs typeface="Arial"/>
                <a:sym typeface="Arial"/>
              </a:rPr>
              <a:t>Please read the following public health scenarios</a:t>
            </a:r>
            <a:endParaRPr/>
          </a:p>
          <a:p>
            <a:pPr indent="-254000" lvl="0" marL="228600" marR="0" rtl="0" algn="l">
              <a:lnSpc>
                <a:spcPct val="90000"/>
              </a:lnSpc>
              <a:spcBef>
                <a:spcPts val="1000"/>
              </a:spcBef>
              <a:spcAft>
                <a:spcPts val="0"/>
              </a:spcAft>
              <a:buClr>
                <a:srgbClr val="000000"/>
              </a:buClr>
              <a:buSzPts val="4000"/>
              <a:buFont typeface="Arial"/>
              <a:buChar char="•"/>
            </a:pPr>
            <a:r>
              <a:rPr b="0" i="0" lang="en-GB" sz="4000" u="none" cap="none" strike="noStrike">
                <a:solidFill>
                  <a:srgbClr val="000000"/>
                </a:solidFill>
                <a:latin typeface="Arial"/>
                <a:ea typeface="Arial"/>
                <a:cs typeface="Arial"/>
                <a:sym typeface="Arial"/>
              </a:rPr>
              <a:t>As a group, discuss the situation and answer the following questions that follow</a:t>
            </a:r>
            <a:endParaRPr/>
          </a:p>
          <a:p>
            <a:pPr indent="-228600" lvl="1" marL="685800" marR="0" rtl="0" algn="l">
              <a:lnSpc>
                <a:spcPct val="90000"/>
              </a:lnSpc>
              <a:spcBef>
                <a:spcPts val="500"/>
              </a:spcBef>
              <a:spcAft>
                <a:spcPts val="0"/>
              </a:spcAft>
              <a:buClr>
                <a:srgbClr val="000000"/>
              </a:buClr>
              <a:buSzPts val="3600"/>
              <a:buFont typeface="Arial"/>
              <a:buChar char="•"/>
            </a:pPr>
            <a:r>
              <a:rPr b="0" i="0" lang="en-GB" sz="3600" u="none" cap="none" strike="noStrike">
                <a:solidFill>
                  <a:srgbClr val="000000"/>
                </a:solidFill>
                <a:latin typeface="Arial"/>
                <a:ea typeface="Arial"/>
                <a:cs typeface="Arial"/>
                <a:sym typeface="Arial"/>
              </a:rPr>
              <a:t>Formulate a primary hypothesis</a:t>
            </a:r>
            <a:endParaRPr/>
          </a:p>
          <a:p>
            <a:pPr indent="-228600" lvl="1" marL="685800" marR="0" rtl="0" algn="l">
              <a:lnSpc>
                <a:spcPct val="90000"/>
              </a:lnSpc>
              <a:spcBef>
                <a:spcPts val="500"/>
              </a:spcBef>
              <a:spcAft>
                <a:spcPts val="0"/>
              </a:spcAft>
              <a:buClr>
                <a:srgbClr val="000000"/>
              </a:buClr>
              <a:buSzPts val="3600"/>
              <a:buFont typeface="Arial"/>
              <a:buChar char="•"/>
            </a:pPr>
            <a:r>
              <a:rPr b="0" i="0" lang="en-GB" sz="3600" u="none" cap="none" strike="noStrike">
                <a:solidFill>
                  <a:srgbClr val="000000"/>
                </a:solidFill>
                <a:latin typeface="Arial"/>
                <a:ea typeface="Arial"/>
                <a:cs typeface="Arial"/>
                <a:sym typeface="Arial"/>
              </a:rPr>
              <a:t>Propose most appropriate epidemiological study design to quickly and efficiently test your hypothesis</a:t>
            </a:r>
            <a:endParaRPr/>
          </a:p>
          <a:p>
            <a:pPr indent="-228600" lvl="1" marL="685800" marR="0" rtl="0" algn="l">
              <a:lnSpc>
                <a:spcPct val="90000"/>
              </a:lnSpc>
              <a:spcBef>
                <a:spcPts val="500"/>
              </a:spcBef>
              <a:spcAft>
                <a:spcPts val="0"/>
              </a:spcAft>
              <a:buClr>
                <a:srgbClr val="000000"/>
              </a:buClr>
              <a:buSzPts val="3600"/>
              <a:buFont typeface="Arial"/>
              <a:buChar char="•"/>
            </a:pPr>
            <a:r>
              <a:rPr b="0" i="0" lang="en-GB" sz="3600" u="none" cap="none" strike="noStrike">
                <a:solidFill>
                  <a:srgbClr val="000000"/>
                </a:solidFill>
                <a:latin typeface="Arial"/>
                <a:ea typeface="Arial"/>
                <a:cs typeface="Arial"/>
                <a:sym typeface="Arial"/>
              </a:rPr>
              <a:t>Provide a clear rationale for why this study design is the best choice given the circumstances</a:t>
            </a:r>
            <a:endParaRPr/>
          </a:p>
          <a:p>
            <a:pPr indent="-228600" lvl="1" marL="685800" marR="0" rtl="0" algn="l">
              <a:lnSpc>
                <a:spcPct val="90000"/>
              </a:lnSpc>
              <a:spcBef>
                <a:spcPts val="500"/>
              </a:spcBef>
              <a:spcAft>
                <a:spcPts val="0"/>
              </a:spcAft>
              <a:buClr>
                <a:srgbClr val="000000"/>
              </a:buClr>
              <a:buSzPts val="3600"/>
              <a:buFont typeface="Arial"/>
              <a:buChar char="•"/>
            </a:pPr>
            <a:r>
              <a:rPr b="0" i="0" lang="en-GB" sz="3600" u="none" cap="none" strike="noStrike">
                <a:solidFill>
                  <a:srgbClr val="000000"/>
                </a:solidFill>
                <a:latin typeface="Arial"/>
                <a:ea typeface="Arial"/>
                <a:cs typeface="Arial"/>
                <a:sym typeface="Arial"/>
              </a:rPr>
              <a:t>Define your study sample population</a:t>
            </a:r>
            <a:endParaRPr/>
          </a:p>
          <a:p>
            <a:pPr indent="-228600" lvl="2" marL="1143000" marR="0" rtl="0" algn="l">
              <a:lnSpc>
                <a:spcPct val="90000"/>
              </a:lnSpc>
              <a:spcBef>
                <a:spcPts val="500"/>
              </a:spcBef>
              <a:spcAft>
                <a:spcPts val="0"/>
              </a:spcAft>
              <a:buClr>
                <a:srgbClr val="000000"/>
              </a:buClr>
              <a:buSzPts val="3200"/>
              <a:buFont typeface="Arial"/>
              <a:buChar char="•"/>
            </a:pPr>
            <a:r>
              <a:rPr b="0" i="0" lang="en-GB" sz="3200" u="none" cap="none" strike="noStrike">
                <a:solidFill>
                  <a:srgbClr val="000000"/>
                </a:solidFill>
                <a:latin typeface="Arial"/>
                <a:ea typeface="Arial"/>
                <a:cs typeface="Arial"/>
                <a:sym typeface="Arial"/>
              </a:rPr>
              <a:t>Inclusion criteria</a:t>
            </a:r>
            <a:endParaRPr/>
          </a:p>
          <a:p>
            <a:pPr indent="-254000" lvl="0" marL="228600" marR="0" rtl="0" algn="l">
              <a:lnSpc>
                <a:spcPct val="90000"/>
              </a:lnSpc>
              <a:spcBef>
                <a:spcPts val="1000"/>
              </a:spcBef>
              <a:spcAft>
                <a:spcPts val="0"/>
              </a:spcAft>
              <a:buClr>
                <a:srgbClr val="000000"/>
              </a:buClr>
              <a:buSzPts val="4000"/>
              <a:buFont typeface="Arial"/>
              <a:buChar char="•"/>
            </a:pPr>
            <a:r>
              <a:rPr b="0" i="0" lang="en-GB" sz="4000" u="none" cap="none" strike="noStrike">
                <a:solidFill>
                  <a:srgbClr val="000000"/>
                </a:solidFill>
                <a:latin typeface="Arial"/>
                <a:ea typeface="Arial"/>
                <a:cs typeface="Arial"/>
                <a:sym typeface="Arial"/>
              </a:rPr>
              <a:t>You will have 20-25 minutes for this exercise</a:t>
            </a:r>
            <a:endParaRPr/>
          </a:p>
        </p:txBody>
      </p:sp>
      <p:sp>
        <p:nvSpPr>
          <p:cNvPr id="729" name="Google Shape;729;p23"/>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24"/>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36" name="Google Shape;736;p24"/>
          <p:cNvGrpSpPr/>
          <p:nvPr/>
        </p:nvGrpSpPr>
        <p:grpSpPr>
          <a:xfrm>
            <a:off x="5727906" y="218055"/>
            <a:ext cx="6832187" cy="1491696"/>
            <a:chOff x="0" y="0"/>
            <a:chExt cx="9109583" cy="1988928"/>
          </a:xfrm>
        </p:grpSpPr>
        <p:sp>
          <p:nvSpPr>
            <p:cNvPr id="737" name="Google Shape;737;p24"/>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8" name="Google Shape;738;p24"/>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9" name="Google Shape;739;p24"/>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40" name="Google Shape;740;p24"/>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1" name="Google Shape;741;p24"/>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Exercise Case Study</a:t>
            </a:r>
            <a:endParaRPr/>
          </a:p>
        </p:txBody>
      </p:sp>
      <p:sp>
        <p:nvSpPr>
          <p:cNvPr id="742" name="Google Shape;742;p24"/>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3" name="Google Shape;743;p24"/>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4" name="Google Shape;744;p24"/>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5" name="Google Shape;745;p24"/>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24"/>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7" name="Google Shape;747;p24"/>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8" name="Google Shape;748;p24"/>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9" name="Google Shape;749;p24"/>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0" name="Google Shape;750;p24"/>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1" name="Google Shape;751;p24"/>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2" name="Google Shape;752;p24"/>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3" name="Google Shape;753;p24"/>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4" name="Google Shape;754;p24"/>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24"/>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6" name="Google Shape;756;p24"/>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7" name="Google Shape;757;p24"/>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8" name="Google Shape;758;p24"/>
          <p:cNvSpPr txBox="1"/>
          <p:nvPr/>
        </p:nvSpPr>
        <p:spPr>
          <a:xfrm>
            <a:off x="1624481" y="2437948"/>
            <a:ext cx="15284245" cy="7174336"/>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3500"/>
              <a:buFont typeface="Arial"/>
              <a:buNone/>
            </a:pPr>
            <a:r>
              <a:rPr b="1" i="0" lang="en-GB" sz="3500" u="none" cap="none" strike="noStrike">
                <a:solidFill>
                  <a:srgbClr val="000000"/>
                </a:solidFill>
                <a:latin typeface="Arial"/>
                <a:ea typeface="Arial"/>
                <a:cs typeface="Arial"/>
                <a:sym typeface="Arial"/>
              </a:rPr>
              <a:t>Scenario 1:</a:t>
            </a:r>
            <a:endParaRPr/>
          </a:p>
          <a:p>
            <a:pPr indent="-228600" lvl="0" marL="228600" marR="0" rtl="0" algn="l">
              <a:lnSpc>
                <a:spcPct val="90000"/>
              </a:lnSpc>
              <a:spcBef>
                <a:spcPts val="1000"/>
              </a:spcBef>
              <a:spcAft>
                <a:spcPts val="0"/>
              </a:spcAft>
              <a:buClr>
                <a:srgbClr val="000000"/>
              </a:buClr>
              <a:buSzPts val="3500"/>
              <a:buFont typeface="Arial"/>
              <a:buChar char="•"/>
            </a:pPr>
            <a:r>
              <a:rPr b="0" i="0" lang="en-GB" sz="3500" u="none" cap="none" strike="noStrike">
                <a:solidFill>
                  <a:srgbClr val="000000"/>
                </a:solidFill>
                <a:latin typeface="Arial"/>
                <a:ea typeface="Arial"/>
                <a:cs typeface="Arial"/>
                <a:sym typeface="Arial"/>
              </a:rPr>
              <a:t>In the past three months, the main public health facility in a low endemicity county has reported an unusual increase in the number of children under five years of age presenting with severe malaria. This is unexpected. The Ministry of Health, with support from partner organizations, has concluded a successful mass distribution campaign of long-lasting insecticidal nets (LLINs) across the county six months ago. Reports from healthcare workers suggest that many of the children with severe malaria come from households that received the new bed nets. This has raised concerns among public health officials and the community about the effectiveness of the recently distributed nets</a:t>
            </a:r>
            <a:endParaRPr/>
          </a:p>
          <a:p>
            <a:pPr indent="-6350" lvl="0" marL="228600" marR="0" rtl="0" algn="l">
              <a:lnSpc>
                <a:spcPct val="90000"/>
              </a:lnSpc>
              <a:spcBef>
                <a:spcPts val="1000"/>
              </a:spcBef>
              <a:spcAft>
                <a:spcPts val="0"/>
              </a:spcAft>
              <a:buClr>
                <a:schemeClr val="dk1"/>
              </a:buClr>
              <a:buSzPts val="3500"/>
              <a:buFont typeface="Arial"/>
              <a:buNone/>
            </a:pPr>
            <a:r>
              <a:t/>
            </a:r>
            <a:endParaRPr b="0" i="0" sz="35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3500"/>
              <a:buFont typeface="Arial"/>
              <a:buChar char="•"/>
            </a:pPr>
            <a:r>
              <a:rPr b="0" i="0" lang="en-GB" sz="3500" u="none" cap="none" strike="noStrike">
                <a:solidFill>
                  <a:srgbClr val="000000"/>
                </a:solidFill>
                <a:latin typeface="Arial"/>
                <a:ea typeface="Arial"/>
                <a:cs typeface="Arial"/>
                <a:sym typeface="Arial"/>
              </a:rPr>
              <a:t>As a team of epidemiologists, you have been tasked with rapidly investigating the potential risk factors associated with this recent surge in severe malaria cases to inform an immediate public health response</a:t>
            </a:r>
            <a:endParaRPr/>
          </a:p>
        </p:txBody>
      </p:sp>
      <p:sp>
        <p:nvSpPr>
          <p:cNvPr id="759" name="Google Shape;759;p24"/>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25"/>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66" name="Google Shape;766;p25"/>
          <p:cNvGrpSpPr/>
          <p:nvPr/>
        </p:nvGrpSpPr>
        <p:grpSpPr>
          <a:xfrm>
            <a:off x="5727906" y="218055"/>
            <a:ext cx="6832187" cy="1491696"/>
            <a:chOff x="0" y="0"/>
            <a:chExt cx="9109583" cy="1988928"/>
          </a:xfrm>
        </p:grpSpPr>
        <p:sp>
          <p:nvSpPr>
            <p:cNvPr id="767" name="Google Shape;767;p25"/>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8" name="Google Shape;768;p25"/>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9" name="Google Shape;769;p25"/>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70" name="Google Shape;770;p25"/>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1" name="Google Shape;771;p25"/>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Exercise Case Study</a:t>
            </a:r>
            <a:endParaRPr/>
          </a:p>
        </p:txBody>
      </p:sp>
      <p:sp>
        <p:nvSpPr>
          <p:cNvPr id="772" name="Google Shape;772;p25"/>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3" name="Google Shape;773;p25"/>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4" name="Google Shape;774;p25"/>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5" name="Google Shape;775;p25"/>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6" name="Google Shape;776;p25"/>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7" name="Google Shape;777;p25"/>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8" name="Google Shape;778;p25"/>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9" name="Google Shape;779;p25"/>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0" name="Google Shape;780;p25"/>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1" name="Google Shape;781;p25"/>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2" name="Google Shape;782;p25"/>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3" name="Google Shape;783;p25"/>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4" name="Google Shape;784;p25"/>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5" name="Google Shape;785;p25"/>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6" name="Google Shape;786;p25"/>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7" name="Google Shape;787;p25"/>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8" name="Google Shape;788;p25"/>
          <p:cNvSpPr txBox="1"/>
          <p:nvPr/>
        </p:nvSpPr>
        <p:spPr>
          <a:xfrm>
            <a:off x="1624481" y="2437948"/>
            <a:ext cx="15284245" cy="6869701"/>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3600"/>
              <a:buFont typeface="Arial"/>
              <a:buNone/>
            </a:pPr>
            <a:r>
              <a:rPr b="1" i="0" lang="en-GB" sz="3600" u="none" cap="none" strike="noStrike">
                <a:solidFill>
                  <a:srgbClr val="000000"/>
                </a:solidFill>
                <a:latin typeface="Arial"/>
                <a:ea typeface="Arial"/>
                <a:cs typeface="Arial"/>
                <a:sym typeface="Arial"/>
              </a:rPr>
              <a:t>Scenario 2: </a:t>
            </a:r>
            <a:endParaRPr/>
          </a:p>
          <a:p>
            <a:pPr indent="-228600" lvl="0" marL="228600" marR="0" rtl="0" algn="l">
              <a:lnSpc>
                <a:spcPct val="90000"/>
              </a:lnSpc>
              <a:spcBef>
                <a:spcPts val="1000"/>
              </a:spcBef>
              <a:spcAft>
                <a:spcPts val="0"/>
              </a:spcAft>
              <a:buClr>
                <a:srgbClr val="000000"/>
              </a:buClr>
              <a:buSzPts val="3600"/>
              <a:buFont typeface="Arial"/>
              <a:buChar char="•"/>
            </a:pPr>
            <a:r>
              <a:rPr b="0" i="0" lang="en-GB" sz="3600" u="none" cap="none" strike="noStrike">
                <a:solidFill>
                  <a:srgbClr val="000000"/>
                </a:solidFill>
                <a:latin typeface="Arial"/>
                <a:ea typeface="Arial"/>
                <a:cs typeface="Arial"/>
                <a:sym typeface="Arial"/>
              </a:rPr>
              <a:t>In October 2021, RTS,S became the first malaria vaccine recommended by the WHO for broad use in children. The RTS,S/AS01 malaria vaccine (also known as Mosquirix) was introduced into routine childhood immunisation programs in selected high-transmission regions in Kenya. While Phase III clinical trials have shown efficacy, it is essential to assess vaccine performance under real-world conditions, where cold chain, adherence, and co-interventions may vary.</a:t>
            </a:r>
            <a:endParaRPr/>
          </a:p>
          <a:p>
            <a:pPr indent="0" lvl="0" marL="0" marR="0" rtl="0" algn="l">
              <a:lnSpc>
                <a:spcPct val="90000"/>
              </a:lnSpc>
              <a:spcBef>
                <a:spcPts val="1000"/>
              </a:spcBef>
              <a:spcAft>
                <a:spcPts val="0"/>
              </a:spcAft>
              <a:buClr>
                <a:schemeClr val="dk1"/>
              </a:buClr>
              <a:buSzPts val="3600"/>
              <a:buFont typeface="Arial"/>
              <a:buNone/>
            </a:pPr>
            <a:r>
              <a:t/>
            </a:r>
            <a:endParaRPr b="0" i="0" sz="36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rgbClr val="000000"/>
              </a:buClr>
              <a:buSzPts val="3600"/>
              <a:buFont typeface="Arial"/>
              <a:buChar char="•"/>
            </a:pPr>
            <a:r>
              <a:rPr b="0" i="0" lang="en-GB" sz="3600" u="none" cap="none" strike="noStrike">
                <a:solidFill>
                  <a:srgbClr val="000000"/>
                </a:solidFill>
                <a:latin typeface="Arial"/>
                <a:ea typeface="Arial"/>
                <a:cs typeface="Arial"/>
                <a:sym typeface="Arial"/>
              </a:rPr>
              <a:t>As a team of epidemiologists, you have been asked to evaluate the effectiveness of RTS,S in preventing malaria infection and clinical disease among vaccinated versus unvaccinated children over a 2-year follow-up period.</a:t>
            </a:r>
            <a:endParaRPr/>
          </a:p>
        </p:txBody>
      </p:sp>
      <p:sp>
        <p:nvSpPr>
          <p:cNvPr id="789" name="Google Shape;789;p25"/>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26"/>
          <p:cNvSpPr/>
          <p:nvPr/>
        </p:nvSpPr>
        <p:spPr>
          <a:xfrm rot="2700000">
            <a:off x="17085097" y="4740697"/>
            <a:ext cx="805606" cy="805606"/>
          </a:xfrm>
          <a:custGeom>
            <a:rect b="b" l="l" r="r" t="t"/>
            <a:pathLst>
              <a:path extrusionOk="0" h="805606" w="805606">
                <a:moveTo>
                  <a:pt x="0" y="0"/>
                </a:moveTo>
                <a:lnTo>
                  <a:pt x="805606" y="0"/>
                </a:lnTo>
                <a:lnTo>
                  <a:pt x="805606" y="805606"/>
                </a:lnTo>
                <a:lnTo>
                  <a:pt x="0" y="80560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796" name="Google Shape;796;p26"/>
          <p:cNvGrpSpPr/>
          <p:nvPr/>
        </p:nvGrpSpPr>
        <p:grpSpPr>
          <a:xfrm>
            <a:off x="5727906" y="218055"/>
            <a:ext cx="6832187" cy="1491696"/>
            <a:chOff x="0" y="0"/>
            <a:chExt cx="9109583" cy="1988928"/>
          </a:xfrm>
        </p:grpSpPr>
        <p:sp>
          <p:nvSpPr>
            <p:cNvPr id="797" name="Google Shape;797;p26"/>
            <p:cNvSpPr/>
            <p:nvPr/>
          </p:nvSpPr>
          <p:spPr>
            <a:xfrm>
              <a:off x="0" y="336102"/>
              <a:ext cx="3411481" cy="1067048"/>
            </a:xfrm>
            <a:custGeom>
              <a:rect b="b" l="l" r="r" t="t"/>
              <a:pathLst>
                <a:path extrusionOk="0" h="1067048" w="3411481">
                  <a:moveTo>
                    <a:pt x="0" y="0"/>
                  </a:moveTo>
                  <a:lnTo>
                    <a:pt x="3411481" y="0"/>
                  </a:lnTo>
                  <a:lnTo>
                    <a:pt x="3411481" y="1067048"/>
                  </a:lnTo>
                  <a:lnTo>
                    <a:pt x="0" y="1067048"/>
                  </a:lnTo>
                  <a:lnTo>
                    <a:pt x="0" y="0"/>
                  </a:lnTo>
                  <a:close/>
                </a:path>
              </a:pathLst>
            </a:custGeom>
            <a:blipFill rotWithShape="1">
              <a:blip r:embed="rId4">
                <a:alphaModFix/>
              </a:blip>
              <a:stretch>
                <a:fillRect b="-55195" l="0" r="-1363" t="-7393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8" name="Google Shape;798;p26"/>
            <p:cNvSpPr/>
            <p:nvPr/>
          </p:nvSpPr>
          <p:spPr>
            <a:xfrm>
              <a:off x="3725348" y="0"/>
              <a:ext cx="1966257" cy="1988928"/>
            </a:xfrm>
            <a:custGeom>
              <a:rect b="b" l="l" r="r" t="t"/>
              <a:pathLst>
                <a:path extrusionOk="0" h="1988928" w="1966257">
                  <a:moveTo>
                    <a:pt x="0" y="0"/>
                  </a:moveTo>
                  <a:lnTo>
                    <a:pt x="1966257" y="0"/>
                  </a:lnTo>
                  <a:lnTo>
                    <a:pt x="1966257" y="1988928"/>
                  </a:lnTo>
                  <a:lnTo>
                    <a:pt x="0" y="1988928"/>
                  </a:lnTo>
                  <a:lnTo>
                    <a:pt x="0" y="0"/>
                  </a:lnTo>
                  <a:close/>
                </a:path>
              </a:pathLst>
            </a:custGeom>
            <a:blipFill rotWithShape="1">
              <a:blip r:embed="rId5">
                <a:alphaModFix/>
              </a:blip>
              <a:stretch>
                <a:fillRect b="0" l="-574" r="-574"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9" name="Google Shape;799;p26"/>
            <p:cNvSpPr/>
            <p:nvPr/>
          </p:nvSpPr>
          <p:spPr>
            <a:xfrm>
              <a:off x="6011503" y="7906"/>
              <a:ext cx="3098080" cy="1395244"/>
            </a:xfrm>
            <a:custGeom>
              <a:rect b="b" l="l" r="r" t="t"/>
              <a:pathLst>
                <a:path extrusionOk="0" h="1395244" w="3098080">
                  <a:moveTo>
                    <a:pt x="0" y="0"/>
                  </a:moveTo>
                  <a:lnTo>
                    <a:pt x="3098080" y="0"/>
                  </a:lnTo>
                  <a:lnTo>
                    <a:pt x="3098080" y="1395244"/>
                  </a:lnTo>
                  <a:lnTo>
                    <a:pt x="0" y="1395244"/>
                  </a:lnTo>
                  <a:lnTo>
                    <a:pt x="0" y="0"/>
                  </a:lnTo>
                  <a:close/>
                </a:path>
              </a:pathLst>
            </a:custGeom>
            <a:blipFill rotWithShape="1">
              <a:blip r:embed="rId6">
                <a:alphaModFix/>
              </a:blip>
              <a:stretch>
                <a:fillRect b="-2767" l="0" r="0" t="-1372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00" name="Google Shape;800;p26"/>
          <p:cNvSpPr/>
          <p:nvPr/>
        </p:nvSpPr>
        <p:spPr>
          <a:xfrm rot="-5400000">
            <a:off x="15800912" y="9525"/>
            <a:ext cx="2477563" cy="2477563"/>
          </a:xfrm>
          <a:custGeom>
            <a:rect b="b" l="l" r="r" t="t"/>
            <a:pathLst>
              <a:path extrusionOk="0" h="2477563" w="2477563">
                <a:moveTo>
                  <a:pt x="0" y="0"/>
                </a:moveTo>
                <a:lnTo>
                  <a:pt x="2477563" y="0"/>
                </a:lnTo>
                <a:lnTo>
                  <a:pt x="2477563" y="2477563"/>
                </a:lnTo>
                <a:lnTo>
                  <a:pt x="0" y="2477563"/>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1" name="Google Shape;801;p26"/>
          <p:cNvSpPr txBox="1"/>
          <p:nvPr/>
        </p:nvSpPr>
        <p:spPr>
          <a:xfrm>
            <a:off x="1624481" y="1709751"/>
            <a:ext cx="14839503" cy="577081"/>
          </a:xfrm>
          <a:prstGeom prst="rect">
            <a:avLst/>
          </a:prstGeom>
          <a:noFill/>
          <a:ln>
            <a:noFill/>
          </a:ln>
        </p:spPr>
        <p:txBody>
          <a:bodyPr anchorCtr="0" anchor="t" bIns="0" lIns="0" spcFirstLastPara="1" rIns="0" wrap="square" tIns="0">
            <a:spAutoFit/>
          </a:bodyPr>
          <a:lstStyle/>
          <a:p>
            <a:pPr indent="0" lvl="0" marL="0" marR="0" rtl="0" algn="l">
              <a:lnSpc>
                <a:spcPct val="101996"/>
              </a:lnSpc>
              <a:spcBef>
                <a:spcPts val="0"/>
              </a:spcBef>
              <a:spcAft>
                <a:spcPts val="0"/>
              </a:spcAft>
              <a:buNone/>
            </a:pPr>
            <a:r>
              <a:rPr b="1" lang="en-GB" sz="4407">
                <a:solidFill>
                  <a:srgbClr val="F4743B"/>
                </a:solidFill>
                <a:latin typeface="Montserrat"/>
                <a:ea typeface="Montserrat"/>
                <a:cs typeface="Montserrat"/>
                <a:sym typeface="Montserrat"/>
              </a:rPr>
              <a:t>Exercise Case Study</a:t>
            </a:r>
            <a:endParaRPr/>
          </a:p>
        </p:txBody>
      </p:sp>
      <p:sp>
        <p:nvSpPr>
          <p:cNvPr id="802" name="Google Shape;802;p26"/>
          <p:cNvSpPr/>
          <p:nvPr/>
        </p:nvSpPr>
        <p:spPr>
          <a:xfrm rot="5400000">
            <a:off x="-4206114"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3" name="Google Shape;803;p26"/>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4" name="Google Shape;804;p26"/>
          <p:cNvSpPr/>
          <p:nvPr/>
        </p:nvSpPr>
        <p:spPr>
          <a:xfrm rot="5400000">
            <a:off x="-4206114"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5" name="Google Shape;805;p26"/>
          <p:cNvSpPr/>
          <p:nvPr/>
        </p:nvSpPr>
        <p:spPr>
          <a:xfrm rot="-5400000">
            <a:off x="12197589" y="42156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6" name="Google Shape;806;p26"/>
          <p:cNvSpPr/>
          <p:nvPr/>
        </p:nvSpPr>
        <p:spPr>
          <a:xfrm rot="-5400000">
            <a:off x="12197589" y="4368039"/>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7" name="Google Shape;807;p26"/>
          <p:cNvSpPr/>
          <p:nvPr/>
        </p:nvSpPr>
        <p:spPr>
          <a:xfrm rot="-5400000">
            <a:off x="12197589" y="4206114"/>
            <a:ext cx="10287000" cy="1874773"/>
          </a:xfrm>
          <a:custGeom>
            <a:rect b="b" l="l" r="r" t="t"/>
            <a:pathLst>
              <a:path extrusionOk="0" h="1874773" w="10287000">
                <a:moveTo>
                  <a:pt x="10287000" y="1874772"/>
                </a:moveTo>
                <a:lnTo>
                  <a:pt x="0" y="1874772"/>
                </a:lnTo>
                <a:lnTo>
                  <a:pt x="0" y="0"/>
                </a:lnTo>
                <a:lnTo>
                  <a:pt x="10287000" y="0"/>
                </a:lnTo>
                <a:lnTo>
                  <a:pt x="10287000" y="1874772"/>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8" name="Google Shape;808;p26"/>
          <p:cNvSpPr/>
          <p:nvPr/>
        </p:nvSpPr>
        <p:spPr>
          <a:xfrm rot="10800000">
            <a:off x="0" y="0"/>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9" name="Google Shape;809;p26"/>
          <p:cNvSpPr/>
          <p:nvPr/>
        </p:nvSpPr>
        <p:spPr>
          <a:xfrm rot="10800000">
            <a:off x="0" y="9525"/>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0" name="Google Shape;810;p26"/>
          <p:cNvSpPr/>
          <p:nvPr/>
        </p:nvSpPr>
        <p:spPr>
          <a:xfrm rot="10800000">
            <a:off x="10287000" y="0"/>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1" name="Google Shape;811;p26"/>
          <p:cNvSpPr/>
          <p:nvPr/>
        </p:nvSpPr>
        <p:spPr>
          <a:xfrm rot="10800000">
            <a:off x="10287000" y="9525"/>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2" name="Google Shape;812;p26"/>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3" name="Google Shape;813;p26"/>
          <p:cNvSpPr/>
          <p:nvPr/>
        </p:nvSpPr>
        <p:spPr>
          <a:xfrm>
            <a:off x="0" y="8421752"/>
            <a:ext cx="10287000" cy="1874773"/>
          </a:xfrm>
          <a:custGeom>
            <a:rect b="b" l="l" r="r" t="t"/>
            <a:pathLst>
              <a:path extrusionOk="0" h="1874773" w="10287000">
                <a:moveTo>
                  <a:pt x="10287000" y="1874773"/>
                </a:moveTo>
                <a:lnTo>
                  <a:pt x="0" y="1874773"/>
                </a:lnTo>
                <a:lnTo>
                  <a:pt x="0" y="0"/>
                </a:lnTo>
                <a:lnTo>
                  <a:pt x="10287000" y="0"/>
                </a:lnTo>
                <a:lnTo>
                  <a:pt x="10287000" y="1874773"/>
                </a:lnTo>
                <a:close/>
              </a:path>
            </a:pathLst>
          </a:custGeom>
          <a:blipFill rotWithShape="1">
            <a:blip r:embed="rId8">
              <a:alphaModFix amt="15000"/>
            </a:blip>
            <a:stretch>
              <a:fillRect b="-27731" l="0" r="0"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4" name="Google Shape;814;p26"/>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5" name="Google Shape;815;p26"/>
          <p:cNvSpPr/>
          <p:nvPr/>
        </p:nvSpPr>
        <p:spPr>
          <a:xfrm>
            <a:off x="10287000" y="8421752"/>
            <a:ext cx="8001000" cy="1874773"/>
          </a:xfrm>
          <a:custGeom>
            <a:rect b="b" l="l" r="r" t="t"/>
            <a:pathLst>
              <a:path extrusionOk="0" h="1874773" w="8001000">
                <a:moveTo>
                  <a:pt x="8001000" y="1874773"/>
                </a:moveTo>
                <a:lnTo>
                  <a:pt x="0" y="1874773"/>
                </a:lnTo>
                <a:lnTo>
                  <a:pt x="0" y="0"/>
                </a:lnTo>
                <a:lnTo>
                  <a:pt x="8001000" y="0"/>
                </a:lnTo>
                <a:lnTo>
                  <a:pt x="8001000" y="1874773"/>
                </a:lnTo>
                <a:close/>
              </a:path>
            </a:pathLst>
          </a:custGeom>
          <a:blipFill rotWithShape="1">
            <a:blip r:embed="rId8">
              <a:alphaModFix amt="15000"/>
            </a:blip>
            <a:stretch>
              <a:fillRect b="-27731" l="0" r="-28569" t="-2772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6" name="Google Shape;816;p26"/>
          <p:cNvSpPr/>
          <p:nvPr/>
        </p:nvSpPr>
        <p:spPr>
          <a:xfrm rot="5400000">
            <a:off x="0" y="7661228"/>
            <a:ext cx="2635297" cy="2635297"/>
          </a:xfrm>
          <a:custGeom>
            <a:rect b="b" l="l" r="r" t="t"/>
            <a:pathLst>
              <a:path extrusionOk="0" h="2635297" w="2635297">
                <a:moveTo>
                  <a:pt x="0" y="0"/>
                </a:moveTo>
                <a:lnTo>
                  <a:pt x="2635297" y="0"/>
                </a:lnTo>
                <a:lnTo>
                  <a:pt x="2635297" y="2635297"/>
                </a:lnTo>
                <a:lnTo>
                  <a:pt x="0" y="2635297"/>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7" name="Google Shape;817;p26"/>
          <p:cNvSpPr/>
          <p:nvPr/>
        </p:nvSpPr>
        <p:spPr>
          <a:xfrm>
            <a:off x="14511712" y="9530589"/>
            <a:ext cx="3766763" cy="612099"/>
          </a:xfrm>
          <a:custGeom>
            <a:rect b="b" l="l" r="r" t="t"/>
            <a:pathLst>
              <a:path extrusionOk="0" h="612099" w="3766763">
                <a:moveTo>
                  <a:pt x="0" y="0"/>
                </a:moveTo>
                <a:lnTo>
                  <a:pt x="3766763" y="0"/>
                </a:lnTo>
                <a:lnTo>
                  <a:pt x="3766763" y="612099"/>
                </a:lnTo>
                <a:lnTo>
                  <a:pt x="0" y="612099"/>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8" name="Google Shape;818;p26"/>
          <p:cNvSpPr txBox="1"/>
          <p:nvPr/>
        </p:nvSpPr>
        <p:spPr>
          <a:xfrm>
            <a:off x="1624481" y="2437948"/>
            <a:ext cx="15284245" cy="7092006"/>
          </a:xfrm>
          <a:prstGeom prst="rect">
            <a:avLst/>
          </a:prstGeom>
          <a:noFill/>
          <a:ln>
            <a:noFill/>
          </a:ln>
        </p:spPr>
        <p:txBody>
          <a:bodyPr anchorCtr="0" anchor="t" bIns="0" lIns="0" spcFirstLastPara="1" rIns="0" wrap="square" tIns="0">
            <a:spAutoFit/>
          </a:bodyPr>
          <a:lstStyle/>
          <a:p>
            <a:pPr indent="-279400" lvl="0" marL="228600" marR="0" rtl="0" algn="l">
              <a:lnSpc>
                <a:spcPct val="90000"/>
              </a:lnSpc>
              <a:spcBef>
                <a:spcPts val="0"/>
              </a:spcBef>
              <a:spcAft>
                <a:spcPts val="0"/>
              </a:spcAft>
              <a:buClr>
                <a:srgbClr val="000000"/>
              </a:buClr>
              <a:buSzPts val="4400"/>
              <a:buFont typeface="Arial"/>
              <a:buChar char="•"/>
            </a:pPr>
            <a:r>
              <a:rPr b="1" i="0" lang="en-GB" sz="4400" u="none" cap="none" strike="noStrike">
                <a:solidFill>
                  <a:srgbClr val="000000"/>
                </a:solidFill>
                <a:latin typeface="Arial"/>
                <a:ea typeface="Arial"/>
                <a:cs typeface="Arial"/>
                <a:sym typeface="Arial"/>
              </a:rPr>
              <a:t>Scenario 3: </a:t>
            </a:r>
            <a:endParaRPr/>
          </a:p>
          <a:p>
            <a:pPr indent="-279400" lvl="0" marL="228600" marR="0" rtl="0" algn="l">
              <a:lnSpc>
                <a:spcPct val="90000"/>
              </a:lnSpc>
              <a:spcBef>
                <a:spcPts val="1000"/>
              </a:spcBef>
              <a:spcAft>
                <a:spcPts val="0"/>
              </a:spcAft>
              <a:buClr>
                <a:srgbClr val="000000"/>
              </a:buClr>
              <a:buSzPts val="4400"/>
              <a:buFont typeface="Arial"/>
              <a:buChar char="•"/>
            </a:pPr>
            <a:r>
              <a:rPr b="0" i="0" lang="en-GB" sz="4400" u="none" cap="none" strike="noStrike">
                <a:solidFill>
                  <a:srgbClr val="000000"/>
                </a:solidFill>
                <a:latin typeface="Arial"/>
                <a:ea typeface="Arial"/>
                <a:cs typeface="Arial"/>
                <a:sym typeface="Arial"/>
              </a:rPr>
              <a:t>Malaria transmission persists in areas with high insecticide-treated net coverage due to early evening or outdoor biting. Spatial repellents, devices that release volatile chemicals to disrupt mosquito-human contact, are a promising complementary tool. Semi-field studies have shown potential, but real-world, community-level impact is unclear.</a:t>
            </a:r>
            <a:endParaRPr/>
          </a:p>
          <a:p>
            <a:pPr indent="0" lvl="0" marL="228600" marR="0" rtl="0" algn="l">
              <a:lnSpc>
                <a:spcPct val="90000"/>
              </a:lnSpc>
              <a:spcBef>
                <a:spcPts val="1000"/>
              </a:spcBef>
              <a:spcAft>
                <a:spcPts val="0"/>
              </a:spcAft>
              <a:buClr>
                <a:schemeClr val="dk1"/>
              </a:buClr>
              <a:buSzPts val="4400"/>
              <a:buFont typeface="Arial"/>
              <a:buNone/>
            </a:pPr>
            <a:r>
              <a:t/>
            </a:r>
            <a:endParaRPr b="0" i="0" sz="4400" u="none" cap="none" strike="noStrike">
              <a:solidFill>
                <a:srgbClr val="000000"/>
              </a:solidFill>
              <a:latin typeface="Arial"/>
              <a:ea typeface="Arial"/>
              <a:cs typeface="Arial"/>
              <a:sym typeface="Arial"/>
            </a:endParaRPr>
          </a:p>
          <a:p>
            <a:pPr indent="-279400" lvl="0" marL="228600" marR="0" rtl="0" algn="l">
              <a:lnSpc>
                <a:spcPct val="90000"/>
              </a:lnSpc>
              <a:spcBef>
                <a:spcPts val="1000"/>
              </a:spcBef>
              <a:spcAft>
                <a:spcPts val="0"/>
              </a:spcAft>
              <a:buClr>
                <a:srgbClr val="000000"/>
              </a:buClr>
              <a:buSzPts val="4400"/>
              <a:buFont typeface="Arial"/>
              <a:buChar char="•"/>
            </a:pPr>
            <a:r>
              <a:rPr b="0" i="0" lang="en-GB" sz="4400" u="none" cap="none" strike="noStrike">
                <a:solidFill>
                  <a:srgbClr val="000000"/>
                </a:solidFill>
                <a:latin typeface="Arial"/>
                <a:ea typeface="Arial"/>
                <a:cs typeface="Arial"/>
                <a:sym typeface="Arial"/>
              </a:rPr>
              <a:t>As a team of epidemiologists, you have been tasked to evaluate the efficacy of long-acting spatial repellent product in preventing clinical malaria in a high-transmission area.</a:t>
            </a:r>
            <a:endParaRPr/>
          </a:p>
        </p:txBody>
      </p:sp>
      <p:sp>
        <p:nvSpPr>
          <p:cNvPr id="819" name="Google Shape;819;p26"/>
          <p:cNvSpPr txBox="1"/>
          <p:nvPr/>
        </p:nvSpPr>
        <p:spPr>
          <a:xfrm>
            <a:off x="16265918" y="9619723"/>
            <a:ext cx="258350" cy="420693"/>
          </a:xfrm>
          <a:prstGeom prst="rect">
            <a:avLst/>
          </a:prstGeom>
          <a:noFill/>
          <a:ln>
            <a:noFill/>
          </a:ln>
        </p:spPr>
        <p:txBody>
          <a:bodyPr anchorCtr="0" anchor="t" bIns="0" lIns="0" spcFirstLastPara="1" rIns="0" wrap="square" tIns="0">
            <a:spAutoFit/>
          </a:bodyPr>
          <a:lstStyle/>
          <a:p>
            <a:pPr indent="0" lvl="0" marL="0" marR="0" rtl="0" algn="l">
              <a:lnSpc>
                <a:spcPct val="102003"/>
              </a:lnSpc>
              <a:spcBef>
                <a:spcPts val="0"/>
              </a:spcBef>
              <a:spcAft>
                <a:spcPts val="0"/>
              </a:spcAft>
              <a:buNone/>
            </a:pPr>
            <a:r>
              <a:rPr b="1" i="1" lang="en-GB" sz="3144">
                <a:solidFill>
                  <a:srgbClr val="F4743B"/>
                </a:solidFill>
                <a:latin typeface="Poppins"/>
                <a:ea typeface="Poppins"/>
                <a:cs typeface="Poppins"/>
                <a:sym typeface="Poppins"/>
              </a:rPr>
              <a:t>3</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Geoffrey Kongo</dc:creator>
</cp:coreProperties>
</file>