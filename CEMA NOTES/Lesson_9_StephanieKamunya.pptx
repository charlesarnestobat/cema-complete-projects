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5" r:id="rId2"/>
    <p:sldId id="276" r:id="rId3"/>
    <p:sldId id="277" r:id="rId4"/>
    <p:sldId id="278" r:id="rId5"/>
    <p:sldId id="279" r:id="rId6"/>
    <p:sldId id="280" r:id="rId7"/>
  </p:sldIdLst>
  <p:sldSz cx="18288000" cy="10287000"/>
  <p:notesSz cx="6858000" cy="9144000"/>
  <p:embeddedFontLst>
    <p:embeddedFont>
      <p:font typeface="Montserrat Bold" panose="020B0604020202020204" charset="0"/>
      <p:regular r:id="rId8"/>
    </p:embeddedFont>
    <p:embeddedFont>
      <p:font typeface="Montserrat Bold Italics" panose="020B0604020202020204" charset="0"/>
      <p:regular r:id="rId9"/>
    </p:embeddedFont>
    <p:embeddedFont>
      <p:font typeface="Montserrat Italics" panose="020B0604020202020204" charset="0"/>
      <p:regular r:id="rId10"/>
    </p:embeddedFont>
    <p:embeddedFont>
      <p:font typeface="Poppins Bold Italic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anie Kamunya" userId="9d7a06f1-9dc0-421d-9b16-51341c440144" providerId="ADAL" clId="{92E79C94-F4E3-4A73-8383-8C1F20C1734B}"/>
    <pc:docChg chg="delSld">
      <pc:chgData name="Stephanie Kamunya" userId="9d7a06f1-9dc0-421d-9b16-51341c440144" providerId="ADAL" clId="{92E79C94-F4E3-4A73-8383-8C1F20C1734B}" dt="2025-06-19T05:03:42.936" v="0" actId="47"/>
      <pc:docMkLst>
        <pc:docMk/>
      </pc:docMkLst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0" sldId="256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0" sldId="257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256604795" sldId="259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3714000979" sldId="260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326796610" sldId="261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044655539" sldId="262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3482325552" sldId="263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877419728" sldId="264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837013767" sldId="265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312674168" sldId="267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1947157920" sldId="268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3290767921" sldId="269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2797031518" sldId="270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398866177" sldId="271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1280228821" sldId="272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4140560670" sldId="273"/>
        </pc:sldMkLst>
      </pc:sldChg>
      <pc:sldChg chg="del">
        <pc:chgData name="Stephanie Kamunya" userId="9d7a06f1-9dc0-421d-9b16-51341c440144" providerId="ADAL" clId="{92E79C94-F4E3-4A73-8383-8C1F20C1734B}" dt="2025-06-19T05:03:42.936" v="0" actId="47"/>
        <pc:sldMkLst>
          <pc:docMk/>
          <pc:sldMk cId="1036755407" sldId="27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81F24-24B6-0D76-EEE4-4BBC30651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77F717-A2FD-73CF-1871-E1523062EE5D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6085F8C-41CD-4417-4C51-8B87FD3E3565}"/>
              </a:ext>
            </a:extLst>
          </p:cNvPr>
          <p:cNvGrpSpPr/>
          <p:nvPr/>
        </p:nvGrpSpPr>
        <p:grpSpPr>
          <a:xfrm>
            <a:off x="5243485" y="271789"/>
            <a:ext cx="7801030" cy="1683812"/>
            <a:chOff x="0" y="0"/>
            <a:chExt cx="10401373" cy="224508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1A6155B-EF0E-9027-171B-36A9CCBAD051}"/>
                </a:ext>
              </a:extLst>
            </p:cNvPr>
            <p:cNvSpPr/>
            <p:nvPr/>
          </p:nvSpPr>
          <p:spPr>
            <a:xfrm>
              <a:off x="0" y="379389"/>
              <a:ext cx="3895248" cy="1204473"/>
            </a:xfrm>
            <a:custGeom>
              <a:avLst/>
              <a:gdLst/>
              <a:ahLst/>
              <a:cxnLst/>
              <a:rect l="l" t="t" r="r" b="b"/>
              <a:pathLst>
                <a:path w="3895248" h="1204473">
                  <a:moveTo>
                    <a:pt x="0" y="0"/>
                  </a:moveTo>
                  <a:lnTo>
                    <a:pt x="3895248" y="0"/>
                  </a:lnTo>
                  <a:lnTo>
                    <a:pt x="3895248" y="1204474"/>
                  </a:lnTo>
                  <a:lnTo>
                    <a:pt x="0" y="1204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5370" r="-1364" b="-56415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61D2D41-E89D-1321-9414-AD2878D57C1C}"/>
                </a:ext>
              </a:extLst>
            </p:cNvPr>
            <p:cNvSpPr/>
            <p:nvPr/>
          </p:nvSpPr>
          <p:spPr>
            <a:xfrm>
              <a:off x="4253623" y="0"/>
              <a:ext cx="2245083" cy="2245083"/>
            </a:xfrm>
            <a:custGeom>
              <a:avLst/>
              <a:gdLst/>
              <a:ahLst/>
              <a:cxnLst/>
              <a:rect l="l" t="t" r="r" b="b"/>
              <a:pathLst>
                <a:path w="2245083" h="2245083">
                  <a:moveTo>
                    <a:pt x="0" y="0"/>
                  </a:moveTo>
                  <a:lnTo>
                    <a:pt x="2245083" y="0"/>
                  </a:lnTo>
                  <a:lnTo>
                    <a:pt x="2245083" y="2245083"/>
                  </a:lnTo>
                  <a:lnTo>
                    <a:pt x="0" y="2245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5C15729-3B4C-EE7C-503A-BEBB8CFC0F23}"/>
                </a:ext>
              </a:extLst>
            </p:cNvPr>
            <p:cNvSpPr/>
            <p:nvPr/>
          </p:nvSpPr>
          <p:spPr>
            <a:xfrm>
              <a:off x="6863968" y="8925"/>
              <a:ext cx="3537405" cy="1574938"/>
            </a:xfrm>
            <a:custGeom>
              <a:avLst/>
              <a:gdLst/>
              <a:ahLst/>
              <a:cxnLst/>
              <a:rect l="l" t="t" r="r" b="b"/>
              <a:pathLst>
                <a:path w="3537405" h="1574938">
                  <a:moveTo>
                    <a:pt x="0" y="0"/>
                  </a:moveTo>
                  <a:lnTo>
                    <a:pt x="3537405" y="0"/>
                  </a:lnTo>
                  <a:lnTo>
                    <a:pt x="3537405" y="1574938"/>
                  </a:lnTo>
                  <a:lnTo>
                    <a:pt x="0" y="1574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457" b="-3379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9CBB9EB0-6B58-9E01-A23D-769F07AB58E7}"/>
              </a:ext>
            </a:extLst>
          </p:cNvPr>
          <p:cNvSpPr/>
          <p:nvPr/>
        </p:nvSpPr>
        <p:spPr>
          <a:xfrm rot="-5400000">
            <a:off x="14878023" y="9525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0C3944F-6FBB-3713-52B5-B6BDE4B9302E}"/>
              </a:ext>
            </a:extLst>
          </p:cNvPr>
          <p:cNvSpPr txBox="1"/>
          <p:nvPr/>
        </p:nvSpPr>
        <p:spPr>
          <a:xfrm>
            <a:off x="2763050" y="7429500"/>
            <a:ext cx="14915350" cy="354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17"/>
              </a:lnSpc>
            </a:pPr>
            <a:r>
              <a:rPr lang="en-US" sz="3600" b="1" i="1" dirty="0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BY [Dr. Stephanie Kamunya, Postdoctoral Fellow, CEMA]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E998F83-3E21-A8B4-899B-8B96C73415AB}"/>
              </a:ext>
            </a:extLst>
          </p:cNvPr>
          <p:cNvSpPr txBox="1"/>
          <p:nvPr/>
        </p:nvSpPr>
        <p:spPr>
          <a:xfrm>
            <a:off x="1700226" y="3205411"/>
            <a:ext cx="14272113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25"/>
              </a:lnSpc>
            </a:pPr>
            <a:r>
              <a:rPr lang="en-US" sz="6103" b="1" dirty="0">
                <a:solidFill>
                  <a:srgbClr val="1D9B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Adding Seasonality </a:t>
            </a:r>
            <a:endParaRPr lang="en-US" sz="6103" i="1" dirty="0">
              <a:solidFill>
                <a:srgbClr val="000000"/>
              </a:solidFill>
              <a:latin typeface="Montserrat Italics"/>
              <a:ea typeface="Montserrat Italics"/>
              <a:cs typeface="Montserrat Italics"/>
              <a:sym typeface="Montserrat Itali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8866751-172C-0C5D-FFFD-9F15F707AAD5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3EBB2B9-8EFC-7440-9C5D-7D1391EF207F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E5C1D55-3F02-4DCB-BA82-ADE6E64B9558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568BBDC-BD4C-23D2-239A-5C4D197E5754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4231074E-0496-2186-4E29-883C664059CF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E9CD723-A108-F742-2112-A47FA1D26E94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427762C-7941-1059-6687-34A5FBB3F70A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D76372A-B589-82D0-334A-03F50EAC6901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B7A5C26-4989-809E-8E3F-5BB40C6418EF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DDE8E520-DCEE-B9A5-B338-AE5AE5184C15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E0EAD8D4-469F-529B-84EB-D8B2F56C8349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4401547-C857-B59F-DA91-426AA843DAD8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ABC79768-B707-D287-3A89-F02EA75439D9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DE830BE0-A654-1418-39A4-7E4EC819E9B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2479C68-339E-DC4E-9EFA-E6A77B1EDCED}"/>
              </a:ext>
            </a:extLst>
          </p:cNvPr>
          <p:cNvSpPr/>
          <p:nvPr/>
        </p:nvSpPr>
        <p:spPr>
          <a:xfrm rot="5400000">
            <a:off x="0" y="6896073"/>
            <a:ext cx="3400452" cy="3400452"/>
          </a:xfrm>
          <a:custGeom>
            <a:avLst/>
            <a:gdLst/>
            <a:ahLst/>
            <a:cxnLst/>
            <a:rect l="l" t="t" r="r" b="b"/>
            <a:pathLst>
              <a:path w="3400452" h="3400452">
                <a:moveTo>
                  <a:pt x="0" y="0"/>
                </a:moveTo>
                <a:lnTo>
                  <a:pt x="3400452" y="0"/>
                </a:lnTo>
                <a:lnTo>
                  <a:pt x="3400452" y="3400452"/>
                </a:lnTo>
                <a:lnTo>
                  <a:pt x="0" y="3400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C3178983-F1CA-5CA9-847F-C6C165D96261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B83E6B25-12BA-3AD6-6C1E-925880B1091F}"/>
              </a:ext>
            </a:extLst>
          </p:cNvPr>
          <p:cNvSpPr txBox="1"/>
          <p:nvPr/>
        </p:nvSpPr>
        <p:spPr>
          <a:xfrm>
            <a:off x="2048906" y="5266531"/>
            <a:ext cx="7095093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Elementary Vector-Host Model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E00FB39-C9F6-CD13-2435-D1AA9B527E87}"/>
              </a:ext>
            </a:extLst>
          </p:cNvPr>
          <p:cNvSpPr txBox="1"/>
          <p:nvPr/>
        </p:nvSpPr>
        <p:spPr>
          <a:xfrm>
            <a:off x="16303102" y="9651707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2822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4B047-D4E3-1563-6372-77968C30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583B36-7BE3-3FA1-A167-EF7582B63C11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D454622B-7B7D-B43F-1889-AE865D894357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3A9F7F9-1DA1-69F1-57A2-0FFB76EA21E8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60D3F7A-DCD2-07AD-4ED3-F3D0D2C998A6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A242BCA-A9F6-0164-D376-41653961F0C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0F281FF-5AFC-432C-FC2B-8058584C45BC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5BA0926-9678-2760-8790-C1D4241D8DD6}"/>
              </a:ext>
            </a:extLst>
          </p:cNvPr>
          <p:cNvSpPr txBox="1"/>
          <p:nvPr/>
        </p:nvSpPr>
        <p:spPr>
          <a:xfrm>
            <a:off x="1470070" y="2051819"/>
            <a:ext cx="98075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Seasonality of Malaria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2D44672-8CA5-7861-83B6-42F78B1A7E8C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3E373FB-37E7-5A6E-A1A8-807AD6B54ABA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9276CBC-5378-73C2-4E06-08EB26077A55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24C9410-5E19-3977-9565-C6841FDECEDA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6849647-568E-F7E4-1A82-070AE4C147CD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C63C704-CCD1-47D4-FE63-0381B73B94E4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9225456E-CE93-1D7F-2BA0-C810A8F855F7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2111FC4-A84A-D013-9E1A-7534C98D625D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6C76151A-2812-6D0A-694C-DD184F1D8059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805D27FD-1711-57B2-917F-B2B2A1BE0EDC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6CA8C64B-3D34-8396-FA8D-2D6CE424BE97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05B27A8-903B-5099-BBA4-81366F51A8B4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E336E476-B61A-A33C-C091-E785AB869541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0A8CB06E-0BC9-27A6-9625-8A968264199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2DE60905-528E-548B-4C3F-440408DB9B20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D9CB9F3-3B4A-5C87-E17D-AB286957B96E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BCDD513-42E5-0578-E353-8C74EA55F53A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3DC54D-9F85-E34F-0C84-394C9B93C2F3}"/>
              </a:ext>
            </a:extLst>
          </p:cNvPr>
          <p:cNvSpPr txBox="1"/>
          <p:nvPr/>
        </p:nvSpPr>
        <p:spPr>
          <a:xfrm>
            <a:off x="1470070" y="3543300"/>
            <a:ext cx="1433084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</a:rPr>
              <a:t>Malaria transmission typically peaks during specific times of the year (e.g., rainy seasons) and declines during others, creating a wave-like pattern.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effectLst/>
              </a:rPr>
              <a:t>The cosine function is ideal for modeling such regular, repeating fluctuations over time.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effectLst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ZA" sz="4000" dirty="0"/>
          </a:p>
        </p:txBody>
      </p:sp>
    </p:spTree>
    <p:extLst>
      <p:ext uri="{BB962C8B-B14F-4D97-AF65-F5344CB8AC3E}">
        <p14:creationId xmlns:p14="http://schemas.microsoft.com/office/powerpoint/2010/main" val="870743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3CA12-D569-7648-0FFE-92F416DC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58069E-3D3A-F5A7-B851-7EE47EE86783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A67772D-BAD1-7BF5-40AF-9952729372DF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0497B59-FBA8-DD5F-41AA-2EBC02935304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AAC7C74-2500-4D97-4568-69C5D51992B9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998A53-BE0D-8F05-061B-7D6113A509BC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2DF3B70-1761-B340-B6C2-3FED60B443EC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FCB71A7-57D4-34DB-F73A-55A5F69A9BA8}"/>
              </a:ext>
            </a:extLst>
          </p:cNvPr>
          <p:cNvSpPr txBox="1"/>
          <p:nvPr/>
        </p:nvSpPr>
        <p:spPr>
          <a:xfrm>
            <a:off x="1470070" y="2051819"/>
            <a:ext cx="119411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Cosine Function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7AF0C4E-49D2-8CED-3209-6653BE56994B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2E26805-4910-A7C0-D4A7-446BD5A08110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6E3FD1E-C946-E0D7-0968-72AF08FDBCDB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D38BCE8-E129-2004-3D89-2C8E549F733B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DF007C4-9970-97B6-43DA-E9BFF0AE0559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C7DA8D3-D083-6E99-7C81-8D45464F0432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722410C-62A5-C162-88C8-DFC996A7EA4A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9C0705C-28B6-F6C0-AAB8-0EA372027B38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87F0720D-5FB6-3010-7F7E-C012F0B4AF1F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3AF76C14-45D5-4A66-3FDB-EED2E75BD7A5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512276D-C9C0-FB3E-CB11-894CC24E8044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7AAEEF51-3AEA-AF49-2279-444174ACCFFE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10B8578F-1658-9DF7-3499-A8C236E0E59E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4B23F354-8B7D-8DFF-30E7-78C0787F9825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CDBA8ACE-7157-D21E-2759-4340DBFB4432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48710AA4-DFF5-1D6F-6897-F27F1FADDB3E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AEC86D6D-89F2-7DE6-9E01-228B4066E97D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0CA9BA-EDB2-DAD6-3043-69DD6AF1CA81}"/>
              </a:ext>
            </a:extLst>
          </p:cNvPr>
          <p:cNvSpPr txBox="1"/>
          <p:nvPr/>
        </p:nvSpPr>
        <p:spPr>
          <a:xfrm>
            <a:off x="4114800" y="4849846"/>
            <a:ext cx="967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800" dirty="0"/>
              <a:t>β</a:t>
            </a:r>
            <a:r>
              <a:rPr lang="en-US" sz="4800" baseline="-25000" dirty="0"/>
              <a:t>t</a:t>
            </a:r>
            <a:r>
              <a:rPr lang="en-US" sz="4800" dirty="0"/>
              <a:t> = </a:t>
            </a:r>
            <a:r>
              <a:rPr lang="el-GR" sz="4800" dirty="0"/>
              <a:t>β</a:t>
            </a:r>
            <a:r>
              <a:rPr lang="en-US" sz="4800" baseline="-25000" dirty="0"/>
              <a:t>0</a:t>
            </a:r>
            <a:r>
              <a:rPr lang="en-US" sz="4800" dirty="0"/>
              <a:t>(1+</a:t>
            </a:r>
            <a:r>
              <a:rPr lang="el-GR" sz="4800" dirty="0"/>
              <a:t> β</a:t>
            </a:r>
            <a:r>
              <a:rPr lang="en-US" sz="4800" baseline="-25000" dirty="0"/>
              <a:t>1</a:t>
            </a:r>
            <a:r>
              <a:rPr lang="en-US" sz="4800" dirty="0"/>
              <a:t>*cos(2</a:t>
            </a:r>
            <a:r>
              <a:rPr lang="el-GR" sz="4800" dirty="0"/>
              <a:t>π</a:t>
            </a:r>
            <a:r>
              <a:rPr lang="en-US" sz="4800" dirty="0"/>
              <a:t>(t - </a:t>
            </a:r>
            <a:r>
              <a:rPr lang="el-GR" sz="4800" dirty="0"/>
              <a:t>φ</a:t>
            </a:r>
            <a:r>
              <a:rPr lang="en-US" sz="4800" dirty="0"/>
              <a:t>)))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8EB098-4816-94FC-2C32-3620570A5010}"/>
              </a:ext>
            </a:extLst>
          </p:cNvPr>
          <p:cNvSpPr txBox="1"/>
          <p:nvPr/>
        </p:nvSpPr>
        <p:spPr>
          <a:xfrm>
            <a:off x="1874773" y="3238500"/>
            <a:ext cx="9807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In </a:t>
            </a:r>
            <a:r>
              <a:rPr lang="en-US" sz="4800"/>
              <a:t>our model:</a:t>
            </a:r>
            <a:endParaRPr lang="en-ZA" sz="4800" dirty="0"/>
          </a:p>
        </p:txBody>
      </p:sp>
    </p:spTree>
    <p:extLst>
      <p:ext uri="{BB962C8B-B14F-4D97-AF65-F5344CB8AC3E}">
        <p14:creationId xmlns:p14="http://schemas.microsoft.com/office/powerpoint/2010/main" val="687843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41C1B-18BD-5D65-8C61-B262660B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16EBCFB-EFA3-0B66-C563-43F8EED38546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BD729AE-218F-5DA6-445E-A5A001900545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47EE8A2-DAB3-5BF4-7285-9F7AC8FEFF03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04ECDCB-E9DE-B17E-ADD9-190A5DDED71F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0C677C-8EA3-AFCB-72F3-A7D260654AFA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1491389-307B-DD8C-85E3-2B3AE15980A1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AC55C0-9485-DADC-737F-EBD7F9F3DE4E}"/>
              </a:ext>
            </a:extLst>
          </p:cNvPr>
          <p:cNvSpPr txBox="1"/>
          <p:nvPr/>
        </p:nvSpPr>
        <p:spPr>
          <a:xfrm>
            <a:off x="1470070" y="1562100"/>
            <a:ext cx="135413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Cosine Function (Examples)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70E5CB6-1482-ECA3-6801-EFBD2CDF357E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4D85083-8827-845A-2A37-E3E55D171F32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1CC1CFE-EBF8-4516-361B-76D0ADA12041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134F895-AE4F-B4C2-3002-65E80A00ED95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48D6FC1-2814-478C-9FD1-0950474D81F6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1D0F1F48-195F-BBF9-1143-CF436BE60791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1068C333-F78F-DCF8-4CC0-0F71FC926270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AE965DAB-486A-BA6A-C217-4DC345A95F09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A015F4F7-97FD-CA1A-EDD4-D789F5F0692A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C6C024BA-C822-D4BB-1629-8FDAB6628ED7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A934B1-97B8-F4D4-FB71-6B0B44893CA8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B0594F81-AEFE-F2DA-09A3-B70B7640D220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FF632E41-AC25-0600-E6A4-E91F805851D1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CEA77B79-B2F5-93AF-D4E5-DB7D6EA2C448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484C11E-2E32-A9F5-6655-73B7BF4D3624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6B21A81-F417-D43C-A727-9CE375BB2FC9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CF857CF3-0680-76D9-E8F0-224610706B60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31" name="Google Shape;758;p54">
            <a:extLst>
              <a:ext uri="{FF2B5EF4-FFF2-40B4-BE49-F238E27FC236}">
                <a16:creationId xmlns:a16="http://schemas.microsoft.com/office/drawing/2014/main" id="{8B695FDC-4823-0F4A-1E6B-DA3E2A4F58F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73081" y="2247900"/>
            <a:ext cx="12615734" cy="78185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6505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3775-4A82-BDD1-A928-E1F3BD06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B534927-2B3E-05E7-72B4-8FD091A9F7FE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E8BEDBB-963E-F022-C1CE-66C34420E978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3CCC29-141F-EB14-E85C-483063F78065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6FD127A-3333-3688-BF37-7057325C1375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308D869-5E07-2DC8-F453-291C8508FD96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D3F2E13-9D12-0891-FF44-943E4B90BE7A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E676CCD-2340-D53B-1706-18354A4B0257}"/>
              </a:ext>
            </a:extLst>
          </p:cNvPr>
          <p:cNvSpPr txBox="1"/>
          <p:nvPr/>
        </p:nvSpPr>
        <p:spPr>
          <a:xfrm>
            <a:off x="1470070" y="2051819"/>
            <a:ext cx="1194113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Cosine Function</a:t>
            </a:r>
          </a:p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the R code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AFB6DB85-88C7-89E2-2AB5-0F90D2F1B62F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9949149-95D5-2FD2-519A-D384E7CFF22E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5AE0331-8793-90B4-C9C3-CC07D3746B21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BA7C67-1C37-DCC1-9E06-7477803C41D3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071D912-8355-D120-5626-C4413D20BFE4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E5F5A642-6503-F46C-06A6-4073FE102CFE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C9019D6-61A2-7855-BEBF-A4FE2E3A0083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03316BAC-669E-B34F-E079-2D96C4191153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48BADF6-1782-A7E0-7191-1B4CF0CE7F19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1BC968F8-543E-2BE7-F74E-5035F6FB3371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F55A1717-6B0A-59D9-642D-1A62BE937E6A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7136625-F338-05C1-258A-82560DD1EDC1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49DCE848-A678-2A83-361C-48200EE8523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5E56BC4B-17C5-F79F-EF09-48D7B114775D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1E495E1C-7781-7139-4E06-261DD0E1D66C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BC619C4A-B06B-825E-6F5A-6457AADAE167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A1CDBAB-06F1-2183-80CC-3F7FBE276D06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8C0CC02-E0BB-DDA7-68A0-3267E14F0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4118" t="19706" r="55210" b="25525"/>
          <a:stretch/>
        </p:blipFill>
        <p:spPr>
          <a:xfrm>
            <a:off x="9144000" y="2051819"/>
            <a:ext cx="7043752" cy="7860837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502DE0A-1A87-E56C-C848-5650DBDFA633}"/>
              </a:ext>
            </a:extLst>
          </p:cNvPr>
          <p:cNvSpPr/>
          <p:nvPr/>
        </p:nvSpPr>
        <p:spPr>
          <a:xfrm>
            <a:off x="9372600" y="4610100"/>
            <a:ext cx="6352112" cy="1075882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EFB4948-4E3F-9279-A2D4-9F7096DC694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3889" t="16621" r="56944" b="43333"/>
          <a:stretch/>
        </p:blipFill>
        <p:spPr>
          <a:xfrm>
            <a:off x="1066340" y="3373502"/>
            <a:ext cx="7620218" cy="653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96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5E2AC-BDAC-FB1D-5441-ACBC991D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5C4A1B-98D4-58A6-6A4D-41E699C51DFA}"/>
              </a:ext>
            </a:extLst>
          </p:cNvPr>
          <p:cNvSpPr/>
          <p:nvPr/>
        </p:nvSpPr>
        <p:spPr>
          <a:xfrm rot="2700000">
            <a:off x="17085097" y="4740697"/>
            <a:ext cx="805606" cy="805606"/>
          </a:xfrm>
          <a:custGeom>
            <a:avLst/>
            <a:gdLst/>
            <a:ahLst/>
            <a:cxnLst/>
            <a:rect l="l" t="t" r="r" b="b"/>
            <a:pathLst>
              <a:path w="805606" h="805606">
                <a:moveTo>
                  <a:pt x="0" y="0"/>
                </a:moveTo>
                <a:lnTo>
                  <a:pt x="805606" y="0"/>
                </a:lnTo>
                <a:lnTo>
                  <a:pt x="805606" y="805606"/>
                </a:lnTo>
                <a:lnTo>
                  <a:pt x="0" y="80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C304341-862F-B40B-00FF-74A019E7636C}"/>
              </a:ext>
            </a:extLst>
          </p:cNvPr>
          <p:cNvGrpSpPr/>
          <p:nvPr/>
        </p:nvGrpSpPr>
        <p:grpSpPr>
          <a:xfrm>
            <a:off x="5727906" y="218055"/>
            <a:ext cx="6832187" cy="1491696"/>
            <a:chOff x="0" y="0"/>
            <a:chExt cx="9109583" cy="198892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7F306F3-A63D-23A7-663C-64FD86E11B00}"/>
                </a:ext>
              </a:extLst>
            </p:cNvPr>
            <p:cNvSpPr/>
            <p:nvPr/>
          </p:nvSpPr>
          <p:spPr>
            <a:xfrm>
              <a:off x="0" y="336102"/>
              <a:ext cx="3411481" cy="1067048"/>
            </a:xfrm>
            <a:custGeom>
              <a:avLst/>
              <a:gdLst/>
              <a:ahLst/>
              <a:cxnLst/>
              <a:rect l="l" t="t" r="r" b="b"/>
              <a:pathLst>
                <a:path w="3411481" h="1067048">
                  <a:moveTo>
                    <a:pt x="0" y="0"/>
                  </a:moveTo>
                  <a:lnTo>
                    <a:pt x="3411481" y="0"/>
                  </a:lnTo>
                  <a:lnTo>
                    <a:pt x="3411481" y="1067048"/>
                  </a:lnTo>
                  <a:lnTo>
                    <a:pt x="0" y="106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3941" r="-1364" b="-55202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B9BF6B-3C87-99A4-5575-197D51137AB9}"/>
                </a:ext>
              </a:extLst>
            </p:cNvPr>
            <p:cNvSpPr/>
            <p:nvPr/>
          </p:nvSpPr>
          <p:spPr>
            <a:xfrm>
              <a:off x="3725348" y="0"/>
              <a:ext cx="1966257" cy="1988928"/>
            </a:xfrm>
            <a:custGeom>
              <a:avLst/>
              <a:gdLst/>
              <a:ahLst/>
              <a:cxnLst/>
              <a:rect l="l" t="t" r="r" b="b"/>
              <a:pathLst>
                <a:path w="1966257" h="1988928">
                  <a:moveTo>
                    <a:pt x="0" y="0"/>
                  </a:moveTo>
                  <a:lnTo>
                    <a:pt x="1966257" y="0"/>
                  </a:lnTo>
                  <a:lnTo>
                    <a:pt x="1966257" y="1988928"/>
                  </a:lnTo>
                  <a:lnTo>
                    <a:pt x="0" y="1988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76" r="-576"/>
              </a:stretch>
            </a:blipFill>
          </p:spPr>
          <p:txBody>
            <a:bodyPr/>
            <a:lstStyle/>
            <a:p>
              <a:endParaRPr lang="en-ZA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02B1ABA-B615-09DC-79D0-68921E6F0589}"/>
                </a:ext>
              </a:extLst>
            </p:cNvPr>
            <p:cNvSpPr/>
            <p:nvPr/>
          </p:nvSpPr>
          <p:spPr>
            <a:xfrm>
              <a:off x="6011503" y="7906"/>
              <a:ext cx="3098080" cy="1395244"/>
            </a:xfrm>
            <a:custGeom>
              <a:avLst/>
              <a:gdLst/>
              <a:ahLst/>
              <a:cxnLst/>
              <a:rect l="l" t="t" r="r" b="b"/>
              <a:pathLst>
                <a:path w="3098080" h="1395244">
                  <a:moveTo>
                    <a:pt x="0" y="0"/>
                  </a:moveTo>
                  <a:lnTo>
                    <a:pt x="3098080" y="0"/>
                  </a:lnTo>
                  <a:lnTo>
                    <a:pt x="3098080" y="1395244"/>
                  </a:lnTo>
                  <a:lnTo>
                    <a:pt x="0" y="1395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3722" b="-2770"/>
              </a:stretch>
            </a:blipFill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413D1D7-E597-B693-5581-596F86717052}"/>
              </a:ext>
            </a:extLst>
          </p:cNvPr>
          <p:cNvSpPr/>
          <p:nvPr/>
        </p:nvSpPr>
        <p:spPr>
          <a:xfrm rot="-5400000">
            <a:off x="15800912" y="9525"/>
            <a:ext cx="2477563" cy="2477563"/>
          </a:xfrm>
          <a:custGeom>
            <a:avLst/>
            <a:gdLst/>
            <a:ahLst/>
            <a:cxnLst/>
            <a:rect l="l" t="t" r="r" b="b"/>
            <a:pathLst>
              <a:path w="2477563" h="2477563">
                <a:moveTo>
                  <a:pt x="0" y="0"/>
                </a:moveTo>
                <a:lnTo>
                  <a:pt x="2477563" y="0"/>
                </a:lnTo>
                <a:lnTo>
                  <a:pt x="2477563" y="2477563"/>
                </a:lnTo>
                <a:lnTo>
                  <a:pt x="0" y="24775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4FBB5C2-FE4A-D053-2B0E-49AFFD11EF73}"/>
              </a:ext>
            </a:extLst>
          </p:cNvPr>
          <p:cNvSpPr txBox="1"/>
          <p:nvPr/>
        </p:nvSpPr>
        <p:spPr>
          <a:xfrm>
            <a:off x="1470070" y="1562100"/>
            <a:ext cx="11941130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95"/>
              </a:lnSpc>
            </a:pPr>
            <a:r>
              <a:rPr lang="en-US" sz="4407" b="1" dirty="0">
                <a:solidFill>
                  <a:srgbClr val="F474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Plot Results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DFFA486-FE63-4867-D573-BCBC9E6E3EE6}"/>
              </a:ext>
            </a:extLst>
          </p:cNvPr>
          <p:cNvSpPr/>
          <p:nvPr/>
        </p:nvSpPr>
        <p:spPr>
          <a:xfrm rot="-5400000" flipH="1" flipV="1">
            <a:off x="-4206114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5A3DE86-77AE-D4F3-54BD-FB77530AFA97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45FA192-6973-167D-FBF7-09BE4C4A1CEA}"/>
              </a:ext>
            </a:extLst>
          </p:cNvPr>
          <p:cNvSpPr/>
          <p:nvPr/>
        </p:nvSpPr>
        <p:spPr>
          <a:xfrm rot="-5400000" flipH="1" flipV="1">
            <a:off x="-4206114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906B111-29F8-83EF-1E2C-D2D54692BA85}"/>
              </a:ext>
            </a:extLst>
          </p:cNvPr>
          <p:cNvSpPr/>
          <p:nvPr/>
        </p:nvSpPr>
        <p:spPr>
          <a:xfrm rot="5400000" flipH="1" flipV="1">
            <a:off x="12197589" y="42156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28C2B05-291B-EA5D-4360-3F54B6FD9384}"/>
              </a:ext>
            </a:extLst>
          </p:cNvPr>
          <p:cNvSpPr/>
          <p:nvPr/>
        </p:nvSpPr>
        <p:spPr>
          <a:xfrm rot="5400000" flipH="1" flipV="1">
            <a:off x="12197589" y="4368039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845E56B-BACA-670E-A578-A96F131A5829}"/>
              </a:ext>
            </a:extLst>
          </p:cNvPr>
          <p:cNvSpPr/>
          <p:nvPr/>
        </p:nvSpPr>
        <p:spPr>
          <a:xfrm rot="5400000" flipH="1" flipV="1">
            <a:off x="12197589" y="4206114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2"/>
                </a:moveTo>
                <a:lnTo>
                  <a:pt x="0" y="1874772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2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6BC3457A-602F-E2D9-18FD-E33DEE566700}"/>
              </a:ext>
            </a:extLst>
          </p:cNvPr>
          <p:cNvSpPr/>
          <p:nvPr/>
        </p:nvSpPr>
        <p:spPr>
          <a:xfrm flipH="1" flipV="1">
            <a:off x="0" y="0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BF72B44-E502-1BA5-1DF0-E974BA3D28D8}"/>
              </a:ext>
            </a:extLst>
          </p:cNvPr>
          <p:cNvSpPr/>
          <p:nvPr/>
        </p:nvSpPr>
        <p:spPr>
          <a:xfrm flipH="1" flipV="1">
            <a:off x="0" y="9525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43966EE-E1BF-9B85-38EE-5EA754993A8F}"/>
              </a:ext>
            </a:extLst>
          </p:cNvPr>
          <p:cNvSpPr/>
          <p:nvPr/>
        </p:nvSpPr>
        <p:spPr>
          <a:xfrm flipH="1" flipV="1">
            <a:off x="10287000" y="0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D0261C5-7397-0174-AA35-61620F7EC4EB}"/>
              </a:ext>
            </a:extLst>
          </p:cNvPr>
          <p:cNvSpPr/>
          <p:nvPr/>
        </p:nvSpPr>
        <p:spPr>
          <a:xfrm flipH="1" flipV="1">
            <a:off x="10287000" y="9525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8ECD18C0-EF08-26FD-34AE-DB1A022E6A05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92976143-F2E0-A2ED-8E6C-465A65E7854C}"/>
              </a:ext>
            </a:extLst>
          </p:cNvPr>
          <p:cNvSpPr/>
          <p:nvPr/>
        </p:nvSpPr>
        <p:spPr>
          <a:xfrm rot="-10800000" flipH="1" flipV="1">
            <a:off x="0" y="8421752"/>
            <a:ext cx="10287000" cy="1874773"/>
          </a:xfrm>
          <a:custGeom>
            <a:avLst/>
            <a:gdLst/>
            <a:ahLst/>
            <a:cxnLst/>
            <a:rect l="l" t="t" r="r" b="b"/>
            <a:pathLst>
              <a:path w="10287000" h="1874773">
                <a:moveTo>
                  <a:pt x="10287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B736B5EF-BCDB-73BA-FC45-990152BFF767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D0BFD36A-2306-5F6B-40D5-37C90EEA0433}"/>
              </a:ext>
            </a:extLst>
          </p:cNvPr>
          <p:cNvSpPr/>
          <p:nvPr/>
        </p:nvSpPr>
        <p:spPr>
          <a:xfrm rot="-10800000" flipH="1" flipV="1">
            <a:off x="10287000" y="8421752"/>
            <a:ext cx="8001000" cy="1874773"/>
          </a:xfrm>
          <a:custGeom>
            <a:avLst/>
            <a:gdLst/>
            <a:ahLst/>
            <a:cxnLst/>
            <a:rect l="l" t="t" r="r" b="b"/>
            <a:pathLst>
              <a:path w="8001000" h="1874773">
                <a:moveTo>
                  <a:pt x="8001000" y="1874773"/>
                </a:moveTo>
                <a:lnTo>
                  <a:pt x="0" y="1874773"/>
                </a:lnTo>
                <a:lnTo>
                  <a:pt x="0" y="0"/>
                </a:lnTo>
                <a:lnTo>
                  <a:pt x="8001000" y="0"/>
                </a:lnTo>
                <a:lnTo>
                  <a:pt x="8001000" y="1874773"/>
                </a:lnTo>
                <a:close/>
              </a:path>
            </a:pathLst>
          </a:custGeom>
          <a:blipFill>
            <a:blip r:embed="rId9">
              <a:alphaModFix amt="15000"/>
            </a:blip>
            <a:stretch>
              <a:fillRect t="-27733" r="-28571" b="-27733"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929246D7-195E-985D-78FE-31CFD92C2148}"/>
              </a:ext>
            </a:extLst>
          </p:cNvPr>
          <p:cNvSpPr/>
          <p:nvPr/>
        </p:nvSpPr>
        <p:spPr>
          <a:xfrm rot="5400000">
            <a:off x="0" y="7661228"/>
            <a:ext cx="2635297" cy="2635297"/>
          </a:xfrm>
          <a:custGeom>
            <a:avLst/>
            <a:gdLst/>
            <a:ahLst/>
            <a:cxnLst/>
            <a:rect l="l" t="t" r="r" b="b"/>
            <a:pathLst>
              <a:path w="2635297" h="2635297">
                <a:moveTo>
                  <a:pt x="0" y="0"/>
                </a:moveTo>
                <a:lnTo>
                  <a:pt x="2635297" y="0"/>
                </a:lnTo>
                <a:lnTo>
                  <a:pt x="2635297" y="2635297"/>
                </a:lnTo>
                <a:lnTo>
                  <a:pt x="0" y="26352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ZA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0C8FAAFC-50F2-6C21-A462-2F453C3D5D97}"/>
              </a:ext>
            </a:extLst>
          </p:cNvPr>
          <p:cNvSpPr/>
          <p:nvPr/>
        </p:nvSpPr>
        <p:spPr>
          <a:xfrm>
            <a:off x="14511712" y="9530589"/>
            <a:ext cx="3766763" cy="612099"/>
          </a:xfrm>
          <a:custGeom>
            <a:avLst/>
            <a:gdLst/>
            <a:ahLst/>
            <a:cxnLst/>
            <a:rect l="l" t="t" r="r" b="b"/>
            <a:pathLst>
              <a:path w="3766763" h="612099">
                <a:moveTo>
                  <a:pt x="0" y="0"/>
                </a:moveTo>
                <a:lnTo>
                  <a:pt x="3766763" y="0"/>
                </a:lnTo>
                <a:lnTo>
                  <a:pt x="3766763" y="612099"/>
                </a:lnTo>
                <a:lnTo>
                  <a:pt x="0" y="6120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83A1B01-28E9-9292-2BAB-5B5E484CFC85}"/>
              </a:ext>
            </a:extLst>
          </p:cNvPr>
          <p:cNvSpPr txBox="1"/>
          <p:nvPr/>
        </p:nvSpPr>
        <p:spPr>
          <a:xfrm>
            <a:off x="16265918" y="9619723"/>
            <a:ext cx="258350" cy="420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3144" b="1" i="1" dirty="0">
                <a:solidFill>
                  <a:srgbClr val="F4743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3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FC61A28-ECFB-708E-7194-A339D8992A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3582" t="32949" r="33797" b="6487"/>
          <a:stretch/>
        </p:blipFill>
        <p:spPr>
          <a:xfrm>
            <a:off x="4807107" y="2350852"/>
            <a:ext cx="10379005" cy="746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11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109</Words>
  <Application>Microsoft Office PowerPoint</Application>
  <PresentationFormat>Custom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Montserrat Italics</vt:lpstr>
      <vt:lpstr>Montserrat Bold Italics</vt:lpstr>
      <vt:lpstr>Montserrat Bold</vt:lpstr>
      <vt:lpstr>Arial</vt:lpstr>
      <vt:lpstr>Poppins Bold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Corporate Persentation</dc:title>
  <cp:lastModifiedBy>Stephanie Kamunya</cp:lastModifiedBy>
  <cp:revision>5</cp:revision>
  <dcterms:created xsi:type="dcterms:W3CDTF">2006-08-16T00:00:00Z</dcterms:created>
  <dcterms:modified xsi:type="dcterms:W3CDTF">2025-06-19T05:03:47Z</dcterms:modified>
  <dc:identifier>DAGh-nOrZOE</dc:identifier>
</cp:coreProperties>
</file>