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95" r:id="rId4"/>
    <p:sldId id="265" r:id="rId5"/>
    <p:sldId id="297" r:id="rId6"/>
    <p:sldId id="298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9" r:id="rId30"/>
    <p:sldId id="300" r:id="rId31"/>
    <p:sldId id="258" r:id="rId32"/>
    <p:sldId id="260" r:id="rId33"/>
    <p:sldId id="266" r:id="rId34"/>
    <p:sldId id="302" r:id="rId35"/>
    <p:sldId id="293" r:id="rId36"/>
    <p:sldId id="262" r:id="rId37"/>
    <p:sldId id="301" r:id="rId38"/>
    <p:sldId id="291" r:id="rId39"/>
    <p:sldId id="292" r:id="rId40"/>
  </p:sldIdLst>
  <p:sldSz cx="18288000" cy="10287000"/>
  <p:notesSz cx="6858000" cy="9144000"/>
  <p:embeddedFontLst>
    <p:embeddedFont>
      <p:font typeface="Browallia New" panose="020B0604020202020204" pitchFamily="34" charset="-34"/>
      <p:regular r:id="rId41"/>
      <p:bold r:id="rId42"/>
    </p:embeddedFont>
    <p:embeddedFont>
      <p:font typeface="Montserrat" panose="00000500000000000000" pitchFamily="2" charset="0"/>
      <p:regular r:id="rId43"/>
    </p:embeddedFont>
    <p:embeddedFont>
      <p:font typeface="Montserrat Bold" panose="020B0604020202020204" charset="0"/>
      <p:regular r:id="rId44"/>
    </p:embeddedFont>
    <p:embeddedFont>
      <p:font typeface="Montserrat Bold Italics" panose="020B0604020202020204" charset="0"/>
      <p:regular r:id="rId45"/>
    </p:embeddedFont>
    <p:embeddedFont>
      <p:font typeface="Montserrat Italics" panose="020B0604020202020204" charset="0"/>
      <p:regular r:id="rId46"/>
    </p:embeddedFont>
    <p:embeddedFont>
      <p:font typeface="Poppins Bold Italics" panose="020B0604020202020204" charset="0"/>
      <p:regular r:id="rId47"/>
    </p:embeddedFont>
    <p:embeddedFont>
      <p:font typeface="TH SarabunPSK" panose="020B0500040200020003" pitchFamily="34" charset="-34"/>
      <p:regular r:id="rId48"/>
      <p:bold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174A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68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459369-C0C1-9238-079C-74B9650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3127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459369-C0C1-9238-079C-74B9650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8407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459369-C0C1-9238-079C-74B9650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636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13" Type="http://schemas.openxmlformats.org/officeDocument/2006/relationships/image" Target="../media/image29.jp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12" Type="http://schemas.openxmlformats.org/officeDocument/2006/relationships/image" Target="../media/image28.jp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5" Type="http://schemas.openxmlformats.org/officeDocument/2006/relationships/image" Target="../media/image21.png"/><Relationship Id="rId15" Type="http://schemas.openxmlformats.org/officeDocument/2006/relationships/image" Target="../media/image31.jpg"/><Relationship Id="rId10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25.jpg"/><Relationship Id="rId14" Type="http://schemas.openxmlformats.org/officeDocument/2006/relationships/image" Target="../media/image3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5.jpg"/><Relationship Id="rId7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4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13" Type="http://schemas.openxmlformats.org/officeDocument/2006/relationships/image" Target="../media/image5.png"/><Relationship Id="rId3" Type="http://schemas.openxmlformats.org/officeDocument/2006/relationships/image" Target="../media/image50.jpg"/><Relationship Id="rId7" Type="http://schemas.openxmlformats.org/officeDocument/2006/relationships/image" Target="../media/image54.jpg"/><Relationship Id="rId12" Type="http://schemas.openxmlformats.org/officeDocument/2006/relationships/image" Target="../media/image4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3.png"/><Relationship Id="rId5" Type="http://schemas.openxmlformats.org/officeDocument/2006/relationships/image" Target="../media/image52.jpg"/><Relationship Id="rId10" Type="http://schemas.openxmlformats.org/officeDocument/2006/relationships/image" Target="../media/image57.jpg"/><Relationship Id="rId4" Type="http://schemas.openxmlformats.org/officeDocument/2006/relationships/image" Target="../media/image51.jpg"/><Relationship Id="rId9" Type="http://schemas.openxmlformats.org/officeDocument/2006/relationships/image" Target="../media/image56.jpg"/><Relationship Id="rId1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1.png"/><Relationship Id="rId7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8.png"/><Relationship Id="rId4" Type="http://schemas.openxmlformats.org/officeDocument/2006/relationships/image" Target="../media/image62.png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6.png"/><Relationship Id="rId7" Type="http://schemas.openxmlformats.org/officeDocument/2006/relationships/image" Target="../media/image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0.jpg"/><Relationship Id="rId7" Type="http://schemas.openxmlformats.org/officeDocument/2006/relationships/image" Target="../media/image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i.org/10.1258/13558190432298753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6.png"/><Relationship Id="rId7" Type="http://schemas.openxmlformats.org/officeDocument/2006/relationships/image" Target="../media/image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1.png"/><Relationship Id="rId7" Type="http://schemas.openxmlformats.org/officeDocument/2006/relationships/image" Target="../media/image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243485" y="271789"/>
            <a:ext cx="7801030" cy="1683812"/>
            <a:chOff x="0" y="0"/>
            <a:chExt cx="10401373" cy="2245083"/>
          </a:xfrm>
        </p:grpSpPr>
        <p:sp>
          <p:nvSpPr>
            <p:cNvPr id="4" name="Freeform 4"/>
            <p:cNvSpPr/>
            <p:nvPr/>
          </p:nvSpPr>
          <p:spPr>
            <a:xfrm>
              <a:off x="0" y="379389"/>
              <a:ext cx="3895248" cy="1204473"/>
            </a:xfrm>
            <a:custGeom>
              <a:avLst/>
              <a:gdLst/>
              <a:ahLst/>
              <a:cxnLst/>
              <a:rect l="l" t="t" r="r" b="b"/>
              <a:pathLst>
                <a:path w="3895248" h="1204473">
                  <a:moveTo>
                    <a:pt x="0" y="0"/>
                  </a:moveTo>
                  <a:lnTo>
                    <a:pt x="3895248" y="0"/>
                  </a:lnTo>
                  <a:lnTo>
                    <a:pt x="3895248" y="1204474"/>
                  </a:lnTo>
                  <a:lnTo>
                    <a:pt x="0" y="1204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5370" r="-1364" b="-56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253623" y="0"/>
              <a:ext cx="2245083" cy="2245083"/>
            </a:xfrm>
            <a:custGeom>
              <a:avLst/>
              <a:gdLst/>
              <a:ahLst/>
              <a:cxnLst/>
              <a:rect l="l" t="t" r="r" b="b"/>
              <a:pathLst>
                <a:path w="2245083" h="2245083">
                  <a:moveTo>
                    <a:pt x="0" y="0"/>
                  </a:moveTo>
                  <a:lnTo>
                    <a:pt x="2245083" y="0"/>
                  </a:lnTo>
                  <a:lnTo>
                    <a:pt x="2245083" y="2245083"/>
                  </a:lnTo>
                  <a:lnTo>
                    <a:pt x="0" y="2245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63968" y="8925"/>
              <a:ext cx="3537405" cy="1574938"/>
            </a:xfrm>
            <a:custGeom>
              <a:avLst/>
              <a:gdLst/>
              <a:ahLst/>
              <a:cxnLst/>
              <a:rect l="l" t="t" r="r" b="b"/>
              <a:pathLst>
                <a:path w="3537405" h="1574938">
                  <a:moveTo>
                    <a:pt x="0" y="0"/>
                  </a:moveTo>
                  <a:lnTo>
                    <a:pt x="3537405" y="0"/>
                  </a:lnTo>
                  <a:lnTo>
                    <a:pt x="3537405" y="1574938"/>
                  </a:lnTo>
                  <a:lnTo>
                    <a:pt x="0" y="1574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457" b="-337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4878023" y="9525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63050" y="7647472"/>
            <a:ext cx="11748661" cy="179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sz="2467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BY </a:t>
            </a:r>
            <a:r>
              <a:rPr lang="en-US" altLang="" sz="2800" spc="-170" dirty="0">
                <a:solidFill>
                  <a:srgbClr val="888888"/>
                </a:solidFill>
                <a:cs typeface="Arial" panose="020B0604020202020204"/>
              </a:rPr>
              <a:t>Tabitha Okech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altLang="" sz="2800" dirty="0">
                <a:cs typeface="Arial" panose="020B0604020202020204"/>
              </a:rPr>
              <a:t>Research Fellow- Health Technology Assessment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altLang="" sz="2800" dirty="0">
                <a:cs typeface="Arial" panose="020B0604020202020204"/>
              </a:rPr>
              <a:t>Center for Epidemiological Modelling and Analysis</a:t>
            </a:r>
          </a:p>
          <a:p>
            <a:pPr algn="ctr">
              <a:lnSpc>
                <a:spcPts val="2517"/>
              </a:lnSpc>
            </a:pPr>
            <a:endParaRPr lang="en-US" sz="2467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00226" y="4162233"/>
            <a:ext cx="1427211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6103" b="1" dirty="0">
                <a:solidFill>
                  <a:srgbClr val="1D9B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 of Economic </a:t>
            </a:r>
            <a:r>
              <a:rPr lang="en-US" sz="6103" b="1" dirty="0" err="1">
                <a:solidFill>
                  <a:srgbClr val="1D9B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</a:t>
            </a:r>
            <a:endParaRPr lang="en-US" sz="6103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0" name="Freeform 10"/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5400000">
            <a:off x="0" y="6896073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2048907" y="6149608"/>
            <a:ext cx="5308372" cy="42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Session Recap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303102" y="9651707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C108F-B304-E277-E786-6552CE33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A2B973-1B8D-6EAF-6754-03F17279CCC5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C9D2E5-11AE-0C1E-E17C-8245E3A93D82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F5078D-A7EF-5D36-C139-78DFCE9D69E1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34363E-9124-7AA2-686D-02CB3DBDB1EB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44A4F16-58AE-49F4-A3FA-87C0D1055D27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48929C1-95EC-C803-CE87-33E9AE8DA84C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F078DF-42DF-43D7-A73E-190B88BB090F}"/>
              </a:ext>
            </a:extLst>
          </p:cNvPr>
          <p:cNvSpPr txBox="1"/>
          <p:nvPr/>
        </p:nvSpPr>
        <p:spPr>
          <a:xfrm>
            <a:off x="1564199" y="2183048"/>
            <a:ext cx="113898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Session Outline </a:t>
            </a:r>
            <a:endParaRPr lang="en-US" sz="4407" b="1" dirty="0">
              <a:solidFill>
                <a:srgbClr val="F4743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CDC3BC-B22B-EF28-72E7-1C085CD964A9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C07DBF4-2385-E11C-5648-4B2310AEDD26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15EF946-B8C0-FBE8-30A9-D07C87428E27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9438C1D-F55A-1D54-C4CF-BF31F9F6735F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ED5300C-7424-E137-83D5-9395A5393BBD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ADB7DA8-1393-8D63-8E03-E0E7D9F3F5F1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1DCD078-48CF-A7DE-67BB-61C3EAD8609F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8351E69-95B6-BF12-D420-CDD3E81A9BFF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40B47DD-B7C7-863E-BAC2-D68B31C33498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181BD67-5DE4-D8E6-6EE4-E617CC848C40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471E7E41-F967-5D44-9B78-3208B648C617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FBF2816-69D2-EEFB-D98C-0BF6217D873F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9B07C5D-DB92-4D7D-C4BF-F30CC42228B9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86A4292-49F0-1B5B-B9E5-3E5F0A7D08E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B681EAC1-95B9-AF1D-DF87-9E6F56A65A8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C2CBE5C-F591-34FD-48FC-38E22697CC98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CFB89D9-F2E2-0375-C9BC-DBF29B474CF7}"/>
              </a:ext>
            </a:extLst>
          </p:cNvPr>
          <p:cNvSpPr txBox="1"/>
          <p:nvPr/>
        </p:nvSpPr>
        <p:spPr>
          <a:xfrm>
            <a:off x="1629605" y="3487206"/>
            <a:ext cx="13313824" cy="560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44" indent="-340994">
              <a:spcBef>
                <a:spcPts val="1065"/>
              </a:spcBef>
              <a:buChar char="•"/>
              <a:tabLst>
                <a:tab pos="360044" algn="l"/>
              </a:tabLst>
            </a:pP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Concept</a:t>
            </a:r>
            <a:r>
              <a:rPr lang="en-US" sz="4400" spc="-306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28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economic</a:t>
            </a:r>
            <a:r>
              <a:rPr lang="en-US" sz="4400" spc="-33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45" dirty="0">
                <a:solidFill>
                  <a:srgbClr val="4C8DE2"/>
                </a:solidFill>
                <a:latin typeface="Arial"/>
                <a:cs typeface="Arial"/>
              </a:rPr>
              <a:t>evaluations</a:t>
            </a:r>
            <a:r>
              <a:rPr lang="en-US" sz="4400" spc="-30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13" dirty="0">
                <a:solidFill>
                  <a:srgbClr val="4C8DE2"/>
                </a:solidFill>
                <a:latin typeface="Arial"/>
                <a:cs typeface="Arial"/>
              </a:rPr>
              <a:t>(What</a:t>
            </a:r>
            <a:r>
              <a:rPr lang="en-US" sz="4400" spc="-30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60" dirty="0">
                <a:solidFill>
                  <a:srgbClr val="4C8DE2"/>
                </a:solidFill>
                <a:latin typeface="Arial"/>
                <a:cs typeface="Arial"/>
              </a:rPr>
              <a:t>and</a:t>
            </a:r>
            <a:r>
              <a:rPr lang="en-US" sz="4400" spc="-27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Why?)</a:t>
            </a:r>
            <a:endParaRPr lang="en-US" sz="4400" dirty="0">
              <a:latin typeface="Arial"/>
              <a:cs typeface="Arial"/>
            </a:endParaRPr>
          </a:p>
          <a:p>
            <a:pPr marL="359093" marR="7620" indent="-340994">
              <a:lnSpc>
                <a:spcPts val="5190"/>
              </a:lnSpc>
              <a:spcBef>
                <a:spcPts val="1568"/>
              </a:spcBef>
              <a:buChar char="•"/>
              <a:tabLst>
                <a:tab pos="361950" algn="l"/>
              </a:tabLst>
            </a:pPr>
            <a:r>
              <a:rPr lang="en-US" sz="4400" spc="-120" dirty="0">
                <a:solidFill>
                  <a:srgbClr val="4C8DE2"/>
                </a:solidFill>
                <a:latin typeface="Arial"/>
                <a:cs typeface="Arial"/>
              </a:rPr>
              <a:t>Overview</a:t>
            </a:r>
            <a:r>
              <a:rPr lang="en-US" sz="4400" spc="-28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28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different</a:t>
            </a:r>
            <a:r>
              <a:rPr lang="en-US" sz="4400" spc="-27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53" dirty="0">
                <a:solidFill>
                  <a:srgbClr val="4C8DE2"/>
                </a:solidFill>
                <a:latin typeface="Arial"/>
                <a:cs typeface="Arial"/>
              </a:rPr>
              <a:t>types</a:t>
            </a:r>
            <a:r>
              <a:rPr lang="en-US" sz="4400" spc="-27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27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75" dirty="0">
                <a:solidFill>
                  <a:srgbClr val="4C8DE2"/>
                </a:solidFill>
                <a:latin typeface="Arial"/>
                <a:cs typeface="Arial"/>
              </a:rPr>
              <a:t>analysis</a:t>
            </a:r>
            <a:r>
              <a:rPr lang="en-US" sz="4400" spc="-306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(cost-effectiveness 	</a:t>
            </a:r>
            <a:r>
              <a:rPr lang="en-US" sz="4400" spc="-68" dirty="0">
                <a:solidFill>
                  <a:srgbClr val="4C8DE2"/>
                </a:solidFill>
                <a:latin typeface="Arial"/>
                <a:cs typeface="Arial"/>
              </a:rPr>
              <a:t>analysis,</a:t>
            </a:r>
            <a:r>
              <a:rPr lang="en-US" sz="4400" spc="-24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cost-</a:t>
            </a:r>
            <a:r>
              <a:rPr lang="en-US" sz="4400" spc="68" dirty="0">
                <a:solidFill>
                  <a:srgbClr val="4C8DE2"/>
                </a:solidFill>
                <a:latin typeface="Arial"/>
                <a:cs typeface="Arial"/>
              </a:rPr>
              <a:t>utility</a:t>
            </a:r>
            <a:r>
              <a:rPr lang="en-US" sz="4400" spc="-20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68" dirty="0">
                <a:solidFill>
                  <a:srgbClr val="4C8DE2"/>
                </a:solidFill>
                <a:latin typeface="Arial"/>
                <a:cs typeface="Arial"/>
              </a:rPr>
              <a:t>analysis,</a:t>
            </a:r>
            <a:r>
              <a:rPr lang="en-US" sz="4400" spc="-26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53" dirty="0">
                <a:solidFill>
                  <a:srgbClr val="4C8DE2"/>
                </a:solidFill>
                <a:latin typeface="Arial"/>
                <a:cs typeface="Arial"/>
              </a:rPr>
              <a:t>budget</a:t>
            </a:r>
            <a:r>
              <a:rPr lang="en-US" sz="4400" spc="-19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impact</a:t>
            </a:r>
            <a:r>
              <a:rPr lang="en-US" sz="4400" spc="-25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analysis, 	</a:t>
            </a:r>
            <a:r>
              <a:rPr lang="en-US" sz="4400" spc="-60" dirty="0">
                <a:solidFill>
                  <a:srgbClr val="4C8DE2"/>
                </a:solidFill>
                <a:latin typeface="Arial"/>
                <a:cs typeface="Arial"/>
              </a:rPr>
              <a:t>and</a:t>
            </a:r>
            <a:r>
              <a:rPr lang="en-US" sz="4400" spc="-23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cost-benefit</a:t>
            </a:r>
            <a:r>
              <a:rPr lang="en-US" sz="4400" spc="-28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analysis)</a:t>
            </a:r>
            <a:endParaRPr lang="en-US" sz="4400" dirty="0">
              <a:latin typeface="Arial"/>
              <a:cs typeface="Arial"/>
            </a:endParaRPr>
          </a:p>
          <a:p>
            <a:pPr marL="360044" indent="-340994">
              <a:spcBef>
                <a:spcPts val="848"/>
              </a:spcBef>
              <a:buChar char="•"/>
              <a:tabLst>
                <a:tab pos="360044" algn="l"/>
              </a:tabLst>
            </a:pPr>
            <a:r>
              <a:rPr lang="en-US" sz="4400" spc="-120" dirty="0">
                <a:solidFill>
                  <a:srgbClr val="4C8DE2"/>
                </a:solidFill>
                <a:latin typeface="Arial"/>
                <a:cs typeface="Arial"/>
              </a:rPr>
              <a:t>Overview</a:t>
            </a:r>
            <a:r>
              <a:rPr lang="en-US" sz="4400" spc="-31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306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different</a:t>
            </a:r>
            <a:r>
              <a:rPr lang="en-US" sz="4400" spc="-306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53" dirty="0">
                <a:solidFill>
                  <a:srgbClr val="4C8DE2"/>
                </a:solidFill>
                <a:latin typeface="Arial"/>
                <a:cs typeface="Arial"/>
              </a:rPr>
              <a:t>types</a:t>
            </a:r>
            <a:r>
              <a:rPr lang="en-US" sz="4400" spc="-29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306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decision</a:t>
            </a:r>
            <a:r>
              <a:rPr lang="en-US" sz="4400" spc="-36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models</a:t>
            </a:r>
            <a:endParaRPr lang="en-US" sz="4400" dirty="0">
              <a:latin typeface="Arial"/>
              <a:cs typeface="Arial"/>
            </a:endParaRPr>
          </a:p>
          <a:p>
            <a:pPr marL="360044" indent="-340994">
              <a:spcBef>
                <a:spcPts val="915"/>
              </a:spcBef>
              <a:buChar char="•"/>
              <a:tabLst>
                <a:tab pos="360044" algn="l"/>
              </a:tabLst>
            </a:pPr>
            <a:r>
              <a:rPr lang="en-US" sz="4400" spc="-105" dirty="0">
                <a:solidFill>
                  <a:srgbClr val="4C8DE2"/>
                </a:solidFill>
                <a:latin typeface="Arial"/>
                <a:cs typeface="Arial"/>
              </a:rPr>
              <a:t>Synthesis</a:t>
            </a:r>
            <a:r>
              <a:rPr lang="en-US" sz="4400" spc="-344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lang="en-US" sz="4400" spc="-28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68" dirty="0">
                <a:solidFill>
                  <a:srgbClr val="4C8DE2"/>
                </a:solidFill>
                <a:latin typeface="Arial"/>
                <a:cs typeface="Arial"/>
              </a:rPr>
              <a:t>evidence</a:t>
            </a:r>
            <a:r>
              <a:rPr lang="en-US" sz="4400" spc="-344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from</a:t>
            </a:r>
            <a:r>
              <a:rPr lang="en-US" sz="4400" spc="-27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dirty="0">
                <a:solidFill>
                  <a:srgbClr val="4C8DE2"/>
                </a:solidFill>
                <a:latin typeface="Arial"/>
                <a:cs typeface="Arial"/>
              </a:rPr>
              <a:t>decision</a:t>
            </a:r>
            <a:r>
              <a:rPr lang="en-US" sz="4400" spc="-35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lang="en-US" sz="4400" spc="-15" dirty="0">
                <a:solidFill>
                  <a:srgbClr val="4C8DE2"/>
                </a:solidFill>
                <a:latin typeface="Arial"/>
                <a:cs typeface="Arial"/>
              </a:rPr>
              <a:t>models</a:t>
            </a:r>
          </a:p>
          <a:p>
            <a:pPr marL="360044" indent="-340994">
              <a:spcBef>
                <a:spcPts val="915"/>
              </a:spcBef>
              <a:buChar char="•"/>
              <a:tabLst>
                <a:tab pos="360044" algn="l"/>
              </a:tabLst>
            </a:pPr>
            <a:r>
              <a:rPr lang="en-US" sz="4400" spc="-15" dirty="0">
                <a:solidFill>
                  <a:srgbClr val="4C8DE2"/>
                </a:solidFill>
                <a:latin typeface="Arial"/>
                <a:ea typeface="Montserrat"/>
                <a:cs typeface="Arial"/>
                <a:sym typeface="Montserrat"/>
              </a:rPr>
              <a:t>Budget Impact Analysis</a:t>
            </a:r>
            <a:endParaRPr lang="en-US" sz="40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447"/>
              </a:lnSpc>
            </a:pPr>
            <a:endParaRPr lang="en-US" sz="40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7717B70-97B1-AC5F-427B-D6A060F48E43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360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F847-A3D8-37EB-CBEB-45F41969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659128-1B60-20E2-F913-7B85BD95EF44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B78D1DD-11BB-3106-AA5C-07C1443A9E08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A02CDD-56A4-29C8-7C4C-1593B1326E2E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900943F-A214-BB09-647D-E6E02B4A690A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15DDDC6-0BBA-E176-486F-EA814AB54243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C7DF112-8E03-6FA5-AE75-291771A42386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C77BDF-A4C6-5F5A-4CF0-55525D7C4E4F}"/>
              </a:ext>
            </a:extLst>
          </p:cNvPr>
          <p:cNvSpPr txBox="1"/>
          <p:nvPr/>
        </p:nvSpPr>
        <p:spPr>
          <a:xfrm>
            <a:off x="1564199" y="2183048"/>
            <a:ext cx="11389801" cy="595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95"/>
              </a:lnSpc>
            </a:pPr>
            <a:r>
              <a:rPr lang="en-US" sz="4800" spc="-518" dirty="0"/>
              <a:t>Human</a:t>
            </a:r>
            <a:r>
              <a:rPr lang="en-US" sz="4800" spc="-338" dirty="0"/>
              <a:t> </a:t>
            </a:r>
            <a:r>
              <a:rPr lang="en-US" sz="4800" spc="-472" dirty="0"/>
              <a:t>wants</a:t>
            </a:r>
            <a:r>
              <a:rPr lang="en-US" sz="4800" spc="-353" dirty="0"/>
              <a:t> </a:t>
            </a:r>
            <a:r>
              <a:rPr lang="en-US" sz="4800" spc="-381" dirty="0"/>
              <a:t>are</a:t>
            </a:r>
            <a:r>
              <a:rPr lang="en-US" sz="4800" spc="-306" dirty="0"/>
              <a:t> </a:t>
            </a:r>
            <a:r>
              <a:rPr lang="en-US" sz="4800" spc="-323" dirty="0"/>
              <a:t>unlimited,</a:t>
            </a:r>
            <a:r>
              <a:rPr lang="en-US" sz="4800" spc="-368" dirty="0"/>
              <a:t> </a:t>
            </a:r>
            <a:r>
              <a:rPr lang="en-US" sz="4800" spc="-323" dirty="0"/>
              <a:t>but resources are scarce</a:t>
            </a: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 </a:t>
            </a:r>
            <a:endParaRPr lang="en-US" sz="4407" b="1" dirty="0">
              <a:solidFill>
                <a:srgbClr val="F4743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4666926-1A03-FB36-20BE-3C365405F464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4FE24AF-64C2-0391-92AE-22893283E842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CF386C3-1C97-FDE1-BD9A-343C863B444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F97D16F-6CE4-0B39-4A2C-F2B6CF8C1AED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79541E1-F78C-0C29-4681-ECB07B26FCC6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5FD6D48-DD5B-67C7-6DC7-F6F2D2659DCD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08D2FAF-4FCA-4F7A-99C2-93EF5263AF8C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097E4EA-3690-6A8C-24FB-576D6C8AC04E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5E98341-3F6A-668C-4EC9-0C287EF529CF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77BBD93-5CFA-96DD-45AF-62AC002654F8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16F03533-8ECC-81B9-7B0C-004ADE72AD4F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B7FF45A-BF2E-BCFC-AEF3-91CB55521F10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2676206A-B4BB-5253-1E9B-7065C89581C9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A671A650-F30F-E0E1-4C57-82FBBCB51160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FC49EDC-80FE-E7B5-9474-450E057D666F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0E035EA-4D6B-F020-D2A4-C947F4E8126B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628525-27CB-8860-43CA-4664C4E79CA9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object 2">
            <a:extLst>
              <a:ext uri="{FF2B5EF4-FFF2-40B4-BE49-F238E27FC236}">
                <a16:creationId xmlns:a16="http://schemas.microsoft.com/office/drawing/2014/main" id="{8A6AE8EF-DB34-3DC0-19D6-FF9E433D1F01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50348" y="4415509"/>
            <a:ext cx="9725981" cy="4223108"/>
          </a:xfrm>
          <a:prstGeom prst="rect">
            <a:avLst/>
          </a:prstGeom>
        </p:spPr>
      </p:pic>
      <p:sp>
        <p:nvSpPr>
          <p:cNvPr id="28" name="object 6">
            <a:extLst>
              <a:ext uri="{FF2B5EF4-FFF2-40B4-BE49-F238E27FC236}">
                <a16:creationId xmlns:a16="http://schemas.microsoft.com/office/drawing/2014/main" id="{24BAF388-C8F2-BE1D-AF07-2ECCD60C4735}"/>
              </a:ext>
            </a:extLst>
          </p:cNvPr>
          <p:cNvSpPr/>
          <p:nvPr/>
        </p:nvSpPr>
        <p:spPr>
          <a:xfrm>
            <a:off x="11988676" y="2701548"/>
            <a:ext cx="4531043" cy="3401378"/>
          </a:xfrm>
          <a:custGeom>
            <a:avLst/>
            <a:gdLst/>
            <a:ahLst/>
            <a:cxnLst/>
            <a:rect l="l" t="t" r="r" b="b"/>
            <a:pathLst>
              <a:path w="3020695" h="2267585">
                <a:moveTo>
                  <a:pt x="338248" y="2131018"/>
                </a:moveTo>
                <a:lnTo>
                  <a:pt x="346165" y="2052157"/>
                </a:lnTo>
                <a:lnTo>
                  <a:pt x="356141" y="2005819"/>
                </a:lnTo>
                <a:lnTo>
                  <a:pt x="368112" y="1956550"/>
                </a:lnTo>
                <a:lnTo>
                  <a:pt x="380563" y="1905606"/>
                </a:lnTo>
                <a:lnTo>
                  <a:pt x="391983" y="1854241"/>
                </a:lnTo>
                <a:lnTo>
                  <a:pt x="400859" y="1803711"/>
                </a:lnTo>
                <a:lnTo>
                  <a:pt x="405676" y="1755272"/>
                </a:lnTo>
                <a:lnTo>
                  <a:pt x="404923" y="1710178"/>
                </a:lnTo>
                <a:lnTo>
                  <a:pt x="361723" y="1669695"/>
                </a:lnTo>
                <a:lnTo>
                  <a:pt x="321216" y="1628964"/>
                </a:lnTo>
                <a:lnTo>
                  <a:pt x="283354" y="1588020"/>
                </a:lnTo>
                <a:lnTo>
                  <a:pt x="248094" y="1546897"/>
                </a:lnTo>
                <a:lnTo>
                  <a:pt x="215387" y="1505630"/>
                </a:lnTo>
                <a:lnTo>
                  <a:pt x="185190" y="1464255"/>
                </a:lnTo>
                <a:lnTo>
                  <a:pt x="157455" y="1422804"/>
                </a:lnTo>
                <a:lnTo>
                  <a:pt x="132137" y="1381314"/>
                </a:lnTo>
                <a:lnTo>
                  <a:pt x="109189" y="1339819"/>
                </a:lnTo>
                <a:lnTo>
                  <a:pt x="88567" y="1298353"/>
                </a:lnTo>
                <a:lnTo>
                  <a:pt x="70223" y="1256951"/>
                </a:lnTo>
                <a:lnTo>
                  <a:pt x="54112" y="1215648"/>
                </a:lnTo>
                <a:lnTo>
                  <a:pt x="40189" y="1174478"/>
                </a:lnTo>
                <a:lnTo>
                  <a:pt x="28406" y="1133476"/>
                </a:lnTo>
                <a:lnTo>
                  <a:pt x="18718" y="1092677"/>
                </a:lnTo>
                <a:lnTo>
                  <a:pt x="11080" y="1052115"/>
                </a:lnTo>
                <a:lnTo>
                  <a:pt x="5444" y="1011825"/>
                </a:lnTo>
                <a:lnTo>
                  <a:pt x="1766" y="971842"/>
                </a:lnTo>
                <a:lnTo>
                  <a:pt x="0" y="932199"/>
                </a:lnTo>
                <a:lnTo>
                  <a:pt x="98" y="892933"/>
                </a:lnTo>
                <a:lnTo>
                  <a:pt x="2016" y="854078"/>
                </a:lnTo>
                <a:lnTo>
                  <a:pt x="5707" y="815667"/>
                </a:lnTo>
                <a:lnTo>
                  <a:pt x="11126" y="777736"/>
                </a:lnTo>
                <a:lnTo>
                  <a:pt x="26963" y="703453"/>
                </a:lnTo>
                <a:lnTo>
                  <a:pt x="49158" y="631505"/>
                </a:lnTo>
                <a:lnTo>
                  <a:pt x="77344" y="562170"/>
                </a:lnTo>
                <a:lnTo>
                  <a:pt x="111154" y="495724"/>
                </a:lnTo>
                <a:lnTo>
                  <a:pt x="150219" y="432444"/>
                </a:lnTo>
                <a:lnTo>
                  <a:pt x="194173" y="372609"/>
                </a:lnTo>
                <a:lnTo>
                  <a:pt x="242648" y="316494"/>
                </a:lnTo>
                <a:lnTo>
                  <a:pt x="295276" y="264378"/>
                </a:lnTo>
                <a:lnTo>
                  <a:pt x="351689" y="216537"/>
                </a:lnTo>
                <a:lnTo>
                  <a:pt x="411520" y="173249"/>
                </a:lnTo>
                <a:lnTo>
                  <a:pt x="474402" y="134791"/>
                </a:lnTo>
                <a:lnTo>
                  <a:pt x="539967" y="101440"/>
                </a:lnTo>
                <a:lnTo>
                  <a:pt x="607846" y="73473"/>
                </a:lnTo>
                <a:lnTo>
                  <a:pt x="677674" y="51167"/>
                </a:lnTo>
                <a:lnTo>
                  <a:pt x="755150" y="32844"/>
                </a:lnTo>
                <a:lnTo>
                  <a:pt x="797941" y="24636"/>
                </a:lnTo>
                <a:lnTo>
                  <a:pt x="841521" y="17599"/>
                </a:lnTo>
                <a:lnTo>
                  <a:pt x="885837" y="11733"/>
                </a:lnTo>
                <a:lnTo>
                  <a:pt x="930832" y="7040"/>
                </a:lnTo>
                <a:lnTo>
                  <a:pt x="976452" y="3520"/>
                </a:lnTo>
                <a:lnTo>
                  <a:pt x="1022642" y="1173"/>
                </a:lnTo>
                <a:lnTo>
                  <a:pt x="1069348" y="0"/>
                </a:lnTo>
                <a:lnTo>
                  <a:pt x="1116514" y="0"/>
                </a:lnTo>
                <a:lnTo>
                  <a:pt x="1164085" y="1175"/>
                </a:lnTo>
                <a:lnTo>
                  <a:pt x="1212007" y="3525"/>
                </a:lnTo>
                <a:lnTo>
                  <a:pt x="1260225" y="7051"/>
                </a:lnTo>
                <a:lnTo>
                  <a:pt x="1308684" y="11752"/>
                </a:lnTo>
                <a:lnTo>
                  <a:pt x="1357329" y="17630"/>
                </a:lnTo>
                <a:lnTo>
                  <a:pt x="1406105" y="24685"/>
                </a:lnTo>
                <a:lnTo>
                  <a:pt x="1454957" y="32916"/>
                </a:lnTo>
                <a:lnTo>
                  <a:pt x="1503831" y="42326"/>
                </a:lnTo>
                <a:lnTo>
                  <a:pt x="1552672" y="52913"/>
                </a:lnTo>
                <a:lnTo>
                  <a:pt x="1601424" y="64679"/>
                </a:lnTo>
                <a:lnTo>
                  <a:pt x="1650033" y="77624"/>
                </a:lnTo>
                <a:lnTo>
                  <a:pt x="1698444" y="91749"/>
                </a:lnTo>
                <a:lnTo>
                  <a:pt x="1746603" y="107053"/>
                </a:lnTo>
                <a:lnTo>
                  <a:pt x="1794454" y="123538"/>
                </a:lnTo>
                <a:lnTo>
                  <a:pt x="1841942" y="141203"/>
                </a:lnTo>
                <a:lnTo>
                  <a:pt x="1889013" y="160050"/>
                </a:lnTo>
                <a:lnTo>
                  <a:pt x="1935611" y="180078"/>
                </a:lnTo>
                <a:lnTo>
                  <a:pt x="1981683" y="201289"/>
                </a:lnTo>
                <a:lnTo>
                  <a:pt x="2027172" y="223682"/>
                </a:lnTo>
                <a:lnTo>
                  <a:pt x="2072025" y="247258"/>
                </a:lnTo>
                <a:lnTo>
                  <a:pt x="2116185" y="272018"/>
                </a:lnTo>
                <a:lnTo>
                  <a:pt x="2159600" y="297962"/>
                </a:lnTo>
                <a:lnTo>
                  <a:pt x="2202212" y="325090"/>
                </a:lnTo>
                <a:lnTo>
                  <a:pt x="2243969" y="353403"/>
                </a:lnTo>
                <a:lnTo>
                  <a:pt x="2284814" y="382901"/>
                </a:lnTo>
                <a:lnTo>
                  <a:pt x="2324693" y="413584"/>
                </a:lnTo>
                <a:lnTo>
                  <a:pt x="2371024" y="449065"/>
                </a:lnTo>
                <a:lnTo>
                  <a:pt x="2415848" y="484944"/>
                </a:lnTo>
                <a:lnTo>
                  <a:pt x="2459154" y="521194"/>
                </a:lnTo>
                <a:lnTo>
                  <a:pt x="2500934" y="557786"/>
                </a:lnTo>
                <a:lnTo>
                  <a:pt x="2541176" y="594690"/>
                </a:lnTo>
                <a:lnTo>
                  <a:pt x="2579872" y="631878"/>
                </a:lnTo>
                <a:lnTo>
                  <a:pt x="2617011" y="669320"/>
                </a:lnTo>
                <a:lnTo>
                  <a:pt x="2652583" y="706988"/>
                </a:lnTo>
                <a:lnTo>
                  <a:pt x="2686579" y="744852"/>
                </a:lnTo>
                <a:lnTo>
                  <a:pt x="2718988" y="782885"/>
                </a:lnTo>
                <a:lnTo>
                  <a:pt x="2749800" y="821056"/>
                </a:lnTo>
                <a:lnTo>
                  <a:pt x="2779007" y="859337"/>
                </a:lnTo>
                <a:lnTo>
                  <a:pt x="2806597" y="897699"/>
                </a:lnTo>
                <a:lnTo>
                  <a:pt x="2832561" y="936113"/>
                </a:lnTo>
                <a:lnTo>
                  <a:pt x="2856889" y="974549"/>
                </a:lnTo>
                <a:lnTo>
                  <a:pt x="2879571" y="1012980"/>
                </a:lnTo>
                <a:lnTo>
                  <a:pt x="2900597" y="1051376"/>
                </a:lnTo>
                <a:lnTo>
                  <a:pt x="2919957" y="1089708"/>
                </a:lnTo>
                <a:lnTo>
                  <a:pt x="2937642" y="1127947"/>
                </a:lnTo>
                <a:lnTo>
                  <a:pt x="2953641" y="1166065"/>
                </a:lnTo>
                <a:lnTo>
                  <a:pt x="2967945" y="1204031"/>
                </a:lnTo>
                <a:lnTo>
                  <a:pt x="2980543" y="1241818"/>
                </a:lnTo>
                <a:lnTo>
                  <a:pt x="2991426" y="1279396"/>
                </a:lnTo>
                <a:lnTo>
                  <a:pt x="3000583" y="1316737"/>
                </a:lnTo>
                <a:lnTo>
                  <a:pt x="3013683" y="1390590"/>
                </a:lnTo>
                <a:lnTo>
                  <a:pt x="3019763" y="1463144"/>
                </a:lnTo>
                <a:lnTo>
                  <a:pt x="3020146" y="1498863"/>
                </a:lnTo>
                <a:lnTo>
                  <a:pt x="3018744" y="1534170"/>
                </a:lnTo>
                <a:lnTo>
                  <a:pt x="3010547" y="1603434"/>
                </a:lnTo>
                <a:lnTo>
                  <a:pt x="2995092" y="1670705"/>
                </a:lnTo>
                <a:lnTo>
                  <a:pt x="2972300" y="1735751"/>
                </a:lnTo>
                <a:lnTo>
                  <a:pt x="2942091" y="1798342"/>
                </a:lnTo>
                <a:lnTo>
                  <a:pt x="2904387" y="1858245"/>
                </a:lnTo>
                <a:lnTo>
                  <a:pt x="2859109" y="1915228"/>
                </a:lnTo>
                <a:lnTo>
                  <a:pt x="2806176" y="1969061"/>
                </a:lnTo>
                <a:lnTo>
                  <a:pt x="2776815" y="1994723"/>
                </a:lnTo>
                <a:lnTo>
                  <a:pt x="2745510" y="2019511"/>
                </a:lnTo>
                <a:lnTo>
                  <a:pt x="2712252" y="2043395"/>
                </a:lnTo>
                <a:lnTo>
                  <a:pt x="2677031" y="2066346"/>
                </a:lnTo>
                <a:lnTo>
                  <a:pt x="2639837" y="2088336"/>
                </a:lnTo>
                <a:lnTo>
                  <a:pt x="2600661" y="2109336"/>
                </a:lnTo>
                <a:lnTo>
                  <a:pt x="2559491" y="2129316"/>
                </a:lnTo>
                <a:lnTo>
                  <a:pt x="2514425" y="2144293"/>
                </a:lnTo>
                <a:lnTo>
                  <a:pt x="2468929" y="2158498"/>
                </a:lnTo>
                <a:lnTo>
                  <a:pt x="2423027" y="2171915"/>
                </a:lnTo>
                <a:lnTo>
                  <a:pt x="2376746" y="2184524"/>
                </a:lnTo>
                <a:lnTo>
                  <a:pt x="2330113" y="2196310"/>
                </a:lnTo>
                <a:lnTo>
                  <a:pt x="2283151" y="2207253"/>
                </a:lnTo>
                <a:lnTo>
                  <a:pt x="2235889" y="2217336"/>
                </a:lnTo>
                <a:lnTo>
                  <a:pt x="2188351" y="2226543"/>
                </a:lnTo>
                <a:lnTo>
                  <a:pt x="2140564" y="2234854"/>
                </a:lnTo>
                <a:lnTo>
                  <a:pt x="2092553" y="2242252"/>
                </a:lnTo>
                <a:lnTo>
                  <a:pt x="2044344" y="2248721"/>
                </a:lnTo>
                <a:lnTo>
                  <a:pt x="1995964" y="2254241"/>
                </a:lnTo>
                <a:lnTo>
                  <a:pt x="1947438" y="2258795"/>
                </a:lnTo>
                <a:lnTo>
                  <a:pt x="1898792" y="2262366"/>
                </a:lnTo>
                <a:lnTo>
                  <a:pt x="1850052" y="2264936"/>
                </a:lnTo>
                <a:lnTo>
                  <a:pt x="1801244" y="2266487"/>
                </a:lnTo>
                <a:lnTo>
                  <a:pt x="1752393" y="2267001"/>
                </a:lnTo>
                <a:lnTo>
                  <a:pt x="1703527" y="2266462"/>
                </a:lnTo>
                <a:lnTo>
                  <a:pt x="1654670" y="2264851"/>
                </a:lnTo>
                <a:lnTo>
                  <a:pt x="1605849" y="2262150"/>
                </a:lnTo>
                <a:lnTo>
                  <a:pt x="1557090" y="2258342"/>
                </a:lnTo>
                <a:lnTo>
                  <a:pt x="1508417" y="2253410"/>
                </a:lnTo>
                <a:lnTo>
                  <a:pt x="1459859" y="2247335"/>
                </a:lnTo>
                <a:lnTo>
                  <a:pt x="1411439" y="2240100"/>
                </a:lnTo>
                <a:lnTo>
                  <a:pt x="1363185" y="2231687"/>
                </a:lnTo>
                <a:lnTo>
                  <a:pt x="1315122" y="2222078"/>
                </a:lnTo>
                <a:lnTo>
                  <a:pt x="1267276" y="2211257"/>
                </a:lnTo>
                <a:lnTo>
                  <a:pt x="1219673" y="2199205"/>
                </a:lnTo>
                <a:lnTo>
                  <a:pt x="1172339" y="2185904"/>
                </a:lnTo>
                <a:lnTo>
                  <a:pt x="1125299" y="2171337"/>
                </a:lnTo>
                <a:lnTo>
                  <a:pt x="1078581" y="2155486"/>
                </a:lnTo>
                <a:lnTo>
                  <a:pt x="1032209" y="2138333"/>
                </a:lnTo>
                <a:lnTo>
                  <a:pt x="986210" y="2119862"/>
                </a:lnTo>
                <a:lnTo>
                  <a:pt x="940609" y="2100053"/>
                </a:lnTo>
                <a:lnTo>
                  <a:pt x="895432" y="2078890"/>
                </a:lnTo>
                <a:lnTo>
                  <a:pt x="850706" y="2056355"/>
                </a:lnTo>
                <a:lnTo>
                  <a:pt x="790131" y="2065475"/>
                </a:lnTo>
                <a:lnTo>
                  <a:pt x="730245" y="2072929"/>
                </a:lnTo>
                <a:lnTo>
                  <a:pt x="671567" y="2079203"/>
                </a:lnTo>
                <a:lnTo>
                  <a:pt x="614616" y="2084785"/>
                </a:lnTo>
                <a:lnTo>
                  <a:pt x="559911" y="2090162"/>
                </a:lnTo>
                <a:lnTo>
                  <a:pt x="507972" y="2095821"/>
                </a:lnTo>
                <a:lnTo>
                  <a:pt x="459317" y="2102249"/>
                </a:lnTo>
                <a:lnTo>
                  <a:pt x="414465" y="2109933"/>
                </a:lnTo>
                <a:lnTo>
                  <a:pt x="373936" y="2119361"/>
                </a:lnTo>
                <a:lnTo>
                  <a:pt x="338248" y="2131018"/>
                </a:lnTo>
                <a:close/>
              </a:path>
            </a:pathLst>
          </a:custGeom>
          <a:ln w="28575">
            <a:solidFill>
              <a:srgbClr val="041A38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0E6B12F6-A79E-B78A-4A92-9BA929D0AA17}"/>
              </a:ext>
            </a:extLst>
          </p:cNvPr>
          <p:cNvSpPr txBox="1"/>
          <p:nvPr/>
        </p:nvSpPr>
        <p:spPr>
          <a:xfrm>
            <a:off x="12235647" y="3304661"/>
            <a:ext cx="3755708" cy="163410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45" dirty="0">
                <a:latin typeface="Arial"/>
                <a:cs typeface="Arial"/>
              </a:rPr>
              <a:t>Medications</a:t>
            </a:r>
            <a:endParaRPr sz="2700" dirty="0">
              <a:latin typeface="Arial"/>
              <a:cs typeface="Arial"/>
            </a:endParaRPr>
          </a:p>
          <a:p>
            <a:pPr marL="842010" marR="7620" indent="948690">
              <a:lnSpc>
                <a:spcPct val="139700"/>
              </a:lnSpc>
              <a:spcBef>
                <a:spcPts val="810"/>
              </a:spcBef>
            </a:pPr>
            <a:r>
              <a:rPr sz="2700" b="1" spc="-225" dirty="0">
                <a:latin typeface="Arial"/>
                <a:cs typeface="Arial"/>
              </a:rPr>
              <a:t>Consultations </a:t>
            </a:r>
            <a:r>
              <a:rPr sz="2700" b="1" spc="-98" dirty="0">
                <a:latin typeface="Arial"/>
                <a:cs typeface="Arial"/>
              </a:rPr>
              <a:t>Vaccines</a:t>
            </a:r>
            <a:endParaRPr sz="2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15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4308" y="1902659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lang="en-US" spc="-675" dirty="0">
                <a:solidFill>
                  <a:schemeClr val="accent6"/>
                </a:solidFill>
              </a:rPr>
              <a:t>E c o n o m I c     E v  a  l u a t I o n s</a:t>
            </a:r>
            <a:endParaRPr spc="-548" dirty="0">
              <a:solidFill>
                <a:schemeClr val="accent6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6327" y="2603753"/>
            <a:ext cx="3895343" cy="3895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942787" y="3465227"/>
            <a:ext cx="2316480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b="1" spc="-158" dirty="0">
                <a:solidFill>
                  <a:srgbClr val="002060"/>
                </a:solidFill>
                <a:latin typeface="Arial"/>
                <a:cs typeface="Arial"/>
              </a:rPr>
              <a:t>Intervention</a:t>
            </a:r>
            <a:r>
              <a:rPr sz="3000" b="1" spc="-38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b="1" spc="-593" dirty="0">
                <a:solidFill>
                  <a:srgbClr val="002060"/>
                </a:solidFill>
                <a:latin typeface="Arial"/>
                <a:cs typeface="Arial"/>
              </a:rPr>
              <a:t>B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42788" y="4356766"/>
            <a:ext cx="1479233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spc="-113" dirty="0">
                <a:solidFill>
                  <a:srgbClr val="002060"/>
                </a:solidFill>
                <a:latin typeface="Arial"/>
                <a:cs typeface="Arial"/>
              </a:rPr>
              <a:t>Outcome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165073" y="4073651"/>
            <a:ext cx="2197418" cy="1127760"/>
            <a:chOff x="8776715" y="2715767"/>
            <a:chExt cx="1464945" cy="7518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6715" y="2715767"/>
              <a:ext cx="737615" cy="7513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9427" y="2715767"/>
              <a:ext cx="737615" cy="7513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3664" y="2715767"/>
              <a:ext cx="737615" cy="75133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942788" y="5316886"/>
            <a:ext cx="720089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spc="-195" dirty="0">
                <a:solidFill>
                  <a:srgbClr val="002060"/>
                </a:solidFill>
                <a:latin typeface="Arial"/>
                <a:cs typeface="Arial"/>
              </a:rPr>
              <a:t>Cost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406121" y="5033771"/>
            <a:ext cx="2197418" cy="1127760"/>
            <a:chOff x="8270747" y="3355847"/>
            <a:chExt cx="1464945" cy="7518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0747" y="3355847"/>
              <a:ext cx="737615" cy="7513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4983" y="3355847"/>
              <a:ext cx="737615" cy="7513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7695" y="3355847"/>
              <a:ext cx="737615" cy="75133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913193" y="3360577"/>
            <a:ext cx="2334578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b="1" spc="-158" dirty="0">
                <a:solidFill>
                  <a:srgbClr val="002060"/>
                </a:solidFill>
                <a:latin typeface="Arial"/>
                <a:cs typeface="Arial"/>
              </a:rPr>
              <a:t>Intervention</a:t>
            </a:r>
            <a:r>
              <a:rPr sz="3000" b="1" spc="-38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b="1" spc="-90" dirty="0">
                <a:solidFill>
                  <a:srgbClr val="002060"/>
                </a:solidFill>
                <a:latin typeface="Arial"/>
                <a:cs typeface="Arial"/>
              </a:rPr>
              <a:t>A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77735" y="4252117"/>
            <a:ext cx="1479233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spc="-113" dirty="0">
                <a:solidFill>
                  <a:srgbClr val="002060"/>
                </a:solidFill>
                <a:latin typeface="Arial"/>
                <a:cs typeface="Arial"/>
              </a:rPr>
              <a:t>Outcome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98899" y="3970783"/>
            <a:ext cx="1650683" cy="1124903"/>
            <a:chOff x="3265932" y="2647188"/>
            <a:chExt cx="1100455" cy="74993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5932" y="2647188"/>
              <a:ext cx="737615" cy="749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8644" y="2647188"/>
              <a:ext cx="737615" cy="74980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434401" y="5212235"/>
            <a:ext cx="720089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3000" spc="-195" dirty="0">
                <a:solidFill>
                  <a:srgbClr val="002060"/>
                </a:solidFill>
                <a:latin typeface="Arial"/>
                <a:cs typeface="Arial"/>
              </a:rPr>
              <a:t>Cost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96612" y="4930901"/>
            <a:ext cx="1653540" cy="1124903"/>
            <a:chOff x="3264408" y="3287267"/>
            <a:chExt cx="1102360" cy="74993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3287267"/>
              <a:ext cx="737615" cy="7498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8644" y="3287267"/>
              <a:ext cx="737615" cy="74980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632374" y="7194443"/>
            <a:ext cx="12278676" cy="1269899"/>
          </a:xfrm>
          <a:prstGeom prst="rect">
            <a:avLst/>
          </a:prstGeom>
        </p:spPr>
        <p:txBody>
          <a:bodyPr vert="horz" wrap="square" lIns="0" tIns="63818" rIns="0" bIns="0" rtlCol="0">
            <a:spAutoFit/>
          </a:bodyPr>
          <a:lstStyle/>
          <a:p>
            <a:pPr marL="19050">
              <a:spcBef>
                <a:spcPts val="503"/>
              </a:spcBef>
            </a:pPr>
            <a:r>
              <a:rPr sz="3750" spc="-171" dirty="0">
                <a:solidFill>
                  <a:srgbClr val="3D422E"/>
                </a:solidFill>
                <a:latin typeface="Arial Unicode MS"/>
                <a:cs typeface="Arial Unicode MS"/>
              </a:rPr>
              <a:t>✔</a:t>
            </a:r>
            <a:r>
              <a:rPr sz="3750" spc="-293" dirty="0">
                <a:solidFill>
                  <a:srgbClr val="3D422E"/>
                </a:solidFill>
                <a:latin typeface="Arial Unicode MS"/>
                <a:cs typeface="Arial Unicode MS"/>
              </a:rPr>
              <a:t> </a:t>
            </a:r>
            <a:r>
              <a:rPr sz="2700" b="1" dirty="0">
                <a:latin typeface="Arial"/>
                <a:cs typeface="Arial"/>
              </a:rPr>
              <a:t>Comparison</a:t>
            </a:r>
            <a:r>
              <a:rPr sz="2700" b="1" spc="-127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of</a:t>
            </a:r>
            <a:r>
              <a:rPr sz="2700" b="1" spc="-6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the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costs</a:t>
            </a:r>
            <a:r>
              <a:rPr sz="2700" b="1" spc="-4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and</a:t>
            </a:r>
            <a:r>
              <a:rPr sz="2700" b="1" spc="-6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outcomes</a:t>
            </a:r>
            <a:r>
              <a:rPr sz="2700" b="1" spc="-68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of</a:t>
            </a:r>
            <a:r>
              <a:rPr sz="2700" b="1" spc="-7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alternative</a:t>
            </a:r>
            <a:r>
              <a:rPr sz="2700" b="1" spc="8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policy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spc="-15" dirty="0">
                <a:latin typeface="Arial"/>
                <a:cs typeface="Arial"/>
              </a:rPr>
              <a:t>options.</a:t>
            </a:r>
            <a:endParaRPr sz="2700" dirty="0">
              <a:latin typeface="Arial"/>
              <a:cs typeface="Arial"/>
            </a:endParaRPr>
          </a:p>
          <a:p>
            <a:pPr marL="19050">
              <a:spcBef>
                <a:spcPts val="360"/>
              </a:spcBef>
            </a:pPr>
            <a:r>
              <a:rPr sz="3750" spc="-171" dirty="0">
                <a:solidFill>
                  <a:srgbClr val="3D422E"/>
                </a:solidFill>
                <a:latin typeface="Arial Unicode MS"/>
                <a:cs typeface="Arial Unicode MS"/>
              </a:rPr>
              <a:t>✔</a:t>
            </a:r>
            <a:r>
              <a:rPr sz="3750" spc="-398" dirty="0">
                <a:solidFill>
                  <a:srgbClr val="3D422E"/>
                </a:solidFill>
                <a:latin typeface="Arial Unicode MS"/>
                <a:cs typeface="Arial Unicode MS"/>
              </a:rPr>
              <a:t> </a:t>
            </a:r>
            <a:r>
              <a:rPr sz="2700" b="1" dirty="0">
                <a:latin typeface="Arial"/>
                <a:cs typeface="Arial"/>
              </a:rPr>
              <a:t>Additional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unit</a:t>
            </a:r>
            <a:r>
              <a:rPr sz="2700" b="1" spc="-7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of</a:t>
            </a:r>
            <a:r>
              <a:rPr sz="2700" b="1" spc="-7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resources</a:t>
            </a:r>
            <a:r>
              <a:rPr sz="2700" b="1" spc="-53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spent</a:t>
            </a:r>
            <a:r>
              <a:rPr sz="2700" b="1" spc="-6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per</a:t>
            </a:r>
            <a:r>
              <a:rPr sz="2700" b="1" spc="-68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additional</a:t>
            </a:r>
            <a:r>
              <a:rPr sz="2700" b="1" spc="-9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unit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of</a:t>
            </a:r>
            <a:r>
              <a:rPr sz="2700" b="1" spc="-7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outcome</a:t>
            </a:r>
            <a:r>
              <a:rPr sz="2700" b="1" spc="-68" dirty="0">
                <a:latin typeface="Arial"/>
                <a:cs typeface="Arial"/>
              </a:rPr>
              <a:t> </a:t>
            </a:r>
            <a:r>
              <a:rPr sz="2700" b="1" spc="-15" dirty="0">
                <a:latin typeface="Arial"/>
                <a:cs typeface="Arial"/>
              </a:rPr>
              <a:t>gained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31112" y="6914015"/>
            <a:ext cx="14587538" cy="1988820"/>
          </a:xfrm>
          <a:custGeom>
            <a:avLst/>
            <a:gdLst/>
            <a:ahLst/>
            <a:cxnLst/>
            <a:rect l="l" t="t" r="r" b="b"/>
            <a:pathLst>
              <a:path w="9725025" h="1325879">
                <a:moveTo>
                  <a:pt x="0" y="220980"/>
                </a:moveTo>
                <a:lnTo>
                  <a:pt x="4489" y="176443"/>
                </a:lnTo>
                <a:lnTo>
                  <a:pt x="17365" y="134963"/>
                </a:lnTo>
                <a:lnTo>
                  <a:pt x="37739" y="97426"/>
                </a:lnTo>
                <a:lnTo>
                  <a:pt x="64722" y="64722"/>
                </a:lnTo>
                <a:lnTo>
                  <a:pt x="97426" y="37739"/>
                </a:lnTo>
                <a:lnTo>
                  <a:pt x="134963" y="17365"/>
                </a:lnTo>
                <a:lnTo>
                  <a:pt x="176443" y="4489"/>
                </a:lnTo>
                <a:lnTo>
                  <a:pt x="220979" y="0"/>
                </a:lnTo>
                <a:lnTo>
                  <a:pt x="9503664" y="0"/>
                </a:lnTo>
                <a:lnTo>
                  <a:pt x="9548200" y="4489"/>
                </a:lnTo>
                <a:lnTo>
                  <a:pt x="9589680" y="17365"/>
                </a:lnTo>
                <a:lnTo>
                  <a:pt x="9627217" y="37739"/>
                </a:lnTo>
                <a:lnTo>
                  <a:pt x="9659921" y="64722"/>
                </a:lnTo>
                <a:lnTo>
                  <a:pt x="9686904" y="97426"/>
                </a:lnTo>
                <a:lnTo>
                  <a:pt x="9707278" y="134963"/>
                </a:lnTo>
                <a:lnTo>
                  <a:pt x="9720154" y="176443"/>
                </a:lnTo>
                <a:lnTo>
                  <a:pt x="9724644" y="220980"/>
                </a:lnTo>
                <a:lnTo>
                  <a:pt x="9724644" y="1104887"/>
                </a:lnTo>
                <a:lnTo>
                  <a:pt x="9720154" y="1149423"/>
                </a:lnTo>
                <a:lnTo>
                  <a:pt x="9707278" y="1190905"/>
                </a:lnTo>
                <a:lnTo>
                  <a:pt x="9686904" y="1228444"/>
                </a:lnTo>
                <a:lnTo>
                  <a:pt x="9659921" y="1261151"/>
                </a:lnTo>
                <a:lnTo>
                  <a:pt x="9627217" y="1288136"/>
                </a:lnTo>
                <a:lnTo>
                  <a:pt x="9589680" y="1308512"/>
                </a:lnTo>
                <a:lnTo>
                  <a:pt x="9548200" y="1321390"/>
                </a:lnTo>
                <a:lnTo>
                  <a:pt x="9503664" y="1325880"/>
                </a:lnTo>
                <a:lnTo>
                  <a:pt x="220979" y="1325880"/>
                </a:lnTo>
                <a:lnTo>
                  <a:pt x="176443" y="1321390"/>
                </a:lnTo>
                <a:lnTo>
                  <a:pt x="134963" y="1308512"/>
                </a:lnTo>
                <a:lnTo>
                  <a:pt x="97426" y="1288136"/>
                </a:lnTo>
                <a:lnTo>
                  <a:pt x="64722" y="1261151"/>
                </a:lnTo>
                <a:lnTo>
                  <a:pt x="37739" y="1228444"/>
                </a:lnTo>
                <a:lnTo>
                  <a:pt x="17365" y="1190905"/>
                </a:lnTo>
                <a:lnTo>
                  <a:pt x="4489" y="1149423"/>
                </a:lnTo>
                <a:lnTo>
                  <a:pt x="0" y="1104887"/>
                </a:lnTo>
                <a:lnTo>
                  <a:pt x="0" y="220980"/>
                </a:lnTo>
                <a:close/>
              </a:path>
            </a:pathLst>
          </a:custGeom>
          <a:ln w="28575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4FEDB784-DA40-AAA2-C377-6B15A7AC7A31}"/>
              </a:ext>
            </a:extLst>
          </p:cNvPr>
          <p:cNvSpPr/>
          <p:nvPr/>
        </p:nvSpPr>
        <p:spPr>
          <a:xfrm flipH="1" flipV="1">
            <a:off x="-63018" y="3520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60341FA8-EAE3-9743-0F0B-E2D7CCB4667E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16F7AFB1-B03B-4389-4C8C-BD8B33D64FA0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A7BB7FCE-3409-207D-E105-F6BD5D8A12E7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BE4D2B5B-00BB-58AA-7E04-3FEA75BB514B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16">
            <a:extLst>
              <a:ext uri="{FF2B5EF4-FFF2-40B4-BE49-F238E27FC236}">
                <a16:creationId xmlns:a16="http://schemas.microsoft.com/office/drawing/2014/main" id="{EF45A164-CBA2-062C-451A-FDE7BBD485B5}"/>
              </a:ext>
            </a:extLst>
          </p:cNvPr>
          <p:cNvSpPr/>
          <p:nvPr/>
        </p:nvSpPr>
        <p:spPr>
          <a:xfrm flipH="1" flipV="1">
            <a:off x="8001000" y="1009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BF229-6A95-6509-F5AB-3817324A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DF83B0-E0C8-599D-BDC8-2F114B13DF19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7608A0-36E8-D2F5-2E35-68C1ACECD00F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34731E9-B9E1-E006-6D22-C698B1A0C877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1608228-FF20-A2FB-E44D-C072377D7445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BB1C7B-EA05-5E95-07E7-A11120EB87D9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C9A4BA6-F19B-51E4-4C1C-AABA941C2A3B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C59674-6DEC-5666-C021-0D0AF19707C6}"/>
              </a:ext>
            </a:extLst>
          </p:cNvPr>
          <p:cNvSpPr txBox="1"/>
          <p:nvPr/>
        </p:nvSpPr>
        <p:spPr>
          <a:xfrm>
            <a:off x="1690894" y="1486529"/>
            <a:ext cx="1366204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Economic</a:t>
            </a:r>
          </a:p>
          <a:p>
            <a:pPr algn="ctr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evaluations </a:t>
            </a:r>
            <a:endParaRPr lang="en-US" sz="4407" b="1" dirty="0">
              <a:solidFill>
                <a:srgbClr val="F4743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BF8D03B-14C7-7B6D-3BA2-128767BB2B72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504A555-1E4D-24D0-18A7-0E60A159DA1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6518C02-AB6B-90B5-84A4-0D5160E3C586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B9AF81-9214-90DA-7EC0-9F74A328C910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C14BE24-2248-15CB-29A6-1A50EE59B6E7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83A878E-380B-B71A-70FB-F6109D48E739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923FE29-2BD4-E20D-16F5-72F56997633E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E996C7E-9454-4F46-7DAE-17B5A14503AC}"/>
              </a:ext>
            </a:extLst>
          </p:cNvPr>
          <p:cNvSpPr/>
          <p:nvPr/>
        </p:nvSpPr>
        <p:spPr>
          <a:xfrm flipH="1" flipV="1">
            <a:off x="-55442" y="-59078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8A5FA24-2EA4-46FA-4CB0-8547FADB5748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9F23178-5379-FBA8-B7D7-36E066F0291A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575E349-66CD-E9D4-82E6-62AFBE1275F8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1C2246BE-D0FA-710F-9C7E-5159AF332D6D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87C45C0-A3C8-E437-151E-5404C650589F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90AAB928-404E-BE17-BFE2-B1ADAD118D1D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D96FB836-0617-9A5B-48A1-E9D6EA1340A8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77C4452-3B45-862F-83EE-542D068D2729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2A9E8C0-C896-C33B-08C8-6504622453D6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grpSp>
        <p:nvGrpSpPr>
          <p:cNvPr id="27" name="object 3">
            <a:extLst>
              <a:ext uri="{FF2B5EF4-FFF2-40B4-BE49-F238E27FC236}">
                <a16:creationId xmlns:a16="http://schemas.microsoft.com/office/drawing/2014/main" id="{0F4104D4-F50D-282F-927B-1A5646A9F7EE}"/>
              </a:ext>
            </a:extLst>
          </p:cNvPr>
          <p:cNvGrpSpPr/>
          <p:nvPr/>
        </p:nvGrpSpPr>
        <p:grpSpPr>
          <a:xfrm>
            <a:off x="4784513" y="5530089"/>
            <a:ext cx="8769668" cy="3921443"/>
            <a:chOff x="3172968" y="3241548"/>
            <a:chExt cx="5846445" cy="2614295"/>
          </a:xfrm>
        </p:grpSpPr>
        <p:pic>
          <p:nvPicPr>
            <p:cNvPr id="28" name="object 4">
              <a:extLst>
                <a:ext uri="{FF2B5EF4-FFF2-40B4-BE49-F238E27FC236}">
                  <a16:creationId xmlns:a16="http://schemas.microsoft.com/office/drawing/2014/main" id="{0FBD461C-C2BA-4AB2-8107-BD275FD3A26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6451" y="4632960"/>
              <a:ext cx="4959095" cy="1222865"/>
            </a:xfrm>
            <a:prstGeom prst="rect">
              <a:avLst/>
            </a:prstGeom>
          </p:spPr>
        </p:pic>
        <p:pic>
          <p:nvPicPr>
            <p:cNvPr id="29" name="object 5">
              <a:extLst>
                <a:ext uri="{FF2B5EF4-FFF2-40B4-BE49-F238E27FC236}">
                  <a16:creationId xmlns:a16="http://schemas.microsoft.com/office/drawing/2014/main" id="{E7512D01-B9CB-00EE-D1B1-6D48627EA094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2968" y="3241548"/>
              <a:ext cx="5846063" cy="1802891"/>
            </a:xfrm>
            <a:prstGeom prst="rect">
              <a:avLst/>
            </a:prstGeom>
          </p:spPr>
        </p:pic>
      </p:grpSp>
      <p:sp>
        <p:nvSpPr>
          <p:cNvPr id="30" name="object 6">
            <a:extLst>
              <a:ext uri="{FF2B5EF4-FFF2-40B4-BE49-F238E27FC236}">
                <a16:creationId xmlns:a16="http://schemas.microsoft.com/office/drawing/2014/main" id="{D7700119-D4E4-F54F-A250-C5F2DE69C7D5}"/>
              </a:ext>
            </a:extLst>
          </p:cNvPr>
          <p:cNvSpPr txBox="1"/>
          <p:nvPr/>
        </p:nvSpPr>
        <p:spPr>
          <a:xfrm>
            <a:off x="9170196" y="2944226"/>
            <a:ext cx="4898706" cy="2096728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608648">
              <a:spcBef>
                <a:spcPts val="1950"/>
              </a:spcBef>
            </a:pPr>
            <a:r>
              <a:rPr sz="3000" b="1" spc="-158" dirty="0">
                <a:solidFill>
                  <a:srgbClr val="002060"/>
                </a:solidFill>
                <a:latin typeface="Arial"/>
                <a:cs typeface="Arial"/>
              </a:rPr>
              <a:t>Intervention</a:t>
            </a:r>
            <a:r>
              <a:rPr sz="3000" b="1" spc="-10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b="1" spc="-158" dirty="0">
                <a:solidFill>
                  <a:srgbClr val="002060"/>
                </a:solidFill>
                <a:latin typeface="Arial"/>
                <a:cs typeface="Arial"/>
              </a:rPr>
              <a:t>of</a:t>
            </a:r>
            <a:r>
              <a:rPr sz="3000" b="1" spc="-98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002060"/>
                </a:solidFill>
                <a:latin typeface="Arial"/>
                <a:cs typeface="Arial"/>
              </a:rPr>
              <a:t>interest</a:t>
            </a:r>
            <a:endParaRPr sz="3000" dirty="0">
              <a:latin typeface="Arial"/>
              <a:cs typeface="Arial"/>
            </a:endParaRPr>
          </a:p>
          <a:p>
            <a:pPr marL="532448" indent="-513398">
              <a:spcBef>
                <a:spcPts val="1800"/>
              </a:spcBef>
              <a:buChar char="•"/>
              <a:tabLst>
                <a:tab pos="532448" algn="l"/>
              </a:tabLst>
            </a:pPr>
            <a:r>
              <a:rPr sz="3000" spc="-165" dirty="0">
                <a:solidFill>
                  <a:srgbClr val="002060"/>
                </a:solidFill>
                <a:latin typeface="Arial"/>
                <a:cs typeface="Arial"/>
              </a:rPr>
              <a:t>New</a:t>
            </a:r>
            <a:r>
              <a:rPr sz="3000" spc="-1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75" dirty="0">
                <a:solidFill>
                  <a:srgbClr val="002060"/>
                </a:solidFill>
                <a:latin typeface="Arial"/>
                <a:cs typeface="Arial"/>
              </a:rPr>
              <a:t>health</a:t>
            </a:r>
            <a:r>
              <a:rPr sz="3000" spc="-10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83" dirty="0">
                <a:solidFill>
                  <a:srgbClr val="002060"/>
                </a:solidFill>
                <a:latin typeface="Arial"/>
                <a:cs typeface="Arial"/>
              </a:rPr>
              <a:t>interventions</a:t>
            </a:r>
            <a:r>
              <a:rPr sz="3000" spc="-7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38" dirty="0">
                <a:solidFill>
                  <a:srgbClr val="002060"/>
                </a:solidFill>
                <a:latin typeface="Arial"/>
                <a:cs typeface="Arial"/>
              </a:rPr>
              <a:t>or</a:t>
            </a:r>
            <a:endParaRPr sz="3000" dirty="0">
              <a:latin typeface="Arial"/>
              <a:cs typeface="Arial"/>
            </a:endParaRPr>
          </a:p>
          <a:p>
            <a:pPr marL="1719263">
              <a:spcBef>
                <a:spcPts val="1793"/>
              </a:spcBef>
            </a:pPr>
            <a:r>
              <a:rPr sz="3000" spc="-15" dirty="0">
                <a:solidFill>
                  <a:srgbClr val="002060"/>
                </a:solidFill>
                <a:latin typeface="Arial"/>
                <a:cs typeface="Arial"/>
              </a:rPr>
              <a:t>technologies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F219631B-1A0C-15CF-7DAA-524D594D5F23}"/>
              </a:ext>
            </a:extLst>
          </p:cNvPr>
          <p:cNvSpPr txBox="1"/>
          <p:nvPr/>
        </p:nvSpPr>
        <p:spPr>
          <a:xfrm>
            <a:off x="3457422" y="2913527"/>
            <a:ext cx="5635943" cy="2096728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408748">
              <a:spcBef>
                <a:spcPts val="1950"/>
              </a:spcBef>
            </a:pPr>
            <a:r>
              <a:rPr sz="3000" b="1" spc="-105" dirty="0">
                <a:solidFill>
                  <a:srgbClr val="002060"/>
                </a:solidFill>
                <a:latin typeface="Arial"/>
                <a:cs typeface="Arial"/>
              </a:rPr>
              <a:t>Base/Comparator</a:t>
            </a:r>
            <a:endParaRPr sz="3000" dirty="0">
              <a:latin typeface="Arial"/>
              <a:cs typeface="Arial"/>
            </a:endParaRPr>
          </a:p>
          <a:p>
            <a:pPr marL="1815465" indent="-514350">
              <a:spcBef>
                <a:spcPts val="1800"/>
              </a:spcBef>
              <a:buChar char="•"/>
              <a:tabLst>
                <a:tab pos="1815465" algn="l"/>
              </a:tabLst>
            </a:pPr>
            <a:r>
              <a:rPr sz="3000" spc="-105" dirty="0">
                <a:solidFill>
                  <a:srgbClr val="002060"/>
                </a:solidFill>
                <a:latin typeface="Arial"/>
                <a:cs typeface="Arial"/>
              </a:rPr>
              <a:t>Current</a:t>
            </a:r>
            <a:r>
              <a:rPr sz="3000" spc="-143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15" dirty="0">
                <a:solidFill>
                  <a:srgbClr val="002060"/>
                </a:solidFill>
                <a:latin typeface="Arial"/>
                <a:cs typeface="Arial"/>
              </a:rPr>
              <a:t>practice</a:t>
            </a:r>
            <a:endParaRPr sz="3000" dirty="0">
              <a:latin typeface="Arial"/>
              <a:cs typeface="Arial"/>
            </a:endParaRPr>
          </a:p>
          <a:p>
            <a:pPr marL="532448" indent="-513398">
              <a:spcBef>
                <a:spcPts val="1800"/>
              </a:spcBef>
              <a:buChar char="•"/>
              <a:tabLst>
                <a:tab pos="532448" algn="l"/>
              </a:tabLst>
            </a:pPr>
            <a:r>
              <a:rPr sz="3000" spc="-171" dirty="0">
                <a:solidFill>
                  <a:srgbClr val="002060"/>
                </a:solidFill>
                <a:latin typeface="Arial"/>
                <a:cs typeface="Arial"/>
              </a:rPr>
              <a:t>No</a:t>
            </a:r>
            <a:r>
              <a:rPr sz="3000" spc="-158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75" dirty="0">
                <a:solidFill>
                  <a:srgbClr val="002060"/>
                </a:solidFill>
                <a:latin typeface="Arial"/>
                <a:cs typeface="Arial"/>
              </a:rPr>
              <a:t>interventions</a:t>
            </a:r>
            <a:r>
              <a:rPr sz="3000" spc="-98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30" dirty="0">
                <a:solidFill>
                  <a:srgbClr val="002060"/>
                </a:solidFill>
                <a:latin typeface="Arial"/>
                <a:cs typeface="Arial"/>
              </a:rPr>
              <a:t>or</a:t>
            </a:r>
            <a:r>
              <a:rPr sz="3000" spc="-1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002060"/>
                </a:solidFill>
                <a:latin typeface="Arial"/>
                <a:cs typeface="Arial"/>
              </a:rPr>
              <a:t>technologies</a:t>
            </a:r>
            <a:endParaRPr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36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4C33-BFB4-09A7-9671-1B519438B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DA22E3-CF3D-E384-26F6-95E9E4E28BD8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B626C08-D954-8F7E-202B-F63A66989489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17B80CA-1959-AE2F-F521-557B6F042481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23D50D-A713-ED76-4060-B0158F475F74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597B38-DE9A-CCA8-B54A-485D0C29EFB4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5ABDC59-4C88-C581-7EEB-A8CF06DE0EF7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3BB8D9D-E31E-907D-841B-1AADE58E7AC5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02F94BC-2318-CA71-984E-3D478FA52B20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3850887-964B-5EA7-D44B-39CEF98774FC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0A7948-66B0-2723-1648-19A42ECA7E8F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B94541B-10D6-2AF2-8059-3C3F1A7920BD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63DAB55-2D9C-B709-3FD5-422ACA814D4B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7668A3E1-402F-CEFB-0E1F-D0ADBA8983C7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CB7A48A-3EF3-0AAD-E392-36FB7A84FB05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15362DB-3135-4B23-A8D4-092CF0B20E85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3756B01-E8B3-95CF-9468-A4A3E95AB048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5D5F6B52-F360-00D6-3C08-EDABB5E45C71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C02C1B1-A0F1-2280-9CD5-B3039AC6318F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0261F9AC-AD46-97F0-52B5-EE82556ED11D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056C03F-768F-ADA9-4E85-66651C5B3908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3FA84EC-8394-F973-6082-9AADBB567F70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2EBC309-1B3C-104A-3654-BBB448E6E2A0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0823F-F105-3515-13AF-49539E28FAD1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object 3">
            <a:extLst>
              <a:ext uri="{FF2B5EF4-FFF2-40B4-BE49-F238E27FC236}">
                <a16:creationId xmlns:a16="http://schemas.microsoft.com/office/drawing/2014/main" id="{52BFD9FE-E2F0-90CE-88FF-7E8126F748F6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65945" y="2584326"/>
            <a:ext cx="11776875" cy="7672535"/>
          </a:xfrm>
          <a:prstGeom prst="rect">
            <a:avLst/>
          </a:prstGeom>
        </p:spPr>
      </p:pic>
      <p:sp>
        <p:nvSpPr>
          <p:cNvPr id="28" name="TextBox 8">
            <a:extLst>
              <a:ext uri="{FF2B5EF4-FFF2-40B4-BE49-F238E27FC236}">
                <a16:creationId xmlns:a16="http://schemas.microsoft.com/office/drawing/2014/main" id="{8FE90338-9D22-DEAC-DD3A-381709D1BBC1}"/>
              </a:ext>
            </a:extLst>
          </p:cNvPr>
          <p:cNvSpPr txBox="1"/>
          <p:nvPr/>
        </p:nvSpPr>
        <p:spPr>
          <a:xfrm>
            <a:off x="1690894" y="1486529"/>
            <a:ext cx="1366204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Economic</a:t>
            </a:r>
          </a:p>
          <a:p>
            <a:pPr algn="ctr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</a:rPr>
              <a:t>evaluations </a:t>
            </a:r>
            <a:endParaRPr lang="en-US" sz="4407" b="1" dirty="0">
              <a:solidFill>
                <a:srgbClr val="F4743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098038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20554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608" dirty="0"/>
              <a:t>Type</a:t>
            </a:r>
            <a:r>
              <a:rPr spc="-353" dirty="0"/>
              <a:t> </a:t>
            </a:r>
            <a:r>
              <a:rPr spc="-330" dirty="0"/>
              <a:t>of</a:t>
            </a:r>
            <a:r>
              <a:rPr spc="-315" dirty="0"/>
              <a:t> </a:t>
            </a:r>
            <a:r>
              <a:rPr spc="-720" dirty="0"/>
              <a:t>costs</a:t>
            </a:r>
            <a:r>
              <a:rPr spc="-344" dirty="0"/>
              <a:t> </a:t>
            </a:r>
            <a:r>
              <a:rPr sz="2700" spc="-120" dirty="0">
                <a:latin typeface="Arial"/>
                <a:cs typeface="Arial"/>
              </a:rPr>
              <a:t>(by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traceability)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08275" y="2617479"/>
            <a:ext cx="3493770" cy="2282190"/>
          </a:xfrm>
          <a:custGeom>
            <a:avLst/>
            <a:gdLst/>
            <a:ahLst/>
            <a:cxnLst/>
            <a:rect l="l" t="t" r="r" b="b"/>
            <a:pathLst>
              <a:path w="2329179" h="1521460">
                <a:moveTo>
                  <a:pt x="2075180" y="0"/>
                </a:moveTo>
                <a:lnTo>
                  <a:pt x="253492" y="0"/>
                </a:lnTo>
                <a:lnTo>
                  <a:pt x="207928" y="4083"/>
                </a:lnTo>
                <a:lnTo>
                  <a:pt x="165043" y="15858"/>
                </a:lnTo>
                <a:lnTo>
                  <a:pt x="125553" y="34607"/>
                </a:lnTo>
                <a:lnTo>
                  <a:pt x="90173" y="59616"/>
                </a:lnTo>
                <a:lnTo>
                  <a:pt x="59620" y="90168"/>
                </a:lnTo>
                <a:lnTo>
                  <a:pt x="34610" y="125547"/>
                </a:lnTo>
                <a:lnTo>
                  <a:pt x="15859" y="165038"/>
                </a:lnTo>
                <a:lnTo>
                  <a:pt x="4084" y="207925"/>
                </a:lnTo>
                <a:lnTo>
                  <a:pt x="0" y="253491"/>
                </a:lnTo>
                <a:lnTo>
                  <a:pt x="0" y="1267447"/>
                </a:lnTo>
                <a:lnTo>
                  <a:pt x="4084" y="1313014"/>
                </a:lnTo>
                <a:lnTo>
                  <a:pt x="15859" y="1355902"/>
                </a:lnTo>
                <a:lnTo>
                  <a:pt x="34610" y="1395395"/>
                </a:lnTo>
                <a:lnTo>
                  <a:pt x="59620" y="1430776"/>
                </a:lnTo>
                <a:lnTo>
                  <a:pt x="90173" y="1461330"/>
                </a:lnTo>
                <a:lnTo>
                  <a:pt x="125553" y="1486340"/>
                </a:lnTo>
                <a:lnTo>
                  <a:pt x="165043" y="1505091"/>
                </a:lnTo>
                <a:lnTo>
                  <a:pt x="207928" y="1516867"/>
                </a:lnTo>
                <a:lnTo>
                  <a:pt x="253492" y="1520951"/>
                </a:lnTo>
                <a:lnTo>
                  <a:pt x="2075180" y="1520951"/>
                </a:lnTo>
                <a:lnTo>
                  <a:pt x="2120743" y="1516867"/>
                </a:lnTo>
                <a:lnTo>
                  <a:pt x="2163628" y="1505091"/>
                </a:lnTo>
                <a:lnTo>
                  <a:pt x="2203118" y="1486340"/>
                </a:lnTo>
                <a:lnTo>
                  <a:pt x="2238498" y="1461330"/>
                </a:lnTo>
                <a:lnTo>
                  <a:pt x="2269051" y="1430776"/>
                </a:lnTo>
                <a:lnTo>
                  <a:pt x="2294061" y="1395395"/>
                </a:lnTo>
                <a:lnTo>
                  <a:pt x="2312812" y="1355902"/>
                </a:lnTo>
                <a:lnTo>
                  <a:pt x="2324587" y="1313014"/>
                </a:lnTo>
                <a:lnTo>
                  <a:pt x="2328672" y="1267447"/>
                </a:lnTo>
                <a:lnTo>
                  <a:pt x="2328672" y="253491"/>
                </a:lnTo>
                <a:lnTo>
                  <a:pt x="2324587" y="207925"/>
                </a:lnTo>
                <a:lnTo>
                  <a:pt x="2312812" y="165038"/>
                </a:lnTo>
                <a:lnTo>
                  <a:pt x="2294061" y="125547"/>
                </a:lnTo>
                <a:lnTo>
                  <a:pt x="2269051" y="90168"/>
                </a:lnTo>
                <a:lnTo>
                  <a:pt x="2238498" y="59616"/>
                </a:lnTo>
                <a:lnTo>
                  <a:pt x="2203118" y="34607"/>
                </a:lnTo>
                <a:lnTo>
                  <a:pt x="2163628" y="15858"/>
                </a:lnTo>
                <a:lnTo>
                  <a:pt x="2120743" y="4083"/>
                </a:lnTo>
                <a:lnTo>
                  <a:pt x="2075180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3106331" y="3510890"/>
            <a:ext cx="169354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65" dirty="0">
                <a:solidFill>
                  <a:srgbClr val="F2F2F2"/>
                </a:solidFill>
                <a:latin typeface="Arial"/>
                <a:cs typeface="Arial"/>
              </a:rPr>
              <a:t>Direct</a:t>
            </a:r>
            <a:r>
              <a:rPr sz="2700" b="1" spc="-113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263" dirty="0">
                <a:solidFill>
                  <a:srgbClr val="F2F2F2"/>
                </a:solidFill>
                <a:latin typeface="Arial"/>
                <a:cs typeface="Arial"/>
              </a:rPr>
              <a:t>costs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69597" y="2617478"/>
            <a:ext cx="3490913" cy="2282190"/>
          </a:xfrm>
          <a:custGeom>
            <a:avLst/>
            <a:gdLst/>
            <a:ahLst/>
            <a:cxnLst/>
            <a:rect l="l" t="t" r="r" b="b"/>
            <a:pathLst>
              <a:path w="2327275" h="1521460">
                <a:moveTo>
                  <a:pt x="2073656" y="0"/>
                </a:moveTo>
                <a:lnTo>
                  <a:pt x="253492" y="0"/>
                </a:lnTo>
                <a:lnTo>
                  <a:pt x="207928" y="4083"/>
                </a:lnTo>
                <a:lnTo>
                  <a:pt x="165043" y="15858"/>
                </a:lnTo>
                <a:lnTo>
                  <a:pt x="125553" y="34607"/>
                </a:lnTo>
                <a:lnTo>
                  <a:pt x="90173" y="59616"/>
                </a:lnTo>
                <a:lnTo>
                  <a:pt x="59620" y="90168"/>
                </a:lnTo>
                <a:lnTo>
                  <a:pt x="34610" y="125547"/>
                </a:lnTo>
                <a:lnTo>
                  <a:pt x="15859" y="165038"/>
                </a:lnTo>
                <a:lnTo>
                  <a:pt x="4084" y="207925"/>
                </a:lnTo>
                <a:lnTo>
                  <a:pt x="0" y="253491"/>
                </a:lnTo>
                <a:lnTo>
                  <a:pt x="0" y="1267447"/>
                </a:lnTo>
                <a:lnTo>
                  <a:pt x="4084" y="1313014"/>
                </a:lnTo>
                <a:lnTo>
                  <a:pt x="15859" y="1355902"/>
                </a:lnTo>
                <a:lnTo>
                  <a:pt x="34610" y="1395395"/>
                </a:lnTo>
                <a:lnTo>
                  <a:pt x="59620" y="1430776"/>
                </a:lnTo>
                <a:lnTo>
                  <a:pt x="90173" y="1461330"/>
                </a:lnTo>
                <a:lnTo>
                  <a:pt x="125553" y="1486340"/>
                </a:lnTo>
                <a:lnTo>
                  <a:pt x="165043" y="1505091"/>
                </a:lnTo>
                <a:lnTo>
                  <a:pt x="207928" y="1516867"/>
                </a:lnTo>
                <a:lnTo>
                  <a:pt x="253492" y="1520951"/>
                </a:lnTo>
                <a:lnTo>
                  <a:pt x="2073656" y="1520951"/>
                </a:lnTo>
                <a:lnTo>
                  <a:pt x="2119219" y="1516867"/>
                </a:lnTo>
                <a:lnTo>
                  <a:pt x="2162104" y="1505091"/>
                </a:lnTo>
                <a:lnTo>
                  <a:pt x="2201594" y="1486340"/>
                </a:lnTo>
                <a:lnTo>
                  <a:pt x="2236974" y="1461330"/>
                </a:lnTo>
                <a:lnTo>
                  <a:pt x="2267527" y="1430776"/>
                </a:lnTo>
                <a:lnTo>
                  <a:pt x="2292537" y="1395395"/>
                </a:lnTo>
                <a:lnTo>
                  <a:pt x="2311288" y="1355902"/>
                </a:lnTo>
                <a:lnTo>
                  <a:pt x="2323063" y="1313014"/>
                </a:lnTo>
                <a:lnTo>
                  <a:pt x="2327148" y="1267447"/>
                </a:lnTo>
                <a:lnTo>
                  <a:pt x="2327148" y="253491"/>
                </a:lnTo>
                <a:lnTo>
                  <a:pt x="2323063" y="207925"/>
                </a:lnTo>
                <a:lnTo>
                  <a:pt x="2311288" y="165038"/>
                </a:lnTo>
                <a:lnTo>
                  <a:pt x="2292537" y="125547"/>
                </a:lnTo>
                <a:lnTo>
                  <a:pt x="2267527" y="90168"/>
                </a:lnTo>
                <a:lnTo>
                  <a:pt x="2236974" y="59616"/>
                </a:lnTo>
                <a:lnTo>
                  <a:pt x="2201594" y="34607"/>
                </a:lnTo>
                <a:lnTo>
                  <a:pt x="2162104" y="15858"/>
                </a:lnTo>
                <a:lnTo>
                  <a:pt x="2119219" y="4083"/>
                </a:lnTo>
                <a:lnTo>
                  <a:pt x="2073656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6" name="object 6"/>
          <p:cNvSpPr txBox="1"/>
          <p:nvPr/>
        </p:nvSpPr>
        <p:spPr>
          <a:xfrm>
            <a:off x="13380763" y="3510890"/>
            <a:ext cx="226790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65" dirty="0">
                <a:solidFill>
                  <a:srgbClr val="F2F2F2"/>
                </a:solidFill>
                <a:latin typeface="Arial"/>
                <a:cs typeface="Arial"/>
              </a:rPr>
              <a:t>Intangible</a:t>
            </a:r>
            <a:r>
              <a:rPr sz="2700" b="1" spc="-10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248" dirty="0">
                <a:solidFill>
                  <a:srgbClr val="F2F2F2"/>
                </a:solidFill>
                <a:latin typeface="Arial"/>
                <a:cs typeface="Arial"/>
              </a:rPr>
              <a:t>costs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88935" y="2617478"/>
            <a:ext cx="3490913" cy="2282190"/>
          </a:xfrm>
          <a:custGeom>
            <a:avLst/>
            <a:gdLst/>
            <a:ahLst/>
            <a:cxnLst/>
            <a:rect l="l" t="t" r="r" b="b"/>
            <a:pathLst>
              <a:path w="2327275" h="1521460">
                <a:moveTo>
                  <a:pt x="2073656" y="0"/>
                </a:moveTo>
                <a:lnTo>
                  <a:pt x="253492" y="0"/>
                </a:lnTo>
                <a:lnTo>
                  <a:pt x="207928" y="4083"/>
                </a:lnTo>
                <a:lnTo>
                  <a:pt x="165043" y="15858"/>
                </a:lnTo>
                <a:lnTo>
                  <a:pt x="125553" y="34607"/>
                </a:lnTo>
                <a:lnTo>
                  <a:pt x="90173" y="59616"/>
                </a:lnTo>
                <a:lnTo>
                  <a:pt x="59620" y="90168"/>
                </a:lnTo>
                <a:lnTo>
                  <a:pt x="34610" y="125547"/>
                </a:lnTo>
                <a:lnTo>
                  <a:pt x="15859" y="165038"/>
                </a:lnTo>
                <a:lnTo>
                  <a:pt x="4084" y="207925"/>
                </a:lnTo>
                <a:lnTo>
                  <a:pt x="0" y="253491"/>
                </a:lnTo>
                <a:lnTo>
                  <a:pt x="0" y="1267447"/>
                </a:lnTo>
                <a:lnTo>
                  <a:pt x="4084" y="1313014"/>
                </a:lnTo>
                <a:lnTo>
                  <a:pt x="15859" y="1355902"/>
                </a:lnTo>
                <a:lnTo>
                  <a:pt x="34610" y="1395395"/>
                </a:lnTo>
                <a:lnTo>
                  <a:pt x="59620" y="1430776"/>
                </a:lnTo>
                <a:lnTo>
                  <a:pt x="90173" y="1461330"/>
                </a:lnTo>
                <a:lnTo>
                  <a:pt x="125553" y="1486340"/>
                </a:lnTo>
                <a:lnTo>
                  <a:pt x="165043" y="1505091"/>
                </a:lnTo>
                <a:lnTo>
                  <a:pt x="207928" y="1516867"/>
                </a:lnTo>
                <a:lnTo>
                  <a:pt x="253492" y="1520951"/>
                </a:lnTo>
                <a:lnTo>
                  <a:pt x="2073656" y="1520951"/>
                </a:lnTo>
                <a:lnTo>
                  <a:pt x="2119219" y="1516867"/>
                </a:lnTo>
                <a:lnTo>
                  <a:pt x="2162104" y="1505091"/>
                </a:lnTo>
                <a:lnTo>
                  <a:pt x="2201594" y="1486340"/>
                </a:lnTo>
                <a:lnTo>
                  <a:pt x="2236974" y="1461330"/>
                </a:lnTo>
                <a:lnTo>
                  <a:pt x="2267527" y="1430776"/>
                </a:lnTo>
                <a:lnTo>
                  <a:pt x="2292537" y="1395395"/>
                </a:lnTo>
                <a:lnTo>
                  <a:pt x="2311288" y="1355902"/>
                </a:lnTo>
                <a:lnTo>
                  <a:pt x="2323063" y="1313014"/>
                </a:lnTo>
                <a:lnTo>
                  <a:pt x="2327148" y="1267447"/>
                </a:lnTo>
                <a:lnTo>
                  <a:pt x="2327148" y="253491"/>
                </a:lnTo>
                <a:lnTo>
                  <a:pt x="2323063" y="207925"/>
                </a:lnTo>
                <a:lnTo>
                  <a:pt x="2311288" y="165038"/>
                </a:lnTo>
                <a:lnTo>
                  <a:pt x="2292537" y="125547"/>
                </a:lnTo>
                <a:lnTo>
                  <a:pt x="2267527" y="90168"/>
                </a:lnTo>
                <a:lnTo>
                  <a:pt x="2236974" y="59616"/>
                </a:lnTo>
                <a:lnTo>
                  <a:pt x="2201594" y="34607"/>
                </a:lnTo>
                <a:lnTo>
                  <a:pt x="2162104" y="15858"/>
                </a:lnTo>
                <a:lnTo>
                  <a:pt x="2119219" y="4083"/>
                </a:lnTo>
                <a:lnTo>
                  <a:pt x="2073656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8" name="object 8"/>
          <p:cNvSpPr txBox="1"/>
          <p:nvPr/>
        </p:nvSpPr>
        <p:spPr>
          <a:xfrm>
            <a:off x="8272143" y="3510890"/>
            <a:ext cx="192405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58" dirty="0">
                <a:solidFill>
                  <a:srgbClr val="F2F2F2"/>
                </a:solidFill>
                <a:latin typeface="Arial"/>
                <a:cs typeface="Arial"/>
              </a:rPr>
              <a:t>Indirect</a:t>
            </a:r>
            <a:r>
              <a:rPr sz="2700" b="1" spc="-9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270" dirty="0">
                <a:solidFill>
                  <a:srgbClr val="F2F2F2"/>
                </a:solidFill>
                <a:latin typeface="Arial"/>
                <a:cs typeface="Arial"/>
              </a:rPr>
              <a:t>costs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8006" y="4871466"/>
            <a:ext cx="6290310" cy="4613910"/>
            <a:chOff x="545337" y="3247644"/>
            <a:chExt cx="4193540" cy="3075940"/>
          </a:xfrm>
        </p:grpSpPr>
        <p:sp>
          <p:nvSpPr>
            <p:cNvPr id="10" name="object 10"/>
            <p:cNvSpPr/>
            <p:nvPr/>
          </p:nvSpPr>
          <p:spPr>
            <a:xfrm>
              <a:off x="551687" y="3563106"/>
              <a:ext cx="1960245" cy="2753995"/>
            </a:xfrm>
            <a:custGeom>
              <a:avLst/>
              <a:gdLst/>
              <a:ahLst/>
              <a:cxnLst/>
              <a:rect l="l" t="t" r="r" b="b"/>
              <a:pathLst>
                <a:path w="1960245" h="2753995">
                  <a:moveTo>
                    <a:pt x="0" y="326656"/>
                  </a:moveTo>
                  <a:lnTo>
                    <a:pt x="3541" y="278386"/>
                  </a:lnTo>
                  <a:lnTo>
                    <a:pt x="13830" y="232315"/>
                  </a:lnTo>
                  <a:lnTo>
                    <a:pt x="30360" y="188948"/>
                  </a:lnTo>
                  <a:lnTo>
                    <a:pt x="52627" y="148790"/>
                  </a:lnTo>
                  <a:lnTo>
                    <a:pt x="80124" y="112347"/>
                  </a:lnTo>
                  <a:lnTo>
                    <a:pt x="112347" y="80124"/>
                  </a:lnTo>
                  <a:lnTo>
                    <a:pt x="148790" y="52627"/>
                  </a:lnTo>
                  <a:lnTo>
                    <a:pt x="188948" y="30360"/>
                  </a:lnTo>
                  <a:lnTo>
                    <a:pt x="232315" y="13830"/>
                  </a:lnTo>
                  <a:lnTo>
                    <a:pt x="278386" y="3541"/>
                  </a:lnTo>
                  <a:lnTo>
                    <a:pt x="326656" y="0"/>
                  </a:lnTo>
                  <a:lnTo>
                    <a:pt x="1633207" y="0"/>
                  </a:lnTo>
                  <a:lnTo>
                    <a:pt x="1681480" y="3541"/>
                  </a:lnTo>
                  <a:lnTo>
                    <a:pt x="1727553" y="13830"/>
                  </a:lnTo>
                  <a:lnTo>
                    <a:pt x="1770921" y="30360"/>
                  </a:lnTo>
                  <a:lnTo>
                    <a:pt x="1811079" y="52627"/>
                  </a:lnTo>
                  <a:lnTo>
                    <a:pt x="1847521" y="80124"/>
                  </a:lnTo>
                  <a:lnTo>
                    <a:pt x="1879743" y="112347"/>
                  </a:lnTo>
                  <a:lnTo>
                    <a:pt x="1907239" y="148790"/>
                  </a:lnTo>
                  <a:lnTo>
                    <a:pt x="1929505" y="188948"/>
                  </a:lnTo>
                  <a:lnTo>
                    <a:pt x="1946034" y="232315"/>
                  </a:lnTo>
                  <a:lnTo>
                    <a:pt x="1956322" y="278386"/>
                  </a:lnTo>
                  <a:lnTo>
                    <a:pt x="1959864" y="326656"/>
                  </a:lnTo>
                  <a:lnTo>
                    <a:pt x="1959864" y="2427224"/>
                  </a:lnTo>
                  <a:lnTo>
                    <a:pt x="1956322" y="2475493"/>
                  </a:lnTo>
                  <a:lnTo>
                    <a:pt x="1946034" y="2521564"/>
                  </a:lnTo>
                  <a:lnTo>
                    <a:pt x="1929505" y="2564930"/>
                  </a:lnTo>
                  <a:lnTo>
                    <a:pt x="1907239" y="2605086"/>
                  </a:lnTo>
                  <a:lnTo>
                    <a:pt x="1879743" y="2641527"/>
                  </a:lnTo>
                  <a:lnTo>
                    <a:pt x="1847521" y="2673748"/>
                  </a:lnTo>
                  <a:lnTo>
                    <a:pt x="1811079" y="2701244"/>
                  </a:lnTo>
                  <a:lnTo>
                    <a:pt x="1770921" y="2723509"/>
                  </a:lnTo>
                  <a:lnTo>
                    <a:pt x="1727553" y="2740038"/>
                  </a:lnTo>
                  <a:lnTo>
                    <a:pt x="1681480" y="2750326"/>
                  </a:lnTo>
                  <a:lnTo>
                    <a:pt x="1633207" y="2753868"/>
                  </a:lnTo>
                  <a:lnTo>
                    <a:pt x="326656" y="2753868"/>
                  </a:lnTo>
                  <a:lnTo>
                    <a:pt x="278386" y="2750326"/>
                  </a:lnTo>
                  <a:lnTo>
                    <a:pt x="232315" y="2740038"/>
                  </a:lnTo>
                  <a:lnTo>
                    <a:pt x="188948" y="2723509"/>
                  </a:lnTo>
                  <a:lnTo>
                    <a:pt x="148790" y="2701244"/>
                  </a:lnTo>
                  <a:lnTo>
                    <a:pt x="112347" y="2673748"/>
                  </a:lnTo>
                  <a:lnTo>
                    <a:pt x="80124" y="2641527"/>
                  </a:lnTo>
                  <a:lnTo>
                    <a:pt x="52627" y="2605086"/>
                  </a:lnTo>
                  <a:lnTo>
                    <a:pt x="30360" y="2564930"/>
                  </a:lnTo>
                  <a:lnTo>
                    <a:pt x="13830" y="2521564"/>
                  </a:lnTo>
                  <a:lnTo>
                    <a:pt x="3541" y="2475493"/>
                  </a:lnTo>
                  <a:lnTo>
                    <a:pt x="0" y="2427224"/>
                  </a:lnTo>
                  <a:lnTo>
                    <a:pt x="0" y="326656"/>
                  </a:lnTo>
                  <a:close/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2155" y="3563106"/>
              <a:ext cx="1960245" cy="2753995"/>
            </a:xfrm>
            <a:custGeom>
              <a:avLst/>
              <a:gdLst/>
              <a:ahLst/>
              <a:cxnLst/>
              <a:rect l="l" t="t" r="r" b="b"/>
              <a:pathLst>
                <a:path w="1960245" h="2753995">
                  <a:moveTo>
                    <a:pt x="0" y="326656"/>
                  </a:moveTo>
                  <a:lnTo>
                    <a:pt x="3541" y="278386"/>
                  </a:lnTo>
                  <a:lnTo>
                    <a:pt x="13830" y="232315"/>
                  </a:lnTo>
                  <a:lnTo>
                    <a:pt x="30360" y="188948"/>
                  </a:lnTo>
                  <a:lnTo>
                    <a:pt x="52627" y="148790"/>
                  </a:lnTo>
                  <a:lnTo>
                    <a:pt x="80124" y="112347"/>
                  </a:lnTo>
                  <a:lnTo>
                    <a:pt x="112347" y="80124"/>
                  </a:lnTo>
                  <a:lnTo>
                    <a:pt x="148790" y="52627"/>
                  </a:lnTo>
                  <a:lnTo>
                    <a:pt x="188948" y="30360"/>
                  </a:lnTo>
                  <a:lnTo>
                    <a:pt x="232315" y="13830"/>
                  </a:lnTo>
                  <a:lnTo>
                    <a:pt x="278386" y="3541"/>
                  </a:lnTo>
                  <a:lnTo>
                    <a:pt x="326656" y="0"/>
                  </a:lnTo>
                  <a:lnTo>
                    <a:pt x="1633207" y="0"/>
                  </a:lnTo>
                  <a:lnTo>
                    <a:pt x="1681480" y="3541"/>
                  </a:lnTo>
                  <a:lnTo>
                    <a:pt x="1727553" y="13830"/>
                  </a:lnTo>
                  <a:lnTo>
                    <a:pt x="1770921" y="30360"/>
                  </a:lnTo>
                  <a:lnTo>
                    <a:pt x="1811079" y="52627"/>
                  </a:lnTo>
                  <a:lnTo>
                    <a:pt x="1847521" y="80124"/>
                  </a:lnTo>
                  <a:lnTo>
                    <a:pt x="1879743" y="112347"/>
                  </a:lnTo>
                  <a:lnTo>
                    <a:pt x="1907239" y="148790"/>
                  </a:lnTo>
                  <a:lnTo>
                    <a:pt x="1929505" y="188948"/>
                  </a:lnTo>
                  <a:lnTo>
                    <a:pt x="1946034" y="232315"/>
                  </a:lnTo>
                  <a:lnTo>
                    <a:pt x="1956322" y="278386"/>
                  </a:lnTo>
                  <a:lnTo>
                    <a:pt x="1959864" y="326656"/>
                  </a:lnTo>
                  <a:lnTo>
                    <a:pt x="1959864" y="2427224"/>
                  </a:lnTo>
                  <a:lnTo>
                    <a:pt x="1956322" y="2475493"/>
                  </a:lnTo>
                  <a:lnTo>
                    <a:pt x="1946034" y="2521564"/>
                  </a:lnTo>
                  <a:lnTo>
                    <a:pt x="1929505" y="2564930"/>
                  </a:lnTo>
                  <a:lnTo>
                    <a:pt x="1907239" y="2605086"/>
                  </a:lnTo>
                  <a:lnTo>
                    <a:pt x="1879743" y="2641527"/>
                  </a:lnTo>
                  <a:lnTo>
                    <a:pt x="1847521" y="2673748"/>
                  </a:lnTo>
                  <a:lnTo>
                    <a:pt x="1811079" y="2701244"/>
                  </a:lnTo>
                  <a:lnTo>
                    <a:pt x="1770921" y="2723509"/>
                  </a:lnTo>
                  <a:lnTo>
                    <a:pt x="1727553" y="2740038"/>
                  </a:lnTo>
                  <a:lnTo>
                    <a:pt x="1681480" y="2750326"/>
                  </a:lnTo>
                  <a:lnTo>
                    <a:pt x="1633207" y="2753868"/>
                  </a:lnTo>
                  <a:lnTo>
                    <a:pt x="326656" y="2753868"/>
                  </a:lnTo>
                  <a:lnTo>
                    <a:pt x="278386" y="2750326"/>
                  </a:lnTo>
                  <a:lnTo>
                    <a:pt x="232315" y="2740038"/>
                  </a:lnTo>
                  <a:lnTo>
                    <a:pt x="188948" y="2723509"/>
                  </a:lnTo>
                  <a:lnTo>
                    <a:pt x="148790" y="2701244"/>
                  </a:lnTo>
                  <a:lnTo>
                    <a:pt x="112347" y="2673748"/>
                  </a:lnTo>
                  <a:lnTo>
                    <a:pt x="80124" y="2641527"/>
                  </a:lnTo>
                  <a:lnTo>
                    <a:pt x="52627" y="2605086"/>
                  </a:lnTo>
                  <a:lnTo>
                    <a:pt x="30360" y="2564930"/>
                  </a:lnTo>
                  <a:lnTo>
                    <a:pt x="13830" y="2521564"/>
                  </a:lnTo>
                  <a:lnTo>
                    <a:pt x="3541" y="2475493"/>
                  </a:lnTo>
                  <a:lnTo>
                    <a:pt x="0" y="2427224"/>
                  </a:lnTo>
                  <a:lnTo>
                    <a:pt x="0" y="326656"/>
                  </a:lnTo>
                  <a:close/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2314" y="4941570"/>
              <a:ext cx="260350" cy="0"/>
            </a:xfrm>
            <a:custGeom>
              <a:avLst/>
              <a:gdLst/>
              <a:ahLst/>
              <a:cxnLst/>
              <a:rect l="l" t="t" r="r" b="b"/>
              <a:pathLst>
                <a:path w="260350">
                  <a:moveTo>
                    <a:pt x="0" y="0"/>
                  </a:moveTo>
                  <a:lnTo>
                    <a:pt x="26026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7281" y="3266694"/>
              <a:ext cx="0" cy="1674495"/>
            </a:xfrm>
            <a:custGeom>
              <a:avLst/>
              <a:gdLst/>
              <a:ahLst/>
              <a:cxnLst/>
              <a:rect l="l" t="t" r="r" b="b"/>
              <a:pathLst>
                <a:path h="1674495">
                  <a:moveTo>
                    <a:pt x="0" y="0"/>
                  </a:moveTo>
                  <a:lnTo>
                    <a:pt x="0" y="167441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8905" y="5596051"/>
              <a:ext cx="626859" cy="6350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087" y="4568952"/>
              <a:ext cx="560831" cy="5684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712" y="5081016"/>
              <a:ext cx="524243" cy="5913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3040" y="4924044"/>
              <a:ext cx="655319" cy="7437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2496" y="5612892"/>
              <a:ext cx="539495" cy="47852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7753730" y="4871467"/>
            <a:ext cx="2959418" cy="3692843"/>
            <a:chOff x="5169153" y="3247644"/>
            <a:chExt cx="1972945" cy="2461895"/>
          </a:xfrm>
        </p:grpSpPr>
        <p:sp>
          <p:nvSpPr>
            <p:cNvPr id="20" name="object 20"/>
            <p:cNvSpPr/>
            <p:nvPr/>
          </p:nvSpPr>
          <p:spPr>
            <a:xfrm>
              <a:off x="5175503" y="3553974"/>
              <a:ext cx="1960245" cy="2148840"/>
            </a:xfrm>
            <a:custGeom>
              <a:avLst/>
              <a:gdLst/>
              <a:ahLst/>
              <a:cxnLst/>
              <a:rect l="l" t="t" r="r" b="b"/>
              <a:pathLst>
                <a:path w="1960245" h="2148840">
                  <a:moveTo>
                    <a:pt x="0" y="326643"/>
                  </a:moveTo>
                  <a:lnTo>
                    <a:pt x="3541" y="278374"/>
                  </a:lnTo>
                  <a:lnTo>
                    <a:pt x="13829" y="232303"/>
                  </a:lnTo>
                  <a:lnTo>
                    <a:pt x="30358" y="188937"/>
                  </a:lnTo>
                  <a:lnTo>
                    <a:pt x="52623" y="148781"/>
                  </a:lnTo>
                  <a:lnTo>
                    <a:pt x="80119" y="112340"/>
                  </a:lnTo>
                  <a:lnTo>
                    <a:pt x="112340" y="80119"/>
                  </a:lnTo>
                  <a:lnTo>
                    <a:pt x="148781" y="52623"/>
                  </a:lnTo>
                  <a:lnTo>
                    <a:pt x="188937" y="30358"/>
                  </a:lnTo>
                  <a:lnTo>
                    <a:pt x="232303" y="13829"/>
                  </a:lnTo>
                  <a:lnTo>
                    <a:pt x="278374" y="3541"/>
                  </a:lnTo>
                  <a:lnTo>
                    <a:pt x="326644" y="0"/>
                  </a:lnTo>
                  <a:lnTo>
                    <a:pt x="1633220" y="0"/>
                  </a:lnTo>
                  <a:lnTo>
                    <a:pt x="1681489" y="3541"/>
                  </a:lnTo>
                  <a:lnTo>
                    <a:pt x="1727560" y="13829"/>
                  </a:lnTo>
                  <a:lnTo>
                    <a:pt x="1770926" y="30358"/>
                  </a:lnTo>
                  <a:lnTo>
                    <a:pt x="1811082" y="52623"/>
                  </a:lnTo>
                  <a:lnTo>
                    <a:pt x="1847523" y="80119"/>
                  </a:lnTo>
                  <a:lnTo>
                    <a:pt x="1879744" y="112340"/>
                  </a:lnTo>
                  <a:lnTo>
                    <a:pt x="1907240" y="148781"/>
                  </a:lnTo>
                  <a:lnTo>
                    <a:pt x="1929505" y="188937"/>
                  </a:lnTo>
                  <a:lnTo>
                    <a:pt x="1946034" y="232303"/>
                  </a:lnTo>
                  <a:lnTo>
                    <a:pt x="1956322" y="278374"/>
                  </a:lnTo>
                  <a:lnTo>
                    <a:pt x="1959864" y="326643"/>
                  </a:lnTo>
                  <a:lnTo>
                    <a:pt x="1959864" y="1822183"/>
                  </a:lnTo>
                  <a:lnTo>
                    <a:pt x="1956322" y="1870453"/>
                  </a:lnTo>
                  <a:lnTo>
                    <a:pt x="1946034" y="1916524"/>
                  </a:lnTo>
                  <a:lnTo>
                    <a:pt x="1929505" y="1959891"/>
                  </a:lnTo>
                  <a:lnTo>
                    <a:pt x="1907240" y="2000049"/>
                  </a:lnTo>
                  <a:lnTo>
                    <a:pt x="1879744" y="2036492"/>
                  </a:lnTo>
                  <a:lnTo>
                    <a:pt x="1847523" y="2068715"/>
                  </a:lnTo>
                  <a:lnTo>
                    <a:pt x="1811082" y="2096212"/>
                  </a:lnTo>
                  <a:lnTo>
                    <a:pt x="1770926" y="2118479"/>
                  </a:lnTo>
                  <a:lnTo>
                    <a:pt x="1727560" y="2135009"/>
                  </a:lnTo>
                  <a:lnTo>
                    <a:pt x="1681489" y="2145298"/>
                  </a:lnTo>
                  <a:lnTo>
                    <a:pt x="1633220" y="2148839"/>
                  </a:lnTo>
                  <a:lnTo>
                    <a:pt x="326644" y="2148839"/>
                  </a:lnTo>
                  <a:lnTo>
                    <a:pt x="278374" y="2145298"/>
                  </a:lnTo>
                  <a:lnTo>
                    <a:pt x="232303" y="2135009"/>
                  </a:lnTo>
                  <a:lnTo>
                    <a:pt x="188937" y="2118479"/>
                  </a:lnTo>
                  <a:lnTo>
                    <a:pt x="148781" y="2096212"/>
                  </a:lnTo>
                  <a:lnTo>
                    <a:pt x="112340" y="2068715"/>
                  </a:lnTo>
                  <a:lnTo>
                    <a:pt x="80119" y="2036492"/>
                  </a:lnTo>
                  <a:lnTo>
                    <a:pt x="52623" y="2000049"/>
                  </a:lnTo>
                  <a:lnTo>
                    <a:pt x="30358" y="1959891"/>
                  </a:lnTo>
                  <a:lnTo>
                    <a:pt x="13829" y="1916524"/>
                  </a:lnTo>
                  <a:lnTo>
                    <a:pt x="3541" y="1870453"/>
                  </a:lnTo>
                  <a:lnTo>
                    <a:pt x="0" y="1822183"/>
                  </a:lnTo>
                  <a:lnTo>
                    <a:pt x="0" y="326643"/>
                  </a:lnTo>
                  <a:close/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56199" y="3266694"/>
              <a:ext cx="1270" cy="287655"/>
            </a:xfrm>
            <a:custGeom>
              <a:avLst/>
              <a:gdLst/>
              <a:ahLst/>
              <a:cxnLst/>
              <a:rect l="l" t="t" r="r" b="b"/>
              <a:pathLst>
                <a:path w="1270" h="287654">
                  <a:moveTo>
                    <a:pt x="990" y="0"/>
                  </a:moveTo>
                  <a:lnTo>
                    <a:pt x="0" y="2875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6647" y="4352544"/>
              <a:ext cx="466347" cy="4726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6128" y="4306824"/>
              <a:ext cx="266699" cy="2407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9779" y="5001768"/>
              <a:ext cx="585215" cy="5440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96127" y="4983479"/>
              <a:ext cx="246887" cy="2667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7855" y="5012436"/>
              <a:ext cx="242316" cy="26974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328075" y="5612878"/>
            <a:ext cx="196310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58" dirty="0">
                <a:latin typeface="Arial"/>
                <a:cs typeface="Arial"/>
              </a:rPr>
              <a:t>Medical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263" dirty="0">
                <a:latin typeface="Arial"/>
                <a:cs typeface="Arial"/>
              </a:rPr>
              <a:t>costs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01056" y="5611164"/>
            <a:ext cx="1875473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9120" marR="7620" indent="-561023">
              <a:spcBef>
                <a:spcPts val="150"/>
              </a:spcBef>
            </a:pPr>
            <a:r>
              <a:rPr sz="2700" b="1" spc="-180" dirty="0">
                <a:latin typeface="Arial"/>
                <a:cs typeface="Arial"/>
              </a:rPr>
              <a:t>Non-</a:t>
            </a:r>
            <a:r>
              <a:rPr sz="2700" b="1" spc="-150" dirty="0">
                <a:latin typeface="Arial"/>
                <a:cs typeface="Arial"/>
              </a:rPr>
              <a:t>Medical </a:t>
            </a:r>
            <a:r>
              <a:rPr sz="2700" b="1" spc="-15" dirty="0">
                <a:latin typeface="Arial"/>
                <a:cs typeface="Arial"/>
              </a:rPr>
              <a:t>costs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49724" y="6798564"/>
            <a:ext cx="1985010" cy="2485071"/>
            <a:chOff x="3099816" y="4532376"/>
            <a:chExt cx="1323340" cy="1656714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99816" y="4604004"/>
              <a:ext cx="594359" cy="33680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88308" y="4532376"/>
              <a:ext cx="434339" cy="4282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82112" y="5193670"/>
              <a:ext cx="478536" cy="39940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00384" y="5280660"/>
              <a:ext cx="311011" cy="4693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44240" y="5702808"/>
              <a:ext cx="492251" cy="48621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348138" y="5538530"/>
            <a:ext cx="1771650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25780" marR="7620" indent="-507683">
              <a:spcBef>
                <a:spcPts val="150"/>
              </a:spcBef>
            </a:pPr>
            <a:r>
              <a:rPr sz="2700" b="1" spc="-180" dirty="0">
                <a:latin typeface="Arial"/>
                <a:cs typeface="Arial"/>
              </a:rPr>
              <a:t>Productivity </a:t>
            </a:r>
            <a:r>
              <a:rPr sz="2700" b="1" spc="-15" dirty="0">
                <a:latin typeface="Arial"/>
                <a:cs typeface="Arial"/>
              </a:rPr>
              <a:t>loss*</a:t>
            </a:r>
            <a:endParaRPr sz="2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2429" y="9560795"/>
            <a:ext cx="6757035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>
              <a:spcBef>
                <a:spcPts val="150"/>
              </a:spcBef>
            </a:pPr>
            <a:r>
              <a:rPr spc="-38" dirty="0">
                <a:latin typeface="Arial"/>
                <a:cs typeface="Arial"/>
              </a:rPr>
              <a:t>*Productivity</a:t>
            </a:r>
            <a:r>
              <a:rPr spc="-113" dirty="0">
                <a:latin typeface="Arial"/>
                <a:cs typeface="Arial"/>
              </a:rPr>
              <a:t> </a:t>
            </a:r>
            <a:r>
              <a:rPr spc="-120" dirty="0">
                <a:latin typeface="Arial"/>
                <a:cs typeface="Arial"/>
              </a:rPr>
              <a:t>gains</a:t>
            </a:r>
            <a:r>
              <a:rPr spc="-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27" dirty="0">
                <a:latin typeface="Arial"/>
                <a:cs typeface="Arial"/>
              </a:rPr>
              <a:t>losses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53" dirty="0">
                <a:latin typeface="Arial"/>
                <a:cs typeface="Arial"/>
              </a:rPr>
              <a:t>related</a:t>
            </a:r>
            <a:r>
              <a:rPr spc="-8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illness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or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death</a:t>
            </a:r>
            <a:endParaRPr>
              <a:latin typeface="Arial"/>
              <a:cs typeface="Arial"/>
            </a:endParaRPr>
          </a:p>
          <a:p>
            <a:pPr marL="57150"/>
            <a:r>
              <a:rPr spc="-23" baseline="24305" dirty="0">
                <a:latin typeface="Arial"/>
                <a:cs typeface="Arial"/>
              </a:rPr>
              <a:t>1</a:t>
            </a:r>
            <a:r>
              <a:rPr spc="-15" dirty="0">
                <a:latin typeface="Arial"/>
                <a:cs typeface="Arial"/>
              </a:rPr>
              <a:t>It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is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very </a:t>
            </a:r>
            <a:r>
              <a:rPr spc="-15" dirty="0">
                <a:latin typeface="Arial"/>
                <a:cs typeface="Arial"/>
              </a:rPr>
              <a:t>difficult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measure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and </a:t>
            </a:r>
            <a:r>
              <a:rPr spc="-83" dirty="0">
                <a:latin typeface="Arial"/>
                <a:cs typeface="Arial"/>
              </a:rPr>
              <a:t>are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often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omitted</a:t>
            </a:r>
            <a:r>
              <a:rPr spc="-83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from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98" dirty="0">
                <a:latin typeface="Arial"/>
                <a:cs typeface="Arial"/>
              </a:rPr>
              <a:t>cost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38" dirty="0">
                <a:latin typeface="Arial"/>
                <a:cs typeface="Arial"/>
              </a:rPr>
              <a:t>analyses.</a:t>
            </a:r>
            <a:endParaRPr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874382" y="6879593"/>
            <a:ext cx="3560445" cy="168122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 marR="45720" algn="ctr">
              <a:spcBef>
                <a:spcPts val="150"/>
              </a:spcBef>
            </a:pPr>
            <a:r>
              <a:rPr sz="2700" spc="-68" dirty="0">
                <a:latin typeface="Arial"/>
                <a:cs typeface="Arial"/>
              </a:rPr>
              <a:t>Monetary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value</a:t>
            </a:r>
            <a:r>
              <a:rPr sz="2700" spc="-156" baseline="25462" dirty="0">
                <a:latin typeface="Arial"/>
                <a:cs typeface="Arial"/>
              </a:rPr>
              <a:t>1</a:t>
            </a:r>
            <a:r>
              <a:rPr sz="2700" spc="78" baseline="25462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65" dirty="0">
                <a:latin typeface="Arial"/>
                <a:cs typeface="Arial"/>
              </a:rPr>
              <a:t> </a:t>
            </a:r>
            <a:r>
              <a:rPr sz="2700" spc="-75" dirty="0">
                <a:latin typeface="Arial"/>
                <a:cs typeface="Arial"/>
              </a:rPr>
              <a:t>pain, </a:t>
            </a:r>
            <a:r>
              <a:rPr sz="2700" spc="-90" dirty="0">
                <a:latin typeface="Arial"/>
                <a:cs typeface="Arial"/>
              </a:rPr>
              <a:t>suffering,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distress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e.g., </a:t>
            </a:r>
            <a:r>
              <a:rPr sz="2700" spc="-120" dirty="0">
                <a:latin typeface="Arial"/>
                <a:cs typeface="Arial"/>
              </a:rPr>
              <a:t>willingness-</a:t>
            </a:r>
            <a:r>
              <a:rPr sz="2700" spc="-15" dirty="0">
                <a:latin typeface="Arial"/>
                <a:cs typeface="Arial"/>
              </a:rPr>
              <a:t>to-</a:t>
            </a:r>
            <a:r>
              <a:rPr sz="2700" spc="-171" dirty="0">
                <a:latin typeface="Arial"/>
                <a:cs typeface="Arial"/>
              </a:rPr>
              <a:t>pay</a:t>
            </a:r>
            <a:r>
              <a:rPr sz="2700" spc="53" dirty="0">
                <a:latin typeface="Arial"/>
                <a:cs typeface="Arial"/>
              </a:rPr>
              <a:t> </a:t>
            </a:r>
            <a:r>
              <a:rPr sz="2700" spc="-38" dirty="0">
                <a:latin typeface="Arial"/>
                <a:cs typeface="Arial"/>
              </a:rPr>
              <a:t>for </a:t>
            </a:r>
            <a:r>
              <a:rPr sz="2700" spc="-105" dirty="0">
                <a:latin typeface="Arial"/>
                <a:cs typeface="Arial"/>
              </a:rPr>
              <a:t>pain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avoidance.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648057" y="4871467"/>
            <a:ext cx="3752850" cy="3889058"/>
            <a:chOff x="8432038" y="3247644"/>
            <a:chExt cx="2501900" cy="2592705"/>
          </a:xfrm>
        </p:grpSpPr>
        <p:sp>
          <p:nvSpPr>
            <p:cNvPr id="39" name="object 39"/>
            <p:cNvSpPr/>
            <p:nvPr/>
          </p:nvSpPr>
          <p:spPr>
            <a:xfrm>
              <a:off x="9184945" y="3741584"/>
              <a:ext cx="1162050" cy="623570"/>
            </a:xfrm>
            <a:custGeom>
              <a:avLst/>
              <a:gdLst/>
              <a:ahLst/>
              <a:cxnLst/>
              <a:rect l="l" t="t" r="r" b="b"/>
              <a:pathLst>
                <a:path w="1162050" h="623570">
                  <a:moveTo>
                    <a:pt x="427037" y="409917"/>
                  </a:moveTo>
                  <a:lnTo>
                    <a:pt x="421411" y="360908"/>
                  </a:lnTo>
                  <a:lnTo>
                    <a:pt x="405345" y="315925"/>
                  </a:lnTo>
                  <a:lnTo>
                    <a:pt x="380161" y="276263"/>
                  </a:lnTo>
                  <a:lnTo>
                    <a:pt x="347103" y="243179"/>
                  </a:lnTo>
                  <a:lnTo>
                    <a:pt x="343319" y="240779"/>
                  </a:lnTo>
                  <a:lnTo>
                    <a:pt x="343319" y="298030"/>
                  </a:lnTo>
                  <a:lnTo>
                    <a:pt x="342760" y="304215"/>
                  </a:lnTo>
                  <a:lnTo>
                    <a:pt x="342188" y="309841"/>
                  </a:lnTo>
                  <a:lnTo>
                    <a:pt x="337134" y="314337"/>
                  </a:lnTo>
                  <a:lnTo>
                    <a:pt x="337134" y="376186"/>
                  </a:lnTo>
                  <a:lnTo>
                    <a:pt x="334479" y="389280"/>
                  </a:lnTo>
                  <a:lnTo>
                    <a:pt x="327228" y="399999"/>
                  </a:lnTo>
                  <a:lnTo>
                    <a:pt x="316509" y="407250"/>
                  </a:lnTo>
                  <a:lnTo>
                    <a:pt x="303428" y="409917"/>
                  </a:lnTo>
                  <a:lnTo>
                    <a:pt x="290334" y="407250"/>
                  </a:lnTo>
                  <a:lnTo>
                    <a:pt x="285445" y="403948"/>
                  </a:lnTo>
                  <a:lnTo>
                    <a:pt x="285445" y="494804"/>
                  </a:lnTo>
                  <a:lnTo>
                    <a:pt x="282067" y="507174"/>
                  </a:lnTo>
                  <a:lnTo>
                    <a:pt x="276453" y="510552"/>
                  </a:lnTo>
                  <a:lnTo>
                    <a:pt x="270268" y="509422"/>
                  </a:lnTo>
                  <a:lnTo>
                    <a:pt x="229273" y="506056"/>
                  </a:lnTo>
                  <a:lnTo>
                    <a:pt x="197650" y="512381"/>
                  </a:lnTo>
                  <a:lnTo>
                    <a:pt x="177190" y="521449"/>
                  </a:lnTo>
                  <a:lnTo>
                    <a:pt x="169684" y="526288"/>
                  </a:lnTo>
                  <a:lnTo>
                    <a:pt x="167436" y="527977"/>
                  </a:lnTo>
                  <a:lnTo>
                    <a:pt x="165188" y="528535"/>
                  </a:lnTo>
                  <a:lnTo>
                    <a:pt x="159575" y="528535"/>
                  </a:lnTo>
                  <a:lnTo>
                    <a:pt x="156210" y="526859"/>
                  </a:lnTo>
                  <a:lnTo>
                    <a:pt x="153962" y="524040"/>
                  </a:lnTo>
                  <a:lnTo>
                    <a:pt x="150025" y="518985"/>
                  </a:lnTo>
                  <a:lnTo>
                    <a:pt x="151142" y="512241"/>
                  </a:lnTo>
                  <a:lnTo>
                    <a:pt x="156210" y="508304"/>
                  </a:lnTo>
                  <a:lnTo>
                    <a:pt x="165976" y="501967"/>
                  </a:lnTo>
                  <a:lnTo>
                    <a:pt x="190550" y="490943"/>
                  </a:lnTo>
                  <a:lnTo>
                    <a:pt x="227876" y="483400"/>
                  </a:lnTo>
                  <a:lnTo>
                    <a:pt x="275894" y="487502"/>
                  </a:lnTo>
                  <a:lnTo>
                    <a:pt x="281508" y="488619"/>
                  </a:lnTo>
                  <a:lnTo>
                    <a:pt x="285445" y="494804"/>
                  </a:lnTo>
                  <a:lnTo>
                    <a:pt x="285445" y="403948"/>
                  </a:lnTo>
                  <a:lnTo>
                    <a:pt x="279615" y="399999"/>
                  </a:lnTo>
                  <a:lnTo>
                    <a:pt x="272364" y="389280"/>
                  </a:lnTo>
                  <a:lnTo>
                    <a:pt x="269709" y="376186"/>
                  </a:lnTo>
                  <a:lnTo>
                    <a:pt x="272364" y="363080"/>
                  </a:lnTo>
                  <a:lnTo>
                    <a:pt x="279615" y="352361"/>
                  </a:lnTo>
                  <a:lnTo>
                    <a:pt x="290334" y="345109"/>
                  </a:lnTo>
                  <a:lnTo>
                    <a:pt x="303428" y="342442"/>
                  </a:lnTo>
                  <a:lnTo>
                    <a:pt x="316509" y="345109"/>
                  </a:lnTo>
                  <a:lnTo>
                    <a:pt x="327228" y="352361"/>
                  </a:lnTo>
                  <a:lnTo>
                    <a:pt x="334479" y="363080"/>
                  </a:lnTo>
                  <a:lnTo>
                    <a:pt x="337134" y="376186"/>
                  </a:lnTo>
                  <a:lnTo>
                    <a:pt x="337134" y="314337"/>
                  </a:lnTo>
                  <a:lnTo>
                    <a:pt x="330390" y="314337"/>
                  </a:lnTo>
                  <a:lnTo>
                    <a:pt x="268020" y="308152"/>
                  </a:lnTo>
                  <a:lnTo>
                    <a:pt x="263525" y="302526"/>
                  </a:lnTo>
                  <a:lnTo>
                    <a:pt x="264655" y="290156"/>
                  </a:lnTo>
                  <a:lnTo>
                    <a:pt x="270268" y="285661"/>
                  </a:lnTo>
                  <a:lnTo>
                    <a:pt x="338823" y="292404"/>
                  </a:lnTo>
                  <a:lnTo>
                    <a:pt x="343319" y="298030"/>
                  </a:lnTo>
                  <a:lnTo>
                    <a:pt x="343319" y="240779"/>
                  </a:lnTo>
                  <a:lnTo>
                    <a:pt x="307454" y="217970"/>
                  </a:lnTo>
                  <a:lnTo>
                    <a:pt x="262496" y="201904"/>
                  </a:lnTo>
                  <a:lnTo>
                    <a:pt x="213525" y="196265"/>
                  </a:lnTo>
                  <a:lnTo>
                    <a:pt x="164541" y="201904"/>
                  </a:lnTo>
                  <a:lnTo>
                    <a:pt x="163512" y="202272"/>
                  </a:lnTo>
                  <a:lnTo>
                    <a:pt x="163512" y="302526"/>
                  </a:lnTo>
                  <a:lnTo>
                    <a:pt x="159016" y="308152"/>
                  </a:lnTo>
                  <a:lnTo>
                    <a:pt x="157327" y="308330"/>
                  </a:lnTo>
                  <a:lnTo>
                    <a:pt x="157327" y="376186"/>
                  </a:lnTo>
                  <a:lnTo>
                    <a:pt x="154673" y="389280"/>
                  </a:lnTo>
                  <a:lnTo>
                    <a:pt x="147421" y="399999"/>
                  </a:lnTo>
                  <a:lnTo>
                    <a:pt x="136702" y="407250"/>
                  </a:lnTo>
                  <a:lnTo>
                    <a:pt x="123609" y="409917"/>
                  </a:lnTo>
                  <a:lnTo>
                    <a:pt x="110528" y="407250"/>
                  </a:lnTo>
                  <a:lnTo>
                    <a:pt x="99809" y="399999"/>
                  </a:lnTo>
                  <a:lnTo>
                    <a:pt x="92557" y="389280"/>
                  </a:lnTo>
                  <a:lnTo>
                    <a:pt x="89903" y="376186"/>
                  </a:lnTo>
                  <a:lnTo>
                    <a:pt x="92557" y="363080"/>
                  </a:lnTo>
                  <a:lnTo>
                    <a:pt x="99809" y="352361"/>
                  </a:lnTo>
                  <a:lnTo>
                    <a:pt x="110528" y="345109"/>
                  </a:lnTo>
                  <a:lnTo>
                    <a:pt x="123609" y="342442"/>
                  </a:lnTo>
                  <a:lnTo>
                    <a:pt x="136702" y="345109"/>
                  </a:lnTo>
                  <a:lnTo>
                    <a:pt x="147421" y="352361"/>
                  </a:lnTo>
                  <a:lnTo>
                    <a:pt x="154673" y="363080"/>
                  </a:lnTo>
                  <a:lnTo>
                    <a:pt x="157327" y="376186"/>
                  </a:lnTo>
                  <a:lnTo>
                    <a:pt x="157327" y="308330"/>
                  </a:lnTo>
                  <a:lnTo>
                    <a:pt x="96647" y="314337"/>
                  </a:lnTo>
                  <a:lnTo>
                    <a:pt x="89903" y="314337"/>
                  </a:lnTo>
                  <a:lnTo>
                    <a:pt x="84848" y="309841"/>
                  </a:lnTo>
                  <a:lnTo>
                    <a:pt x="84734" y="308711"/>
                  </a:lnTo>
                  <a:lnTo>
                    <a:pt x="84670" y="308152"/>
                  </a:lnTo>
                  <a:lnTo>
                    <a:pt x="84277" y="304215"/>
                  </a:lnTo>
                  <a:lnTo>
                    <a:pt x="83718" y="298030"/>
                  </a:lnTo>
                  <a:lnTo>
                    <a:pt x="88214" y="292404"/>
                  </a:lnTo>
                  <a:lnTo>
                    <a:pt x="156768" y="285661"/>
                  </a:lnTo>
                  <a:lnTo>
                    <a:pt x="162382" y="290156"/>
                  </a:lnTo>
                  <a:lnTo>
                    <a:pt x="163512" y="302526"/>
                  </a:lnTo>
                  <a:lnTo>
                    <a:pt x="163512" y="202272"/>
                  </a:lnTo>
                  <a:lnTo>
                    <a:pt x="119583" y="217970"/>
                  </a:lnTo>
                  <a:lnTo>
                    <a:pt x="79933" y="243179"/>
                  </a:lnTo>
                  <a:lnTo>
                    <a:pt x="46875" y="276263"/>
                  </a:lnTo>
                  <a:lnTo>
                    <a:pt x="21691" y="315925"/>
                  </a:lnTo>
                  <a:lnTo>
                    <a:pt x="5626" y="360908"/>
                  </a:lnTo>
                  <a:lnTo>
                    <a:pt x="0" y="409917"/>
                  </a:lnTo>
                  <a:lnTo>
                    <a:pt x="5626" y="458927"/>
                  </a:lnTo>
                  <a:lnTo>
                    <a:pt x="21691" y="503897"/>
                  </a:lnTo>
                  <a:lnTo>
                    <a:pt x="46875" y="543572"/>
                  </a:lnTo>
                  <a:lnTo>
                    <a:pt x="79933" y="576643"/>
                  </a:lnTo>
                  <a:lnTo>
                    <a:pt x="119583" y="601853"/>
                  </a:lnTo>
                  <a:lnTo>
                    <a:pt x="164541" y="617918"/>
                  </a:lnTo>
                  <a:lnTo>
                    <a:pt x="213525" y="623557"/>
                  </a:lnTo>
                  <a:lnTo>
                    <a:pt x="262496" y="617918"/>
                  </a:lnTo>
                  <a:lnTo>
                    <a:pt x="307454" y="601853"/>
                  </a:lnTo>
                  <a:lnTo>
                    <a:pt x="347103" y="576643"/>
                  </a:lnTo>
                  <a:lnTo>
                    <a:pt x="380161" y="543572"/>
                  </a:lnTo>
                  <a:lnTo>
                    <a:pt x="389699" y="528535"/>
                  </a:lnTo>
                  <a:lnTo>
                    <a:pt x="401129" y="510552"/>
                  </a:lnTo>
                  <a:lnTo>
                    <a:pt x="405345" y="503897"/>
                  </a:lnTo>
                  <a:lnTo>
                    <a:pt x="412673" y="483400"/>
                  </a:lnTo>
                  <a:lnTo>
                    <a:pt x="421411" y="458927"/>
                  </a:lnTo>
                  <a:lnTo>
                    <a:pt x="427037" y="409917"/>
                  </a:lnTo>
                  <a:close/>
                </a:path>
                <a:path w="1162050" h="623570">
                  <a:moveTo>
                    <a:pt x="1161605" y="255422"/>
                  </a:moveTo>
                  <a:lnTo>
                    <a:pt x="1157503" y="209486"/>
                  </a:lnTo>
                  <a:lnTo>
                    <a:pt x="1147978" y="174764"/>
                  </a:lnTo>
                  <a:lnTo>
                    <a:pt x="1145654" y="166255"/>
                  </a:lnTo>
                  <a:lnTo>
                    <a:pt x="1126782" y="126466"/>
                  </a:lnTo>
                  <a:lnTo>
                    <a:pt x="1101598" y="90817"/>
                  </a:lnTo>
                  <a:lnTo>
                    <a:pt x="1070838" y="60045"/>
                  </a:lnTo>
                  <a:lnTo>
                    <a:pt x="1054125" y="48234"/>
                  </a:lnTo>
                  <a:lnTo>
                    <a:pt x="1054125" y="215087"/>
                  </a:lnTo>
                  <a:lnTo>
                    <a:pt x="1050950" y="230746"/>
                  </a:lnTo>
                  <a:lnTo>
                    <a:pt x="1042289" y="243573"/>
                  </a:lnTo>
                  <a:lnTo>
                    <a:pt x="1042035" y="243751"/>
                  </a:lnTo>
                  <a:lnTo>
                    <a:pt x="1042035" y="393204"/>
                  </a:lnTo>
                  <a:lnTo>
                    <a:pt x="1042035" y="403961"/>
                  </a:lnTo>
                  <a:lnTo>
                    <a:pt x="1035989" y="410006"/>
                  </a:lnTo>
                  <a:lnTo>
                    <a:pt x="1023899" y="410006"/>
                  </a:lnTo>
                  <a:lnTo>
                    <a:pt x="1019860" y="407987"/>
                  </a:lnTo>
                  <a:lnTo>
                    <a:pt x="1017854" y="404634"/>
                  </a:lnTo>
                  <a:lnTo>
                    <a:pt x="996086" y="381952"/>
                  </a:lnTo>
                  <a:lnTo>
                    <a:pt x="969645" y="364807"/>
                  </a:lnTo>
                  <a:lnTo>
                    <a:pt x="939444" y="353974"/>
                  </a:lnTo>
                  <a:lnTo>
                    <a:pt x="906335" y="350189"/>
                  </a:lnTo>
                  <a:lnTo>
                    <a:pt x="873328" y="353974"/>
                  </a:lnTo>
                  <a:lnTo>
                    <a:pt x="843280" y="364807"/>
                  </a:lnTo>
                  <a:lnTo>
                    <a:pt x="816876" y="381952"/>
                  </a:lnTo>
                  <a:lnTo>
                    <a:pt x="794816" y="404634"/>
                  </a:lnTo>
                  <a:lnTo>
                    <a:pt x="792137" y="407987"/>
                  </a:lnTo>
                  <a:lnTo>
                    <a:pt x="788098" y="410006"/>
                  </a:lnTo>
                  <a:lnTo>
                    <a:pt x="776681" y="410006"/>
                  </a:lnTo>
                  <a:lnTo>
                    <a:pt x="770636" y="403961"/>
                  </a:lnTo>
                  <a:lnTo>
                    <a:pt x="770636" y="393877"/>
                  </a:lnTo>
                  <a:lnTo>
                    <a:pt x="771309" y="391185"/>
                  </a:lnTo>
                  <a:lnTo>
                    <a:pt x="799490" y="361200"/>
                  </a:lnTo>
                  <a:lnTo>
                    <a:pt x="861225" y="329349"/>
                  </a:lnTo>
                  <a:lnTo>
                    <a:pt x="906335" y="322630"/>
                  </a:lnTo>
                  <a:lnTo>
                    <a:pt x="945730" y="327253"/>
                  </a:lnTo>
                  <a:lnTo>
                    <a:pt x="981659" y="340448"/>
                  </a:lnTo>
                  <a:lnTo>
                    <a:pt x="1039342" y="388505"/>
                  </a:lnTo>
                  <a:lnTo>
                    <a:pt x="1042035" y="393204"/>
                  </a:lnTo>
                  <a:lnTo>
                    <a:pt x="1042035" y="243751"/>
                  </a:lnTo>
                  <a:lnTo>
                    <a:pt x="1029474" y="252234"/>
                  </a:lnTo>
                  <a:lnTo>
                    <a:pt x="1013815" y="255422"/>
                  </a:lnTo>
                  <a:lnTo>
                    <a:pt x="998169" y="252234"/>
                  </a:lnTo>
                  <a:lnTo>
                    <a:pt x="985354" y="243573"/>
                  </a:lnTo>
                  <a:lnTo>
                    <a:pt x="976693" y="230746"/>
                  </a:lnTo>
                  <a:lnTo>
                    <a:pt x="973518" y="215087"/>
                  </a:lnTo>
                  <a:lnTo>
                    <a:pt x="976693" y="199428"/>
                  </a:lnTo>
                  <a:lnTo>
                    <a:pt x="985354" y="186601"/>
                  </a:lnTo>
                  <a:lnTo>
                    <a:pt x="998169" y="177939"/>
                  </a:lnTo>
                  <a:lnTo>
                    <a:pt x="1013815" y="174764"/>
                  </a:lnTo>
                  <a:lnTo>
                    <a:pt x="1029474" y="177939"/>
                  </a:lnTo>
                  <a:lnTo>
                    <a:pt x="1042289" y="186601"/>
                  </a:lnTo>
                  <a:lnTo>
                    <a:pt x="1050950" y="199428"/>
                  </a:lnTo>
                  <a:lnTo>
                    <a:pt x="1054125" y="215087"/>
                  </a:lnTo>
                  <a:lnTo>
                    <a:pt x="1054125" y="48234"/>
                  </a:lnTo>
                  <a:lnTo>
                    <a:pt x="1035215" y="34848"/>
                  </a:lnTo>
                  <a:lnTo>
                    <a:pt x="995451" y="15963"/>
                  </a:lnTo>
                  <a:lnTo>
                    <a:pt x="952246" y="4114"/>
                  </a:lnTo>
                  <a:lnTo>
                    <a:pt x="906335" y="0"/>
                  </a:lnTo>
                  <a:lnTo>
                    <a:pt x="860425" y="4114"/>
                  </a:lnTo>
                  <a:lnTo>
                    <a:pt x="839165" y="9956"/>
                  </a:lnTo>
                  <a:lnTo>
                    <a:pt x="839165" y="215087"/>
                  </a:lnTo>
                  <a:lnTo>
                    <a:pt x="835977" y="230746"/>
                  </a:lnTo>
                  <a:lnTo>
                    <a:pt x="827316" y="243573"/>
                  </a:lnTo>
                  <a:lnTo>
                    <a:pt x="819010" y="249199"/>
                  </a:lnTo>
                  <a:lnTo>
                    <a:pt x="819010" y="309194"/>
                  </a:lnTo>
                  <a:lnTo>
                    <a:pt x="817460" y="317157"/>
                  </a:lnTo>
                  <a:lnTo>
                    <a:pt x="813206" y="323557"/>
                  </a:lnTo>
                  <a:lnTo>
                    <a:pt x="806818" y="327812"/>
                  </a:lnTo>
                  <a:lnTo>
                    <a:pt x="798855" y="329349"/>
                  </a:lnTo>
                  <a:lnTo>
                    <a:pt x="790892" y="327812"/>
                  </a:lnTo>
                  <a:lnTo>
                    <a:pt x="784491" y="323557"/>
                  </a:lnTo>
                  <a:lnTo>
                    <a:pt x="780237" y="317157"/>
                  </a:lnTo>
                  <a:lnTo>
                    <a:pt x="778700" y="309194"/>
                  </a:lnTo>
                  <a:lnTo>
                    <a:pt x="781850" y="298069"/>
                  </a:lnTo>
                  <a:lnTo>
                    <a:pt x="788771" y="284734"/>
                  </a:lnTo>
                  <a:lnTo>
                    <a:pt x="795705" y="273558"/>
                  </a:lnTo>
                  <a:lnTo>
                    <a:pt x="798855" y="268859"/>
                  </a:lnTo>
                  <a:lnTo>
                    <a:pt x="810501" y="285750"/>
                  </a:lnTo>
                  <a:lnTo>
                    <a:pt x="816483" y="295579"/>
                  </a:lnTo>
                  <a:lnTo>
                    <a:pt x="818692" y="302133"/>
                  </a:lnTo>
                  <a:lnTo>
                    <a:pt x="819010" y="309194"/>
                  </a:lnTo>
                  <a:lnTo>
                    <a:pt x="819010" y="249199"/>
                  </a:lnTo>
                  <a:lnTo>
                    <a:pt x="814501" y="252234"/>
                  </a:lnTo>
                  <a:lnTo>
                    <a:pt x="798855" y="255422"/>
                  </a:lnTo>
                  <a:lnTo>
                    <a:pt x="783209" y="252234"/>
                  </a:lnTo>
                  <a:lnTo>
                    <a:pt x="770382" y="243573"/>
                  </a:lnTo>
                  <a:lnTo>
                    <a:pt x="761733" y="230746"/>
                  </a:lnTo>
                  <a:lnTo>
                    <a:pt x="758545" y="215087"/>
                  </a:lnTo>
                  <a:lnTo>
                    <a:pt x="761733" y="199428"/>
                  </a:lnTo>
                  <a:lnTo>
                    <a:pt x="770382" y="186601"/>
                  </a:lnTo>
                  <a:lnTo>
                    <a:pt x="783209" y="177939"/>
                  </a:lnTo>
                  <a:lnTo>
                    <a:pt x="798855" y="174764"/>
                  </a:lnTo>
                  <a:lnTo>
                    <a:pt x="814501" y="177939"/>
                  </a:lnTo>
                  <a:lnTo>
                    <a:pt x="827316" y="186601"/>
                  </a:lnTo>
                  <a:lnTo>
                    <a:pt x="835977" y="199428"/>
                  </a:lnTo>
                  <a:lnTo>
                    <a:pt x="839165" y="215087"/>
                  </a:lnTo>
                  <a:lnTo>
                    <a:pt x="839165" y="9956"/>
                  </a:lnTo>
                  <a:lnTo>
                    <a:pt x="777455" y="34848"/>
                  </a:lnTo>
                  <a:lnTo>
                    <a:pt x="741832" y="60045"/>
                  </a:lnTo>
                  <a:lnTo>
                    <a:pt x="711073" y="90817"/>
                  </a:lnTo>
                  <a:lnTo>
                    <a:pt x="685901" y="126466"/>
                  </a:lnTo>
                  <a:lnTo>
                    <a:pt x="667029" y="166255"/>
                  </a:lnTo>
                  <a:lnTo>
                    <a:pt x="655167" y="209486"/>
                  </a:lnTo>
                  <a:lnTo>
                    <a:pt x="651065" y="255422"/>
                  </a:lnTo>
                  <a:lnTo>
                    <a:pt x="655167" y="301345"/>
                  </a:lnTo>
                  <a:lnTo>
                    <a:pt x="667029" y="344576"/>
                  </a:lnTo>
                  <a:lnTo>
                    <a:pt x="685901" y="384365"/>
                  </a:lnTo>
                  <a:lnTo>
                    <a:pt x="711073" y="420014"/>
                  </a:lnTo>
                  <a:lnTo>
                    <a:pt x="741832" y="450786"/>
                  </a:lnTo>
                  <a:lnTo>
                    <a:pt x="777455" y="475983"/>
                  </a:lnTo>
                  <a:lnTo>
                    <a:pt x="817232" y="494868"/>
                  </a:lnTo>
                  <a:lnTo>
                    <a:pt x="860425" y="506717"/>
                  </a:lnTo>
                  <a:lnTo>
                    <a:pt x="906335" y="510832"/>
                  </a:lnTo>
                  <a:lnTo>
                    <a:pt x="952246" y="506717"/>
                  </a:lnTo>
                  <a:lnTo>
                    <a:pt x="995451" y="494868"/>
                  </a:lnTo>
                  <a:lnTo>
                    <a:pt x="1035215" y="475983"/>
                  </a:lnTo>
                  <a:lnTo>
                    <a:pt x="1070838" y="450786"/>
                  </a:lnTo>
                  <a:lnTo>
                    <a:pt x="1101598" y="420014"/>
                  </a:lnTo>
                  <a:lnTo>
                    <a:pt x="1126782" y="384365"/>
                  </a:lnTo>
                  <a:lnTo>
                    <a:pt x="1145654" y="344576"/>
                  </a:lnTo>
                  <a:lnTo>
                    <a:pt x="1151661" y="322630"/>
                  </a:lnTo>
                  <a:lnTo>
                    <a:pt x="1157503" y="301345"/>
                  </a:lnTo>
                  <a:lnTo>
                    <a:pt x="1160411" y="268859"/>
                  </a:lnTo>
                  <a:lnTo>
                    <a:pt x="1161605" y="255422"/>
                  </a:lnTo>
                  <a:close/>
                </a:path>
              </a:pathLst>
            </a:custGeom>
            <a:solidFill>
              <a:srgbClr val="8497B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8438388" y="3547865"/>
              <a:ext cx="2489200" cy="2286000"/>
            </a:xfrm>
            <a:custGeom>
              <a:avLst/>
              <a:gdLst/>
              <a:ahLst/>
              <a:cxnLst/>
              <a:rect l="l" t="t" r="r" b="b"/>
              <a:pathLst>
                <a:path w="2489200" h="2286000">
                  <a:moveTo>
                    <a:pt x="0" y="381012"/>
                  </a:moveTo>
                  <a:lnTo>
                    <a:pt x="2968" y="333219"/>
                  </a:lnTo>
                  <a:lnTo>
                    <a:pt x="11636" y="287197"/>
                  </a:lnTo>
                  <a:lnTo>
                    <a:pt x="25646" y="243304"/>
                  </a:lnTo>
                  <a:lnTo>
                    <a:pt x="44641" y="201897"/>
                  </a:lnTo>
                  <a:lnTo>
                    <a:pt x="68264" y="163332"/>
                  </a:lnTo>
                  <a:lnTo>
                    <a:pt x="96158" y="127967"/>
                  </a:lnTo>
                  <a:lnTo>
                    <a:pt x="127965" y="96159"/>
                  </a:lnTo>
                  <a:lnTo>
                    <a:pt x="163329" y="68265"/>
                  </a:lnTo>
                  <a:lnTo>
                    <a:pt x="201893" y="44641"/>
                  </a:lnTo>
                  <a:lnTo>
                    <a:pt x="243298" y="25646"/>
                  </a:lnTo>
                  <a:lnTo>
                    <a:pt x="287190" y="11636"/>
                  </a:lnTo>
                  <a:lnTo>
                    <a:pt x="333209" y="2968"/>
                  </a:lnTo>
                  <a:lnTo>
                    <a:pt x="381000" y="0"/>
                  </a:lnTo>
                  <a:lnTo>
                    <a:pt x="2107692" y="0"/>
                  </a:lnTo>
                  <a:lnTo>
                    <a:pt x="2155482" y="2968"/>
                  </a:lnTo>
                  <a:lnTo>
                    <a:pt x="2201501" y="11636"/>
                  </a:lnTo>
                  <a:lnTo>
                    <a:pt x="2245393" y="25646"/>
                  </a:lnTo>
                  <a:lnTo>
                    <a:pt x="2286798" y="44641"/>
                  </a:lnTo>
                  <a:lnTo>
                    <a:pt x="2325362" y="68265"/>
                  </a:lnTo>
                  <a:lnTo>
                    <a:pt x="2360726" y="96159"/>
                  </a:lnTo>
                  <a:lnTo>
                    <a:pt x="2392533" y="127967"/>
                  </a:lnTo>
                  <a:lnTo>
                    <a:pt x="2420427" y="163332"/>
                  </a:lnTo>
                  <a:lnTo>
                    <a:pt x="2444050" y="201897"/>
                  </a:lnTo>
                  <a:lnTo>
                    <a:pt x="2463045" y="243304"/>
                  </a:lnTo>
                  <a:lnTo>
                    <a:pt x="2477055" y="287197"/>
                  </a:lnTo>
                  <a:lnTo>
                    <a:pt x="2485723" y="333219"/>
                  </a:lnTo>
                  <a:lnTo>
                    <a:pt x="2488692" y="381012"/>
                  </a:lnTo>
                  <a:lnTo>
                    <a:pt x="2488692" y="1904999"/>
                  </a:lnTo>
                  <a:lnTo>
                    <a:pt x="2485723" y="1952792"/>
                  </a:lnTo>
                  <a:lnTo>
                    <a:pt x="2477055" y="1998814"/>
                  </a:lnTo>
                  <a:lnTo>
                    <a:pt x="2463045" y="2042706"/>
                  </a:lnTo>
                  <a:lnTo>
                    <a:pt x="2444050" y="2084112"/>
                  </a:lnTo>
                  <a:lnTo>
                    <a:pt x="2420427" y="2122676"/>
                  </a:lnTo>
                  <a:lnTo>
                    <a:pt x="2392533" y="2158039"/>
                  </a:lnTo>
                  <a:lnTo>
                    <a:pt x="2360726" y="2189846"/>
                  </a:lnTo>
                  <a:lnTo>
                    <a:pt x="2325362" y="2217739"/>
                  </a:lnTo>
                  <a:lnTo>
                    <a:pt x="2286798" y="2241361"/>
                  </a:lnTo>
                  <a:lnTo>
                    <a:pt x="2245393" y="2260355"/>
                  </a:lnTo>
                  <a:lnTo>
                    <a:pt x="2201501" y="2274364"/>
                  </a:lnTo>
                  <a:lnTo>
                    <a:pt x="2155482" y="2283031"/>
                  </a:lnTo>
                  <a:lnTo>
                    <a:pt x="2107692" y="2285999"/>
                  </a:lnTo>
                  <a:lnTo>
                    <a:pt x="381000" y="2285999"/>
                  </a:lnTo>
                  <a:lnTo>
                    <a:pt x="333209" y="2283031"/>
                  </a:lnTo>
                  <a:lnTo>
                    <a:pt x="287190" y="2274364"/>
                  </a:lnTo>
                  <a:lnTo>
                    <a:pt x="243298" y="2260355"/>
                  </a:lnTo>
                  <a:lnTo>
                    <a:pt x="201893" y="2241361"/>
                  </a:lnTo>
                  <a:lnTo>
                    <a:pt x="163329" y="2217739"/>
                  </a:lnTo>
                  <a:lnTo>
                    <a:pt x="127965" y="2189846"/>
                  </a:lnTo>
                  <a:lnTo>
                    <a:pt x="96158" y="2158039"/>
                  </a:lnTo>
                  <a:lnTo>
                    <a:pt x="68264" y="2122676"/>
                  </a:lnTo>
                  <a:lnTo>
                    <a:pt x="44641" y="2084112"/>
                  </a:lnTo>
                  <a:lnTo>
                    <a:pt x="25646" y="2042706"/>
                  </a:lnTo>
                  <a:lnTo>
                    <a:pt x="11636" y="1998814"/>
                  </a:lnTo>
                  <a:lnTo>
                    <a:pt x="2968" y="1952792"/>
                  </a:lnTo>
                  <a:lnTo>
                    <a:pt x="0" y="1904999"/>
                  </a:lnTo>
                  <a:lnTo>
                    <a:pt x="0" y="381012"/>
                  </a:lnTo>
                  <a:close/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9676638" y="3266694"/>
              <a:ext cx="6350" cy="282575"/>
            </a:xfrm>
            <a:custGeom>
              <a:avLst/>
              <a:gdLst/>
              <a:ahLst/>
              <a:cxnLst/>
              <a:rect l="l" t="t" r="r" b="b"/>
              <a:pathLst>
                <a:path w="6350" h="282575">
                  <a:moveTo>
                    <a:pt x="0" y="0"/>
                  </a:moveTo>
                  <a:lnTo>
                    <a:pt x="6045" y="28240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20554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555" dirty="0"/>
              <a:t>Type</a:t>
            </a:r>
            <a:r>
              <a:rPr spc="-344" dirty="0"/>
              <a:t> </a:t>
            </a:r>
            <a:r>
              <a:rPr spc="-330" dirty="0"/>
              <a:t>of</a:t>
            </a:r>
            <a:r>
              <a:rPr spc="-323" dirty="0"/>
              <a:t> </a:t>
            </a:r>
            <a:r>
              <a:rPr spc="-705" dirty="0"/>
              <a:t>costs</a:t>
            </a:r>
            <a:r>
              <a:rPr spc="-353" dirty="0"/>
              <a:t> </a:t>
            </a:r>
            <a:r>
              <a:rPr spc="-188" dirty="0"/>
              <a:t>-</a:t>
            </a:r>
            <a:r>
              <a:rPr spc="-300" dirty="0"/>
              <a:t> </a:t>
            </a:r>
            <a:r>
              <a:rPr spc="-518" dirty="0"/>
              <a:t>‘cost</a:t>
            </a:r>
            <a:r>
              <a:rPr spc="-353" dirty="0"/>
              <a:t> </a:t>
            </a:r>
            <a:r>
              <a:rPr spc="-233" dirty="0"/>
              <a:t>to</a:t>
            </a:r>
            <a:r>
              <a:rPr spc="-323" dirty="0"/>
              <a:t> </a:t>
            </a:r>
            <a:r>
              <a:rPr spc="-503" dirty="0"/>
              <a:t>whom?’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5732" y="3415859"/>
            <a:ext cx="9558909" cy="5384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75409" y="2148272"/>
            <a:ext cx="10055543" cy="1884811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5250" b="1" spc="-623" dirty="0">
                <a:solidFill>
                  <a:srgbClr val="153553"/>
                </a:solidFill>
                <a:latin typeface="Arial"/>
                <a:cs typeface="Arial"/>
              </a:rPr>
              <a:t>Perspectives</a:t>
            </a:r>
            <a:endParaRPr sz="5250">
              <a:latin typeface="Arial"/>
              <a:cs typeface="Arial"/>
            </a:endParaRPr>
          </a:p>
          <a:p>
            <a:pPr marL="6661785">
              <a:spcBef>
                <a:spcPts val="3165"/>
              </a:spcBef>
            </a:pPr>
            <a:r>
              <a:rPr sz="4200" b="1" spc="-705" dirty="0">
                <a:solidFill>
                  <a:srgbClr val="C00000"/>
                </a:solidFill>
                <a:latin typeface="Arial"/>
                <a:cs typeface="Arial"/>
              </a:rPr>
              <a:t>Societal</a:t>
            </a:r>
            <a:r>
              <a:rPr sz="4200" b="1" spc="-4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200" b="1" spc="-758" dirty="0">
                <a:solidFill>
                  <a:srgbClr val="C00000"/>
                </a:solidFill>
                <a:latin typeface="Arial"/>
                <a:cs typeface="Arial"/>
              </a:rPr>
              <a:t>perspective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34577" y="4463975"/>
            <a:ext cx="1427798" cy="940963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19050" marR="7620" indent="186690">
              <a:lnSpc>
                <a:spcPts val="3525"/>
              </a:lnSpc>
              <a:spcBef>
                <a:spcPts val="338"/>
              </a:spcBef>
            </a:pPr>
            <a:r>
              <a:rPr sz="3000" b="1" spc="-555" dirty="0">
                <a:solidFill>
                  <a:srgbClr val="DCC050"/>
                </a:solidFill>
                <a:latin typeface="Arial"/>
                <a:cs typeface="Arial"/>
              </a:rPr>
              <a:t>Provider</a:t>
            </a:r>
            <a:r>
              <a:rPr sz="3000" b="1" spc="750" dirty="0">
                <a:solidFill>
                  <a:srgbClr val="DCC050"/>
                </a:solidFill>
                <a:latin typeface="Arial"/>
                <a:cs typeface="Arial"/>
              </a:rPr>
              <a:t> </a:t>
            </a:r>
            <a:r>
              <a:rPr sz="3000" b="1" spc="-548" dirty="0">
                <a:solidFill>
                  <a:srgbClr val="DCC050"/>
                </a:solidFill>
                <a:latin typeface="Arial"/>
                <a:cs typeface="Arial"/>
              </a:rPr>
              <a:t>perspective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93877" y="6672911"/>
            <a:ext cx="1427798" cy="940001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9050" marR="7620" indent="353378">
              <a:lnSpc>
                <a:spcPts val="3525"/>
              </a:lnSpc>
              <a:spcBef>
                <a:spcPts val="330"/>
              </a:spcBef>
            </a:pPr>
            <a:r>
              <a:rPr sz="3000" b="1" spc="-593" dirty="0">
                <a:solidFill>
                  <a:srgbClr val="30442B"/>
                </a:solidFill>
                <a:latin typeface="Arial"/>
                <a:cs typeface="Arial"/>
              </a:rPr>
              <a:t>Payer</a:t>
            </a:r>
            <a:r>
              <a:rPr sz="3000" b="1" spc="750" dirty="0">
                <a:solidFill>
                  <a:srgbClr val="30442B"/>
                </a:solidFill>
                <a:latin typeface="Arial"/>
                <a:cs typeface="Arial"/>
              </a:rPr>
              <a:t> </a:t>
            </a:r>
            <a:r>
              <a:rPr sz="3000" b="1" spc="-548" dirty="0">
                <a:solidFill>
                  <a:srgbClr val="30442B"/>
                </a:solidFill>
                <a:latin typeface="Arial"/>
                <a:cs typeface="Arial"/>
              </a:rPr>
              <a:t>perspective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4956" y="6672911"/>
            <a:ext cx="1427798" cy="940001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9050" marR="7620" indent="278130">
              <a:lnSpc>
                <a:spcPts val="3525"/>
              </a:lnSpc>
              <a:spcBef>
                <a:spcPts val="330"/>
              </a:spcBef>
            </a:pPr>
            <a:r>
              <a:rPr sz="3000" b="1" spc="-518" dirty="0">
                <a:solidFill>
                  <a:srgbClr val="0033CC"/>
                </a:solidFill>
                <a:latin typeface="Arial"/>
                <a:cs typeface="Arial"/>
              </a:rPr>
              <a:t>Patient </a:t>
            </a:r>
            <a:r>
              <a:rPr sz="3000" b="1" spc="-548" dirty="0">
                <a:solidFill>
                  <a:srgbClr val="0033CC"/>
                </a:solidFill>
                <a:latin typeface="Arial"/>
                <a:cs typeface="Arial"/>
              </a:rPr>
              <a:t>perspective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47775" y="3398898"/>
            <a:ext cx="5334000" cy="5368290"/>
            <a:chOff x="831850" y="2265932"/>
            <a:chExt cx="3556000" cy="3578860"/>
          </a:xfrm>
        </p:grpSpPr>
        <p:sp>
          <p:nvSpPr>
            <p:cNvPr id="9" name="object 9"/>
            <p:cNvSpPr/>
            <p:nvPr/>
          </p:nvSpPr>
          <p:spPr>
            <a:xfrm>
              <a:off x="838200" y="2272282"/>
              <a:ext cx="3543300" cy="3566160"/>
            </a:xfrm>
            <a:custGeom>
              <a:avLst/>
              <a:gdLst/>
              <a:ahLst/>
              <a:cxnLst/>
              <a:rect l="l" t="t" r="r" b="b"/>
              <a:pathLst>
                <a:path w="3543300" h="3566160">
                  <a:moveTo>
                    <a:pt x="2952737" y="0"/>
                  </a:moveTo>
                  <a:lnTo>
                    <a:pt x="590562" y="0"/>
                  </a:lnTo>
                  <a:lnTo>
                    <a:pt x="542127" y="1957"/>
                  </a:lnTo>
                  <a:lnTo>
                    <a:pt x="494769" y="7729"/>
                  </a:lnTo>
                  <a:lnTo>
                    <a:pt x="448642" y="17163"/>
                  </a:lnTo>
                  <a:lnTo>
                    <a:pt x="403898" y="30107"/>
                  </a:lnTo>
                  <a:lnTo>
                    <a:pt x="360687" y="46408"/>
                  </a:lnTo>
                  <a:lnTo>
                    <a:pt x="319163" y="65917"/>
                  </a:lnTo>
                  <a:lnTo>
                    <a:pt x="279478" y="88479"/>
                  </a:lnTo>
                  <a:lnTo>
                    <a:pt x="241782" y="113943"/>
                  </a:lnTo>
                  <a:lnTo>
                    <a:pt x="206229" y="142158"/>
                  </a:lnTo>
                  <a:lnTo>
                    <a:pt x="172970" y="172970"/>
                  </a:lnTo>
                  <a:lnTo>
                    <a:pt x="142158" y="206229"/>
                  </a:lnTo>
                  <a:lnTo>
                    <a:pt x="113943" y="241782"/>
                  </a:lnTo>
                  <a:lnTo>
                    <a:pt x="88479" y="279478"/>
                  </a:lnTo>
                  <a:lnTo>
                    <a:pt x="65917" y="319163"/>
                  </a:lnTo>
                  <a:lnTo>
                    <a:pt x="46408" y="360687"/>
                  </a:lnTo>
                  <a:lnTo>
                    <a:pt x="30107" y="403898"/>
                  </a:lnTo>
                  <a:lnTo>
                    <a:pt x="17163" y="448642"/>
                  </a:lnTo>
                  <a:lnTo>
                    <a:pt x="7729" y="494769"/>
                  </a:lnTo>
                  <a:lnTo>
                    <a:pt x="1957" y="542127"/>
                  </a:lnTo>
                  <a:lnTo>
                    <a:pt x="0" y="590562"/>
                  </a:lnTo>
                  <a:lnTo>
                    <a:pt x="0" y="2975597"/>
                  </a:lnTo>
                  <a:lnTo>
                    <a:pt x="1957" y="3024032"/>
                  </a:lnTo>
                  <a:lnTo>
                    <a:pt x="7729" y="3071390"/>
                  </a:lnTo>
                  <a:lnTo>
                    <a:pt x="17163" y="3117517"/>
                  </a:lnTo>
                  <a:lnTo>
                    <a:pt x="30107" y="3162261"/>
                  </a:lnTo>
                  <a:lnTo>
                    <a:pt x="46408" y="3205472"/>
                  </a:lnTo>
                  <a:lnTo>
                    <a:pt x="65917" y="3246996"/>
                  </a:lnTo>
                  <a:lnTo>
                    <a:pt x="88479" y="3286681"/>
                  </a:lnTo>
                  <a:lnTo>
                    <a:pt x="113943" y="3324377"/>
                  </a:lnTo>
                  <a:lnTo>
                    <a:pt x="142158" y="3359930"/>
                  </a:lnTo>
                  <a:lnTo>
                    <a:pt x="172970" y="3393189"/>
                  </a:lnTo>
                  <a:lnTo>
                    <a:pt x="206229" y="3424001"/>
                  </a:lnTo>
                  <a:lnTo>
                    <a:pt x="241782" y="3452216"/>
                  </a:lnTo>
                  <a:lnTo>
                    <a:pt x="279478" y="3477680"/>
                  </a:lnTo>
                  <a:lnTo>
                    <a:pt x="319163" y="3500242"/>
                  </a:lnTo>
                  <a:lnTo>
                    <a:pt x="360687" y="3519751"/>
                  </a:lnTo>
                  <a:lnTo>
                    <a:pt x="403898" y="3536052"/>
                  </a:lnTo>
                  <a:lnTo>
                    <a:pt x="448642" y="3548996"/>
                  </a:lnTo>
                  <a:lnTo>
                    <a:pt x="494769" y="3558430"/>
                  </a:lnTo>
                  <a:lnTo>
                    <a:pt x="542127" y="3564202"/>
                  </a:lnTo>
                  <a:lnTo>
                    <a:pt x="590562" y="3566159"/>
                  </a:lnTo>
                  <a:lnTo>
                    <a:pt x="2952737" y="3566159"/>
                  </a:lnTo>
                  <a:lnTo>
                    <a:pt x="3001172" y="3564202"/>
                  </a:lnTo>
                  <a:lnTo>
                    <a:pt x="3048530" y="3558430"/>
                  </a:lnTo>
                  <a:lnTo>
                    <a:pt x="3094657" y="3548996"/>
                  </a:lnTo>
                  <a:lnTo>
                    <a:pt x="3139401" y="3536052"/>
                  </a:lnTo>
                  <a:lnTo>
                    <a:pt x="3182612" y="3519751"/>
                  </a:lnTo>
                  <a:lnTo>
                    <a:pt x="3224136" y="3500242"/>
                  </a:lnTo>
                  <a:lnTo>
                    <a:pt x="3263821" y="3477680"/>
                  </a:lnTo>
                  <a:lnTo>
                    <a:pt x="3301517" y="3452216"/>
                  </a:lnTo>
                  <a:lnTo>
                    <a:pt x="3337070" y="3424001"/>
                  </a:lnTo>
                  <a:lnTo>
                    <a:pt x="3370329" y="3393189"/>
                  </a:lnTo>
                  <a:lnTo>
                    <a:pt x="3401141" y="3359930"/>
                  </a:lnTo>
                  <a:lnTo>
                    <a:pt x="3429356" y="3324377"/>
                  </a:lnTo>
                  <a:lnTo>
                    <a:pt x="3454820" y="3286681"/>
                  </a:lnTo>
                  <a:lnTo>
                    <a:pt x="3477382" y="3246996"/>
                  </a:lnTo>
                  <a:lnTo>
                    <a:pt x="3496891" y="3205472"/>
                  </a:lnTo>
                  <a:lnTo>
                    <a:pt x="3513192" y="3162261"/>
                  </a:lnTo>
                  <a:lnTo>
                    <a:pt x="3526136" y="3117517"/>
                  </a:lnTo>
                  <a:lnTo>
                    <a:pt x="3535570" y="3071390"/>
                  </a:lnTo>
                  <a:lnTo>
                    <a:pt x="3541342" y="3024032"/>
                  </a:lnTo>
                  <a:lnTo>
                    <a:pt x="3543300" y="2975597"/>
                  </a:lnTo>
                  <a:lnTo>
                    <a:pt x="3543300" y="590562"/>
                  </a:lnTo>
                  <a:lnTo>
                    <a:pt x="3541342" y="542127"/>
                  </a:lnTo>
                  <a:lnTo>
                    <a:pt x="3535570" y="494769"/>
                  </a:lnTo>
                  <a:lnTo>
                    <a:pt x="3526136" y="448642"/>
                  </a:lnTo>
                  <a:lnTo>
                    <a:pt x="3513192" y="403898"/>
                  </a:lnTo>
                  <a:lnTo>
                    <a:pt x="3496891" y="360687"/>
                  </a:lnTo>
                  <a:lnTo>
                    <a:pt x="3477382" y="319163"/>
                  </a:lnTo>
                  <a:lnTo>
                    <a:pt x="3454820" y="279478"/>
                  </a:lnTo>
                  <a:lnTo>
                    <a:pt x="3429356" y="241782"/>
                  </a:lnTo>
                  <a:lnTo>
                    <a:pt x="3401141" y="206229"/>
                  </a:lnTo>
                  <a:lnTo>
                    <a:pt x="3370329" y="172970"/>
                  </a:lnTo>
                  <a:lnTo>
                    <a:pt x="3337070" y="142158"/>
                  </a:lnTo>
                  <a:lnTo>
                    <a:pt x="3301517" y="113943"/>
                  </a:lnTo>
                  <a:lnTo>
                    <a:pt x="3263821" y="88479"/>
                  </a:lnTo>
                  <a:lnTo>
                    <a:pt x="3224136" y="65917"/>
                  </a:lnTo>
                  <a:lnTo>
                    <a:pt x="3182612" y="46408"/>
                  </a:lnTo>
                  <a:lnTo>
                    <a:pt x="3139401" y="30107"/>
                  </a:lnTo>
                  <a:lnTo>
                    <a:pt x="3094657" y="17163"/>
                  </a:lnTo>
                  <a:lnTo>
                    <a:pt x="3048530" y="7729"/>
                  </a:lnTo>
                  <a:lnTo>
                    <a:pt x="3001172" y="1957"/>
                  </a:lnTo>
                  <a:lnTo>
                    <a:pt x="2952737" y="0"/>
                  </a:lnTo>
                  <a:close/>
                </a:path>
              </a:pathLst>
            </a:custGeom>
            <a:solidFill>
              <a:srgbClr val="174A8C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200" y="2272282"/>
              <a:ext cx="3543300" cy="3566160"/>
            </a:xfrm>
            <a:custGeom>
              <a:avLst/>
              <a:gdLst/>
              <a:ahLst/>
              <a:cxnLst/>
              <a:rect l="l" t="t" r="r" b="b"/>
              <a:pathLst>
                <a:path w="3543300" h="3566160">
                  <a:moveTo>
                    <a:pt x="0" y="590562"/>
                  </a:moveTo>
                  <a:lnTo>
                    <a:pt x="1957" y="542127"/>
                  </a:lnTo>
                  <a:lnTo>
                    <a:pt x="7729" y="494769"/>
                  </a:lnTo>
                  <a:lnTo>
                    <a:pt x="17163" y="448642"/>
                  </a:lnTo>
                  <a:lnTo>
                    <a:pt x="30107" y="403898"/>
                  </a:lnTo>
                  <a:lnTo>
                    <a:pt x="46408" y="360687"/>
                  </a:lnTo>
                  <a:lnTo>
                    <a:pt x="65917" y="319163"/>
                  </a:lnTo>
                  <a:lnTo>
                    <a:pt x="88479" y="279478"/>
                  </a:lnTo>
                  <a:lnTo>
                    <a:pt x="113943" y="241782"/>
                  </a:lnTo>
                  <a:lnTo>
                    <a:pt x="142158" y="206229"/>
                  </a:lnTo>
                  <a:lnTo>
                    <a:pt x="172970" y="172970"/>
                  </a:lnTo>
                  <a:lnTo>
                    <a:pt x="206229" y="142158"/>
                  </a:lnTo>
                  <a:lnTo>
                    <a:pt x="241782" y="113943"/>
                  </a:lnTo>
                  <a:lnTo>
                    <a:pt x="279478" y="88479"/>
                  </a:lnTo>
                  <a:lnTo>
                    <a:pt x="319163" y="65917"/>
                  </a:lnTo>
                  <a:lnTo>
                    <a:pt x="360687" y="46408"/>
                  </a:lnTo>
                  <a:lnTo>
                    <a:pt x="403898" y="30107"/>
                  </a:lnTo>
                  <a:lnTo>
                    <a:pt x="448642" y="17163"/>
                  </a:lnTo>
                  <a:lnTo>
                    <a:pt x="494769" y="7729"/>
                  </a:lnTo>
                  <a:lnTo>
                    <a:pt x="542127" y="1957"/>
                  </a:lnTo>
                  <a:lnTo>
                    <a:pt x="590562" y="0"/>
                  </a:lnTo>
                  <a:lnTo>
                    <a:pt x="2952737" y="0"/>
                  </a:lnTo>
                  <a:lnTo>
                    <a:pt x="3001172" y="1957"/>
                  </a:lnTo>
                  <a:lnTo>
                    <a:pt x="3048530" y="7729"/>
                  </a:lnTo>
                  <a:lnTo>
                    <a:pt x="3094657" y="17163"/>
                  </a:lnTo>
                  <a:lnTo>
                    <a:pt x="3139401" y="30107"/>
                  </a:lnTo>
                  <a:lnTo>
                    <a:pt x="3182612" y="46408"/>
                  </a:lnTo>
                  <a:lnTo>
                    <a:pt x="3224136" y="65917"/>
                  </a:lnTo>
                  <a:lnTo>
                    <a:pt x="3263821" y="88479"/>
                  </a:lnTo>
                  <a:lnTo>
                    <a:pt x="3301517" y="113943"/>
                  </a:lnTo>
                  <a:lnTo>
                    <a:pt x="3337070" y="142158"/>
                  </a:lnTo>
                  <a:lnTo>
                    <a:pt x="3370329" y="172970"/>
                  </a:lnTo>
                  <a:lnTo>
                    <a:pt x="3401141" y="206229"/>
                  </a:lnTo>
                  <a:lnTo>
                    <a:pt x="3429356" y="241782"/>
                  </a:lnTo>
                  <a:lnTo>
                    <a:pt x="3454820" y="279478"/>
                  </a:lnTo>
                  <a:lnTo>
                    <a:pt x="3477382" y="319163"/>
                  </a:lnTo>
                  <a:lnTo>
                    <a:pt x="3496891" y="360687"/>
                  </a:lnTo>
                  <a:lnTo>
                    <a:pt x="3513192" y="403898"/>
                  </a:lnTo>
                  <a:lnTo>
                    <a:pt x="3526136" y="448642"/>
                  </a:lnTo>
                  <a:lnTo>
                    <a:pt x="3535570" y="494769"/>
                  </a:lnTo>
                  <a:lnTo>
                    <a:pt x="3541342" y="542127"/>
                  </a:lnTo>
                  <a:lnTo>
                    <a:pt x="3543300" y="590562"/>
                  </a:lnTo>
                  <a:lnTo>
                    <a:pt x="3543300" y="2975597"/>
                  </a:lnTo>
                  <a:lnTo>
                    <a:pt x="3541342" y="3024032"/>
                  </a:lnTo>
                  <a:lnTo>
                    <a:pt x="3535570" y="3071390"/>
                  </a:lnTo>
                  <a:lnTo>
                    <a:pt x="3526136" y="3117517"/>
                  </a:lnTo>
                  <a:lnTo>
                    <a:pt x="3513192" y="3162261"/>
                  </a:lnTo>
                  <a:lnTo>
                    <a:pt x="3496891" y="3205472"/>
                  </a:lnTo>
                  <a:lnTo>
                    <a:pt x="3477382" y="3246996"/>
                  </a:lnTo>
                  <a:lnTo>
                    <a:pt x="3454820" y="3286681"/>
                  </a:lnTo>
                  <a:lnTo>
                    <a:pt x="3429356" y="3324377"/>
                  </a:lnTo>
                  <a:lnTo>
                    <a:pt x="3401141" y="3359930"/>
                  </a:lnTo>
                  <a:lnTo>
                    <a:pt x="3370329" y="3393189"/>
                  </a:lnTo>
                  <a:lnTo>
                    <a:pt x="3337070" y="3424001"/>
                  </a:lnTo>
                  <a:lnTo>
                    <a:pt x="3301517" y="3452216"/>
                  </a:lnTo>
                  <a:lnTo>
                    <a:pt x="3263821" y="3477680"/>
                  </a:lnTo>
                  <a:lnTo>
                    <a:pt x="3224136" y="3500242"/>
                  </a:lnTo>
                  <a:lnTo>
                    <a:pt x="3182612" y="3519751"/>
                  </a:lnTo>
                  <a:lnTo>
                    <a:pt x="3139401" y="3536052"/>
                  </a:lnTo>
                  <a:lnTo>
                    <a:pt x="3094657" y="3548996"/>
                  </a:lnTo>
                  <a:lnTo>
                    <a:pt x="3048530" y="3558430"/>
                  </a:lnTo>
                  <a:lnTo>
                    <a:pt x="3001172" y="3564202"/>
                  </a:lnTo>
                  <a:lnTo>
                    <a:pt x="2952737" y="3566159"/>
                  </a:lnTo>
                  <a:lnTo>
                    <a:pt x="590562" y="3566159"/>
                  </a:lnTo>
                  <a:lnTo>
                    <a:pt x="542127" y="3564202"/>
                  </a:lnTo>
                  <a:lnTo>
                    <a:pt x="494769" y="3558430"/>
                  </a:lnTo>
                  <a:lnTo>
                    <a:pt x="448642" y="3548996"/>
                  </a:lnTo>
                  <a:lnTo>
                    <a:pt x="403898" y="3536052"/>
                  </a:lnTo>
                  <a:lnTo>
                    <a:pt x="360687" y="3519751"/>
                  </a:lnTo>
                  <a:lnTo>
                    <a:pt x="319163" y="3500242"/>
                  </a:lnTo>
                  <a:lnTo>
                    <a:pt x="279478" y="3477680"/>
                  </a:lnTo>
                  <a:lnTo>
                    <a:pt x="241782" y="3452216"/>
                  </a:lnTo>
                  <a:lnTo>
                    <a:pt x="206229" y="3424001"/>
                  </a:lnTo>
                  <a:lnTo>
                    <a:pt x="172970" y="3393189"/>
                  </a:lnTo>
                  <a:lnTo>
                    <a:pt x="142158" y="3359930"/>
                  </a:lnTo>
                  <a:lnTo>
                    <a:pt x="113943" y="3324377"/>
                  </a:lnTo>
                  <a:lnTo>
                    <a:pt x="88479" y="3286681"/>
                  </a:lnTo>
                  <a:lnTo>
                    <a:pt x="65917" y="3246996"/>
                  </a:lnTo>
                  <a:lnTo>
                    <a:pt x="46408" y="3205472"/>
                  </a:lnTo>
                  <a:lnTo>
                    <a:pt x="30107" y="3162261"/>
                  </a:lnTo>
                  <a:lnTo>
                    <a:pt x="17163" y="3117517"/>
                  </a:lnTo>
                  <a:lnTo>
                    <a:pt x="7729" y="3071390"/>
                  </a:lnTo>
                  <a:lnTo>
                    <a:pt x="1957" y="3024032"/>
                  </a:lnTo>
                  <a:lnTo>
                    <a:pt x="0" y="2975597"/>
                  </a:lnTo>
                  <a:lnTo>
                    <a:pt x="0" y="590562"/>
                  </a:lnTo>
                  <a:close/>
                </a:path>
              </a:pathLst>
            </a:custGeom>
            <a:ln w="12700">
              <a:solidFill>
                <a:srgbClr val="041A38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12824" y="4662056"/>
            <a:ext cx="4403408" cy="168122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indent="191453" algn="just">
              <a:spcBef>
                <a:spcPts val="150"/>
              </a:spcBef>
            </a:pPr>
            <a:r>
              <a:rPr sz="3600" spc="-390" dirty="0">
                <a:solidFill>
                  <a:srgbClr val="F2F2F2"/>
                </a:solidFill>
                <a:latin typeface="Arial"/>
                <a:cs typeface="Arial"/>
              </a:rPr>
              <a:t>The</a:t>
            </a:r>
            <a:r>
              <a:rPr sz="3600" spc="13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171" dirty="0">
                <a:solidFill>
                  <a:srgbClr val="F2F2F2"/>
                </a:solidFill>
                <a:latin typeface="Arial"/>
                <a:cs typeface="Arial"/>
              </a:rPr>
              <a:t>perspective</a:t>
            </a:r>
            <a:r>
              <a:rPr sz="3600" spc="9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30" dirty="0">
                <a:solidFill>
                  <a:srgbClr val="F2F2F2"/>
                </a:solidFill>
                <a:latin typeface="Arial"/>
                <a:cs typeface="Arial"/>
              </a:rPr>
              <a:t>must </a:t>
            </a:r>
            <a:r>
              <a:rPr sz="3600" spc="-306" dirty="0">
                <a:solidFill>
                  <a:srgbClr val="F2F2F2"/>
                </a:solidFill>
                <a:latin typeface="Arial"/>
                <a:cs typeface="Arial"/>
              </a:rPr>
              <a:t>be</a:t>
            </a:r>
            <a:r>
              <a:rPr sz="3600" spc="53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158" dirty="0">
                <a:solidFill>
                  <a:srgbClr val="F2F2F2"/>
                </a:solidFill>
                <a:latin typeface="Arial"/>
                <a:cs typeface="Arial"/>
              </a:rPr>
              <a:t>specified</a:t>
            </a:r>
            <a:r>
              <a:rPr sz="3600" spc="8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285" dirty="0">
                <a:solidFill>
                  <a:srgbClr val="F2F2F2"/>
                </a:solidFill>
                <a:latin typeface="Arial"/>
                <a:cs typeface="Arial"/>
              </a:rPr>
              <a:t>because</a:t>
            </a:r>
            <a:r>
              <a:rPr sz="3600" spc="38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68" dirty="0">
                <a:solidFill>
                  <a:srgbClr val="F2F2F2"/>
                </a:solidFill>
                <a:latin typeface="Arial"/>
                <a:cs typeface="Arial"/>
              </a:rPr>
              <a:t>it </a:t>
            </a:r>
            <a:r>
              <a:rPr sz="3600" spc="-135" dirty="0">
                <a:solidFill>
                  <a:srgbClr val="F2F2F2"/>
                </a:solidFill>
                <a:latin typeface="Arial"/>
                <a:cs typeface="Arial"/>
              </a:rPr>
              <a:t>determines</a:t>
            </a:r>
            <a:r>
              <a:rPr sz="3600" spc="-16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120" dirty="0">
                <a:solidFill>
                  <a:srgbClr val="F2F2F2"/>
                </a:solidFill>
                <a:latin typeface="Arial"/>
                <a:cs typeface="Arial"/>
              </a:rPr>
              <a:t>which</a:t>
            </a:r>
            <a:r>
              <a:rPr sz="3600" spc="-15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188" dirty="0">
                <a:solidFill>
                  <a:srgbClr val="F2F2F2"/>
                </a:solidFill>
                <a:latin typeface="Arial"/>
                <a:cs typeface="Arial"/>
              </a:rPr>
              <a:t>costs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9692" y="6307976"/>
            <a:ext cx="4230053" cy="112723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07733" marR="7620" indent="-889635">
              <a:spcBef>
                <a:spcPts val="150"/>
              </a:spcBef>
            </a:pPr>
            <a:r>
              <a:rPr sz="3600" dirty="0">
                <a:solidFill>
                  <a:srgbClr val="F2F2F2"/>
                </a:solidFill>
                <a:latin typeface="Arial"/>
                <a:cs typeface="Arial"/>
              </a:rPr>
              <a:t>to</a:t>
            </a:r>
            <a:r>
              <a:rPr sz="3600" spc="-165" dirty="0">
                <a:solidFill>
                  <a:srgbClr val="F2F2F2"/>
                </a:solidFill>
                <a:latin typeface="Arial"/>
                <a:cs typeface="Arial"/>
              </a:rPr>
              <a:t> consider</a:t>
            </a:r>
            <a:r>
              <a:rPr sz="3600" spc="-15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195" dirty="0">
                <a:solidFill>
                  <a:srgbClr val="F2F2F2"/>
                </a:solidFill>
                <a:latin typeface="Arial"/>
                <a:cs typeface="Arial"/>
              </a:rPr>
              <a:t>and</a:t>
            </a:r>
            <a:r>
              <a:rPr sz="3600" spc="-158" dirty="0">
                <a:solidFill>
                  <a:srgbClr val="F2F2F2"/>
                </a:solidFill>
                <a:latin typeface="Arial"/>
                <a:cs typeface="Arial"/>
              </a:rPr>
              <a:t> whose </a:t>
            </a:r>
            <a:r>
              <a:rPr sz="3600" spc="-225" dirty="0">
                <a:solidFill>
                  <a:srgbClr val="F2F2F2"/>
                </a:solidFill>
                <a:latin typeface="Arial"/>
                <a:cs typeface="Arial"/>
              </a:rPr>
              <a:t>values</a:t>
            </a:r>
            <a:r>
              <a:rPr sz="3600" spc="-127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2F2F2"/>
                </a:solidFill>
                <a:latin typeface="Arial"/>
                <a:cs typeface="Arial"/>
              </a:rPr>
              <a:t>to</a:t>
            </a:r>
            <a:r>
              <a:rPr sz="3600" spc="-13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3600" spc="-38" dirty="0">
                <a:solidFill>
                  <a:srgbClr val="F2F2F2"/>
                </a:solidFill>
                <a:latin typeface="Arial"/>
                <a:cs typeface="Arial"/>
              </a:rPr>
              <a:t>use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412" y="9666918"/>
            <a:ext cx="1142809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Sittimart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M,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Rattanavipapong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W,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Mirelman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43" dirty="0">
                <a:solidFill>
                  <a:srgbClr val="1B1B1B"/>
                </a:solidFill>
                <a:latin typeface="Arial"/>
                <a:cs typeface="Arial"/>
              </a:rPr>
              <a:t>AJ,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Hung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TM,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Dabak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71" dirty="0">
                <a:solidFill>
                  <a:srgbClr val="1B1B1B"/>
                </a:solidFill>
                <a:latin typeface="Arial"/>
                <a:cs typeface="Arial"/>
              </a:rPr>
              <a:t>S,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Downey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65" dirty="0">
                <a:solidFill>
                  <a:srgbClr val="1B1B1B"/>
                </a:solidFill>
                <a:latin typeface="Arial"/>
                <a:cs typeface="Arial"/>
              </a:rPr>
              <a:t>LE,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Jit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M,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Teerawattananon </a:t>
            </a:r>
            <a:r>
              <a:rPr sz="1350" spc="-143" dirty="0">
                <a:solidFill>
                  <a:srgbClr val="1B1B1B"/>
                </a:solidFill>
                <a:latin typeface="Arial"/>
                <a:cs typeface="Arial"/>
              </a:rPr>
              <a:t>Y,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Turner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8" dirty="0">
                <a:solidFill>
                  <a:srgbClr val="1B1B1B"/>
                </a:solidFill>
                <a:latin typeface="Arial"/>
                <a:cs typeface="Arial"/>
              </a:rPr>
              <a:t>HC.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8" dirty="0">
                <a:solidFill>
                  <a:srgbClr val="1B1B1B"/>
                </a:solidFill>
                <a:latin typeface="Arial"/>
                <a:cs typeface="Arial"/>
              </a:rPr>
              <a:t>An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overview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of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the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perspectives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8" dirty="0">
                <a:solidFill>
                  <a:srgbClr val="1B1B1B"/>
                </a:solidFill>
                <a:latin typeface="Arial"/>
                <a:cs typeface="Arial"/>
              </a:rPr>
              <a:t>used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in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health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economic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evaluations.</a:t>
            </a:r>
            <a:r>
              <a:rPr sz="1350" spc="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Cost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Eff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8" dirty="0">
                <a:solidFill>
                  <a:srgbClr val="1B1B1B"/>
                </a:solidFill>
                <a:latin typeface="Arial"/>
                <a:cs typeface="Arial"/>
              </a:rPr>
              <a:t>Resour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Alloc.</a:t>
            </a:r>
            <a:r>
              <a:rPr sz="1350" spc="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2024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May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14;22(1):41. 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doi: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10.1186/s12962-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024-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00552-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1.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PMID: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38741138;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1B1B1B"/>
                </a:solidFill>
                <a:latin typeface="Arial"/>
                <a:cs typeface="Arial"/>
              </a:rPr>
              <a:t>PMCID: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PMC11092188.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20554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555" dirty="0"/>
              <a:t>Type</a:t>
            </a:r>
            <a:r>
              <a:rPr spc="-338" dirty="0"/>
              <a:t> </a:t>
            </a:r>
            <a:r>
              <a:rPr spc="-315" dirty="0"/>
              <a:t>of </a:t>
            </a:r>
            <a:r>
              <a:rPr spc="-548" dirty="0"/>
              <a:t>outcomes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6855" y="3554729"/>
            <a:ext cx="1655063" cy="1655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0641" y="3470149"/>
            <a:ext cx="1655063" cy="16550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08275" y="5593833"/>
            <a:ext cx="3493770" cy="3116580"/>
          </a:xfrm>
          <a:custGeom>
            <a:avLst/>
            <a:gdLst/>
            <a:ahLst/>
            <a:cxnLst/>
            <a:rect l="l" t="t" r="r" b="b"/>
            <a:pathLst>
              <a:path w="2329179" h="2077720">
                <a:moveTo>
                  <a:pt x="1982457" y="0"/>
                </a:moveTo>
                <a:lnTo>
                  <a:pt x="346214" y="0"/>
                </a:lnTo>
                <a:lnTo>
                  <a:pt x="299234" y="3160"/>
                </a:lnTo>
                <a:lnTo>
                  <a:pt x="254176" y="12366"/>
                </a:lnTo>
                <a:lnTo>
                  <a:pt x="211451" y="27206"/>
                </a:lnTo>
                <a:lnTo>
                  <a:pt x="171472" y="47267"/>
                </a:lnTo>
                <a:lnTo>
                  <a:pt x="134652" y="72137"/>
                </a:lnTo>
                <a:lnTo>
                  <a:pt x="101403" y="101403"/>
                </a:lnTo>
                <a:lnTo>
                  <a:pt x="72137" y="134652"/>
                </a:lnTo>
                <a:lnTo>
                  <a:pt x="47267" y="171472"/>
                </a:lnTo>
                <a:lnTo>
                  <a:pt x="27206" y="211451"/>
                </a:lnTo>
                <a:lnTo>
                  <a:pt x="12366" y="254176"/>
                </a:lnTo>
                <a:lnTo>
                  <a:pt x="3160" y="299234"/>
                </a:lnTo>
                <a:lnTo>
                  <a:pt x="0" y="346214"/>
                </a:lnTo>
                <a:lnTo>
                  <a:pt x="0" y="1731010"/>
                </a:lnTo>
                <a:lnTo>
                  <a:pt x="3160" y="1777986"/>
                </a:lnTo>
                <a:lnTo>
                  <a:pt x="12366" y="1823042"/>
                </a:lnTo>
                <a:lnTo>
                  <a:pt x="27206" y="1865765"/>
                </a:lnTo>
                <a:lnTo>
                  <a:pt x="47267" y="1905743"/>
                </a:lnTo>
                <a:lnTo>
                  <a:pt x="72137" y="1942562"/>
                </a:lnTo>
                <a:lnTo>
                  <a:pt x="101403" y="1975810"/>
                </a:lnTo>
                <a:lnTo>
                  <a:pt x="134652" y="2005075"/>
                </a:lnTo>
                <a:lnTo>
                  <a:pt x="171472" y="2029944"/>
                </a:lnTo>
                <a:lnTo>
                  <a:pt x="211451" y="2050005"/>
                </a:lnTo>
                <a:lnTo>
                  <a:pt x="254176" y="2064845"/>
                </a:lnTo>
                <a:lnTo>
                  <a:pt x="299234" y="2074051"/>
                </a:lnTo>
                <a:lnTo>
                  <a:pt x="346214" y="2077212"/>
                </a:lnTo>
                <a:lnTo>
                  <a:pt x="1982457" y="2077212"/>
                </a:lnTo>
                <a:lnTo>
                  <a:pt x="2029437" y="2074051"/>
                </a:lnTo>
                <a:lnTo>
                  <a:pt x="2074495" y="2064845"/>
                </a:lnTo>
                <a:lnTo>
                  <a:pt x="2117220" y="2050005"/>
                </a:lnTo>
                <a:lnTo>
                  <a:pt x="2157199" y="2029944"/>
                </a:lnTo>
                <a:lnTo>
                  <a:pt x="2194019" y="2005075"/>
                </a:lnTo>
                <a:lnTo>
                  <a:pt x="2227268" y="1975810"/>
                </a:lnTo>
                <a:lnTo>
                  <a:pt x="2256534" y="1942562"/>
                </a:lnTo>
                <a:lnTo>
                  <a:pt x="2281404" y="1905743"/>
                </a:lnTo>
                <a:lnTo>
                  <a:pt x="2301465" y="1865765"/>
                </a:lnTo>
                <a:lnTo>
                  <a:pt x="2316305" y="1823042"/>
                </a:lnTo>
                <a:lnTo>
                  <a:pt x="2325511" y="1777986"/>
                </a:lnTo>
                <a:lnTo>
                  <a:pt x="2328672" y="1731010"/>
                </a:lnTo>
                <a:lnTo>
                  <a:pt x="2328672" y="346214"/>
                </a:lnTo>
                <a:lnTo>
                  <a:pt x="2325511" y="299234"/>
                </a:lnTo>
                <a:lnTo>
                  <a:pt x="2316305" y="254176"/>
                </a:lnTo>
                <a:lnTo>
                  <a:pt x="2301465" y="211451"/>
                </a:lnTo>
                <a:lnTo>
                  <a:pt x="2281404" y="171472"/>
                </a:lnTo>
                <a:lnTo>
                  <a:pt x="2256534" y="134652"/>
                </a:lnTo>
                <a:lnTo>
                  <a:pt x="2227268" y="101403"/>
                </a:lnTo>
                <a:lnTo>
                  <a:pt x="2194019" y="72137"/>
                </a:lnTo>
                <a:lnTo>
                  <a:pt x="2157199" y="47267"/>
                </a:lnTo>
                <a:lnTo>
                  <a:pt x="2117220" y="27206"/>
                </a:lnTo>
                <a:lnTo>
                  <a:pt x="2074495" y="12366"/>
                </a:lnTo>
                <a:lnTo>
                  <a:pt x="2029437" y="3160"/>
                </a:lnTo>
                <a:lnTo>
                  <a:pt x="1982457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6" name="object 6"/>
          <p:cNvSpPr txBox="1"/>
          <p:nvPr/>
        </p:nvSpPr>
        <p:spPr>
          <a:xfrm>
            <a:off x="2705499" y="6698525"/>
            <a:ext cx="2495550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indent="543878">
              <a:spcBef>
                <a:spcPts val="150"/>
              </a:spcBef>
            </a:pPr>
            <a:r>
              <a:rPr sz="2700" b="1" spc="-98" dirty="0">
                <a:solidFill>
                  <a:srgbClr val="F2F2F2"/>
                </a:solidFill>
                <a:latin typeface="Arial"/>
                <a:cs typeface="Arial"/>
              </a:rPr>
              <a:t>Economic </a:t>
            </a:r>
            <a:r>
              <a:rPr sz="2700" b="1" spc="-158" dirty="0">
                <a:solidFill>
                  <a:srgbClr val="F2F2F2"/>
                </a:solidFill>
                <a:latin typeface="Arial"/>
                <a:cs typeface="Arial"/>
              </a:rPr>
              <a:t>(monetary</a:t>
            </a:r>
            <a:r>
              <a:rPr sz="2700" b="1" spc="-6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150" dirty="0">
                <a:solidFill>
                  <a:srgbClr val="F2F2F2"/>
                </a:solidFill>
                <a:latin typeface="Arial"/>
                <a:cs typeface="Arial"/>
              </a:rPr>
              <a:t>value)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769597" y="5593833"/>
            <a:ext cx="3490913" cy="3116580"/>
          </a:xfrm>
          <a:custGeom>
            <a:avLst/>
            <a:gdLst/>
            <a:ahLst/>
            <a:cxnLst/>
            <a:rect l="l" t="t" r="r" b="b"/>
            <a:pathLst>
              <a:path w="2327275" h="2077720">
                <a:moveTo>
                  <a:pt x="1980933" y="0"/>
                </a:moveTo>
                <a:lnTo>
                  <a:pt x="346214" y="0"/>
                </a:lnTo>
                <a:lnTo>
                  <a:pt x="299234" y="3160"/>
                </a:lnTo>
                <a:lnTo>
                  <a:pt x="254176" y="12366"/>
                </a:lnTo>
                <a:lnTo>
                  <a:pt x="211451" y="27206"/>
                </a:lnTo>
                <a:lnTo>
                  <a:pt x="171472" y="47267"/>
                </a:lnTo>
                <a:lnTo>
                  <a:pt x="134652" y="72137"/>
                </a:lnTo>
                <a:lnTo>
                  <a:pt x="101403" y="101403"/>
                </a:lnTo>
                <a:lnTo>
                  <a:pt x="72137" y="134652"/>
                </a:lnTo>
                <a:lnTo>
                  <a:pt x="47267" y="171472"/>
                </a:lnTo>
                <a:lnTo>
                  <a:pt x="27206" y="211451"/>
                </a:lnTo>
                <a:lnTo>
                  <a:pt x="12366" y="254176"/>
                </a:lnTo>
                <a:lnTo>
                  <a:pt x="3160" y="299234"/>
                </a:lnTo>
                <a:lnTo>
                  <a:pt x="0" y="346214"/>
                </a:lnTo>
                <a:lnTo>
                  <a:pt x="0" y="1731010"/>
                </a:lnTo>
                <a:lnTo>
                  <a:pt x="3160" y="1777986"/>
                </a:lnTo>
                <a:lnTo>
                  <a:pt x="12366" y="1823042"/>
                </a:lnTo>
                <a:lnTo>
                  <a:pt x="27206" y="1865765"/>
                </a:lnTo>
                <a:lnTo>
                  <a:pt x="47267" y="1905743"/>
                </a:lnTo>
                <a:lnTo>
                  <a:pt x="72137" y="1942562"/>
                </a:lnTo>
                <a:lnTo>
                  <a:pt x="101403" y="1975810"/>
                </a:lnTo>
                <a:lnTo>
                  <a:pt x="134652" y="2005075"/>
                </a:lnTo>
                <a:lnTo>
                  <a:pt x="171472" y="2029944"/>
                </a:lnTo>
                <a:lnTo>
                  <a:pt x="211451" y="2050005"/>
                </a:lnTo>
                <a:lnTo>
                  <a:pt x="254176" y="2064845"/>
                </a:lnTo>
                <a:lnTo>
                  <a:pt x="299234" y="2074051"/>
                </a:lnTo>
                <a:lnTo>
                  <a:pt x="346214" y="2077212"/>
                </a:lnTo>
                <a:lnTo>
                  <a:pt x="1980933" y="2077212"/>
                </a:lnTo>
                <a:lnTo>
                  <a:pt x="2027913" y="2074051"/>
                </a:lnTo>
                <a:lnTo>
                  <a:pt x="2072971" y="2064845"/>
                </a:lnTo>
                <a:lnTo>
                  <a:pt x="2115696" y="2050005"/>
                </a:lnTo>
                <a:lnTo>
                  <a:pt x="2155675" y="2029944"/>
                </a:lnTo>
                <a:lnTo>
                  <a:pt x="2192495" y="2005075"/>
                </a:lnTo>
                <a:lnTo>
                  <a:pt x="2225744" y="1975810"/>
                </a:lnTo>
                <a:lnTo>
                  <a:pt x="2255010" y="1942562"/>
                </a:lnTo>
                <a:lnTo>
                  <a:pt x="2279880" y="1905743"/>
                </a:lnTo>
                <a:lnTo>
                  <a:pt x="2299941" y="1865765"/>
                </a:lnTo>
                <a:lnTo>
                  <a:pt x="2314781" y="1823042"/>
                </a:lnTo>
                <a:lnTo>
                  <a:pt x="2323987" y="1777986"/>
                </a:lnTo>
                <a:lnTo>
                  <a:pt x="2327148" y="1731010"/>
                </a:lnTo>
                <a:lnTo>
                  <a:pt x="2327148" y="346214"/>
                </a:lnTo>
                <a:lnTo>
                  <a:pt x="2323987" y="299234"/>
                </a:lnTo>
                <a:lnTo>
                  <a:pt x="2314781" y="254176"/>
                </a:lnTo>
                <a:lnTo>
                  <a:pt x="2299941" y="211451"/>
                </a:lnTo>
                <a:lnTo>
                  <a:pt x="2279880" y="171472"/>
                </a:lnTo>
                <a:lnTo>
                  <a:pt x="2255010" y="134652"/>
                </a:lnTo>
                <a:lnTo>
                  <a:pt x="2225744" y="101403"/>
                </a:lnTo>
                <a:lnTo>
                  <a:pt x="2192495" y="72137"/>
                </a:lnTo>
                <a:lnTo>
                  <a:pt x="2155675" y="47267"/>
                </a:lnTo>
                <a:lnTo>
                  <a:pt x="2115696" y="27206"/>
                </a:lnTo>
                <a:lnTo>
                  <a:pt x="2072971" y="12366"/>
                </a:lnTo>
                <a:lnTo>
                  <a:pt x="2027913" y="3160"/>
                </a:lnTo>
                <a:lnTo>
                  <a:pt x="1980933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8" name="object 8"/>
          <p:cNvSpPr txBox="1"/>
          <p:nvPr/>
        </p:nvSpPr>
        <p:spPr>
          <a:xfrm>
            <a:off x="13352662" y="6492785"/>
            <a:ext cx="2321243" cy="126573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algn="ctr">
              <a:spcBef>
                <a:spcPts val="150"/>
              </a:spcBef>
            </a:pPr>
            <a:r>
              <a:rPr sz="2700" b="1" spc="-210" dirty="0">
                <a:solidFill>
                  <a:srgbClr val="F2F2F2"/>
                </a:solidFill>
                <a:latin typeface="Arial"/>
                <a:cs typeface="Arial"/>
              </a:rPr>
              <a:t>Humanistic</a:t>
            </a:r>
            <a:r>
              <a:rPr sz="2700" b="1" spc="-10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127" dirty="0">
                <a:solidFill>
                  <a:srgbClr val="F2F2F2"/>
                </a:solidFill>
                <a:latin typeface="Arial"/>
                <a:cs typeface="Arial"/>
              </a:rPr>
              <a:t>e.g., </a:t>
            </a:r>
            <a:r>
              <a:rPr sz="2700" b="1" spc="-135" dirty="0">
                <a:solidFill>
                  <a:srgbClr val="F2F2F2"/>
                </a:solidFill>
                <a:latin typeface="Arial"/>
                <a:cs typeface="Arial"/>
              </a:rPr>
              <a:t>health-</a:t>
            </a:r>
            <a:r>
              <a:rPr sz="2700" b="1" spc="-15" dirty="0">
                <a:solidFill>
                  <a:srgbClr val="F2F2F2"/>
                </a:solidFill>
                <a:latin typeface="Arial"/>
                <a:cs typeface="Arial"/>
              </a:rPr>
              <a:t>related </a:t>
            </a:r>
            <a:r>
              <a:rPr sz="2700" b="1" spc="-150" dirty="0">
                <a:solidFill>
                  <a:srgbClr val="F2F2F2"/>
                </a:solidFill>
                <a:latin typeface="Arial"/>
                <a:cs typeface="Arial"/>
              </a:rPr>
              <a:t>quality</a:t>
            </a:r>
            <a:r>
              <a:rPr sz="2700" b="1" spc="-13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143" dirty="0">
                <a:solidFill>
                  <a:srgbClr val="F2F2F2"/>
                </a:solidFill>
                <a:latin typeface="Arial"/>
                <a:cs typeface="Arial"/>
              </a:rPr>
              <a:t>of</a:t>
            </a:r>
            <a:r>
              <a:rPr sz="2700" b="1" spc="-10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30" dirty="0">
                <a:solidFill>
                  <a:srgbClr val="F2F2F2"/>
                </a:solidFill>
                <a:latin typeface="Arial"/>
                <a:cs typeface="Arial"/>
              </a:rPr>
              <a:t>life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88935" y="5593833"/>
            <a:ext cx="3490913" cy="3116580"/>
          </a:xfrm>
          <a:custGeom>
            <a:avLst/>
            <a:gdLst/>
            <a:ahLst/>
            <a:cxnLst/>
            <a:rect l="l" t="t" r="r" b="b"/>
            <a:pathLst>
              <a:path w="2327275" h="2077720">
                <a:moveTo>
                  <a:pt x="1980933" y="0"/>
                </a:moveTo>
                <a:lnTo>
                  <a:pt x="346214" y="0"/>
                </a:lnTo>
                <a:lnTo>
                  <a:pt x="299234" y="3160"/>
                </a:lnTo>
                <a:lnTo>
                  <a:pt x="254176" y="12366"/>
                </a:lnTo>
                <a:lnTo>
                  <a:pt x="211451" y="27206"/>
                </a:lnTo>
                <a:lnTo>
                  <a:pt x="171472" y="47267"/>
                </a:lnTo>
                <a:lnTo>
                  <a:pt x="134652" y="72137"/>
                </a:lnTo>
                <a:lnTo>
                  <a:pt x="101403" y="101403"/>
                </a:lnTo>
                <a:lnTo>
                  <a:pt x="72137" y="134652"/>
                </a:lnTo>
                <a:lnTo>
                  <a:pt x="47267" y="171472"/>
                </a:lnTo>
                <a:lnTo>
                  <a:pt x="27206" y="211451"/>
                </a:lnTo>
                <a:lnTo>
                  <a:pt x="12366" y="254176"/>
                </a:lnTo>
                <a:lnTo>
                  <a:pt x="3160" y="299234"/>
                </a:lnTo>
                <a:lnTo>
                  <a:pt x="0" y="346214"/>
                </a:lnTo>
                <a:lnTo>
                  <a:pt x="0" y="1731010"/>
                </a:lnTo>
                <a:lnTo>
                  <a:pt x="3160" y="1777986"/>
                </a:lnTo>
                <a:lnTo>
                  <a:pt x="12366" y="1823042"/>
                </a:lnTo>
                <a:lnTo>
                  <a:pt x="27206" y="1865765"/>
                </a:lnTo>
                <a:lnTo>
                  <a:pt x="47267" y="1905743"/>
                </a:lnTo>
                <a:lnTo>
                  <a:pt x="72137" y="1942562"/>
                </a:lnTo>
                <a:lnTo>
                  <a:pt x="101403" y="1975810"/>
                </a:lnTo>
                <a:lnTo>
                  <a:pt x="134652" y="2005075"/>
                </a:lnTo>
                <a:lnTo>
                  <a:pt x="171472" y="2029944"/>
                </a:lnTo>
                <a:lnTo>
                  <a:pt x="211451" y="2050005"/>
                </a:lnTo>
                <a:lnTo>
                  <a:pt x="254176" y="2064845"/>
                </a:lnTo>
                <a:lnTo>
                  <a:pt x="299234" y="2074051"/>
                </a:lnTo>
                <a:lnTo>
                  <a:pt x="346214" y="2077212"/>
                </a:lnTo>
                <a:lnTo>
                  <a:pt x="1980933" y="2077212"/>
                </a:lnTo>
                <a:lnTo>
                  <a:pt x="2027913" y="2074051"/>
                </a:lnTo>
                <a:lnTo>
                  <a:pt x="2072971" y="2064845"/>
                </a:lnTo>
                <a:lnTo>
                  <a:pt x="2115696" y="2050005"/>
                </a:lnTo>
                <a:lnTo>
                  <a:pt x="2155675" y="2029944"/>
                </a:lnTo>
                <a:lnTo>
                  <a:pt x="2192495" y="2005075"/>
                </a:lnTo>
                <a:lnTo>
                  <a:pt x="2225744" y="1975810"/>
                </a:lnTo>
                <a:lnTo>
                  <a:pt x="2255010" y="1942562"/>
                </a:lnTo>
                <a:lnTo>
                  <a:pt x="2279880" y="1905743"/>
                </a:lnTo>
                <a:lnTo>
                  <a:pt x="2299941" y="1865765"/>
                </a:lnTo>
                <a:lnTo>
                  <a:pt x="2314781" y="1823042"/>
                </a:lnTo>
                <a:lnTo>
                  <a:pt x="2323987" y="1777986"/>
                </a:lnTo>
                <a:lnTo>
                  <a:pt x="2327148" y="1731010"/>
                </a:lnTo>
                <a:lnTo>
                  <a:pt x="2327148" y="346214"/>
                </a:lnTo>
                <a:lnTo>
                  <a:pt x="2323987" y="299234"/>
                </a:lnTo>
                <a:lnTo>
                  <a:pt x="2314781" y="254176"/>
                </a:lnTo>
                <a:lnTo>
                  <a:pt x="2299941" y="211451"/>
                </a:lnTo>
                <a:lnTo>
                  <a:pt x="2279880" y="171472"/>
                </a:lnTo>
                <a:lnTo>
                  <a:pt x="2255010" y="134652"/>
                </a:lnTo>
                <a:lnTo>
                  <a:pt x="2225744" y="101403"/>
                </a:lnTo>
                <a:lnTo>
                  <a:pt x="2192495" y="72137"/>
                </a:lnTo>
                <a:lnTo>
                  <a:pt x="2155675" y="47267"/>
                </a:lnTo>
                <a:lnTo>
                  <a:pt x="2115696" y="27206"/>
                </a:lnTo>
                <a:lnTo>
                  <a:pt x="2072971" y="12366"/>
                </a:lnTo>
                <a:lnTo>
                  <a:pt x="2027913" y="3160"/>
                </a:lnTo>
                <a:lnTo>
                  <a:pt x="1980933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0" name="object 10"/>
          <p:cNvSpPr txBox="1"/>
          <p:nvPr/>
        </p:nvSpPr>
        <p:spPr>
          <a:xfrm>
            <a:off x="7759158" y="6492785"/>
            <a:ext cx="2787015" cy="126573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algn="just">
              <a:spcBef>
                <a:spcPts val="150"/>
              </a:spcBef>
            </a:pPr>
            <a:r>
              <a:rPr sz="2700" b="1" spc="-248" dirty="0">
                <a:solidFill>
                  <a:srgbClr val="F2F2F2"/>
                </a:solidFill>
                <a:latin typeface="Arial"/>
                <a:cs typeface="Arial"/>
              </a:rPr>
              <a:t>Clinical</a:t>
            </a:r>
            <a:r>
              <a:rPr sz="2700" b="1" spc="60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158" dirty="0">
                <a:solidFill>
                  <a:srgbClr val="F2F2F2"/>
                </a:solidFill>
                <a:latin typeface="Arial"/>
                <a:cs typeface="Arial"/>
              </a:rPr>
              <a:t>e.g.,</a:t>
            </a:r>
            <a:r>
              <a:rPr sz="2700" b="1" spc="4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195" dirty="0">
                <a:solidFill>
                  <a:srgbClr val="F2F2F2"/>
                </a:solidFill>
                <a:latin typeface="Arial"/>
                <a:cs typeface="Arial"/>
              </a:rPr>
              <a:t>reduce </a:t>
            </a:r>
            <a:r>
              <a:rPr sz="2700" b="1" spc="-225" dirty="0">
                <a:solidFill>
                  <a:srgbClr val="F2F2F2"/>
                </a:solidFill>
                <a:latin typeface="Arial"/>
                <a:cs typeface="Arial"/>
              </a:rPr>
              <a:t>risk,</a:t>
            </a:r>
            <a:r>
              <a:rPr sz="2700" b="1" spc="38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203" dirty="0">
                <a:solidFill>
                  <a:srgbClr val="F2F2F2"/>
                </a:solidFill>
                <a:latin typeface="Arial"/>
                <a:cs typeface="Arial"/>
              </a:rPr>
              <a:t>length</a:t>
            </a:r>
            <a:r>
              <a:rPr sz="2700" b="1" spc="53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270" dirty="0">
                <a:solidFill>
                  <a:srgbClr val="F2F2F2"/>
                </a:solidFill>
                <a:latin typeface="Arial"/>
                <a:cs typeface="Arial"/>
              </a:rPr>
              <a:t>of</a:t>
            </a:r>
            <a:r>
              <a:rPr sz="2700" b="1" spc="83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2700" b="1" spc="-75" dirty="0">
                <a:solidFill>
                  <a:srgbClr val="F2F2F2"/>
                </a:solidFill>
                <a:latin typeface="Arial"/>
                <a:cs typeface="Arial"/>
              </a:rPr>
              <a:t>stay, </a:t>
            </a:r>
            <a:r>
              <a:rPr sz="2700" b="1" spc="-233" dirty="0">
                <a:solidFill>
                  <a:srgbClr val="F2F2F2"/>
                </a:solidFill>
                <a:latin typeface="Arial"/>
                <a:cs typeface="Arial"/>
              </a:rPr>
              <a:t>cure</a:t>
            </a:r>
            <a:r>
              <a:rPr sz="2700" b="1" spc="-120" dirty="0">
                <a:solidFill>
                  <a:srgbClr val="F2F2F2"/>
                </a:solidFill>
                <a:latin typeface="Arial"/>
                <a:cs typeface="Arial"/>
              </a:rPr>
              <a:t> rate, mortality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02017" y="3554730"/>
            <a:ext cx="3562350" cy="1508760"/>
            <a:chOff x="4668011" y="2369820"/>
            <a:chExt cx="2374900" cy="100584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8088" y="2369820"/>
              <a:ext cx="699515" cy="7010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1391" y="2404872"/>
              <a:ext cx="652259" cy="6522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5376" y="2982468"/>
              <a:ext cx="377951" cy="3764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2364" y="3057144"/>
              <a:ext cx="320039" cy="3185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68011" y="3012947"/>
              <a:ext cx="345947" cy="34594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67593" y="3721627"/>
            <a:ext cx="532637" cy="5326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20554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675" dirty="0"/>
              <a:t>Economic</a:t>
            </a:r>
            <a:r>
              <a:rPr spc="-300" dirty="0"/>
              <a:t> </a:t>
            </a:r>
            <a:r>
              <a:rPr spc="-548" dirty="0"/>
              <a:t>Evaluations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16271" y="2466594"/>
            <a:ext cx="6568440" cy="6513195"/>
            <a:chOff x="3477514" y="1644396"/>
            <a:chExt cx="4378960" cy="4342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6428" y="1644396"/>
              <a:ext cx="3669792" cy="33345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83864" y="5187696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10" h="792479">
                  <a:moveTo>
                    <a:pt x="395478" y="0"/>
                  </a:moveTo>
                  <a:lnTo>
                    <a:pt x="349357" y="2665"/>
                  </a:lnTo>
                  <a:lnTo>
                    <a:pt x="304799" y="10465"/>
                  </a:lnTo>
                  <a:lnTo>
                    <a:pt x="262100" y="23100"/>
                  </a:lnTo>
                  <a:lnTo>
                    <a:pt x="221557" y="40274"/>
                  </a:lnTo>
                  <a:lnTo>
                    <a:pt x="183467" y="61690"/>
                  </a:lnTo>
                  <a:lnTo>
                    <a:pt x="148127" y="87050"/>
                  </a:lnTo>
                  <a:lnTo>
                    <a:pt x="115833" y="116057"/>
                  </a:lnTo>
                  <a:lnTo>
                    <a:pt x="86882" y="148413"/>
                  </a:lnTo>
                  <a:lnTo>
                    <a:pt x="61571" y="183822"/>
                  </a:lnTo>
                  <a:lnTo>
                    <a:pt x="40197" y="221985"/>
                  </a:lnTo>
                  <a:lnTo>
                    <a:pt x="23056" y="262606"/>
                  </a:lnTo>
                  <a:lnTo>
                    <a:pt x="10444" y="305386"/>
                  </a:lnTo>
                  <a:lnTo>
                    <a:pt x="2660" y="350030"/>
                  </a:lnTo>
                  <a:lnTo>
                    <a:pt x="0" y="396239"/>
                  </a:lnTo>
                  <a:lnTo>
                    <a:pt x="2660" y="442449"/>
                  </a:lnTo>
                  <a:lnTo>
                    <a:pt x="10444" y="487093"/>
                  </a:lnTo>
                  <a:lnTo>
                    <a:pt x="23056" y="529873"/>
                  </a:lnTo>
                  <a:lnTo>
                    <a:pt x="40197" y="570494"/>
                  </a:lnTo>
                  <a:lnTo>
                    <a:pt x="61571" y="608657"/>
                  </a:lnTo>
                  <a:lnTo>
                    <a:pt x="86882" y="644066"/>
                  </a:lnTo>
                  <a:lnTo>
                    <a:pt x="115833" y="676422"/>
                  </a:lnTo>
                  <a:lnTo>
                    <a:pt x="148127" y="705429"/>
                  </a:lnTo>
                  <a:lnTo>
                    <a:pt x="183467" y="730789"/>
                  </a:lnTo>
                  <a:lnTo>
                    <a:pt x="221557" y="752205"/>
                  </a:lnTo>
                  <a:lnTo>
                    <a:pt x="262100" y="769379"/>
                  </a:lnTo>
                  <a:lnTo>
                    <a:pt x="304799" y="782014"/>
                  </a:lnTo>
                  <a:lnTo>
                    <a:pt x="349357" y="789814"/>
                  </a:lnTo>
                  <a:lnTo>
                    <a:pt x="395478" y="792479"/>
                  </a:lnTo>
                  <a:lnTo>
                    <a:pt x="441598" y="789814"/>
                  </a:lnTo>
                  <a:lnTo>
                    <a:pt x="486156" y="782014"/>
                  </a:lnTo>
                  <a:lnTo>
                    <a:pt x="528855" y="769379"/>
                  </a:lnTo>
                  <a:lnTo>
                    <a:pt x="569398" y="752205"/>
                  </a:lnTo>
                  <a:lnTo>
                    <a:pt x="607488" y="730789"/>
                  </a:lnTo>
                  <a:lnTo>
                    <a:pt x="642828" y="705429"/>
                  </a:lnTo>
                  <a:lnTo>
                    <a:pt x="675122" y="676422"/>
                  </a:lnTo>
                  <a:lnTo>
                    <a:pt x="704073" y="644066"/>
                  </a:lnTo>
                  <a:lnTo>
                    <a:pt x="729384" y="608657"/>
                  </a:lnTo>
                  <a:lnTo>
                    <a:pt x="750758" y="570494"/>
                  </a:lnTo>
                  <a:lnTo>
                    <a:pt x="767899" y="529873"/>
                  </a:lnTo>
                  <a:lnTo>
                    <a:pt x="780511" y="487093"/>
                  </a:lnTo>
                  <a:lnTo>
                    <a:pt x="788295" y="442449"/>
                  </a:lnTo>
                  <a:lnTo>
                    <a:pt x="790956" y="396239"/>
                  </a:lnTo>
                  <a:lnTo>
                    <a:pt x="788295" y="350030"/>
                  </a:lnTo>
                  <a:lnTo>
                    <a:pt x="780511" y="305386"/>
                  </a:lnTo>
                  <a:lnTo>
                    <a:pt x="767899" y="262606"/>
                  </a:lnTo>
                  <a:lnTo>
                    <a:pt x="750758" y="221985"/>
                  </a:lnTo>
                  <a:lnTo>
                    <a:pt x="729384" y="183822"/>
                  </a:lnTo>
                  <a:lnTo>
                    <a:pt x="704073" y="148413"/>
                  </a:lnTo>
                  <a:lnTo>
                    <a:pt x="675122" y="116057"/>
                  </a:lnTo>
                  <a:lnTo>
                    <a:pt x="642828" y="87050"/>
                  </a:lnTo>
                  <a:lnTo>
                    <a:pt x="607488" y="61690"/>
                  </a:lnTo>
                  <a:lnTo>
                    <a:pt x="569398" y="40274"/>
                  </a:lnTo>
                  <a:lnTo>
                    <a:pt x="528855" y="23100"/>
                  </a:lnTo>
                  <a:lnTo>
                    <a:pt x="486156" y="10465"/>
                  </a:lnTo>
                  <a:lnTo>
                    <a:pt x="441598" y="2665"/>
                  </a:lnTo>
                  <a:lnTo>
                    <a:pt x="395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3483864" y="5187696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10" h="792479">
                  <a:moveTo>
                    <a:pt x="0" y="396239"/>
                  </a:moveTo>
                  <a:lnTo>
                    <a:pt x="2660" y="350030"/>
                  </a:lnTo>
                  <a:lnTo>
                    <a:pt x="10444" y="305386"/>
                  </a:lnTo>
                  <a:lnTo>
                    <a:pt x="23056" y="262606"/>
                  </a:lnTo>
                  <a:lnTo>
                    <a:pt x="40197" y="221985"/>
                  </a:lnTo>
                  <a:lnTo>
                    <a:pt x="61571" y="183822"/>
                  </a:lnTo>
                  <a:lnTo>
                    <a:pt x="86882" y="148413"/>
                  </a:lnTo>
                  <a:lnTo>
                    <a:pt x="115833" y="116057"/>
                  </a:lnTo>
                  <a:lnTo>
                    <a:pt x="148127" y="87050"/>
                  </a:lnTo>
                  <a:lnTo>
                    <a:pt x="183467" y="61690"/>
                  </a:lnTo>
                  <a:lnTo>
                    <a:pt x="221557" y="40274"/>
                  </a:lnTo>
                  <a:lnTo>
                    <a:pt x="262100" y="23100"/>
                  </a:lnTo>
                  <a:lnTo>
                    <a:pt x="304799" y="10465"/>
                  </a:lnTo>
                  <a:lnTo>
                    <a:pt x="349357" y="2665"/>
                  </a:lnTo>
                  <a:lnTo>
                    <a:pt x="395478" y="0"/>
                  </a:lnTo>
                  <a:lnTo>
                    <a:pt x="441598" y="2665"/>
                  </a:lnTo>
                  <a:lnTo>
                    <a:pt x="486156" y="10465"/>
                  </a:lnTo>
                  <a:lnTo>
                    <a:pt x="528855" y="23100"/>
                  </a:lnTo>
                  <a:lnTo>
                    <a:pt x="569398" y="40274"/>
                  </a:lnTo>
                  <a:lnTo>
                    <a:pt x="607488" y="61690"/>
                  </a:lnTo>
                  <a:lnTo>
                    <a:pt x="642828" y="87050"/>
                  </a:lnTo>
                  <a:lnTo>
                    <a:pt x="675122" y="116057"/>
                  </a:lnTo>
                  <a:lnTo>
                    <a:pt x="704073" y="148413"/>
                  </a:lnTo>
                  <a:lnTo>
                    <a:pt x="729384" y="183822"/>
                  </a:lnTo>
                  <a:lnTo>
                    <a:pt x="750758" y="221985"/>
                  </a:lnTo>
                  <a:lnTo>
                    <a:pt x="767899" y="262606"/>
                  </a:lnTo>
                  <a:lnTo>
                    <a:pt x="780511" y="305386"/>
                  </a:lnTo>
                  <a:lnTo>
                    <a:pt x="788295" y="350030"/>
                  </a:lnTo>
                  <a:lnTo>
                    <a:pt x="790956" y="396239"/>
                  </a:lnTo>
                  <a:lnTo>
                    <a:pt x="788295" y="442449"/>
                  </a:lnTo>
                  <a:lnTo>
                    <a:pt x="780511" y="487093"/>
                  </a:lnTo>
                  <a:lnTo>
                    <a:pt x="767899" y="529873"/>
                  </a:lnTo>
                  <a:lnTo>
                    <a:pt x="750758" y="570494"/>
                  </a:lnTo>
                  <a:lnTo>
                    <a:pt x="729384" y="608657"/>
                  </a:lnTo>
                  <a:lnTo>
                    <a:pt x="704073" y="644066"/>
                  </a:lnTo>
                  <a:lnTo>
                    <a:pt x="675122" y="676422"/>
                  </a:lnTo>
                  <a:lnTo>
                    <a:pt x="642828" y="705429"/>
                  </a:lnTo>
                  <a:lnTo>
                    <a:pt x="607488" y="730789"/>
                  </a:lnTo>
                  <a:lnTo>
                    <a:pt x="569398" y="752205"/>
                  </a:lnTo>
                  <a:lnTo>
                    <a:pt x="528855" y="769379"/>
                  </a:lnTo>
                  <a:lnTo>
                    <a:pt x="486156" y="782014"/>
                  </a:lnTo>
                  <a:lnTo>
                    <a:pt x="441598" y="789814"/>
                  </a:lnTo>
                  <a:lnTo>
                    <a:pt x="395478" y="792479"/>
                  </a:lnTo>
                  <a:lnTo>
                    <a:pt x="349357" y="789814"/>
                  </a:lnTo>
                  <a:lnTo>
                    <a:pt x="304799" y="782014"/>
                  </a:lnTo>
                  <a:lnTo>
                    <a:pt x="262100" y="769379"/>
                  </a:lnTo>
                  <a:lnTo>
                    <a:pt x="221557" y="752205"/>
                  </a:lnTo>
                  <a:lnTo>
                    <a:pt x="183467" y="730789"/>
                  </a:lnTo>
                  <a:lnTo>
                    <a:pt x="148127" y="705429"/>
                  </a:lnTo>
                  <a:lnTo>
                    <a:pt x="115833" y="676422"/>
                  </a:lnTo>
                  <a:lnTo>
                    <a:pt x="86882" y="644066"/>
                  </a:lnTo>
                  <a:lnTo>
                    <a:pt x="61571" y="608657"/>
                  </a:lnTo>
                  <a:lnTo>
                    <a:pt x="40197" y="570494"/>
                  </a:lnTo>
                  <a:lnTo>
                    <a:pt x="23056" y="529873"/>
                  </a:lnTo>
                  <a:lnTo>
                    <a:pt x="10444" y="487093"/>
                  </a:lnTo>
                  <a:lnTo>
                    <a:pt x="2660" y="442449"/>
                  </a:lnTo>
                  <a:lnTo>
                    <a:pt x="0" y="3962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56608" y="8128325"/>
            <a:ext cx="72675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33" dirty="0">
                <a:solidFill>
                  <a:srgbClr val="F2F2F2"/>
                </a:solidFill>
                <a:latin typeface="Arial"/>
                <a:cs typeface="Arial"/>
              </a:rPr>
              <a:t>C</a:t>
            </a:r>
            <a:r>
              <a:rPr sz="2700" b="1" spc="-233" dirty="0">
                <a:solidFill>
                  <a:srgbClr val="FED33B"/>
                </a:solidFill>
                <a:latin typeface="Arial"/>
                <a:cs typeface="Arial"/>
              </a:rPr>
              <a:t>M</a:t>
            </a:r>
            <a:r>
              <a:rPr sz="2700" b="1" spc="-233" dirty="0">
                <a:solidFill>
                  <a:srgbClr val="F2F2F2"/>
                </a:solidFill>
                <a:latin typeface="Arial"/>
                <a:cs typeface="Arial"/>
              </a:rPr>
              <a:t>A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360539" y="7781162"/>
            <a:ext cx="1207770" cy="1207770"/>
            <a:chOff x="4907026" y="5187441"/>
            <a:chExt cx="805180" cy="805180"/>
          </a:xfrm>
        </p:grpSpPr>
        <p:sp>
          <p:nvSpPr>
            <p:cNvPr id="9" name="object 9"/>
            <p:cNvSpPr/>
            <p:nvPr/>
          </p:nvSpPr>
          <p:spPr>
            <a:xfrm>
              <a:off x="4913376" y="5193791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240" y="0"/>
                  </a:moveTo>
                  <a:lnTo>
                    <a:pt x="350030" y="2665"/>
                  </a:lnTo>
                  <a:lnTo>
                    <a:pt x="305386" y="10465"/>
                  </a:lnTo>
                  <a:lnTo>
                    <a:pt x="262606" y="23100"/>
                  </a:lnTo>
                  <a:lnTo>
                    <a:pt x="221985" y="40274"/>
                  </a:lnTo>
                  <a:lnTo>
                    <a:pt x="183822" y="61690"/>
                  </a:lnTo>
                  <a:lnTo>
                    <a:pt x="148413" y="87050"/>
                  </a:lnTo>
                  <a:lnTo>
                    <a:pt x="116057" y="116057"/>
                  </a:lnTo>
                  <a:lnTo>
                    <a:pt x="87050" y="148413"/>
                  </a:lnTo>
                  <a:lnTo>
                    <a:pt x="61690" y="183822"/>
                  </a:lnTo>
                  <a:lnTo>
                    <a:pt x="40274" y="221985"/>
                  </a:lnTo>
                  <a:lnTo>
                    <a:pt x="23100" y="262606"/>
                  </a:lnTo>
                  <a:lnTo>
                    <a:pt x="10465" y="305386"/>
                  </a:lnTo>
                  <a:lnTo>
                    <a:pt x="2665" y="350030"/>
                  </a:lnTo>
                  <a:lnTo>
                    <a:pt x="0" y="396239"/>
                  </a:lnTo>
                  <a:lnTo>
                    <a:pt x="2665" y="442449"/>
                  </a:lnTo>
                  <a:lnTo>
                    <a:pt x="10465" y="487093"/>
                  </a:lnTo>
                  <a:lnTo>
                    <a:pt x="23100" y="529873"/>
                  </a:lnTo>
                  <a:lnTo>
                    <a:pt x="40274" y="570494"/>
                  </a:lnTo>
                  <a:lnTo>
                    <a:pt x="61690" y="608657"/>
                  </a:lnTo>
                  <a:lnTo>
                    <a:pt x="87050" y="644066"/>
                  </a:lnTo>
                  <a:lnTo>
                    <a:pt x="116057" y="676422"/>
                  </a:lnTo>
                  <a:lnTo>
                    <a:pt x="148413" y="705429"/>
                  </a:lnTo>
                  <a:lnTo>
                    <a:pt x="183822" y="730789"/>
                  </a:lnTo>
                  <a:lnTo>
                    <a:pt x="221985" y="752205"/>
                  </a:lnTo>
                  <a:lnTo>
                    <a:pt x="262606" y="769379"/>
                  </a:lnTo>
                  <a:lnTo>
                    <a:pt x="305386" y="782014"/>
                  </a:lnTo>
                  <a:lnTo>
                    <a:pt x="350030" y="789814"/>
                  </a:lnTo>
                  <a:lnTo>
                    <a:pt x="396240" y="792479"/>
                  </a:lnTo>
                  <a:lnTo>
                    <a:pt x="442449" y="789814"/>
                  </a:lnTo>
                  <a:lnTo>
                    <a:pt x="487093" y="782014"/>
                  </a:lnTo>
                  <a:lnTo>
                    <a:pt x="529873" y="769379"/>
                  </a:lnTo>
                  <a:lnTo>
                    <a:pt x="570494" y="752205"/>
                  </a:lnTo>
                  <a:lnTo>
                    <a:pt x="608657" y="730789"/>
                  </a:lnTo>
                  <a:lnTo>
                    <a:pt x="644066" y="705429"/>
                  </a:lnTo>
                  <a:lnTo>
                    <a:pt x="676422" y="676422"/>
                  </a:lnTo>
                  <a:lnTo>
                    <a:pt x="705429" y="644066"/>
                  </a:lnTo>
                  <a:lnTo>
                    <a:pt x="730789" y="608657"/>
                  </a:lnTo>
                  <a:lnTo>
                    <a:pt x="752205" y="570494"/>
                  </a:lnTo>
                  <a:lnTo>
                    <a:pt x="769379" y="529873"/>
                  </a:lnTo>
                  <a:lnTo>
                    <a:pt x="782014" y="487093"/>
                  </a:lnTo>
                  <a:lnTo>
                    <a:pt x="789814" y="442449"/>
                  </a:lnTo>
                  <a:lnTo>
                    <a:pt x="792480" y="396239"/>
                  </a:lnTo>
                  <a:lnTo>
                    <a:pt x="789814" y="350030"/>
                  </a:lnTo>
                  <a:lnTo>
                    <a:pt x="782014" y="305386"/>
                  </a:lnTo>
                  <a:lnTo>
                    <a:pt x="769379" y="262606"/>
                  </a:lnTo>
                  <a:lnTo>
                    <a:pt x="752205" y="221985"/>
                  </a:lnTo>
                  <a:lnTo>
                    <a:pt x="730789" y="183822"/>
                  </a:lnTo>
                  <a:lnTo>
                    <a:pt x="705429" y="148413"/>
                  </a:lnTo>
                  <a:lnTo>
                    <a:pt x="676422" y="116057"/>
                  </a:lnTo>
                  <a:lnTo>
                    <a:pt x="644066" y="87050"/>
                  </a:lnTo>
                  <a:lnTo>
                    <a:pt x="608657" y="61690"/>
                  </a:lnTo>
                  <a:lnTo>
                    <a:pt x="570494" y="40274"/>
                  </a:lnTo>
                  <a:lnTo>
                    <a:pt x="529873" y="23100"/>
                  </a:lnTo>
                  <a:lnTo>
                    <a:pt x="487093" y="10465"/>
                  </a:lnTo>
                  <a:lnTo>
                    <a:pt x="442449" y="2665"/>
                  </a:lnTo>
                  <a:lnTo>
                    <a:pt x="396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3376" y="5193791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0" y="396239"/>
                  </a:moveTo>
                  <a:lnTo>
                    <a:pt x="2665" y="350030"/>
                  </a:lnTo>
                  <a:lnTo>
                    <a:pt x="10465" y="305386"/>
                  </a:lnTo>
                  <a:lnTo>
                    <a:pt x="23100" y="262606"/>
                  </a:lnTo>
                  <a:lnTo>
                    <a:pt x="40274" y="221985"/>
                  </a:lnTo>
                  <a:lnTo>
                    <a:pt x="61690" y="183822"/>
                  </a:lnTo>
                  <a:lnTo>
                    <a:pt x="87050" y="148413"/>
                  </a:lnTo>
                  <a:lnTo>
                    <a:pt x="116057" y="116057"/>
                  </a:lnTo>
                  <a:lnTo>
                    <a:pt x="148413" y="87050"/>
                  </a:lnTo>
                  <a:lnTo>
                    <a:pt x="183822" y="61690"/>
                  </a:lnTo>
                  <a:lnTo>
                    <a:pt x="221985" y="40274"/>
                  </a:lnTo>
                  <a:lnTo>
                    <a:pt x="262606" y="23100"/>
                  </a:lnTo>
                  <a:lnTo>
                    <a:pt x="305386" y="10465"/>
                  </a:lnTo>
                  <a:lnTo>
                    <a:pt x="350030" y="2665"/>
                  </a:lnTo>
                  <a:lnTo>
                    <a:pt x="396240" y="0"/>
                  </a:lnTo>
                  <a:lnTo>
                    <a:pt x="442449" y="2665"/>
                  </a:lnTo>
                  <a:lnTo>
                    <a:pt x="487093" y="10465"/>
                  </a:lnTo>
                  <a:lnTo>
                    <a:pt x="529873" y="23100"/>
                  </a:lnTo>
                  <a:lnTo>
                    <a:pt x="570494" y="40274"/>
                  </a:lnTo>
                  <a:lnTo>
                    <a:pt x="608657" y="61690"/>
                  </a:lnTo>
                  <a:lnTo>
                    <a:pt x="644066" y="87050"/>
                  </a:lnTo>
                  <a:lnTo>
                    <a:pt x="676422" y="116057"/>
                  </a:lnTo>
                  <a:lnTo>
                    <a:pt x="705429" y="148413"/>
                  </a:lnTo>
                  <a:lnTo>
                    <a:pt x="730789" y="183822"/>
                  </a:lnTo>
                  <a:lnTo>
                    <a:pt x="752205" y="221985"/>
                  </a:lnTo>
                  <a:lnTo>
                    <a:pt x="769379" y="262606"/>
                  </a:lnTo>
                  <a:lnTo>
                    <a:pt x="782014" y="305386"/>
                  </a:lnTo>
                  <a:lnTo>
                    <a:pt x="789814" y="350030"/>
                  </a:lnTo>
                  <a:lnTo>
                    <a:pt x="792480" y="396239"/>
                  </a:lnTo>
                  <a:lnTo>
                    <a:pt x="789814" y="442449"/>
                  </a:lnTo>
                  <a:lnTo>
                    <a:pt x="782014" y="487093"/>
                  </a:lnTo>
                  <a:lnTo>
                    <a:pt x="769379" y="529873"/>
                  </a:lnTo>
                  <a:lnTo>
                    <a:pt x="752205" y="570494"/>
                  </a:lnTo>
                  <a:lnTo>
                    <a:pt x="730789" y="608657"/>
                  </a:lnTo>
                  <a:lnTo>
                    <a:pt x="705429" y="644066"/>
                  </a:lnTo>
                  <a:lnTo>
                    <a:pt x="676422" y="676422"/>
                  </a:lnTo>
                  <a:lnTo>
                    <a:pt x="644066" y="705429"/>
                  </a:lnTo>
                  <a:lnTo>
                    <a:pt x="608657" y="730789"/>
                  </a:lnTo>
                  <a:lnTo>
                    <a:pt x="570494" y="752205"/>
                  </a:lnTo>
                  <a:lnTo>
                    <a:pt x="529873" y="769379"/>
                  </a:lnTo>
                  <a:lnTo>
                    <a:pt x="487093" y="782014"/>
                  </a:lnTo>
                  <a:lnTo>
                    <a:pt x="442449" y="789814"/>
                  </a:lnTo>
                  <a:lnTo>
                    <a:pt x="396240" y="792479"/>
                  </a:lnTo>
                  <a:lnTo>
                    <a:pt x="350030" y="789814"/>
                  </a:lnTo>
                  <a:lnTo>
                    <a:pt x="305386" y="782014"/>
                  </a:lnTo>
                  <a:lnTo>
                    <a:pt x="262606" y="769379"/>
                  </a:lnTo>
                  <a:lnTo>
                    <a:pt x="221985" y="752205"/>
                  </a:lnTo>
                  <a:lnTo>
                    <a:pt x="183822" y="730789"/>
                  </a:lnTo>
                  <a:lnTo>
                    <a:pt x="148413" y="705429"/>
                  </a:lnTo>
                  <a:lnTo>
                    <a:pt x="116057" y="676422"/>
                  </a:lnTo>
                  <a:lnTo>
                    <a:pt x="87050" y="644066"/>
                  </a:lnTo>
                  <a:lnTo>
                    <a:pt x="61690" y="608657"/>
                  </a:lnTo>
                  <a:lnTo>
                    <a:pt x="40274" y="570494"/>
                  </a:lnTo>
                  <a:lnTo>
                    <a:pt x="23100" y="529873"/>
                  </a:lnTo>
                  <a:lnTo>
                    <a:pt x="10465" y="487093"/>
                  </a:lnTo>
                  <a:lnTo>
                    <a:pt x="2665" y="442449"/>
                  </a:lnTo>
                  <a:lnTo>
                    <a:pt x="0" y="3962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56961" y="8137850"/>
            <a:ext cx="61626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488" dirty="0">
                <a:solidFill>
                  <a:srgbClr val="F2F2F2"/>
                </a:solidFill>
                <a:latin typeface="Arial"/>
                <a:cs typeface="Arial"/>
              </a:rPr>
              <a:t>C</a:t>
            </a:r>
            <a:r>
              <a:rPr sz="2700" b="1" spc="-488" dirty="0">
                <a:solidFill>
                  <a:srgbClr val="FED33B"/>
                </a:solidFill>
                <a:latin typeface="Arial"/>
                <a:cs typeface="Arial"/>
              </a:rPr>
              <a:t>B</a:t>
            </a:r>
            <a:r>
              <a:rPr sz="2700" b="1" spc="-488" dirty="0">
                <a:solidFill>
                  <a:srgbClr val="F2F2F2"/>
                </a:solidFill>
                <a:latin typeface="Arial"/>
                <a:cs typeface="Arial"/>
              </a:rPr>
              <a:t>A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43085" y="7781162"/>
            <a:ext cx="1205865" cy="1207770"/>
            <a:chOff x="6295390" y="5187441"/>
            <a:chExt cx="803910" cy="805180"/>
          </a:xfrm>
        </p:grpSpPr>
        <p:sp>
          <p:nvSpPr>
            <p:cNvPr id="13" name="object 13"/>
            <p:cNvSpPr/>
            <p:nvPr/>
          </p:nvSpPr>
          <p:spPr>
            <a:xfrm>
              <a:off x="6301740" y="5193791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09" h="792479">
                  <a:moveTo>
                    <a:pt x="395478" y="0"/>
                  </a:moveTo>
                  <a:lnTo>
                    <a:pt x="349357" y="2665"/>
                  </a:lnTo>
                  <a:lnTo>
                    <a:pt x="304799" y="10465"/>
                  </a:lnTo>
                  <a:lnTo>
                    <a:pt x="262100" y="23100"/>
                  </a:lnTo>
                  <a:lnTo>
                    <a:pt x="221557" y="40274"/>
                  </a:lnTo>
                  <a:lnTo>
                    <a:pt x="183467" y="61690"/>
                  </a:lnTo>
                  <a:lnTo>
                    <a:pt x="148127" y="87050"/>
                  </a:lnTo>
                  <a:lnTo>
                    <a:pt x="115833" y="116057"/>
                  </a:lnTo>
                  <a:lnTo>
                    <a:pt x="86882" y="148413"/>
                  </a:lnTo>
                  <a:lnTo>
                    <a:pt x="61571" y="183822"/>
                  </a:lnTo>
                  <a:lnTo>
                    <a:pt x="40197" y="221985"/>
                  </a:lnTo>
                  <a:lnTo>
                    <a:pt x="23056" y="262606"/>
                  </a:lnTo>
                  <a:lnTo>
                    <a:pt x="10444" y="305386"/>
                  </a:lnTo>
                  <a:lnTo>
                    <a:pt x="2660" y="350030"/>
                  </a:lnTo>
                  <a:lnTo>
                    <a:pt x="0" y="396239"/>
                  </a:lnTo>
                  <a:lnTo>
                    <a:pt x="2660" y="442449"/>
                  </a:lnTo>
                  <a:lnTo>
                    <a:pt x="10444" y="487093"/>
                  </a:lnTo>
                  <a:lnTo>
                    <a:pt x="23056" y="529873"/>
                  </a:lnTo>
                  <a:lnTo>
                    <a:pt x="40197" y="570494"/>
                  </a:lnTo>
                  <a:lnTo>
                    <a:pt x="61571" y="608657"/>
                  </a:lnTo>
                  <a:lnTo>
                    <a:pt x="86882" y="644066"/>
                  </a:lnTo>
                  <a:lnTo>
                    <a:pt x="115833" y="676422"/>
                  </a:lnTo>
                  <a:lnTo>
                    <a:pt x="148127" y="705429"/>
                  </a:lnTo>
                  <a:lnTo>
                    <a:pt x="183467" y="730789"/>
                  </a:lnTo>
                  <a:lnTo>
                    <a:pt x="221557" y="752205"/>
                  </a:lnTo>
                  <a:lnTo>
                    <a:pt x="262100" y="769379"/>
                  </a:lnTo>
                  <a:lnTo>
                    <a:pt x="304799" y="782014"/>
                  </a:lnTo>
                  <a:lnTo>
                    <a:pt x="349357" y="789814"/>
                  </a:lnTo>
                  <a:lnTo>
                    <a:pt x="395478" y="792479"/>
                  </a:lnTo>
                  <a:lnTo>
                    <a:pt x="441598" y="789814"/>
                  </a:lnTo>
                  <a:lnTo>
                    <a:pt x="486156" y="782014"/>
                  </a:lnTo>
                  <a:lnTo>
                    <a:pt x="528855" y="769379"/>
                  </a:lnTo>
                  <a:lnTo>
                    <a:pt x="569398" y="752205"/>
                  </a:lnTo>
                  <a:lnTo>
                    <a:pt x="607488" y="730789"/>
                  </a:lnTo>
                  <a:lnTo>
                    <a:pt x="642828" y="705429"/>
                  </a:lnTo>
                  <a:lnTo>
                    <a:pt x="675122" y="676422"/>
                  </a:lnTo>
                  <a:lnTo>
                    <a:pt x="704073" y="644066"/>
                  </a:lnTo>
                  <a:lnTo>
                    <a:pt x="729384" y="608657"/>
                  </a:lnTo>
                  <a:lnTo>
                    <a:pt x="750758" y="570494"/>
                  </a:lnTo>
                  <a:lnTo>
                    <a:pt x="767899" y="529873"/>
                  </a:lnTo>
                  <a:lnTo>
                    <a:pt x="780511" y="487093"/>
                  </a:lnTo>
                  <a:lnTo>
                    <a:pt x="788295" y="442449"/>
                  </a:lnTo>
                  <a:lnTo>
                    <a:pt x="790956" y="396239"/>
                  </a:lnTo>
                  <a:lnTo>
                    <a:pt x="788295" y="350030"/>
                  </a:lnTo>
                  <a:lnTo>
                    <a:pt x="780511" y="305386"/>
                  </a:lnTo>
                  <a:lnTo>
                    <a:pt x="767899" y="262606"/>
                  </a:lnTo>
                  <a:lnTo>
                    <a:pt x="750758" y="221985"/>
                  </a:lnTo>
                  <a:lnTo>
                    <a:pt x="729384" y="183822"/>
                  </a:lnTo>
                  <a:lnTo>
                    <a:pt x="704073" y="148413"/>
                  </a:lnTo>
                  <a:lnTo>
                    <a:pt x="675122" y="116057"/>
                  </a:lnTo>
                  <a:lnTo>
                    <a:pt x="642828" y="87050"/>
                  </a:lnTo>
                  <a:lnTo>
                    <a:pt x="607488" y="61690"/>
                  </a:lnTo>
                  <a:lnTo>
                    <a:pt x="569398" y="40274"/>
                  </a:lnTo>
                  <a:lnTo>
                    <a:pt x="528855" y="23100"/>
                  </a:lnTo>
                  <a:lnTo>
                    <a:pt x="486156" y="10465"/>
                  </a:lnTo>
                  <a:lnTo>
                    <a:pt x="441598" y="2665"/>
                  </a:lnTo>
                  <a:lnTo>
                    <a:pt x="395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301740" y="5193791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09" h="792479">
                  <a:moveTo>
                    <a:pt x="0" y="396239"/>
                  </a:moveTo>
                  <a:lnTo>
                    <a:pt x="2660" y="350030"/>
                  </a:lnTo>
                  <a:lnTo>
                    <a:pt x="10444" y="305386"/>
                  </a:lnTo>
                  <a:lnTo>
                    <a:pt x="23056" y="262606"/>
                  </a:lnTo>
                  <a:lnTo>
                    <a:pt x="40197" y="221985"/>
                  </a:lnTo>
                  <a:lnTo>
                    <a:pt x="61571" y="183822"/>
                  </a:lnTo>
                  <a:lnTo>
                    <a:pt x="86882" y="148413"/>
                  </a:lnTo>
                  <a:lnTo>
                    <a:pt x="115833" y="116057"/>
                  </a:lnTo>
                  <a:lnTo>
                    <a:pt x="148127" y="87050"/>
                  </a:lnTo>
                  <a:lnTo>
                    <a:pt x="183467" y="61690"/>
                  </a:lnTo>
                  <a:lnTo>
                    <a:pt x="221557" y="40274"/>
                  </a:lnTo>
                  <a:lnTo>
                    <a:pt x="262100" y="23100"/>
                  </a:lnTo>
                  <a:lnTo>
                    <a:pt x="304799" y="10465"/>
                  </a:lnTo>
                  <a:lnTo>
                    <a:pt x="349357" y="2665"/>
                  </a:lnTo>
                  <a:lnTo>
                    <a:pt x="395478" y="0"/>
                  </a:lnTo>
                  <a:lnTo>
                    <a:pt x="441598" y="2665"/>
                  </a:lnTo>
                  <a:lnTo>
                    <a:pt x="486156" y="10465"/>
                  </a:lnTo>
                  <a:lnTo>
                    <a:pt x="528855" y="23100"/>
                  </a:lnTo>
                  <a:lnTo>
                    <a:pt x="569398" y="40274"/>
                  </a:lnTo>
                  <a:lnTo>
                    <a:pt x="607488" y="61690"/>
                  </a:lnTo>
                  <a:lnTo>
                    <a:pt x="642828" y="87050"/>
                  </a:lnTo>
                  <a:lnTo>
                    <a:pt x="675122" y="116057"/>
                  </a:lnTo>
                  <a:lnTo>
                    <a:pt x="704073" y="148413"/>
                  </a:lnTo>
                  <a:lnTo>
                    <a:pt x="729384" y="183822"/>
                  </a:lnTo>
                  <a:lnTo>
                    <a:pt x="750758" y="221985"/>
                  </a:lnTo>
                  <a:lnTo>
                    <a:pt x="767899" y="262606"/>
                  </a:lnTo>
                  <a:lnTo>
                    <a:pt x="780511" y="305386"/>
                  </a:lnTo>
                  <a:lnTo>
                    <a:pt x="788295" y="350030"/>
                  </a:lnTo>
                  <a:lnTo>
                    <a:pt x="790956" y="396239"/>
                  </a:lnTo>
                  <a:lnTo>
                    <a:pt x="788295" y="442449"/>
                  </a:lnTo>
                  <a:lnTo>
                    <a:pt x="780511" y="487093"/>
                  </a:lnTo>
                  <a:lnTo>
                    <a:pt x="767899" y="529873"/>
                  </a:lnTo>
                  <a:lnTo>
                    <a:pt x="750758" y="570494"/>
                  </a:lnTo>
                  <a:lnTo>
                    <a:pt x="729384" y="608657"/>
                  </a:lnTo>
                  <a:lnTo>
                    <a:pt x="704073" y="644066"/>
                  </a:lnTo>
                  <a:lnTo>
                    <a:pt x="675122" y="676422"/>
                  </a:lnTo>
                  <a:lnTo>
                    <a:pt x="642828" y="705429"/>
                  </a:lnTo>
                  <a:lnTo>
                    <a:pt x="607488" y="730789"/>
                  </a:lnTo>
                  <a:lnTo>
                    <a:pt x="569398" y="752205"/>
                  </a:lnTo>
                  <a:lnTo>
                    <a:pt x="528855" y="769379"/>
                  </a:lnTo>
                  <a:lnTo>
                    <a:pt x="486156" y="782014"/>
                  </a:lnTo>
                  <a:lnTo>
                    <a:pt x="441598" y="789814"/>
                  </a:lnTo>
                  <a:lnTo>
                    <a:pt x="395478" y="792479"/>
                  </a:lnTo>
                  <a:lnTo>
                    <a:pt x="349357" y="789814"/>
                  </a:lnTo>
                  <a:lnTo>
                    <a:pt x="304799" y="782014"/>
                  </a:lnTo>
                  <a:lnTo>
                    <a:pt x="262100" y="769379"/>
                  </a:lnTo>
                  <a:lnTo>
                    <a:pt x="221557" y="752205"/>
                  </a:lnTo>
                  <a:lnTo>
                    <a:pt x="183467" y="730789"/>
                  </a:lnTo>
                  <a:lnTo>
                    <a:pt x="148127" y="705429"/>
                  </a:lnTo>
                  <a:lnTo>
                    <a:pt x="115833" y="676422"/>
                  </a:lnTo>
                  <a:lnTo>
                    <a:pt x="86882" y="644066"/>
                  </a:lnTo>
                  <a:lnTo>
                    <a:pt x="61571" y="608657"/>
                  </a:lnTo>
                  <a:lnTo>
                    <a:pt x="40197" y="570494"/>
                  </a:lnTo>
                  <a:lnTo>
                    <a:pt x="23056" y="529873"/>
                  </a:lnTo>
                  <a:lnTo>
                    <a:pt x="10444" y="487093"/>
                  </a:lnTo>
                  <a:lnTo>
                    <a:pt x="2660" y="442449"/>
                  </a:lnTo>
                  <a:lnTo>
                    <a:pt x="0" y="3962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51699" y="8137850"/>
            <a:ext cx="58959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510" dirty="0">
                <a:solidFill>
                  <a:srgbClr val="F2F2F2"/>
                </a:solidFill>
                <a:latin typeface="Arial"/>
                <a:cs typeface="Arial"/>
              </a:rPr>
              <a:t>C</a:t>
            </a:r>
            <a:r>
              <a:rPr sz="2700" b="1" spc="-510" dirty="0">
                <a:solidFill>
                  <a:srgbClr val="FED33B"/>
                </a:solidFill>
                <a:latin typeface="Arial"/>
                <a:cs typeface="Arial"/>
              </a:rPr>
              <a:t>E</a:t>
            </a:r>
            <a:r>
              <a:rPr sz="2700" b="1" spc="-510" dirty="0">
                <a:solidFill>
                  <a:srgbClr val="F2F2F2"/>
                </a:solidFill>
                <a:latin typeface="Arial"/>
                <a:cs typeface="Arial"/>
              </a:rPr>
              <a:t>A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587353" y="7772019"/>
            <a:ext cx="1207770" cy="1207770"/>
            <a:chOff x="7724902" y="5181346"/>
            <a:chExt cx="805180" cy="805180"/>
          </a:xfrm>
        </p:grpSpPr>
        <p:sp>
          <p:nvSpPr>
            <p:cNvPr id="17" name="object 17"/>
            <p:cNvSpPr/>
            <p:nvPr/>
          </p:nvSpPr>
          <p:spPr>
            <a:xfrm>
              <a:off x="7731252" y="5187696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240" y="0"/>
                  </a:moveTo>
                  <a:lnTo>
                    <a:pt x="350030" y="2665"/>
                  </a:lnTo>
                  <a:lnTo>
                    <a:pt x="305386" y="10465"/>
                  </a:lnTo>
                  <a:lnTo>
                    <a:pt x="262606" y="23100"/>
                  </a:lnTo>
                  <a:lnTo>
                    <a:pt x="221985" y="40274"/>
                  </a:lnTo>
                  <a:lnTo>
                    <a:pt x="183822" y="61690"/>
                  </a:lnTo>
                  <a:lnTo>
                    <a:pt x="148413" y="87050"/>
                  </a:lnTo>
                  <a:lnTo>
                    <a:pt x="116057" y="116057"/>
                  </a:lnTo>
                  <a:lnTo>
                    <a:pt x="87050" y="148413"/>
                  </a:lnTo>
                  <a:lnTo>
                    <a:pt x="61690" y="183822"/>
                  </a:lnTo>
                  <a:lnTo>
                    <a:pt x="40274" y="221985"/>
                  </a:lnTo>
                  <a:lnTo>
                    <a:pt x="23100" y="262606"/>
                  </a:lnTo>
                  <a:lnTo>
                    <a:pt x="10465" y="305386"/>
                  </a:lnTo>
                  <a:lnTo>
                    <a:pt x="2665" y="350030"/>
                  </a:lnTo>
                  <a:lnTo>
                    <a:pt x="0" y="396239"/>
                  </a:lnTo>
                  <a:lnTo>
                    <a:pt x="2665" y="442449"/>
                  </a:lnTo>
                  <a:lnTo>
                    <a:pt x="10465" y="487093"/>
                  </a:lnTo>
                  <a:lnTo>
                    <a:pt x="23100" y="529873"/>
                  </a:lnTo>
                  <a:lnTo>
                    <a:pt x="40274" y="570494"/>
                  </a:lnTo>
                  <a:lnTo>
                    <a:pt x="61690" y="608657"/>
                  </a:lnTo>
                  <a:lnTo>
                    <a:pt x="87050" y="644066"/>
                  </a:lnTo>
                  <a:lnTo>
                    <a:pt x="116057" y="676422"/>
                  </a:lnTo>
                  <a:lnTo>
                    <a:pt x="148413" y="705429"/>
                  </a:lnTo>
                  <a:lnTo>
                    <a:pt x="183822" y="730789"/>
                  </a:lnTo>
                  <a:lnTo>
                    <a:pt x="221985" y="752205"/>
                  </a:lnTo>
                  <a:lnTo>
                    <a:pt x="262606" y="769379"/>
                  </a:lnTo>
                  <a:lnTo>
                    <a:pt x="305386" y="782014"/>
                  </a:lnTo>
                  <a:lnTo>
                    <a:pt x="350030" y="789814"/>
                  </a:lnTo>
                  <a:lnTo>
                    <a:pt x="396240" y="792479"/>
                  </a:lnTo>
                  <a:lnTo>
                    <a:pt x="442449" y="789814"/>
                  </a:lnTo>
                  <a:lnTo>
                    <a:pt x="487093" y="782014"/>
                  </a:lnTo>
                  <a:lnTo>
                    <a:pt x="529873" y="769379"/>
                  </a:lnTo>
                  <a:lnTo>
                    <a:pt x="570494" y="752205"/>
                  </a:lnTo>
                  <a:lnTo>
                    <a:pt x="608657" y="730789"/>
                  </a:lnTo>
                  <a:lnTo>
                    <a:pt x="644066" y="705429"/>
                  </a:lnTo>
                  <a:lnTo>
                    <a:pt x="676422" y="676422"/>
                  </a:lnTo>
                  <a:lnTo>
                    <a:pt x="705429" y="644066"/>
                  </a:lnTo>
                  <a:lnTo>
                    <a:pt x="730789" y="608657"/>
                  </a:lnTo>
                  <a:lnTo>
                    <a:pt x="752205" y="570494"/>
                  </a:lnTo>
                  <a:lnTo>
                    <a:pt x="769379" y="529873"/>
                  </a:lnTo>
                  <a:lnTo>
                    <a:pt x="782014" y="487093"/>
                  </a:lnTo>
                  <a:lnTo>
                    <a:pt x="789814" y="442449"/>
                  </a:lnTo>
                  <a:lnTo>
                    <a:pt x="792480" y="396239"/>
                  </a:lnTo>
                  <a:lnTo>
                    <a:pt x="789814" y="350030"/>
                  </a:lnTo>
                  <a:lnTo>
                    <a:pt x="782014" y="305386"/>
                  </a:lnTo>
                  <a:lnTo>
                    <a:pt x="769379" y="262606"/>
                  </a:lnTo>
                  <a:lnTo>
                    <a:pt x="752205" y="221985"/>
                  </a:lnTo>
                  <a:lnTo>
                    <a:pt x="730789" y="183822"/>
                  </a:lnTo>
                  <a:lnTo>
                    <a:pt x="705429" y="148413"/>
                  </a:lnTo>
                  <a:lnTo>
                    <a:pt x="676422" y="116057"/>
                  </a:lnTo>
                  <a:lnTo>
                    <a:pt x="644066" y="87050"/>
                  </a:lnTo>
                  <a:lnTo>
                    <a:pt x="608657" y="61690"/>
                  </a:lnTo>
                  <a:lnTo>
                    <a:pt x="570494" y="40274"/>
                  </a:lnTo>
                  <a:lnTo>
                    <a:pt x="529873" y="23100"/>
                  </a:lnTo>
                  <a:lnTo>
                    <a:pt x="487093" y="10465"/>
                  </a:lnTo>
                  <a:lnTo>
                    <a:pt x="442449" y="2665"/>
                  </a:lnTo>
                  <a:lnTo>
                    <a:pt x="396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31252" y="5187696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0" y="396239"/>
                  </a:moveTo>
                  <a:lnTo>
                    <a:pt x="2665" y="350030"/>
                  </a:lnTo>
                  <a:lnTo>
                    <a:pt x="10465" y="305386"/>
                  </a:lnTo>
                  <a:lnTo>
                    <a:pt x="23100" y="262606"/>
                  </a:lnTo>
                  <a:lnTo>
                    <a:pt x="40274" y="221985"/>
                  </a:lnTo>
                  <a:lnTo>
                    <a:pt x="61690" y="183822"/>
                  </a:lnTo>
                  <a:lnTo>
                    <a:pt x="87050" y="148413"/>
                  </a:lnTo>
                  <a:lnTo>
                    <a:pt x="116057" y="116057"/>
                  </a:lnTo>
                  <a:lnTo>
                    <a:pt x="148413" y="87050"/>
                  </a:lnTo>
                  <a:lnTo>
                    <a:pt x="183822" y="61690"/>
                  </a:lnTo>
                  <a:lnTo>
                    <a:pt x="221985" y="40274"/>
                  </a:lnTo>
                  <a:lnTo>
                    <a:pt x="262606" y="23100"/>
                  </a:lnTo>
                  <a:lnTo>
                    <a:pt x="305386" y="10465"/>
                  </a:lnTo>
                  <a:lnTo>
                    <a:pt x="350030" y="2665"/>
                  </a:lnTo>
                  <a:lnTo>
                    <a:pt x="396240" y="0"/>
                  </a:lnTo>
                  <a:lnTo>
                    <a:pt x="442449" y="2665"/>
                  </a:lnTo>
                  <a:lnTo>
                    <a:pt x="487093" y="10465"/>
                  </a:lnTo>
                  <a:lnTo>
                    <a:pt x="529873" y="23100"/>
                  </a:lnTo>
                  <a:lnTo>
                    <a:pt x="570494" y="40274"/>
                  </a:lnTo>
                  <a:lnTo>
                    <a:pt x="608657" y="61690"/>
                  </a:lnTo>
                  <a:lnTo>
                    <a:pt x="644066" y="87050"/>
                  </a:lnTo>
                  <a:lnTo>
                    <a:pt x="676422" y="116057"/>
                  </a:lnTo>
                  <a:lnTo>
                    <a:pt x="705429" y="148413"/>
                  </a:lnTo>
                  <a:lnTo>
                    <a:pt x="730789" y="183822"/>
                  </a:lnTo>
                  <a:lnTo>
                    <a:pt x="752205" y="221985"/>
                  </a:lnTo>
                  <a:lnTo>
                    <a:pt x="769379" y="262606"/>
                  </a:lnTo>
                  <a:lnTo>
                    <a:pt x="782014" y="305386"/>
                  </a:lnTo>
                  <a:lnTo>
                    <a:pt x="789814" y="350030"/>
                  </a:lnTo>
                  <a:lnTo>
                    <a:pt x="792480" y="396239"/>
                  </a:lnTo>
                  <a:lnTo>
                    <a:pt x="789814" y="442449"/>
                  </a:lnTo>
                  <a:lnTo>
                    <a:pt x="782014" y="487093"/>
                  </a:lnTo>
                  <a:lnTo>
                    <a:pt x="769379" y="529873"/>
                  </a:lnTo>
                  <a:lnTo>
                    <a:pt x="752205" y="570494"/>
                  </a:lnTo>
                  <a:lnTo>
                    <a:pt x="730789" y="608657"/>
                  </a:lnTo>
                  <a:lnTo>
                    <a:pt x="705429" y="644066"/>
                  </a:lnTo>
                  <a:lnTo>
                    <a:pt x="676422" y="676422"/>
                  </a:lnTo>
                  <a:lnTo>
                    <a:pt x="644066" y="705429"/>
                  </a:lnTo>
                  <a:lnTo>
                    <a:pt x="608657" y="730789"/>
                  </a:lnTo>
                  <a:lnTo>
                    <a:pt x="570494" y="752205"/>
                  </a:lnTo>
                  <a:lnTo>
                    <a:pt x="529873" y="769379"/>
                  </a:lnTo>
                  <a:lnTo>
                    <a:pt x="487093" y="782014"/>
                  </a:lnTo>
                  <a:lnTo>
                    <a:pt x="442449" y="789814"/>
                  </a:lnTo>
                  <a:lnTo>
                    <a:pt x="396240" y="792479"/>
                  </a:lnTo>
                  <a:lnTo>
                    <a:pt x="350030" y="789814"/>
                  </a:lnTo>
                  <a:lnTo>
                    <a:pt x="305386" y="782014"/>
                  </a:lnTo>
                  <a:lnTo>
                    <a:pt x="262606" y="769379"/>
                  </a:lnTo>
                  <a:lnTo>
                    <a:pt x="221985" y="752205"/>
                  </a:lnTo>
                  <a:lnTo>
                    <a:pt x="183822" y="730789"/>
                  </a:lnTo>
                  <a:lnTo>
                    <a:pt x="148413" y="705429"/>
                  </a:lnTo>
                  <a:lnTo>
                    <a:pt x="116057" y="676422"/>
                  </a:lnTo>
                  <a:lnTo>
                    <a:pt x="87050" y="644066"/>
                  </a:lnTo>
                  <a:lnTo>
                    <a:pt x="61690" y="608657"/>
                  </a:lnTo>
                  <a:lnTo>
                    <a:pt x="40274" y="570494"/>
                  </a:lnTo>
                  <a:lnTo>
                    <a:pt x="23100" y="529873"/>
                  </a:lnTo>
                  <a:lnTo>
                    <a:pt x="10465" y="487093"/>
                  </a:lnTo>
                  <a:lnTo>
                    <a:pt x="2665" y="442449"/>
                  </a:lnTo>
                  <a:lnTo>
                    <a:pt x="0" y="3962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865184" y="8128325"/>
            <a:ext cx="65055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330" dirty="0">
                <a:solidFill>
                  <a:srgbClr val="F2F2F2"/>
                </a:solidFill>
                <a:latin typeface="Arial"/>
                <a:cs typeface="Arial"/>
              </a:rPr>
              <a:t>C</a:t>
            </a:r>
            <a:r>
              <a:rPr sz="2700" b="1" spc="-330" dirty="0">
                <a:solidFill>
                  <a:srgbClr val="FED33B"/>
                </a:solidFill>
                <a:latin typeface="Arial"/>
                <a:cs typeface="Arial"/>
              </a:rPr>
              <a:t>U</a:t>
            </a:r>
            <a:r>
              <a:rPr sz="2700" b="1" spc="-330" dirty="0">
                <a:solidFill>
                  <a:srgbClr val="F2F2F2"/>
                </a:solidFill>
                <a:latin typeface="Arial"/>
                <a:cs typeface="Arial"/>
              </a:rPr>
              <a:t>A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63011" y="7159751"/>
            <a:ext cx="6486525" cy="632460"/>
            <a:chOff x="3842007" y="4773167"/>
            <a:chExt cx="4324350" cy="421640"/>
          </a:xfrm>
        </p:grpSpPr>
        <p:sp>
          <p:nvSpPr>
            <p:cNvPr id="21" name="object 21"/>
            <p:cNvSpPr/>
            <p:nvPr/>
          </p:nvSpPr>
          <p:spPr>
            <a:xfrm>
              <a:off x="5436107" y="4773167"/>
              <a:ext cx="1170940" cy="125095"/>
            </a:xfrm>
            <a:custGeom>
              <a:avLst/>
              <a:gdLst/>
              <a:ahLst/>
              <a:cxnLst/>
              <a:rect l="l" t="t" r="r" b="b"/>
              <a:pathLst>
                <a:path w="1170940" h="125095">
                  <a:moveTo>
                    <a:pt x="1170432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1170432" y="124967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309619" y="4898135"/>
              <a:ext cx="711200" cy="233045"/>
            </a:xfrm>
            <a:custGeom>
              <a:avLst/>
              <a:gdLst/>
              <a:ahLst/>
              <a:cxnLst/>
              <a:rect l="l" t="t" r="r" b="b"/>
              <a:pathLst>
                <a:path w="711200" h="233045">
                  <a:moveTo>
                    <a:pt x="711136" y="0"/>
                  </a:moveTo>
                  <a:lnTo>
                    <a:pt x="711136" y="148031"/>
                  </a:lnTo>
                  <a:lnTo>
                    <a:pt x="0" y="148031"/>
                  </a:lnTo>
                  <a:lnTo>
                    <a:pt x="0" y="2325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271519" y="51179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021323" y="4898135"/>
              <a:ext cx="676275" cy="233045"/>
            </a:xfrm>
            <a:custGeom>
              <a:avLst/>
              <a:gdLst/>
              <a:ahLst/>
              <a:cxnLst/>
              <a:rect l="l" t="t" r="r" b="b"/>
              <a:pathLst>
                <a:path w="676275" h="233045">
                  <a:moveTo>
                    <a:pt x="0" y="0"/>
                  </a:moveTo>
                  <a:lnTo>
                    <a:pt x="0" y="148031"/>
                  </a:lnTo>
                  <a:lnTo>
                    <a:pt x="676211" y="148031"/>
                  </a:lnTo>
                  <a:lnTo>
                    <a:pt x="676211" y="2325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659427" y="51179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021323" y="4898135"/>
              <a:ext cx="2106930" cy="226695"/>
            </a:xfrm>
            <a:custGeom>
              <a:avLst/>
              <a:gdLst/>
              <a:ahLst/>
              <a:cxnLst/>
              <a:rect l="l" t="t" r="r" b="b"/>
              <a:pathLst>
                <a:path w="2106929" h="226695">
                  <a:moveTo>
                    <a:pt x="0" y="0"/>
                  </a:moveTo>
                  <a:lnTo>
                    <a:pt x="0" y="144856"/>
                  </a:lnTo>
                  <a:lnTo>
                    <a:pt x="2106536" y="144856"/>
                  </a:lnTo>
                  <a:lnTo>
                    <a:pt x="2106536" y="2262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8089753" y="51116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880107" y="4898135"/>
              <a:ext cx="2141855" cy="226695"/>
            </a:xfrm>
            <a:custGeom>
              <a:avLst/>
              <a:gdLst/>
              <a:ahLst/>
              <a:cxnLst/>
              <a:rect l="l" t="t" r="r" b="b"/>
              <a:pathLst>
                <a:path w="2141854" h="226695">
                  <a:moveTo>
                    <a:pt x="2141461" y="0"/>
                  </a:moveTo>
                  <a:lnTo>
                    <a:pt x="2141461" y="144856"/>
                  </a:lnTo>
                  <a:lnTo>
                    <a:pt x="0" y="144856"/>
                  </a:lnTo>
                  <a:lnTo>
                    <a:pt x="0" y="2262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42007" y="51116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70499" y="5897880"/>
            <a:ext cx="2005013" cy="4616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720" rIns="0" bIns="0" rtlCol="0">
            <a:spAutoFit/>
          </a:bodyPr>
          <a:lstStyle/>
          <a:p>
            <a:pPr algn="ctr">
              <a:spcBef>
                <a:spcPts val="360"/>
              </a:spcBef>
            </a:pPr>
            <a:r>
              <a:rPr sz="2700" b="1" spc="-30" dirty="0">
                <a:solidFill>
                  <a:srgbClr val="FEFEFE"/>
                </a:solidFill>
                <a:latin typeface="Arial"/>
                <a:cs typeface="Arial"/>
              </a:rPr>
              <a:t>Cost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74935" y="5897880"/>
            <a:ext cx="2005013" cy="4616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720" rIns="0" bIns="0" rtlCol="0">
            <a:spAutoFit/>
          </a:bodyPr>
          <a:lstStyle/>
          <a:p>
            <a:pPr marL="346710">
              <a:spcBef>
                <a:spcPts val="360"/>
              </a:spcBef>
            </a:pPr>
            <a:r>
              <a:rPr sz="2700" b="1" spc="-15" dirty="0">
                <a:solidFill>
                  <a:srgbClr val="FEFEFE"/>
                </a:solidFill>
                <a:latin typeface="Arial"/>
                <a:cs typeface="Arial"/>
              </a:rPr>
              <a:t>Outcome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1534730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306" dirty="0"/>
              <a:t>Different</a:t>
            </a:r>
            <a:r>
              <a:rPr spc="-375" dirty="0"/>
              <a:t> </a:t>
            </a:r>
            <a:r>
              <a:rPr spc="-503" dirty="0"/>
              <a:t>types</a:t>
            </a:r>
            <a:r>
              <a:rPr spc="-323" dirty="0"/>
              <a:t> </a:t>
            </a:r>
            <a:r>
              <a:rPr spc="-315" dirty="0"/>
              <a:t>of </a:t>
            </a:r>
            <a:r>
              <a:rPr spc="-563" dirty="0"/>
              <a:t>economic</a:t>
            </a:r>
            <a:r>
              <a:rPr spc="-360" dirty="0"/>
              <a:t> </a:t>
            </a:r>
            <a:r>
              <a:rPr spc="-465" dirty="0"/>
              <a:t>evaluations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07433"/>
              </p:ext>
            </p:extLst>
          </p:nvPr>
        </p:nvGraphicFramePr>
        <p:xfrm>
          <a:off x="1428750" y="2340850"/>
          <a:ext cx="15430500" cy="6895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700" b="1" spc="-2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8954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700" b="1" spc="-21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Costs</a:t>
                      </a:r>
                      <a:r>
                        <a:rPr sz="2700" b="1" spc="-10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(nominator)</a:t>
                      </a:r>
                      <a:endParaRPr sz="2700" dirty="0">
                        <a:latin typeface="Arial"/>
                        <a:cs typeface="Arial"/>
                      </a:endParaRPr>
                    </a:p>
                  </a:txBody>
                  <a:tcPr marL="0" marR="0" marT="18954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700" b="1" spc="-19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Consequences</a:t>
                      </a:r>
                      <a:r>
                        <a:rPr sz="2700" b="1" spc="-3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(denominator)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8954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700" b="1" spc="-1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8954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7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2400" b="1" spc="-155" dirty="0">
                          <a:latin typeface="Arial"/>
                          <a:cs typeface="Arial"/>
                        </a:rPr>
                        <a:t>Cost-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minimisation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4098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4098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indent="-342900">
                        <a:lnSpc>
                          <a:spcPct val="100000"/>
                        </a:lnSpc>
                        <a:spcBef>
                          <a:spcPts val="259"/>
                        </a:spcBef>
                        <a:buClr>
                          <a:srgbClr val="174A8C"/>
                        </a:buClr>
                        <a:buChar char="•"/>
                        <a:tabLst>
                          <a:tab pos="434340" algn="l"/>
                        </a:tabLst>
                      </a:pPr>
                      <a:r>
                        <a:rPr sz="2400" spc="-130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case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100" i="1" spc="-120" dirty="0">
                          <a:latin typeface="Arial"/>
                          <a:cs typeface="Arial"/>
                        </a:rPr>
                        <a:t>(Choose</a:t>
                      </a:r>
                      <a:r>
                        <a:rPr sz="21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spc="-3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210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spc="-80" dirty="0">
                          <a:latin typeface="Arial"/>
                          <a:cs typeface="Arial"/>
                        </a:rPr>
                        <a:t>cheapest</a:t>
                      </a:r>
                      <a:r>
                        <a:rPr sz="21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spc="-10" dirty="0">
                          <a:latin typeface="Arial"/>
                          <a:cs typeface="Arial"/>
                        </a:rPr>
                        <a:t>option)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4952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74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55" dirty="0">
                          <a:latin typeface="Arial"/>
                          <a:cs typeface="Arial"/>
                        </a:rPr>
                        <a:t>Cost-</a:t>
                      </a:r>
                      <a:r>
                        <a:rPr sz="2400" b="1" spc="-50" dirty="0">
                          <a:latin typeface="Arial"/>
                          <a:cs typeface="Arial"/>
                        </a:rPr>
                        <a:t>effectiveness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90195" marR="282575" indent="-1905" algn="ctr">
                        <a:lnSpc>
                          <a:spcPct val="100000"/>
                        </a:lnSpc>
                      </a:pPr>
                      <a:r>
                        <a:rPr sz="2400" spc="-14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health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outcome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natural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unit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e.g.,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45" dirty="0">
                          <a:latin typeface="Arial"/>
                          <a:cs typeface="Arial"/>
                        </a:rPr>
                        <a:t>case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detected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(screening)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45" dirty="0">
                          <a:latin typeface="Arial"/>
                          <a:cs typeface="Arial"/>
                        </a:rPr>
                        <a:t>case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averted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(prevention)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death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averted (treatment)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28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33705" marR="419734" indent="-342900">
                        <a:lnSpc>
                          <a:spcPct val="100000"/>
                        </a:lnSpc>
                        <a:buClr>
                          <a:srgbClr val="174A8C"/>
                        </a:buClr>
                        <a:buChar char="•"/>
                        <a:tabLst>
                          <a:tab pos="433705" algn="l"/>
                        </a:tabLst>
                      </a:pPr>
                      <a:r>
                        <a:rPr sz="2400" spc="-240" dirty="0">
                          <a:latin typeface="Arial"/>
                          <a:cs typeface="Arial"/>
                        </a:rPr>
                        <a:t>ICER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(cost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life-</a:t>
                      </a:r>
                      <a:r>
                        <a:rPr sz="2400" spc="-90" dirty="0">
                          <a:latin typeface="Arial"/>
                          <a:cs typeface="Arial"/>
                        </a:rPr>
                        <a:t>year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gained, 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per </a:t>
                      </a:r>
                      <a:r>
                        <a:rPr sz="2400" spc="-145" dirty="0">
                          <a:latin typeface="Arial"/>
                          <a:cs typeface="Arial"/>
                        </a:rPr>
                        <a:t>case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detected)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43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b="1" spc="-155" dirty="0">
                          <a:latin typeface="Arial"/>
                          <a:cs typeface="Arial"/>
                        </a:rPr>
                        <a:t>Cost-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utility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621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0" marR="229235" indent="-876300">
                        <a:lnSpc>
                          <a:spcPct val="100000"/>
                        </a:lnSpc>
                        <a:spcBef>
                          <a:spcPts val="1805"/>
                        </a:spcBef>
                      </a:pPr>
                      <a:r>
                        <a:rPr sz="2400" spc="-80" dirty="0">
                          <a:latin typeface="Arial"/>
                          <a:cs typeface="Arial"/>
                        </a:rPr>
                        <a:t>Outcome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common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unit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e.g., </a:t>
                      </a:r>
                      <a:r>
                        <a:rPr sz="2400" spc="-254" dirty="0">
                          <a:latin typeface="Arial"/>
                          <a:cs typeface="Arial"/>
                        </a:rPr>
                        <a:t>QALY,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5" dirty="0">
                          <a:latin typeface="Arial"/>
                          <a:cs typeface="Arial"/>
                        </a:rPr>
                        <a:t>DALY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43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586105" indent="-343535">
                        <a:lnSpc>
                          <a:spcPct val="100000"/>
                        </a:lnSpc>
                        <a:spcBef>
                          <a:spcPts val="1805"/>
                        </a:spcBef>
                        <a:buClr>
                          <a:srgbClr val="174A8C"/>
                        </a:buClr>
                        <a:buChar char="•"/>
                        <a:tabLst>
                          <a:tab pos="434340" algn="l"/>
                        </a:tabLst>
                      </a:pPr>
                      <a:r>
                        <a:rPr sz="2400" spc="-240" dirty="0">
                          <a:latin typeface="Arial"/>
                          <a:cs typeface="Arial"/>
                        </a:rPr>
                        <a:t>ICER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(cost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2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0" dirty="0">
                          <a:latin typeface="Arial"/>
                          <a:cs typeface="Arial"/>
                        </a:rPr>
                        <a:t>QALY,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per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DALY)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43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400" b="1" spc="-155" dirty="0">
                          <a:latin typeface="Arial"/>
                          <a:cs typeface="Arial"/>
                        </a:rPr>
                        <a:t>Cost-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benefit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86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indent="-342900">
                        <a:lnSpc>
                          <a:spcPct val="100000"/>
                        </a:lnSpc>
                        <a:spcBef>
                          <a:spcPts val="254"/>
                        </a:spcBef>
                        <a:buClr>
                          <a:srgbClr val="174A8C"/>
                        </a:buClr>
                        <a:buChar char="•"/>
                        <a:tabLst>
                          <a:tab pos="433705" algn="l"/>
                        </a:tabLst>
                      </a:pPr>
                      <a:r>
                        <a:rPr sz="2400" spc="-60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benefit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Benefit-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to-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ratio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433705" indent="-342900">
                        <a:lnSpc>
                          <a:spcPct val="100000"/>
                        </a:lnSpc>
                        <a:spcBef>
                          <a:spcPts val="385"/>
                        </a:spcBef>
                        <a:buClr>
                          <a:srgbClr val="174A8C"/>
                        </a:buClr>
                        <a:buChar char="•"/>
                        <a:tabLst>
                          <a:tab pos="433705" algn="l"/>
                        </a:tabLst>
                      </a:pPr>
                      <a:r>
                        <a:rPr sz="2400" spc="-80" dirty="0">
                          <a:latin typeface="Arial"/>
                          <a:cs typeface="Arial"/>
                        </a:rPr>
                        <a:t>Return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investment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(ROI)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85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813" y="3111247"/>
            <a:ext cx="754379" cy="75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813" y="4807459"/>
            <a:ext cx="754379" cy="75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813" y="6846571"/>
            <a:ext cx="754379" cy="75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813" y="8076437"/>
            <a:ext cx="754379" cy="7566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1" y="8076437"/>
            <a:ext cx="756665" cy="7566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7098" y="8944083"/>
            <a:ext cx="17739902" cy="13554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326833">
              <a:spcBef>
                <a:spcPts val="150"/>
              </a:spcBef>
            </a:pPr>
            <a:endParaRPr lang="en-US" spc="-270" dirty="0">
              <a:latin typeface="Arial"/>
              <a:cs typeface="Arial"/>
            </a:endParaRPr>
          </a:p>
          <a:p>
            <a:pPr marL="1326833">
              <a:spcBef>
                <a:spcPts val="150"/>
              </a:spcBef>
            </a:pPr>
            <a:r>
              <a:rPr spc="-270" dirty="0">
                <a:latin typeface="Arial"/>
                <a:cs typeface="Arial"/>
              </a:rPr>
              <a:t>ICER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58" dirty="0">
                <a:latin typeface="Arial"/>
                <a:cs typeface="Arial"/>
              </a:rPr>
              <a:t>=</a:t>
            </a:r>
            <a:r>
              <a:rPr spc="-38" dirty="0">
                <a:latin typeface="Arial"/>
                <a:cs typeface="Arial"/>
              </a:rPr>
              <a:t> </a:t>
            </a:r>
            <a:r>
              <a:rPr spc="-68" dirty="0">
                <a:latin typeface="Arial"/>
                <a:cs typeface="Arial"/>
              </a:rPr>
              <a:t>Incremental</a:t>
            </a:r>
            <a:r>
              <a:rPr spc="-98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cost-</a:t>
            </a:r>
            <a:r>
              <a:rPr spc="-83" dirty="0">
                <a:latin typeface="Arial"/>
                <a:cs typeface="Arial"/>
              </a:rPr>
              <a:t>effectiveness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ratio;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278" dirty="0">
                <a:latin typeface="Arial"/>
                <a:cs typeface="Arial"/>
              </a:rPr>
              <a:t>QALY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58" dirty="0">
                <a:latin typeface="Arial"/>
                <a:cs typeface="Arial"/>
              </a:rPr>
              <a:t>=</a:t>
            </a:r>
            <a:r>
              <a:rPr spc="-38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Quality </a:t>
            </a:r>
            <a:r>
              <a:rPr spc="-75" dirty="0">
                <a:latin typeface="Arial"/>
                <a:cs typeface="Arial"/>
              </a:rPr>
              <a:t>adjusted</a:t>
            </a:r>
            <a:r>
              <a:rPr spc="-83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life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83" dirty="0">
                <a:latin typeface="Arial"/>
                <a:cs typeface="Arial"/>
              </a:rPr>
              <a:t>year;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278" dirty="0">
                <a:latin typeface="Arial"/>
                <a:cs typeface="Arial"/>
              </a:rPr>
              <a:t>DALY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158" dirty="0">
                <a:latin typeface="Arial"/>
                <a:cs typeface="Arial"/>
              </a:rPr>
              <a:t>=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Disability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averted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life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year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480"/>
              </a:spcBef>
            </a:pPr>
            <a:endParaRPr dirty="0">
              <a:latin typeface="Arial"/>
              <a:cs typeface="Arial"/>
            </a:endParaRPr>
          </a:p>
          <a:p>
            <a:pPr marL="19050" marR="310515"/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Turner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8" dirty="0">
                <a:solidFill>
                  <a:srgbClr val="1B1B1B"/>
                </a:solidFill>
                <a:latin typeface="Arial"/>
                <a:cs typeface="Arial"/>
              </a:rPr>
              <a:t>HC,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Archer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0" dirty="0">
                <a:solidFill>
                  <a:srgbClr val="1B1B1B"/>
                </a:solidFill>
                <a:latin typeface="Arial"/>
                <a:cs typeface="Arial"/>
              </a:rPr>
              <a:t>RA,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Downey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65" dirty="0">
                <a:solidFill>
                  <a:srgbClr val="1B1B1B"/>
                </a:solidFill>
                <a:latin typeface="Arial"/>
                <a:cs typeface="Arial"/>
              </a:rPr>
              <a:t>LE,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 Isaranuwatchai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W,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Chalkidou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7" dirty="0">
                <a:solidFill>
                  <a:srgbClr val="1B1B1B"/>
                </a:solidFill>
                <a:latin typeface="Arial"/>
                <a:cs typeface="Arial"/>
              </a:rPr>
              <a:t>K,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Jit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M,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Teerawattananon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43" dirty="0">
                <a:solidFill>
                  <a:srgbClr val="1B1B1B"/>
                </a:solidFill>
                <a:latin typeface="Arial"/>
                <a:cs typeface="Arial"/>
              </a:rPr>
              <a:t>Y.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8" dirty="0">
                <a:solidFill>
                  <a:srgbClr val="1B1B1B"/>
                </a:solidFill>
                <a:latin typeface="Arial"/>
                <a:cs typeface="Arial"/>
              </a:rPr>
              <a:t>An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Introduction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to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the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Main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13" dirty="0">
                <a:solidFill>
                  <a:srgbClr val="1B1B1B"/>
                </a:solidFill>
                <a:latin typeface="Arial"/>
                <a:cs typeface="Arial"/>
              </a:rPr>
              <a:t>Types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of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Economic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Evaluations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13" dirty="0">
                <a:solidFill>
                  <a:srgbClr val="1B1B1B"/>
                </a:solidFill>
                <a:latin typeface="Arial"/>
                <a:cs typeface="Arial"/>
              </a:rPr>
              <a:t>Used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for Informing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Priority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Setting</a:t>
            </a:r>
            <a:r>
              <a:rPr sz="1350" spc="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Resource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Allocation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in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Healthcare: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1B1B1B"/>
                </a:solidFill>
                <a:latin typeface="Arial"/>
                <a:cs typeface="Arial"/>
              </a:rPr>
              <a:t>Key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Features,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1B1B1B"/>
                </a:solidFill>
                <a:latin typeface="Arial"/>
                <a:cs typeface="Arial"/>
              </a:rPr>
              <a:t>Uses,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Limitations.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Front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Public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Health.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2021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13" dirty="0">
                <a:solidFill>
                  <a:srgbClr val="1B1B1B"/>
                </a:solidFill>
                <a:latin typeface="Arial"/>
                <a:cs typeface="Arial"/>
              </a:rPr>
              <a:t>Aug</a:t>
            </a:r>
            <a:r>
              <a:rPr sz="1350" spc="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25;9:722927.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doi: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10.3389/fpubh.2021.722927.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PMID:</a:t>
            </a:r>
            <a:r>
              <a:rPr sz="1350" spc="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34513790;</a:t>
            </a:r>
            <a:r>
              <a:rPr sz="1350" spc="-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1B1B1B"/>
                </a:solidFill>
                <a:latin typeface="Arial"/>
                <a:cs typeface="Arial"/>
              </a:rPr>
              <a:t>PMCID: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PMC8424074.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934D2797-5B0A-F15E-6870-9DFE63728F87}"/>
              </a:ext>
            </a:extLst>
          </p:cNvPr>
          <p:cNvGrpSpPr/>
          <p:nvPr/>
        </p:nvGrpSpPr>
        <p:grpSpPr>
          <a:xfrm>
            <a:off x="5377703" y="337500"/>
            <a:ext cx="6832187" cy="1491696"/>
            <a:chOff x="0" y="0"/>
            <a:chExt cx="9109583" cy="1988928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AC5E13A1-37B7-C162-5734-2D2195934508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D3D3B72-F18E-DBF1-0047-C1784820831B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C230648-D086-3653-1876-72A5B51A061A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5">
            <a:extLst>
              <a:ext uri="{FF2B5EF4-FFF2-40B4-BE49-F238E27FC236}">
                <a16:creationId xmlns:a16="http://schemas.microsoft.com/office/drawing/2014/main" id="{72294CA8-A222-39C4-367C-E1458894AD23}"/>
              </a:ext>
            </a:extLst>
          </p:cNvPr>
          <p:cNvSpPr/>
          <p:nvPr/>
        </p:nvSpPr>
        <p:spPr>
          <a:xfrm flipH="1" flipV="1">
            <a:off x="0" y="-149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FF2E15B8-0BFC-B440-2D2E-A21F0884781C}"/>
              </a:ext>
            </a:extLst>
          </p:cNvPr>
          <p:cNvSpPr/>
          <p:nvPr/>
        </p:nvSpPr>
        <p:spPr>
          <a:xfrm flipH="1" flipV="1">
            <a:off x="7986215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9A0F88D7-41CC-4A5B-1077-68BFE39C84FC}"/>
              </a:ext>
            </a:extLst>
          </p:cNvPr>
          <p:cNvSpPr/>
          <p:nvPr/>
        </p:nvSpPr>
        <p:spPr>
          <a:xfrm flipH="1" flipV="1">
            <a:off x="50753" y="52333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317" y="1850269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315" dirty="0"/>
              <a:t>Different</a:t>
            </a:r>
            <a:r>
              <a:rPr spc="-375" dirty="0"/>
              <a:t> </a:t>
            </a:r>
            <a:r>
              <a:rPr spc="-488" dirty="0"/>
              <a:t>methods</a:t>
            </a:r>
            <a:r>
              <a:rPr spc="-344" dirty="0"/>
              <a:t> </a:t>
            </a:r>
            <a:r>
              <a:rPr spc="-330" dirty="0"/>
              <a:t>for</a:t>
            </a:r>
            <a:r>
              <a:rPr spc="-300" dirty="0"/>
              <a:t> </a:t>
            </a:r>
            <a:r>
              <a:rPr spc="-563" dirty="0"/>
              <a:t>economic</a:t>
            </a:r>
            <a:r>
              <a:rPr spc="-323" dirty="0"/>
              <a:t> </a:t>
            </a:r>
            <a:r>
              <a:rPr spc="-405" dirty="0"/>
              <a:t>evaluation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7523" y="3094203"/>
            <a:ext cx="2908061" cy="32729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8717" y="3072383"/>
            <a:ext cx="4709159" cy="33204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7841" y="3202733"/>
            <a:ext cx="3823478" cy="3149547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658169"/>
              </p:ext>
            </p:extLst>
          </p:nvPr>
        </p:nvGraphicFramePr>
        <p:xfrm>
          <a:off x="1143000" y="2644718"/>
          <a:ext cx="15743395" cy="7615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6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E83A08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83A08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T w="28575">
                      <a:solidFill>
                        <a:srgbClr val="E83A0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93">
                <a:tc>
                  <a:txBody>
                    <a:bodyPr/>
                    <a:lstStyle/>
                    <a:p>
                      <a:pPr marL="52895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b="1" spc="-14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Alongside</a:t>
                      </a:r>
                      <a:r>
                        <a:rPr sz="2400" b="1" spc="-4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2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clinical</a:t>
                      </a:r>
                      <a:r>
                        <a:rPr sz="2400" b="1" spc="-6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trial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spc="-13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Pragmatic</a:t>
                      </a:r>
                      <a:r>
                        <a:rPr sz="2400" b="1" spc="-55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Trial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811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spc="-10" dirty="0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Modeling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38113" marB="0">
                    <a:lnL w="28575">
                      <a:solidFill>
                        <a:srgbClr val="E83A08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solidFill>
                      <a:srgbClr val="174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76655" marR="187960" indent="-981710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Srinivasan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et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al.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Pharmacoeconomics.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2020;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38(10):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1031–1042.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22860" algn="ctr">
                        <a:lnSpc>
                          <a:spcPct val="100000"/>
                        </a:lnSpc>
                      </a:pPr>
                      <a:r>
                        <a:rPr sz="1400" spc="-40" dirty="0">
                          <a:latin typeface="Arial"/>
                          <a:cs typeface="Arial"/>
                        </a:rPr>
                        <a:t>Relton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8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et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al.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95" dirty="0">
                          <a:latin typeface="Arial"/>
                          <a:cs typeface="Arial"/>
                        </a:rPr>
                        <a:t>BMJ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2010;340:bmj.c1066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Andrea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C,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Claudio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C,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Front.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Public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Health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2020;8:569500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E83A08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39">
                <a:tc>
                  <a:txBody>
                    <a:bodyPr/>
                    <a:lstStyle/>
                    <a:p>
                      <a:pPr marL="91440" marR="4400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00" b="1" spc="-1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Efficacy:</a:t>
                      </a:r>
                      <a:r>
                        <a:rPr sz="2100" b="1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55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2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9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100" b="1" spc="-65" dirty="0">
                          <a:latin typeface="Arial"/>
                          <a:cs typeface="Arial"/>
                        </a:rPr>
                        <a:t> part</a:t>
                      </a:r>
                      <a:r>
                        <a:rPr sz="21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6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2100" b="1" spc="-100" dirty="0">
                          <a:latin typeface="Arial"/>
                          <a:cs typeface="Arial"/>
                        </a:rPr>
                        <a:t>clinical</a:t>
                      </a:r>
                      <a:r>
                        <a:rPr sz="2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trial </a:t>
                      </a:r>
                      <a:r>
                        <a:rPr sz="2100" b="1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Cost:</a:t>
                      </a:r>
                      <a:r>
                        <a:rPr sz="2100" b="1" spc="-9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3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21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0" dirty="0">
                          <a:latin typeface="Arial"/>
                          <a:cs typeface="Arial"/>
                        </a:rPr>
                        <a:t>trial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5048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88390">
                        <a:lnSpc>
                          <a:spcPts val="1550"/>
                        </a:lnSpc>
                        <a:spcBef>
                          <a:spcPts val="425"/>
                        </a:spcBef>
                      </a:pPr>
                      <a:r>
                        <a:rPr sz="2100" b="1" spc="-1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Effectiveness:</a:t>
                      </a:r>
                      <a:r>
                        <a:rPr sz="2100" b="1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5" dirty="0">
                          <a:latin typeface="Arial"/>
                          <a:cs typeface="Arial"/>
                        </a:rPr>
                        <a:t>pragmatic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trial </a:t>
                      </a:r>
                      <a:r>
                        <a:rPr sz="2100" b="1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Cost:</a:t>
                      </a:r>
                      <a:r>
                        <a:rPr sz="2100" b="1" spc="-9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3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21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0" dirty="0">
                          <a:latin typeface="Arial"/>
                          <a:cs typeface="Arial"/>
                        </a:rPr>
                        <a:t>trial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809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53340">
                        <a:lnSpc>
                          <a:spcPts val="1550"/>
                        </a:lnSpc>
                        <a:spcBef>
                          <a:spcPts val="425"/>
                        </a:spcBef>
                      </a:pPr>
                      <a:r>
                        <a:rPr sz="2100" b="1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Efficacy</a:t>
                      </a:r>
                      <a:r>
                        <a:rPr sz="2100" b="1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100" b="1" spc="-4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effectiveness</a:t>
                      </a:r>
                      <a:r>
                        <a:rPr sz="2100" b="1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2100" b="1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cost:</a:t>
                      </a:r>
                      <a:r>
                        <a:rPr sz="2100" b="1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14" dirty="0">
                          <a:latin typeface="Arial"/>
                          <a:cs typeface="Arial"/>
                        </a:rPr>
                        <a:t>systematic</a:t>
                      </a:r>
                      <a:r>
                        <a:rPr sz="21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80" dirty="0">
                          <a:latin typeface="Arial"/>
                          <a:cs typeface="Arial"/>
                        </a:rPr>
                        <a:t>review</a:t>
                      </a:r>
                      <a:r>
                        <a:rPr sz="2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2100" b="1" spc="-70" dirty="0">
                          <a:latin typeface="Arial"/>
                          <a:cs typeface="Arial"/>
                        </a:rPr>
                        <a:t>meta-</a:t>
                      </a:r>
                      <a:r>
                        <a:rPr sz="2100" b="1" spc="-114" dirty="0">
                          <a:latin typeface="Arial"/>
                          <a:cs typeface="Arial"/>
                        </a:rPr>
                        <a:t>analysis,</a:t>
                      </a:r>
                      <a:r>
                        <a:rPr sz="21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25" dirty="0">
                          <a:latin typeface="Arial"/>
                          <a:cs typeface="Arial"/>
                        </a:rPr>
                        <a:t>survey</a:t>
                      </a:r>
                      <a:r>
                        <a:rPr sz="2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8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1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databases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80963" marB="0">
                    <a:lnL w="28575">
                      <a:solidFill>
                        <a:srgbClr val="E83A08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4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00" b="1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Limitations: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270510" indent="-17907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270510" algn="l"/>
                        </a:tabLst>
                      </a:pPr>
                      <a:r>
                        <a:rPr sz="2100" b="1" spc="-95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21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6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comparators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270510" indent="-17907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270510" algn="l"/>
                        </a:tabLst>
                      </a:pPr>
                      <a:r>
                        <a:rPr sz="2100" b="1" spc="-70" dirty="0">
                          <a:latin typeface="Arial"/>
                          <a:cs typeface="Arial"/>
                        </a:rPr>
                        <a:t>Intermediate</a:t>
                      </a:r>
                      <a:r>
                        <a:rPr sz="2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outcome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269875" marR="325755" indent="-179070">
                        <a:lnSpc>
                          <a:spcPts val="1550"/>
                        </a:lnSpc>
                        <a:spcBef>
                          <a:spcPts val="160"/>
                        </a:spcBef>
                        <a:buFont typeface="Arial"/>
                        <a:buChar char="•"/>
                        <a:tabLst>
                          <a:tab pos="271145" algn="l"/>
                        </a:tabLst>
                      </a:pPr>
                      <a:r>
                        <a:rPr sz="2100" b="1" spc="-120" dirty="0">
                          <a:latin typeface="Arial"/>
                          <a:cs typeface="Arial"/>
                        </a:rPr>
                        <a:t>Gold</a:t>
                      </a:r>
                      <a:r>
                        <a:rPr sz="2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5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2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0" dirty="0"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1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of 	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outcomes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5048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Limitations: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270510" indent="-17907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270510" algn="l"/>
                        </a:tabLst>
                      </a:pPr>
                      <a:r>
                        <a:rPr sz="2100" b="1" spc="-95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21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6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comparators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100" dirty="0">
                          <a:latin typeface="Arial"/>
                          <a:cs typeface="Arial"/>
                        </a:rPr>
                        <a:t>•</a:t>
                      </a:r>
                      <a:r>
                        <a:rPr sz="2100" spc="10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2100" b="1" dirty="0">
                          <a:latin typeface="Arial"/>
                          <a:cs typeface="Arial"/>
                        </a:rPr>
                        <a:t>+/-</a:t>
                      </a:r>
                      <a:r>
                        <a:rPr sz="2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70" dirty="0">
                          <a:latin typeface="Arial"/>
                          <a:cs typeface="Arial"/>
                        </a:rPr>
                        <a:t>intermediate</a:t>
                      </a:r>
                      <a:r>
                        <a:rPr sz="2100" b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outcome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Limitations:</a:t>
                      </a:r>
                      <a:endParaRPr sz="2100" dirty="0">
                        <a:latin typeface="Arial"/>
                        <a:cs typeface="Arial"/>
                      </a:endParaRPr>
                    </a:p>
                    <a:p>
                      <a:pPr marL="240029" indent="-179070">
                        <a:lnSpc>
                          <a:spcPts val="1614"/>
                        </a:lnSpc>
                        <a:buFont typeface="Arial"/>
                        <a:buChar char="•"/>
                        <a:tabLst>
                          <a:tab pos="240029" algn="l"/>
                        </a:tabLst>
                      </a:pPr>
                      <a:r>
                        <a:rPr sz="2100" b="1" spc="-120" dirty="0">
                          <a:latin typeface="Arial"/>
                          <a:cs typeface="Arial"/>
                        </a:rPr>
                        <a:t>Garbage</a:t>
                      </a:r>
                      <a:r>
                        <a:rPr sz="21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8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4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100" b="1" spc="-4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25" dirty="0">
                          <a:latin typeface="Arial"/>
                          <a:cs typeface="Arial"/>
                        </a:rPr>
                        <a:t>Garbage</a:t>
                      </a:r>
                      <a:r>
                        <a:rPr sz="21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25" dirty="0">
                          <a:latin typeface="Arial"/>
                          <a:cs typeface="Arial"/>
                        </a:rPr>
                        <a:t>out</a:t>
                      </a:r>
                      <a:endParaRPr sz="2100" dirty="0">
                        <a:latin typeface="Arial"/>
                        <a:cs typeface="Arial"/>
                      </a:endParaRPr>
                    </a:p>
                    <a:p>
                      <a:pPr marL="240029" indent="-179070">
                        <a:lnSpc>
                          <a:spcPts val="1614"/>
                        </a:lnSpc>
                        <a:buFont typeface="Arial"/>
                        <a:buChar char="•"/>
                        <a:tabLst>
                          <a:tab pos="240029" algn="l"/>
                        </a:tabLst>
                      </a:pPr>
                      <a:r>
                        <a:rPr sz="2100" b="1" spc="-8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availability</a:t>
                      </a:r>
                      <a:endParaRPr sz="2100" dirty="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E83A08"/>
                      </a:solidFill>
                      <a:prstDash val="solid"/>
                    </a:lnL>
                    <a:lnR w="28575">
                      <a:solidFill>
                        <a:srgbClr val="E83A0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E83A0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oup 3">
            <a:extLst>
              <a:ext uri="{FF2B5EF4-FFF2-40B4-BE49-F238E27FC236}">
                <a16:creationId xmlns:a16="http://schemas.microsoft.com/office/drawing/2014/main" id="{045B65FE-5388-6D00-15E4-5B6016CAD4E6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135B2612-7FA6-F663-45D0-C1008D9D2BEE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4257959-A42F-9FF9-E269-2636F9EAFE58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6AC4EFA-FE12-360D-535E-83C9CCF50263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5">
            <a:extLst>
              <a:ext uri="{FF2B5EF4-FFF2-40B4-BE49-F238E27FC236}">
                <a16:creationId xmlns:a16="http://schemas.microsoft.com/office/drawing/2014/main" id="{0BAE0E14-9244-40C2-BA16-9132CA6BEB57}"/>
              </a:ext>
            </a:extLst>
          </p:cNvPr>
          <p:cNvSpPr/>
          <p:nvPr/>
        </p:nvSpPr>
        <p:spPr>
          <a:xfrm flipH="1" flipV="1">
            <a:off x="-50467" y="-4651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C05D1225-DE17-74F9-0649-B7E1F347DB18}"/>
              </a:ext>
            </a:extLst>
          </p:cNvPr>
          <p:cNvSpPr/>
          <p:nvPr/>
        </p:nvSpPr>
        <p:spPr>
          <a:xfrm flipH="1" flipV="1">
            <a:off x="-54990" y="-4516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57CC48D8-69BB-B73D-38F8-307B3E5F0F84}"/>
              </a:ext>
            </a:extLst>
          </p:cNvPr>
          <p:cNvSpPr/>
          <p:nvPr/>
        </p:nvSpPr>
        <p:spPr>
          <a:xfrm flipH="1" flipV="1">
            <a:off x="10232010" y="44554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1638300"/>
            <a:ext cx="13447395" cy="966483"/>
          </a:xfrm>
          <a:prstGeom prst="rect">
            <a:avLst/>
          </a:prstGeom>
        </p:spPr>
        <p:txBody>
          <a:bodyPr vert="horz" wrap="square" lIns="0" tIns="133350" rIns="0" bIns="0" rtlCol="0" anchor="ctr">
            <a:spAutoFit/>
          </a:bodyPr>
          <a:lstStyle/>
          <a:p>
            <a:pPr marL="19050" marR="7620">
              <a:lnSpc>
                <a:spcPts val="7125"/>
              </a:lnSpc>
              <a:spcBef>
                <a:spcPts val="1050"/>
              </a:spcBef>
            </a:pPr>
            <a:r>
              <a:rPr spc="-488" dirty="0"/>
              <a:t>Why</a:t>
            </a:r>
            <a:r>
              <a:rPr spc="-330" dirty="0"/>
              <a:t> </a:t>
            </a:r>
            <a:r>
              <a:rPr spc="-488" dirty="0"/>
              <a:t>do</a:t>
            </a:r>
            <a:r>
              <a:rPr spc="-330" dirty="0"/>
              <a:t> </a:t>
            </a:r>
            <a:r>
              <a:rPr spc="-360" dirty="0"/>
              <a:t>we</a:t>
            </a:r>
            <a:r>
              <a:rPr spc="-315" dirty="0"/>
              <a:t> </a:t>
            </a:r>
            <a:r>
              <a:rPr spc="-443" dirty="0"/>
              <a:t>need</a:t>
            </a:r>
            <a:r>
              <a:rPr spc="-344" dirty="0"/>
              <a:t> </a:t>
            </a:r>
            <a:r>
              <a:rPr spc="-248" dirty="0"/>
              <a:t>to</a:t>
            </a:r>
            <a:r>
              <a:rPr spc="-330" dirty="0"/>
              <a:t> </a:t>
            </a:r>
            <a:r>
              <a:rPr spc="-563" dirty="0"/>
              <a:t>conduct</a:t>
            </a:r>
            <a:r>
              <a:rPr spc="-344" dirty="0"/>
              <a:t> </a:t>
            </a:r>
            <a:r>
              <a:rPr spc="-443" dirty="0"/>
              <a:t>a</a:t>
            </a:r>
            <a:r>
              <a:rPr spc="-330" dirty="0"/>
              <a:t> </a:t>
            </a:r>
            <a:r>
              <a:rPr spc="-555" dirty="0"/>
              <a:t>decision </a:t>
            </a:r>
            <a:r>
              <a:rPr spc="-533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6084" y="3362819"/>
            <a:ext cx="8016240" cy="33816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422910">
              <a:spcBef>
                <a:spcPts val="150"/>
              </a:spcBef>
            </a:pPr>
            <a:r>
              <a:rPr sz="3600" spc="98" dirty="0">
                <a:latin typeface="Arial"/>
                <a:cs typeface="Arial"/>
              </a:rPr>
              <a:t>“If</a:t>
            </a:r>
            <a:r>
              <a:rPr sz="3600" spc="-188" dirty="0">
                <a:latin typeface="Arial"/>
                <a:cs typeface="Arial"/>
              </a:rPr>
              <a:t> </a:t>
            </a:r>
            <a:r>
              <a:rPr sz="3600" spc="-165" dirty="0">
                <a:latin typeface="Arial"/>
                <a:cs typeface="Arial"/>
              </a:rPr>
              <a:t>we</a:t>
            </a:r>
            <a:r>
              <a:rPr sz="3600" spc="-195" dirty="0">
                <a:latin typeface="Arial"/>
                <a:cs typeface="Arial"/>
              </a:rPr>
              <a:t> </a:t>
            </a:r>
            <a:r>
              <a:rPr sz="3600" spc="-127" dirty="0">
                <a:latin typeface="Arial"/>
                <a:cs typeface="Arial"/>
              </a:rPr>
              <a:t>know</a:t>
            </a:r>
            <a:r>
              <a:rPr sz="3600" spc="-188" dirty="0">
                <a:latin typeface="Arial"/>
                <a:cs typeface="Arial"/>
              </a:rPr>
              <a:t> </a:t>
            </a:r>
            <a:r>
              <a:rPr sz="3600" spc="-30" dirty="0">
                <a:latin typeface="Arial"/>
                <a:cs typeface="Arial"/>
              </a:rPr>
              <a:t>future</a:t>
            </a:r>
            <a:r>
              <a:rPr sz="3600" spc="-158" dirty="0">
                <a:latin typeface="Arial"/>
                <a:cs typeface="Arial"/>
              </a:rPr>
              <a:t> </a:t>
            </a:r>
            <a:r>
              <a:rPr sz="3600" spc="-171" dirty="0">
                <a:latin typeface="Arial"/>
                <a:cs typeface="Arial"/>
              </a:rPr>
              <a:t>events</a:t>
            </a:r>
            <a:r>
              <a:rPr sz="3600" spc="-18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with</a:t>
            </a:r>
            <a:r>
              <a:rPr sz="3600" spc="-203" dirty="0">
                <a:latin typeface="Arial"/>
                <a:cs typeface="Arial"/>
              </a:rPr>
              <a:t> </a:t>
            </a:r>
            <a:r>
              <a:rPr sz="3600" spc="-75" dirty="0">
                <a:latin typeface="Arial"/>
                <a:cs typeface="Arial"/>
              </a:rPr>
              <a:t>certainty, </a:t>
            </a:r>
            <a:r>
              <a:rPr sz="3600" spc="-165" dirty="0">
                <a:latin typeface="Arial"/>
                <a:cs typeface="Arial"/>
              </a:rPr>
              <a:t>decision</a:t>
            </a:r>
            <a:r>
              <a:rPr sz="3600" spc="-150" dirty="0">
                <a:latin typeface="Arial"/>
                <a:cs typeface="Arial"/>
              </a:rPr>
              <a:t> </a:t>
            </a:r>
            <a:r>
              <a:rPr sz="3600" spc="-188" dirty="0">
                <a:latin typeface="Arial"/>
                <a:cs typeface="Arial"/>
              </a:rPr>
              <a:t>making </a:t>
            </a:r>
            <a:r>
              <a:rPr sz="3600" spc="-233" dirty="0">
                <a:latin typeface="Arial"/>
                <a:cs typeface="Arial"/>
              </a:rPr>
              <a:t>process</a:t>
            </a:r>
            <a:r>
              <a:rPr sz="3600" spc="-165" dirty="0">
                <a:latin typeface="Arial"/>
                <a:cs typeface="Arial"/>
              </a:rPr>
              <a:t> </a:t>
            </a:r>
            <a:r>
              <a:rPr sz="3600" spc="-210" dirty="0">
                <a:latin typeface="Arial"/>
                <a:cs typeface="Arial"/>
              </a:rPr>
              <a:t>is</a:t>
            </a:r>
            <a:r>
              <a:rPr sz="3600" spc="-150" dirty="0">
                <a:latin typeface="Arial"/>
                <a:cs typeface="Arial"/>
              </a:rPr>
              <a:t> </a:t>
            </a:r>
            <a:r>
              <a:rPr sz="3600" spc="-300" dirty="0">
                <a:latin typeface="Arial"/>
                <a:cs typeface="Arial"/>
              </a:rPr>
              <a:t>easy</a:t>
            </a:r>
            <a:r>
              <a:rPr sz="3600" spc="-135" dirty="0">
                <a:latin typeface="Arial"/>
                <a:cs typeface="Arial"/>
              </a:rPr>
              <a:t> </a:t>
            </a:r>
            <a:r>
              <a:rPr sz="3600" spc="-188" dirty="0">
                <a:latin typeface="Arial"/>
                <a:cs typeface="Arial"/>
              </a:rPr>
              <a:t>and</a:t>
            </a:r>
            <a:r>
              <a:rPr sz="3600" spc="-150" dirty="0">
                <a:latin typeface="Arial"/>
                <a:cs typeface="Arial"/>
              </a:rPr>
              <a:t> </a:t>
            </a:r>
            <a:r>
              <a:rPr sz="3600" spc="-38" dirty="0">
                <a:latin typeface="Arial"/>
                <a:cs typeface="Arial"/>
              </a:rPr>
              <a:t>we </a:t>
            </a:r>
            <a:r>
              <a:rPr sz="3600" spc="-15" dirty="0">
                <a:latin typeface="Arial"/>
                <a:cs typeface="Arial"/>
              </a:rPr>
              <a:t>don’t</a:t>
            </a:r>
            <a:r>
              <a:rPr sz="3600" spc="-188" dirty="0">
                <a:latin typeface="Arial"/>
                <a:cs typeface="Arial"/>
              </a:rPr>
              <a:t> </a:t>
            </a:r>
            <a:r>
              <a:rPr sz="3600" spc="-171" dirty="0">
                <a:latin typeface="Arial"/>
                <a:cs typeface="Arial"/>
              </a:rPr>
              <a:t>need</a:t>
            </a:r>
            <a:r>
              <a:rPr sz="3600" spc="-188" dirty="0">
                <a:latin typeface="Arial"/>
                <a:cs typeface="Arial"/>
              </a:rPr>
              <a:t> </a:t>
            </a:r>
            <a:r>
              <a:rPr sz="3600" spc="-165" dirty="0">
                <a:latin typeface="Arial"/>
                <a:cs typeface="Arial"/>
              </a:rPr>
              <a:t>decision</a:t>
            </a:r>
            <a:r>
              <a:rPr sz="3600" spc="-188" dirty="0">
                <a:latin typeface="Arial"/>
                <a:cs typeface="Arial"/>
              </a:rPr>
              <a:t> </a:t>
            </a:r>
            <a:r>
              <a:rPr sz="3600" spc="-15" dirty="0">
                <a:latin typeface="Arial"/>
                <a:cs typeface="Arial"/>
              </a:rPr>
              <a:t>analysis.”</a:t>
            </a:r>
            <a:endParaRPr sz="3600">
              <a:latin typeface="Arial"/>
              <a:cs typeface="Arial"/>
            </a:endParaRPr>
          </a:p>
          <a:p>
            <a:pPr>
              <a:spcBef>
                <a:spcPts val="263"/>
              </a:spcBef>
            </a:pPr>
            <a:endParaRPr sz="3600">
              <a:latin typeface="Arial"/>
              <a:cs typeface="Arial"/>
            </a:endParaRPr>
          </a:p>
          <a:p>
            <a:pPr marL="19050" marR="7620"/>
            <a:r>
              <a:rPr sz="3600" b="1" spc="-413" dirty="0">
                <a:latin typeface="Arial"/>
                <a:cs typeface="Arial"/>
              </a:rPr>
              <a:t>But…do</a:t>
            </a:r>
            <a:r>
              <a:rPr sz="3600" b="1" spc="-135" dirty="0">
                <a:latin typeface="Arial"/>
                <a:cs typeface="Arial"/>
              </a:rPr>
              <a:t> </a:t>
            </a:r>
            <a:r>
              <a:rPr sz="3600" b="1" spc="-195" dirty="0">
                <a:latin typeface="Arial"/>
                <a:cs typeface="Arial"/>
              </a:rPr>
              <a:t>we</a:t>
            </a:r>
            <a:r>
              <a:rPr sz="3600" b="1" spc="-165" dirty="0">
                <a:latin typeface="Arial"/>
                <a:cs typeface="Arial"/>
              </a:rPr>
              <a:t> </a:t>
            </a:r>
            <a:r>
              <a:rPr sz="3600" b="1" spc="-233" dirty="0">
                <a:latin typeface="Arial"/>
                <a:cs typeface="Arial"/>
              </a:rPr>
              <a:t>actually</a:t>
            </a:r>
            <a:r>
              <a:rPr sz="3600" b="1" spc="-158" dirty="0">
                <a:latin typeface="Arial"/>
                <a:cs typeface="Arial"/>
              </a:rPr>
              <a:t> </a:t>
            </a:r>
            <a:r>
              <a:rPr sz="3600" b="1" spc="-233" dirty="0">
                <a:latin typeface="Arial"/>
                <a:cs typeface="Arial"/>
              </a:rPr>
              <a:t>know</a:t>
            </a:r>
            <a:r>
              <a:rPr sz="3600" b="1" spc="-188" dirty="0">
                <a:latin typeface="Arial"/>
                <a:cs typeface="Arial"/>
              </a:rPr>
              <a:t> </a:t>
            </a:r>
            <a:r>
              <a:rPr sz="3600" b="1" spc="-158" dirty="0">
                <a:latin typeface="Arial"/>
                <a:cs typeface="Arial"/>
              </a:rPr>
              <a:t>what</a:t>
            </a:r>
            <a:r>
              <a:rPr sz="3600" b="1" spc="-180" dirty="0">
                <a:latin typeface="Arial"/>
                <a:cs typeface="Arial"/>
              </a:rPr>
              <a:t> </a:t>
            </a:r>
            <a:r>
              <a:rPr sz="3600" b="1" spc="-165" dirty="0">
                <a:latin typeface="Arial"/>
                <a:cs typeface="Arial"/>
              </a:rPr>
              <a:t>the</a:t>
            </a:r>
            <a:r>
              <a:rPr sz="3600" b="1" spc="-143" dirty="0">
                <a:latin typeface="Arial"/>
                <a:cs typeface="Arial"/>
              </a:rPr>
              <a:t> </a:t>
            </a:r>
            <a:r>
              <a:rPr sz="3600" b="1" spc="-120" dirty="0">
                <a:latin typeface="Arial"/>
                <a:cs typeface="Arial"/>
              </a:rPr>
              <a:t>future </a:t>
            </a:r>
            <a:r>
              <a:rPr sz="3600" b="1" spc="-105" dirty="0">
                <a:latin typeface="Arial"/>
                <a:cs typeface="Arial"/>
              </a:rPr>
              <a:t>holds?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026" y="2791722"/>
            <a:ext cx="6667295" cy="6724542"/>
          </a:xfrm>
          <a:prstGeom prst="rect">
            <a:avLst/>
          </a:prstGeom>
        </p:spPr>
      </p:pic>
      <p:grpSp>
        <p:nvGrpSpPr>
          <p:cNvPr id="5" name="Group 3">
            <a:extLst>
              <a:ext uri="{FF2B5EF4-FFF2-40B4-BE49-F238E27FC236}">
                <a16:creationId xmlns:a16="http://schemas.microsoft.com/office/drawing/2014/main" id="{1DA7D518-4C81-0640-1A91-DDE18608C59C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98D32D88-EF71-5995-9661-A263160F1258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A403A70-005A-17AA-FA99-CE6DD9836B21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FEC2C8A-52D2-4D33-01E0-BDBB3FE1403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15">
            <a:extLst>
              <a:ext uri="{FF2B5EF4-FFF2-40B4-BE49-F238E27FC236}">
                <a16:creationId xmlns:a16="http://schemas.microsoft.com/office/drawing/2014/main" id="{C81949B5-3EEB-C973-5A3E-3183F8AC820E}"/>
              </a:ext>
            </a:extLst>
          </p:cNvPr>
          <p:cNvSpPr/>
          <p:nvPr/>
        </p:nvSpPr>
        <p:spPr>
          <a:xfrm flipH="1" flipV="1">
            <a:off x="36394" y="-3011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38F1203B-691B-8C7A-F5F5-8F39DCE86EE0}"/>
              </a:ext>
            </a:extLst>
          </p:cNvPr>
          <p:cNvSpPr/>
          <p:nvPr/>
        </p:nvSpPr>
        <p:spPr>
          <a:xfrm flipH="1" flipV="1">
            <a:off x="-12116" y="31276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8">
            <a:extLst>
              <a:ext uri="{FF2B5EF4-FFF2-40B4-BE49-F238E27FC236}">
                <a16:creationId xmlns:a16="http://schemas.microsoft.com/office/drawing/2014/main" id="{F5F879AF-134C-C548-24AA-4A6C950CE464}"/>
              </a:ext>
            </a:extLst>
          </p:cNvPr>
          <p:cNvSpPr/>
          <p:nvPr/>
        </p:nvSpPr>
        <p:spPr>
          <a:xfrm flipH="1" flipV="1">
            <a:off x="10225186" y="-37279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0632" y="7130030"/>
            <a:ext cx="6343650" cy="2857500"/>
          </a:xfrm>
          <a:custGeom>
            <a:avLst/>
            <a:gdLst/>
            <a:ahLst/>
            <a:cxnLst/>
            <a:rect l="l" t="t" r="r" b="b"/>
            <a:pathLst>
              <a:path w="4229100" h="1905000">
                <a:moveTo>
                  <a:pt x="2843288" y="0"/>
                </a:moveTo>
                <a:lnTo>
                  <a:pt x="2114550" y="511530"/>
                </a:lnTo>
                <a:lnTo>
                  <a:pt x="1635252" y="202412"/>
                </a:lnTo>
                <a:lnTo>
                  <a:pt x="1431632" y="557390"/>
                </a:lnTo>
                <a:lnTo>
                  <a:pt x="72440" y="202412"/>
                </a:lnTo>
                <a:lnTo>
                  <a:pt x="905929" y="671779"/>
                </a:lnTo>
                <a:lnTo>
                  <a:pt x="0" y="759802"/>
                </a:lnTo>
                <a:lnTo>
                  <a:pt x="728738" y="1038491"/>
                </a:lnTo>
                <a:lnTo>
                  <a:pt x="26428" y="1286497"/>
                </a:lnTo>
                <a:lnTo>
                  <a:pt x="1109548" y="1229169"/>
                </a:lnTo>
                <a:lnTo>
                  <a:pt x="932357" y="1553730"/>
                </a:lnTo>
                <a:lnTo>
                  <a:pt x="1510538" y="1378216"/>
                </a:lnTo>
                <a:lnTo>
                  <a:pt x="1661287" y="1904999"/>
                </a:lnTo>
                <a:lnTo>
                  <a:pt x="2062073" y="1317193"/>
                </a:lnTo>
                <a:lnTo>
                  <a:pt x="2593657" y="1740700"/>
                </a:lnTo>
                <a:lnTo>
                  <a:pt x="2745003" y="1275029"/>
                </a:lnTo>
                <a:lnTo>
                  <a:pt x="3552634" y="1595881"/>
                </a:lnTo>
                <a:lnTo>
                  <a:pt x="3296539" y="1141412"/>
                </a:lnTo>
                <a:lnTo>
                  <a:pt x="4229100" y="1172108"/>
                </a:lnTo>
                <a:lnTo>
                  <a:pt x="3447300" y="923836"/>
                </a:lnTo>
                <a:lnTo>
                  <a:pt x="4130611" y="717638"/>
                </a:lnTo>
                <a:lnTo>
                  <a:pt x="3270110" y="645147"/>
                </a:lnTo>
                <a:lnTo>
                  <a:pt x="3598646" y="393090"/>
                </a:lnTo>
                <a:lnTo>
                  <a:pt x="2771432" y="469633"/>
                </a:lnTo>
                <a:lnTo>
                  <a:pt x="28432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3785" y="1671410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555" dirty="0"/>
              <a:t>Decision</a:t>
            </a:r>
            <a:r>
              <a:rPr spc="-368" dirty="0"/>
              <a:t> </a:t>
            </a:r>
            <a:r>
              <a:rPr spc="-525" dirty="0"/>
              <a:t>models</a:t>
            </a:r>
            <a:r>
              <a:rPr lang="en-US" spc="-525" dirty="0"/>
              <a:t>   I n  h e a l t h c a r e</a:t>
            </a:r>
            <a:endParaRPr sz="30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5867" y="3136965"/>
            <a:ext cx="2363153" cy="847725"/>
            <a:chOff x="817244" y="2091310"/>
            <a:chExt cx="1575435" cy="565150"/>
          </a:xfrm>
        </p:grpSpPr>
        <p:sp>
          <p:nvSpPr>
            <p:cNvPr id="5" name="object 5"/>
            <p:cNvSpPr/>
            <p:nvPr/>
          </p:nvSpPr>
          <p:spPr>
            <a:xfrm>
              <a:off x="826769" y="2100835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146507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1465072" y="545592"/>
                  </a:lnTo>
                  <a:lnTo>
                    <a:pt x="1500464" y="538445"/>
                  </a:lnTo>
                  <a:lnTo>
                    <a:pt x="1529368" y="518956"/>
                  </a:lnTo>
                  <a:lnTo>
                    <a:pt x="1548857" y="490052"/>
                  </a:lnTo>
                  <a:lnTo>
                    <a:pt x="1556004" y="454660"/>
                  </a:lnTo>
                  <a:lnTo>
                    <a:pt x="1556004" y="90932"/>
                  </a:lnTo>
                  <a:lnTo>
                    <a:pt x="1548857" y="55539"/>
                  </a:lnTo>
                  <a:lnTo>
                    <a:pt x="1529368" y="26635"/>
                  </a:lnTo>
                  <a:lnTo>
                    <a:pt x="1500464" y="7146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A3ABC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826769" y="2100835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465072" y="0"/>
                  </a:lnTo>
                  <a:lnTo>
                    <a:pt x="1500464" y="7146"/>
                  </a:lnTo>
                  <a:lnTo>
                    <a:pt x="1529368" y="26635"/>
                  </a:lnTo>
                  <a:lnTo>
                    <a:pt x="1548857" y="55539"/>
                  </a:lnTo>
                  <a:lnTo>
                    <a:pt x="1556004" y="90932"/>
                  </a:lnTo>
                  <a:lnTo>
                    <a:pt x="1556004" y="454660"/>
                  </a:lnTo>
                  <a:lnTo>
                    <a:pt x="1548857" y="490052"/>
                  </a:lnTo>
                  <a:lnTo>
                    <a:pt x="1529368" y="518956"/>
                  </a:lnTo>
                  <a:lnTo>
                    <a:pt x="1500464" y="538445"/>
                  </a:lnTo>
                  <a:lnTo>
                    <a:pt x="146507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49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09940" y="3210832"/>
            <a:ext cx="1388745" cy="573555"/>
          </a:xfrm>
          <a:prstGeom prst="rect">
            <a:avLst/>
          </a:prstGeom>
        </p:spPr>
        <p:txBody>
          <a:bodyPr vert="horz" wrap="square" lIns="0" tIns="115253" rIns="0" bIns="0" rtlCol="0">
            <a:spAutoFit/>
          </a:bodyPr>
          <a:lstStyle/>
          <a:p>
            <a:pPr marL="19050" marR="7620" indent="45720">
              <a:lnSpc>
                <a:spcPct val="70000"/>
              </a:lnSpc>
              <a:spcBef>
                <a:spcPts val="907"/>
              </a:spcBef>
            </a:pPr>
            <a:r>
              <a:rPr sz="2100" spc="-60" dirty="0">
                <a:latin typeface="Arial"/>
                <a:cs typeface="Arial"/>
              </a:rPr>
              <a:t>Transitional probabilities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25867" y="4042221"/>
            <a:ext cx="2363153" cy="847725"/>
            <a:chOff x="817244" y="2694814"/>
            <a:chExt cx="1575435" cy="565150"/>
          </a:xfrm>
        </p:grpSpPr>
        <p:sp>
          <p:nvSpPr>
            <p:cNvPr id="9" name="object 9"/>
            <p:cNvSpPr/>
            <p:nvPr/>
          </p:nvSpPr>
          <p:spPr>
            <a:xfrm>
              <a:off x="826769" y="2704339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146507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1465072" y="545592"/>
                  </a:lnTo>
                  <a:lnTo>
                    <a:pt x="1500464" y="538445"/>
                  </a:lnTo>
                  <a:lnTo>
                    <a:pt x="1529368" y="518956"/>
                  </a:lnTo>
                  <a:lnTo>
                    <a:pt x="1548857" y="490052"/>
                  </a:lnTo>
                  <a:lnTo>
                    <a:pt x="1556004" y="454660"/>
                  </a:lnTo>
                  <a:lnTo>
                    <a:pt x="1556004" y="90932"/>
                  </a:lnTo>
                  <a:lnTo>
                    <a:pt x="1548857" y="55539"/>
                  </a:lnTo>
                  <a:lnTo>
                    <a:pt x="1529368" y="26635"/>
                  </a:lnTo>
                  <a:lnTo>
                    <a:pt x="1500464" y="7146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A3ABC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826769" y="2704339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465072" y="0"/>
                  </a:lnTo>
                  <a:lnTo>
                    <a:pt x="1500464" y="7146"/>
                  </a:lnTo>
                  <a:lnTo>
                    <a:pt x="1529368" y="26635"/>
                  </a:lnTo>
                  <a:lnTo>
                    <a:pt x="1548857" y="55539"/>
                  </a:lnTo>
                  <a:lnTo>
                    <a:pt x="1556004" y="90932"/>
                  </a:lnTo>
                  <a:lnTo>
                    <a:pt x="1556004" y="454660"/>
                  </a:lnTo>
                  <a:lnTo>
                    <a:pt x="1548857" y="490052"/>
                  </a:lnTo>
                  <a:lnTo>
                    <a:pt x="1529368" y="518956"/>
                  </a:lnTo>
                  <a:lnTo>
                    <a:pt x="1500464" y="538445"/>
                  </a:lnTo>
                  <a:lnTo>
                    <a:pt x="146507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49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93957" y="4228731"/>
            <a:ext cx="621030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spc="-150" dirty="0">
                <a:latin typeface="Arial"/>
                <a:cs typeface="Arial"/>
              </a:rPr>
              <a:t>Costs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25867" y="4949763"/>
            <a:ext cx="2363153" cy="847725"/>
            <a:chOff x="817244" y="3299842"/>
            <a:chExt cx="1575435" cy="565150"/>
          </a:xfrm>
        </p:grpSpPr>
        <p:sp>
          <p:nvSpPr>
            <p:cNvPr id="13" name="object 13"/>
            <p:cNvSpPr/>
            <p:nvPr/>
          </p:nvSpPr>
          <p:spPr>
            <a:xfrm>
              <a:off x="826769" y="3309367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146507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1465072" y="545592"/>
                  </a:lnTo>
                  <a:lnTo>
                    <a:pt x="1500464" y="538445"/>
                  </a:lnTo>
                  <a:lnTo>
                    <a:pt x="1529368" y="518956"/>
                  </a:lnTo>
                  <a:lnTo>
                    <a:pt x="1548857" y="490052"/>
                  </a:lnTo>
                  <a:lnTo>
                    <a:pt x="1556004" y="454660"/>
                  </a:lnTo>
                  <a:lnTo>
                    <a:pt x="1556004" y="90932"/>
                  </a:lnTo>
                  <a:lnTo>
                    <a:pt x="1548857" y="55539"/>
                  </a:lnTo>
                  <a:lnTo>
                    <a:pt x="1529368" y="26635"/>
                  </a:lnTo>
                  <a:lnTo>
                    <a:pt x="1500464" y="7146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A3ABC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826769" y="3309367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465072" y="0"/>
                  </a:lnTo>
                  <a:lnTo>
                    <a:pt x="1500464" y="7146"/>
                  </a:lnTo>
                  <a:lnTo>
                    <a:pt x="1529368" y="26635"/>
                  </a:lnTo>
                  <a:lnTo>
                    <a:pt x="1548857" y="55539"/>
                  </a:lnTo>
                  <a:lnTo>
                    <a:pt x="1556004" y="90932"/>
                  </a:lnTo>
                  <a:lnTo>
                    <a:pt x="1556004" y="454660"/>
                  </a:lnTo>
                  <a:lnTo>
                    <a:pt x="1548857" y="490052"/>
                  </a:lnTo>
                  <a:lnTo>
                    <a:pt x="1529368" y="518956"/>
                  </a:lnTo>
                  <a:lnTo>
                    <a:pt x="1500464" y="538445"/>
                  </a:lnTo>
                  <a:lnTo>
                    <a:pt x="146507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49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33352" y="5134616"/>
            <a:ext cx="1142048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spc="-105" dirty="0">
                <a:latin typeface="Arial"/>
                <a:cs typeface="Arial"/>
              </a:rPr>
              <a:t>Outcomes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25867" y="5855021"/>
            <a:ext cx="2363153" cy="847725"/>
            <a:chOff x="817244" y="3903347"/>
            <a:chExt cx="1575435" cy="565150"/>
          </a:xfrm>
        </p:grpSpPr>
        <p:sp>
          <p:nvSpPr>
            <p:cNvPr id="17" name="object 17"/>
            <p:cNvSpPr/>
            <p:nvPr/>
          </p:nvSpPr>
          <p:spPr>
            <a:xfrm>
              <a:off x="826769" y="3912871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146507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1"/>
                  </a:lnTo>
                  <a:lnTo>
                    <a:pt x="1465072" y="545591"/>
                  </a:lnTo>
                  <a:lnTo>
                    <a:pt x="1500464" y="538445"/>
                  </a:lnTo>
                  <a:lnTo>
                    <a:pt x="1529368" y="518956"/>
                  </a:lnTo>
                  <a:lnTo>
                    <a:pt x="1548857" y="490052"/>
                  </a:lnTo>
                  <a:lnTo>
                    <a:pt x="1556004" y="454659"/>
                  </a:lnTo>
                  <a:lnTo>
                    <a:pt x="1556004" y="90931"/>
                  </a:lnTo>
                  <a:lnTo>
                    <a:pt x="1548857" y="55539"/>
                  </a:lnTo>
                  <a:lnTo>
                    <a:pt x="1529368" y="26635"/>
                  </a:lnTo>
                  <a:lnTo>
                    <a:pt x="1500464" y="7146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A3ABC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826769" y="3912872"/>
              <a:ext cx="1556385" cy="546100"/>
            </a:xfrm>
            <a:custGeom>
              <a:avLst/>
              <a:gdLst/>
              <a:ahLst/>
              <a:cxnLst/>
              <a:rect l="l" t="t" r="r" b="b"/>
              <a:pathLst>
                <a:path w="155638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465072" y="0"/>
                  </a:lnTo>
                  <a:lnTo>
                    <a:pt x="1500464" y="7146"/>
                  </a:lnTo>
                  <a:lnTo>
                    <a:pt x="1529368" y="26635"/>
                  </a:lnTo>
                  <a:lnTo>
                    <a:pt x="1548857" y="55539"/>
                  </a:lnTo>
                  <a:lnTo>
                    <a:pt x="1556004" y="90932"/>
                  </a:lnTo>
                  <a:lnTo>
                    <a:pt x="1556004" y="454660"/>
                  </a:lnTo>
                  <a:lnTo>
                    <a:pt x="1548857" y="490052"/>
                  </a:lnTo>
                  <a:lnTo>
                    <a:pt x="1529368" y="518956"/>
                  </a:lnTo>
                  <a:lnTo>
                    <a:pt x="1500464" y="538445"/>
                  </a:lnTo>
                  <a:lnTo>
                    <a:pt x="146507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49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97939" y="5928490"/>
            <a:ext cx="1616393" cy="573555"/>
          </a:xfrm>
          <a:prstGeom prst="rect">
            <a:avLst/>
          </a:prstGeom>
        </p:spPr>
        <p:txBody>
          <a:bodyPr vert="horz" wrap="square" lIns="0" tIns="115253" rIns="0" bIns="0" rtlCol="0">
            <a:spAutoFit/>
          </a:bodyPr>
          <a:lstStyle/>
          <a:p>
            <a:pPr marL="322898" marR="7620" indent="-304800">
              <a:lnSpc>
                <a:spcPct val="70000"/>
              </a:lnSpc>
              <a:spcBef>
                <a:spcPts val="907"/>
              </a:spcBef>
            </a:pPr>
            <a:r>
              <a:rPr sz="2100" spc="-68" dirty="0">
                <a:latin typeface="Arial"/>
                <a:cs typeface="Arial"/>
              </a:rPr>
              <a:t>Other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68" dirty="0">
                <a:latin typeface="Arial"/>
                <a:cs typeface="Arial"/>
              </a:rPr>
              <a:t>relevant </a:t>
            </a:r>
            <a:r>
              <a:rPr sz="2100" spc="-15" dirty="0">
                <a:latin typeface="Arial"/>
                <a:cs typeface="Arial"/>
              </a:rPr>
              <a:t>variables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3498" y="2562701"/>
            <a:ext cx="250698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35" dirty="0">
                <a:latin typeface="Arial"/>
                <a:cs typeface="Arial"/>
              </a:rPr>
              <a:t>Input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171" dirty="0">
                <a:latin typeface="Arial"/>
                <a:cs typeface="Arial"/>
              </a:rPr>
              <a:t>parameters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63492" y="3372425"/>
            <a:ext cx="7130415" cy="2913696"/>
            <a:chOff x="2375661" y="2248283"/>
            <a:chExt cx="4753610" cy="194246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9751" y="2671571"/>
              <a:ext cx="1222247" cy="11551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82011" y="2372867"/>
              <a:ext cx="904875" cy="876935"/>
            </a:xfrm>
            <a:custGeom>
              <a:avLst/>
              <a:gdLst/>
              <a:ahLst/>
              <a:cxnLst/>
              <a:rect l="l" t="t" r="r" b="b"/>
              <a:pathLst>
                <a:path w="904875" h="876935">
                  <a:moveTo>
                    <a:pt x="0" y="0"/>
                  </a:moveTo>
                  <a:lnTo>
                    <a:pt x="484098" y="0"/>
                  </a:lnTo>
                  <a:lnTo>
                    <a:pt x="484098" y="876744"/>
                  </a:lnTo>
                  <a:lnTo>
                    <a:pt x="904697" y="87674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4007" y="32115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382011" y="2976371"/>
              <a:ext cx="904875" cy="273050"/>
            </a:xfrm>
            <a:custGeom>
              <a:avLst/>
              <a:gdLst/>
              <a:ahLst/>
              <a:cxnLst/>
              <a:rect l="l" t="t" r="r" b="b"/>
              <a:pathLst>
                <a:path w="904875" h="273050">
                  <a:moveTo>
                    <a:pt x="0" y="0"/>
                  </a:moveTo>
                  <a:lnTo>
                    <a:pt x="484098" y="0"/>
                  </a:lnTo>
                  <a:lnTo>
                    <a:pt x="484098" y="272821"/>
                  </a:lnTo>
                  <a:lnTo>
                    <a:pt x="904697" y="27282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4007" y="32110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382011" y="3249171"/>
              <a:ext cx="904875" cy="331470"/>
            </a:xfrm>
            <a:custGeom>
              <a:avLst/>
              <a:gdLst/>
              <a:ahLst/>
              <a:cxnLst/>
              <a:rect l="l" t="t" r="r" b="b"/>
              <a:pathLst>
                <a:path w="904875" h="331470">
                  <a:moveTo>
                    <a:pt x="0" y="331101"/>
                  </a:moveTo>
                  <a:lnTo>
                    <a:pt x="484098" y="331101"/>
                  </a:lnTo>
                  <a:lnTo>
                    <a:pt x="484098" y="0"/>
                  </a:lnTo>
                  <a:lnTo>
                    <a:pt x="90469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4009" y="32110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2382011" y="3249173"/>
              <a:ext cx="904875" cy="935355"/>
            </a:xfrm>
            <a:custGeom>
              <a:avLst/>
              <a:gdLst/>
              <a:ahLst/>
              <a:cxnLst/>
              <a:rect l="l" t="t" r="r" b="b"/>
              <a:pathLst>
                <a:path w="904875" h="935354">
                  <a:moveTo>
                    <a:pt x="0" y="935024"/>
                  </a:moveTo>
                  <a:lnTo>
                    <a:pt x="484098" y="935024"/>
                  </a:lnTo>
                  <a:lnTo>
                    <a:pt x="484098" y="0"/>
                  </a:lnTo>
                  <a:lnTo>
                    <a:pt x="90469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4010" y="32110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189982" y="2257808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183845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1838452" y="545592"/>
                  </a:lnTo>
                  <a:lnTo>
                    <a:pt x="1873844" y="538445"/>
                  </a:lnTo>
                  <a:lnTo>
                    <a:pt x="1902748" y="518956"/>
                  </a:lnTo>
                  <a:lnTo>
                    <a:pt x="1922237" y="490052"/>
                  </a:lnTo>
                  <a:lnTo>
                    <a:pt x="1929383" y="454660"/>
                  </a:lnTo>
                  <a:lnTo>
                    <a:pt x="1929383" y="90932"/>
                  </a:lnTo>
                  <a:lnTo>
                    <a:pt x="1922237" y="55539"/>
                  </a:lnTo>
                  <a:lnTo>
                    <a:pt x="1902748" y="26635"/>
                  </a:lnTo>
                  <a:lnTo>
                    <a:pt x="1873844" y="7146"/>
                  </a:lnTo>
                  <a:lnTo>
                    <a:pt x="1838452" y="0"/>
                  </a:lnTo>
                  <a:close/>
                </a:path>
              </a:pathLst>
            </a:custGeom>
            <a:solidFill>
              <a:srgbClr val="D9E5D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189982" y="2257808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838452" y="0"/>
                  </a:lnTo>
                  <a:lnTo>
                    <a:pt x="1873844" y="7146"/>
                  </a:lnTo>
                  <a:lnTo>
                    <a:pt x="1902748" y="26635"/>
                  </a:lnTo>
                  <a:lnTo>
                    <a:pt x="1922237" y="55539"/>
                  </a:lnTo>
                  <a:lnTo>
                    <a:pt x="1929383" y="90932"/>
                  </a:lnTo>
                  <a:lnTo>
                    <a:pt x="1929383" y="454660"/>
                  </a:lnTo>
                  <a:lnTo>
                    <a:pt x="1922237" y="490052"/>
                  </a:lnTo>
                  <a:lnTo>
                    <a:pt x="1902748" y="518956"/>
                  </a:lnTo>
                  <a:lnTo>
                    <a:pt x="1873844" y="538445"/>
                  </a:lnTo>
                  <a:lnTo>
                    <a:pt x="183845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50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457491" y="3302809"/>
            <a:ext cx="96583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98" dirty="0"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25272" y="3447260"/>
            <a:ext cx="2010728" cy="573555"/>
          </a:xfrm>
          <a:prstGeom prst="rect">
            <a:avLst/>
          </a:prstGeom>
        </p:spPr>
        <p:txBody>
          <a:bodyPr vert="horz" wrap="square" lIns="0" tIns="115253" rIns="0" bIns="0" rtlCol="0">
            <a:spAutoFit/>
          </a:bodyPr>
          <a:lstStyle/>
          <a:p>
            <a:pPr marL="581025" marR="7620" indent="-562928">
              <a:lnSpc>
                <a:spcPct val="70000"/>
              </a:lnSpc>
              <a:spcBef>
                <a:spcPts val="907"/>
              </a:spcBef>
            </a:pPr>
            <a:r>
              <a:rPr sz="2100" spc="-143" dirty="0">
                <a:latin typeface="Arial"/>
                <a:cs typeface="Arial"/>
              </a:rPr>
              <a:t>Cost-</a:t>
            </a:r>
            <a:r>
              <a:rPr sz="2100" spc="-98" dirty="0">
                <a:latin typeface="Arial"/>
                <a:cs typeface="Arial"/>
              </a:rPr>
              <a:t>effectiveness </a:t>
            </a:r>
            <a:r>
              <a:rPr sz="2100" spc="-15" dirty="0">
                <a:latin typeface="Arial"/>
                <a:cs typeface="Arial"/>
              </a:rPr>
              <a:t>analysis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770686" y="4455989"/>
            <a:ext cx="2923221" cy="847725"/>
            <a:chOff x="5180457" y="2970659"/>
            <a:chExt cx="1948814" cy="565150"/>
          </a:xfrm>
        </p:grpSpPr>
        <p:sp>
          <p:nvSpPr>
            <p:cNvPr id="36" name="object 36"/>
            <p:cNvSpPr/>
            <p:nvPr/>
          </p:nvSpPr>
          <p:spPr>
            <a:xfrm>
              <a:off x="5189982" y="2980184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183845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1838452" y="545592"/>
                  </a:lnTo>
                  <a:lnTo>
                    <a:pt x="1873844" y="538445"/>
                  </a:lnTo>
                  <a:lnTo>
                    <a:pt x="1902748" y="518956"/>
                  </a:lnTo>
                  <a:lnTo>
                    <a:pt x="1922237" y="490052"/>
                  </a:lnTo>
                  <a:lnTo>
                    <a:pt x="1929383" y="454660"/>
                  </a:lnTo>
                  <a:lnTo>
                    <a:pt x="1929383" y="90932"/>
                  </a:lnTo>
                  <a:lnTo>
                    <a:pt x="1922237" y="55539"/>
                  </a:lnTo>
                  <a:lnTo>
                    <a:pt x="1902748" y="26635"/>
                  </a:lnTo>
                  <a:lnTo>
                    <a:pt x="1873844" y="7146"/>
                  </a:lnTo>
                  <a:lnTo>
                    <a:pt x="1838452" y="0"/>
                  </a:lnTo>
                  <a:close/>
                </a:path>
              </a:pathLst>
            </a:custGeom>
            <a:solidFill>
              <a:srgbClr val="D9E5D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189982" y="2980184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0" y="90932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838452" y="0"/>
                  </a:lnTo>
                  <a:lnTo>
                    <a:pt x="1873844" y="7146"/>
                  </a:lnTo>
                  <a:lnTo>
                    <a:pt x="1902748" y="26635"/>
                  </a:lnTo>
                  <a:lnTo>
                    <a:pt x="1922237" y="55539"/>
                  </a:lnTo>
                  <a:lnTo>
                    <a:pt x="1929383" y="90932"/>
                  </a:lnTo>
                  <a:lnTo>
                    <a:pt x="1929383" y="454660"/>
                  </a:lnTo>
                  <a:lnTo>
                    <a:pt x="1922237" y="490052"/>
                  </a:lnTo>
                  <a:lnTo>
                    <a:pt x="1902748" y="518956"/>
                  </a:lnTo>
                  <a:lnTo>
                    <a:pt x="1873844" y="538445"/>
                  </a:lnTo>
                  <a:lnTo>
                    <a:pt x="1838452" y="545592"/>
                  </a:lnTo>
                  <a:lnTo>
                    <a:pt x="90932" y="545592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60"/>
                  </a:lnTo>
                  <a:lnTo>
                    <a:pt x="0" y="90932"/>
                  </a:lnTo>
                  <a:close/>
                </a:path>
              </a:pathLst>
            </a:custGeom>
            <a:ln w="19050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969194" y="4641131"/>
            <a:ext cx="2523171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spc="-113" dirty="0">
                <a:latin typeface="Arial"/>
                <a:cs typeface="Arial"/>
              </a:rPr>
              <a:t>Budget</a:t>
            </a:r>
            <a:r>
              <a:rPr sz="2100" spc="-68" dirty="0">
                <a:latin typeface="Arial"/>
                <a:cs typeface="Arial"/>
              </a:rPr>
              <a:t> impact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98" dirty="0">
                <a:latin typeface="Arial"/>
                <a:cs typeface="Arial"/>
              </a:rPr>
              <a:t>analysis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848476" y="3737615"/>
            <a:ext cx="3845243" cy="2710815"/>
            <a:chOff x="4565650" y="2491743"/>
            <a:chExt cx="2563495" cy="1807210"/>
          </a:xfrm>
        </p:grpSpPr>
        <p:sp>
          <p:nvSpPr>
            <p:cNvPr id="40" name="object 40"/>
            <p:cNvSpPr/>
            <p:nvPr/>
          </p:nvSpPr>
          <p:spPr>
            <a:xfrm>
              <a:off x="4572000" y="2529838"/>
              <a:ext cx="553085" cy="719455"/>
            </a:xfrm>
            <a:custGeom>
              <a:avLst/>
              <a:gdLst/>
              <a:ahLst/>
              <a:cxnLst/>
              <a:rect l="l" t="t" r="r" b="b"/>
              <a:pathLst>
                <a:path w="553085" h="719455">
                  <a:moveTo>
                    <a:pt x="0" y="719124"/>
                  </a:moveTo>
                  <a:lnTo>
                    <a:pt x="308190" y="719124"/>
                  </a:lnTo>
                  <a:lnTo>
                    <a:pt x="308190" y="0"/>
                  </a:lnTo>
                  <a:lnTo>
                    <a:pt x="5528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112195" y="249174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189981" y="3743708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1838452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1"/>
                  </a:lnTo>
                  <a:lnTo>
                    <a:pt x="1838452" y="545591"/>
                  </a:lnTo>
                  <a:lnTo>
                    <a:pt x="1873844" y="538445"/>
                  </a:lnTo>
                  <a:lnTo>
                    <a:pt x="1902748" y="518956"/>
                  </a:lnTo>
                  <a:lnTo>
                    <a:pt x="1922237" y="490052"/>
                  </a:lnTo>
                  <a:lnTo>
                    <a:pt x="1929383" y="454659"/>
                  </a:lnTo>
                  <a:lnTo>
                    <a:pt x="1929383" y="90931"/>
                  </a:lnTo>
                  <a:lnTo>
                    <a:pt x="1922237" y="55539"/>
                  </a:lnTo>
                  <a:lnTo>
                    <a:pt x="1902748" y="26635"/>
                  </a:lnTo>
                  <a:lnTo>
                    <a:pt x="1873844" y="7146"/>
                  </a:lnTo>
                  <a:lnTo>
                    <a:pt x="1838452" y="0"/>
                  </a:lnTo>
                  <a:close/>
                </a:path>
              </a:pathLst>
            </a:custGeom>
            <a:solidFill>
              <a:srgbClr val="D9E5D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5189981" y="3743708"/>
              <a:ext cx="1929764" cy="546100"/>
            </a:xfrm>
            <a:custGeom>
              <a:avLst/>
              <a:gdLst/>
              <a:ahLst/>
              <a:cxnLst/>
              <a:rect l="l" t="t" r="r" b="b"/>
              <a:pathLst>
                <a:path w="1929765" h="546100">
                  <a:moveTo>
                    <a:pt x="0" y="90931"/>
                  </a:moveTo>
                  <a:lnTo>
                    <a:pt x="7146" y="55539"/>
                  </a:lnTo>
                  <a:lnTo>
                    <a:pt x="26635" y="26635"/>
                  </a:lnTo>
                  <a:lnTo>
                    <a:pt x="55539" y="7146"/>
                  </a:lnTo>
                  <a:lnTo>
                    <a:pt x="90932" y="0"/>
                  </a:lnTo>
                  <a:lnTo>
                    <a:pt x="1838452" y="0"/>
                  </a:lnTo>
                  <a:lnTo>
                    <a:pt x="1873844" y="7146"/>
                  </a:lnTo>
                  <a:lnTo>
                    <a:pt x="1902748" y="26635"/>
                  </a:lnTo>
                  <a:lnTo>
                    <a:pt x="1922237" y="55539"/>
                  </a:lnTo>
                  <a:lnTo>
                    <a:pt x="1929383" y="90931"/>
                  </a:lnTo>
                  <a:lnTo>
                    <a:pt x="1929383" y="454659"/>
                  </a:lnTo>
                  <a:lnTo>
                    <a:pt x="1922237" y="490052"/>
                  </a:lnTo>
                  <a:lnTo>
                    <a:pt x="1902748" y="518956"/>
                  </a:lnTo>
                  <a:lnTo>
                    <a:pt x="1873844" y="538445"/>
                  </a:lnTo>
                  <a:lnTo>
                    <a:pt x="1838452" y="545591"/>
                  </a:lnTo>
                  <a:lnTo>
                    <a:pt x="90932" y="545591"/>
                  </a:lnTo>
                  <a:lnTo>
                    <a:pt x="55539" y="538445"/>
                  </a:lnTo>
                  <a:lnTo>
                    <a:pt x="26635" y="518956"/>
                  </a:lnTo>
                  <a:lnTo>
                    <a:pt x="7146" y="490052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19050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117829" y="5787074"/>
            <a:ext cx="2223135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spc="-68" dirty="0">
                <a:latin typeface="Arial"/>
                <a:cs typeface="Arial"/>
              </a:rPr>
              <a:t>Uncertainty</a:t>
            </a:r>
            <a:r>
              <a:rPr sz="2100" spc="-15" dirty="0">
                <a:latin typeface="Arial"/>
                <a:cs typeface="Arial"/>
              </a:rPr>
              <a:t> </a:t>
            </a:r>
            <a:r>
              <a:rPr sz="2100" spc="-98" dirty="0">
                <a:latin typeface="Arial"/>
                <a:cs typeface="Arial"/>
              </a:rPr>
              <a:t>analysis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48476" y="4819377"/>
            <a:ext cx="934403" cy="1261110"/>
            <a:chOff x="4565650" y="3212918"/>
            <a:chExt cx="622935" cy="840740"/>
          </a:xfrm>
        </p:grpSpPr>
        <p:sp>
          <p:nvSpPr>
            <p:cNvPr id="46" name="object 46"/>
            <p:cNvSpPr/>
            <p:nvPr/>
          </p:nvSpPr>
          <p:spPr>
            <a:xfrm>
              <a:off x="4572000" y="3249168"/>
              <a:ext cx="553085" cy="766445"/>
            </a:xfrm>
            <a:custGeom>
              <a:avLst/>
              <a:gdLst/>
              <a:ahLst/>
              <a:cxnLst/>
              <a:rect l="l" t="t" r="r" b="b"/>
              <a:pathLst>
                <a:path w="553085" h="766445">
                  <a:moveTo>
                    <a:pt x="0" y="0"/>
                  </a:moveTo>
                  <a:lnTo>
                    <a:pt x="308203" y="0"/>
                  </a:lnTo>
                  <a:lnTo>
                    <a:pt x="308203" y="766076"/>
                  </a:lnTo>
                  <a:lnTo>
                    <a:pt x="552894" y="7660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5112195" y="39771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572000" y="3249168"/>
              <a:ext cx="553085" cy="1905"/>
            </a:xfrm>
            <a:custGeom>
              <a:avLst/>
              <a:gdLst/>
              <a:ahLst/>
              <a:cxnLst/>
              <a:rect l="l" t="t" r="r" b="b"/>
              <a:pathLst>
                <a:path w="553085" h="1905">
                  <a:moveTo>
                    <a:pt x="0" y="0"/>
                  </a:moveTo>
                  <a:lnTo>
                    <a:pt x="552894" y="18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112059" y="321291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266" y="0"/>
                  </a:moveTo>
                  <a:lnTo>
                    <a:pt x="0" y="76200"/>
                  </a:lnTo>
                  <a:lnTo>
                    <a:pt x="76339" y="38366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711512" y="2662352"/>
            <a:ext cx="119919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71" dirty="0">
                <a:latin typeface="Arial"/>
                <a:cs typeface="Arial"/>
              </a:rPr>
              <a:t>Outputs</a:t>
            </a:r>
            <a:endParaRPr sz="2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478112" y="3100376"/>
            <a:ext cx="5853113" cy="5419753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361950" marR="200978" indent="-342900">
              <a:spcBef>
                <a:spcPts val="143"/>
              </a:spcBef>
              <a:buFont typeface="Wingdings"/>
              <a:buChar char=""/>
              <a:tabLst>
                <a:tab pos="361950" algn="l"/>
              </a:tabLst>
            </a:pP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Mathematical</a:t>
            </a:r>
            <a:r>
              <a:rPr sz="2850" spc="-12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90" dirty="0">
                <a:solidFill>
                  <a:srgbClr val="4C8DE2"/>
                </a:solidFill>
                <a:latin typeface="Arial"/>
                <a:cs typeface="Arial"/>
              </a:rPr>
              <a:t>simulation</a:t>
            </a: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2850" spc="-12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248" dirty="0">
                <a:solidFill>
                  <a:srgbClr val="4C8DE2"/>
                </a:solidFill>
                <a:latin typeface="Arial"/>
                <a:cs typeface="Arial"/>
              </a:rPr>
              <a:t>a</a:t>
            </a:r>
            <a:r>
              <a:rPr sz="2850" spc="-127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5" dirty="0">
                <a:solidFill>
                  <a:srgbClr val="4C8DE2"/>
                </a:solidFill>
                <a:latin typeface="Arial"/>
                <a:cs typeface="Arial"/>
              </a:rPr>
              <a:t>real- </a:t>
            </a:r>
            <a:r>
              <a:rPr sz="2850" spc="-53" dirty="0">
                <a:solidFill>
                  <a:srgbClr val="4C8DE2"/>
                </a:solidFill>
                <a:latin typeface="Arial"/>
                <a:cs typeface="Arial"/>
              </a:rPr>
              <a:t>world</a:t>
            </a: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75" dirty="0">
                <a:solidFill>
                  <a:srgbClr val="4C8DE2"/>
                </a:solidFill>
                <a:latin typeface="Arial"/>
                <a:cs typeface="Arial"/>
              </a:rPr>
              <a:t>situation</a:t>
            </a:r>
            <a:r>
              <a:rPr sz="2850" spc="-11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4C8DE2"/>
                </a:solidFill>
                <a:latin typeface="Arial"/>
                <a:cs typeface="Arial"/>
              </a:rPr>
              <a:t>to</a:t>
            </a: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75" dirty="0">
                <a:solidFill>
                  <a:srgbClr val="4C8DE2"/>
                </a:solidFill>
                <a:latin typeface="Arial"/>
                <a:cs typeface="Arial"/>
              </a:rPr>
              <a:t>project</a:t>
            </a:r>
            <a:r>
              <a:rPr sz="2850" spc="-10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5" dirty="0">
                <a:solidFill>
                  <a:srgbClr val="4C8DE2"/>
                </a:solidFill>
                <a:latin typeface="Arial"/>
                <a:cs typeface="Arial"/>
              </a:rPr>
              <a:t>possible </a:t>
            </a:r>
            <a:r>
              <a:rPr sz="2850" spc="-188" dirty="0">
                <a:solidFill>
                  <a:srgbClr val="4C8DE2"/>
                </a:solidFill>
                <a:latin typeface="Arial"/>
                <a:cs typeface="Arial"/>
              </a:rPr>
              <a:t>consequences</a:t>
            </a:r>
            <a:r>
              <a:rPr sz="285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45" dirty="0">
                <a:solidFill>
                  <a:srgbClr val="4C8DE2"/>
                </a:solidFill>
                <a:latin typeface="Arial"/>
                <a:cs typeface="Arial"/>
              </a:rPr>
              <a:t>from</a:t>
            </a:r>
            <a:r>
              <a:rPr sz="2850" spc="-11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05" dirty="0">
                <a:solidFill>
                  <a:srgbClr val="4C8DE2"/>
                </a:solidFill>
                <a:latin typeface="Arial"/>
                <a:cs typeface="Arial"/>
              </a:rPr>
              <a:t>adopting</a:t>
            </a:r>
            <a:r>
              <a:rPr sz="2850" spc="-7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45" dirty="0">
                <a:solidFill>
                  <a:srgbClr val="4C8DE2"/>
                </a:solidFill>
                <a:latin typeface="Arial"/>
                <a:cs typeface="Arial"/>
              </a:rPr>
              <a:t>health </a:t>
            </a:r>
            <a:r>
              <a:rPr sz="2850" spc="-38" dirty="0">
                <a:solidFill>
                  <a:srgbClr val="4C8DE2"/>
                </a:solidFill>
                <a:latin typeface="Arial"/>
                <a:cs typeface="Arial"/>
              </a:rPr>
              <a:t>interventions/technologies</a:t>
            </a:r>
            <a:endParaRPr sz="2850">
              <a:latin typeface="Arial"/>
              <a:cs typeface="Arial"/>
            </a:endParaRPr>
          </a:p>
          <a:p>
            <a:pPr marL="361950" marR="7620" indent="-342900">
              <a:spcBef>
                <a:spcPts val="900"/>
              </a:spcBef>
              <a:buFont typeface="Wingdings"/>
              <a:buChar char=""/>
              <a:tabLst>
                <a:tab pos="361950" algn="l"/>
              </a:tabLst>
            </a:pPr>
            <a:r>
              <a:rPr sz="2850" spc="-158" dirty="0">
                <a:latin typeface="Arial"/>
                <a:cs typeface="Arial"/>
              </a:rPr>
              <a:t>Tailored</a:t>
            </a:r>
            <a:r>
              <a:rPr sz="2850" spc="-98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to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spc="-45" dirty="0">
                <a:latin typeface="Arial"/>
                <a:cs typeface="Arial"/>
              </a:rPr>
              <a:t>the</a:t>
            </a:r>
            <a:r>
              <a:rPr sz="2850" spc="-105" dirty="0">
                <a:latin typeface="Arial"/>
                <a:cs typeface="Arial"/>
              </a:rPr>
              <a:t> </a:t>
            </a:r>
            <a:r>
              <a:rPr sz="2850" spc="-143" dirty="0">
                <a:latin typeface="Arial"/>
                <a:cs typeface="Arial"/>
              </a:rPr>
              <a:t>purpose</a:t>
            </a:r>
            <a:r>
              <a:rPr sz="2850" spc="-90" dirty="0">
                <a:latin typeface="Arial"/>
                <a:cs typeface="Arial"/>
              </a:rPr>
              <a:t> </a:t>
            </a:r>
            <a:r>
              <a:rPr sz="2850" spc="-15" dirty="0">
                <a:latin typeface="Arial"/>
                <a:cs typeface="Arial"/>
              </a:rPr>
              <a:t>for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spc="-113" dirty="0">
                <a:latin typeface="Arial"/>
                <a:cs typeface="Arial"/>
              </a:rPr>
              <a:t>which </a:t>
            </a:r>
            <a:r>
              <a:rPr sz="2850" spc="75" dirty="0">
                <a:latin typeface="Arial"/>
                <a:cs typeface="Arial"/>
              </a:rPr>
              <a:t>it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spc="-38" dirty="0">
                <a:latin typeface="Arial"/>
                <a:cs typeface="Arial"/>
              </a:rPr>
              <a:t>is </a:t>
            </a:r>
            <a:r>
              <a:rPr sz="2850" dirty="0">
                <a:latin typeface="Arial"/>
                <a:cs typeface="Arial"/>
              </a:rPr>
              <a:t>to</a:t>
            </a:r>
            <a:r>
              <a:rPr sz="2850" spc="-143" dirty="0">
                <a:latin typeface="Arial"/>
                <a:cs typeface="Arial"/>
              </a:rPr>
              <a:t> </a:t>
            </a:r>
            <a:r>
              <a:rPr sz="2850" spc="-158" dirty="0">
                <a:latin typeface="Arial"/>
                <a:cs typeface="Arial"/>
              </a:rPr>
              <a:t>be</a:t>
            </a:r>
            <a:r>
              <a:rPr sz="2850" spc="-113" dirty="0">
                <a:latin typeface="Arial"/>
                <a:cs typeface="Arial"/>
              </a:rPr>
              <a:t> </a:t>
            </a:r>
            <a:r>
              <a:rPr sz="2850" spc="-30" dirty="0">
                <a:latin typeface="Arial"/>
                <a:cs typeface="Arial"/>
              </a:rPr>
              <a:t>used</a:t>
            </a:r>
            <a:endParaRPr sz="2850">
              <a:latin typeface="Arial"/>
              <a:cs typeface="Arial"/>
            </a:endParaRPr>
          </a:p>
          <a:p>
            <a:pPr marL="360998" indent="-341948">
              <a:spcBef>
                <a:spcPts val="907"/>
              </a:spcBef>
              <a:buFont typeface="Wingdings"/>
              <a:buChar char=""/>
              <a:tabLst>
                <a:tab pos="360998" algn="l"/>
              </a:tabLst>
            </a:pPr>
            <a:r>
              <a:rPr sz="2850" spc="-195" dirty="0">
                <a:solidFill>
                  <a:srgbClr val="4C8DE2"/>
                </a:solidFill>
                <a:latin typeface="Arial"/>
                <a:cs typeface="Arial"/>
              </a:rPr>
              <a:t>Synthesise</a:t>
            </a:r>
            <a:r>
              <a:rPr sz="2850" spc="-11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35" dirty="0">
                <a:solidFill>
                  <a:srgbClr val="4C8DE2"/>
                </a:solidFill>
                <a:latin typeface="Arial"/>
                <a:cs typeface="Arial"/>
              </a:rPr>
              <a:t>data</a:t>
            </a: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60" dirty="0">
                <a:solidFill>
                  <a:srgbClr val="4C8DE2"/>
                </a:solidFill>
                <a:latin typeface="Arial"/>
                <a:cs typeface="Arial"/>
              </a:rPr>
              <a:t>from</a:t>
            </a:r>
            <a:r>
              <a:rPr sz="2850" spc="-9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35" dirty="0">
                <a:solidFill>
                  <a:srgbClr val="4C8DE2"/>
                </a:solidFill>
                <a:latin typeface="Arial"/>
                <a:cs typeface="Arial"/>
              </a:rPr>
              <a:t>various</a:t>
            </a:r>
            <a:r>
              <a:rPr sz="2850" spc="-7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68" dirty="0">
                <a:solidFill>
                  <a:srgbClr val="4C8DE2"/>
                </a:solidFill>
                <a:latin typeface="Arial"/>
                <a:cs typeface="Arial"/>
              </a:rPr>
              <a:t>sources</a:t>
            </a:r>
            <a:endParaRPr sz="2850">
              <a:latin typeface="Arial"/>
              <a:cs typeface="Arial"/>
            </a:endParaRPr>
          </a:p>
          <a:p>
            <a:pPr marL="361950" marR="446723" indent="-342900">
              <a:spcBef>
                <a:spcPts val="900"/>
              </a:spcBef>
              <a:buFont typeface="Wingdings"/>
              <a:buChar char=""/>
              <a:tabLst>
                <a:tab pos="361950" algn="l"/>
              </a:tabLst>
            </a:pPr>
            <a:r>
              <a:rPr sz="2850" spc="-135" dirty="0">
                <a:latin typeface="Arial"/>
                <a:cs typeface="Arial"/>
              </a:rPr>
              <a:t>Useful</a:t>
            </a:r>
            <a:r>
              <a:rPr sz="2850" spc="-150" dirty="0">
                <a:latin typeface="Arial"/>
                <a:cs typeface="Arial"/>
              </a:rPr>
              <a:t> </a:t>
            </a:r>
            <a:r>
              <a:rPr sz="2850" spc="-15" dirty="0">
                <a:latin typeface="Arial"/>
                <a:cs typeface="Arial"/>
              </a:rPr>
              <a:t>tool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spc="-30" dirty="0">
                <a:latin typeface="Arial"/>
                <a:cs typeface="Arial"/>
              </a:rPr>
              <a:t>for</a:t>
            </a:r>
            <a:r>
              <a:rPr sz="2850" spc="-158" dirty="0">
                <a:latin typeface="Arial"/>
                <a:cs typeface="Arial"/>
              </a:rPr>
              <a:t> </a:t>
            </a:r>
            <a:r>
              <a:rPr sz="2850" spc="-83" dirty="0">
                <a:latin typeface="Arial"/>
                <a:cs typeface="Arial"/>
              </a:rPr>
              <a:t>informing</a:t>
            </a:r>
            <a:r>
              <a:rPr sz="2850" spc="-120" dirty="0">
                <a:latin typeface="Arial"/>
                <a:cs typeface="Arial"/>
              </a:rPr>
              <a:t> </a:t>
            </a:r>
            <a:r>
              <a:rPr sz="2850" spc="-135" dirty="0">
                <a:latin typeface="Arial"/>
                <a:cs typeface="Arial"/>
              </a:rPr>
              <a:t>decisions </a:t>
            </a:r>
            <a:r>
              <a:rPr sz="2850" spc="-15" dirty="0">
                <a:latin typeface="Arial"/>
                <a:cs typeface="Arial"/>
              </a:rPr>
              <a:t>makers</a:t>
            </a:r>
            <a:endParaRPr sz="2850">
              <a:latin typeface="Arial"/>
              <a:cs typeface="Arial"/>
            </a:endParaRPr>
          </a:p>
          <a:p>
            <a:pPr marL="360998" indent="-341948">
              <a:spcBef>
                <a:spcPts val="900"/>
              </a:spcBef>
              <a:buFont typeface="Wingdings"/>
              <a:buChar char=""/>
              <a:tabLst>
                <a:tab pos="360998" algn="l"/>
              </a:tabLst>
            </a:pPr>
            <a:r>
              <a:rPr sz="2850" spc="-330" dirty="0">
                <a:solidFill>
                  <a:srgbClr val="4C8DE2"/>
                </a:solidFill>
                <a:latin typeface="Arial"/>
                <a:cs typeface="Arial"/>
              </a:rPr>
              <a:t>Easy</a:t>
            </a:r>
            <a:r>
              <a:rPr sz="285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4C8DE2"/>
                </a:solidFill>
                <a:latin typeface="Arial"/>
                <a:cs typeface="Arial"/>
              </a:rPr>
              <a:t>to</a:t>
            </a:r>
            <a:r>
              <a:rPr sz="2850" spc="-12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2850" spc="-15" dirty="0">
                <a:solidFill>
                  <a:srgbClr val="4C8DE2"/>
                </a:solidFill>
                <a:latin typeface="Arial"/>
                <a:cs typeface="Arial"/>
              </a:rPr>
              <a:t>communicate</a:t>
            </a:r>
            <a:endParaRPr sz="2850">
              <a:latin typeface="Arial"/>
              <a:cs typeface="Arial"/>
            </a:endParaRPr>
          </a:p>
          <a:p>
            <a:pPr marL="360998" indent="-341948">
              <a:spcBef>
                <a:spcPts val="900"/>
              </a:spcBef>
              <a:buFont typeface="Wingdings"/>
              <a:buChar char=""/>
              <a:tabLst>
                <a:tab pos="360998" algn="l"/>
              </a:tabLst>
            </a:pPr>
            <a:r>
              <a:rPr sz="2850" spc="-90" dirty="0">
                <a:latin typeface="Arial"/>
                <a:cs typeface="Arial"/>
              </a:rPr>
              <a:t>Uncertainty</a:t>
            </a:r>
            <a:r>
              <a:rPr sz="2850" spc="-105" dirty="0">
                <a:latin typeface="Arial"/>
                <a:cs typeface="Arial"/>
              </a:rPr>
              <a:t> </a:t>
            </a:r>
            <a:r>
              <a:rPr sz="2850" spc="-45" dirty="0">
                <a:latin typeface="Arial"/>
                <a:cs typeface="Arial"/>
              </a:rPr>
              <a:t>in</a:t>
            </a:r>
            <a:r>
              <a:rPr sz="2850" spc="-113" dirty="0">
                <a:latin typeface="Arial"/>
                <a:cs typeface="Arial"/>
              </a:rPr>
              <a:t> </a:t>
            </a:r>
            <a:r>
              <a:rPr sz="2850" spc="-135" dirty="0">
                <a:latin typeface="Arial"/>
                <a:cs typeface="Arial"/>
              </a:rPr>
              <a:t>data</a:t>
            </a:r>
            <a:r>
              <a:rPr sz="2850" spc="-143" dirty="0">
                <a:latin typeface="Arial"/>
                <a:cs typeface="Arial"/>
              </a:rPr>
              <a:t> </a:t>
            </a:r>
            <a:r>
              <a:rPr sz="2850" spc="-15" dirty="0">
                <a:latin typeface="Arial"/>
                <a:cs typeface="Arial"/>
              </a:rPr>
              <a:t>inputs</a:t>
            </a:r>
            <a:endParaRPr sz="28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037950" y="2536319"/>
            <a:ext cx="6720840" cy="6634163"/>
          </a:xfrm>
          <a:custGeom>
            <a:avLst/>
            <a:gdLst/>
            <a:ahLst/>
            <a:cxnLst/>
            <a:rect l="l" t="t" r="r" b="b"/>
            <a:pathLst>
              <a:path w="4480559" h="4422775">
                <a:moveTo>
                  <a:pt x="0" y="737120"/>
                </a:moveTo>
                <a:lnTo>
                  <a:pt x="1567" y="688655"/>
                </a:lnTo>
                <a:lnTo>
                  <a:pt x="6206" y="641026"/>
                </a:lnTo>
                <a:lnTo>
                  <a:pt x="13819" y="594332"/>
                </a:lnTo>
                <a:lnTo>
                  <a:pt x="24309" y="548668"/>
                </a:lnTo>
                <a:lnTo>
                  <a:pt x="37579" y="504134"/>
                </a:lnTo>
                <a:lnTo>
                  <a:pt x="53531" y="460825"/>
                </a:lnTo>
                <a:lnTo>
                  <a:pt x="72068" y="418838"/>
                </a:lnTo>
                <a:lnTo>
                  <a:pt x="93094" y="378272"/>
                </a:lnTo>
                <a:lnTo>
                  <a:pt x="116511" y="339223"/>
                </a:lnTo>
                <a:lnTo>
                  <a:pt x="142222" y="301787"/>
                </a:lnTo>
                <a:lnTo>
                  <a:pt x="170129" y="266063"/>
                </a:lnTo>
                <a:lnTo>
                  <a:pt x="200137" y="232147"/>
                </a:lnTo>
                <a:lnTo>
                  <a:pt x="232147" y="200137"/>
                </a:lnTo>
                <a:lnTo>
                  <a:pt x="266063" y="170129"/>
                </a:lnTo>
                <a:lnTo>
                  <a:pt x="301787" y="142222"/>
                </a:lnTo>
                <a:lnTo>
                  <a:pt x="339223" y="116511"/>
                </a:lnTo>
                <a:lnTo>
                  <a:pt x="378272" y="93094"/>
                </a:lnTo>
                <a:lnTo>
                  <a:pt x="418838" y="72068"/>
                </a:lnTo>
                <a:lnTo>
                  <a:pt x="460825" y="53531"/>
                </a:lnTo>
                <a:lnTo>
                  <a:pt x="504134" y="37579"/>
                </a:lnTo>
                <a:lnTo>
                  <a:pt x="548668" y="24309"/>
                </a:lnTo>
                <a:lnTo>
                  <a:pt x="594332" y="13819"/>
                </a:lnTo>
                <a:lnTo>
                  <a:pt x="641026" y="6206"/>
                </a:lnTo>
                <a:lnTo>
                  <a:pt x="688655" y="1567"/>
                </a:lnTo>
                <a:lnTo>
                  <a:pt x="737120" y="0"/>
                </a:lnTo>
                <a:lnTo>
                  <a:pt x="3743439" y="0"/>
                </a:lnTo>
                <a:lnTo>
                  <a:pt x="3791904" y="1567"/>
                </a:lnTo>
                <a:lnTo>
                  <a:pt x="3839533" y="6206"/>
                </a:lnTo>
                <a:lnTo>
                  <a:pt x="3886227" y="13819"/>
                </a:lnTo>
                <a:lnTo>
                  <a:pt x="3931891" y="24309"/>
                </a:lnTo>
                <a:lnTo>
                  <a:pt x="3976425" y="37579"/>
                </a:lnTo>
                <a:lnTo>
                  <a:pt x="4019734" y="53531"/>
                </a:lnTo>
                <a:lnTo>
                  <a:pt x="4061721" y="72068"/>
                </a:lnTo>
                <a:lnTo>
                  <a:pt x="4102287" y="93094"/>
                </a:lnTo>
                <a:lnTo>
                  <a:pt x="4141336" y="116511"/>
                </a:lnTo>
                <a:lnTo>
                  <a:pt x="4178772" y="142222"/>
                </a:lnTo>
                <a:lnTo>
                  <a:pt x="4214496" y="170129"/>
                </a:lnTo>
                <a:lnTo>
                  <a:pt x="4248412" y="200137"/>
                </a:lnTo>
                <a:lnTo>
                  <a:pt x="4280422" y="232147"/>
                </a:lnTo>
                <a:lnTo>
                  <a:pt x="4310430" y="266063"/>
                </a:lnTo>
                <a:lnTo>
                  <a:pt x="4338337" y="301787"/>
                </a:lnTo>
                <a:lnTo>
                  <a:pt x="4364048" y="339223"/>
                </a:lnTo>
                <a:lnTo>
                  <a:pt x="4387465" y="378272"/>
                </a:lnTo>
                <a:lnTo>
                  <a:pt x="4408491" y="418838"/>
                </a:lnTo>
                <a:lnTo>
                  <a:pt x="4427028" y="460825"/>
                </a:lnTo>
                <a:lnTo>
                  <a:pt x="4442980" y="504134"/>
                </a:lnTo>
                <a:lnTo>
                  <a:pt x="4456250" y="548668"/>
                </a:lnTo>
                <a:lnTo>
                  <a:pt x="4466740" y="594332"/>
                </a:lnTo>
                <a:lnTo>
                  <a:pt x="4474353" y="641026"/>
                </a:lnTo>
                <a:lnTo>
                  <a:pt x="4478992" y="688655"/>
                </a:lnTo>
                <a:lnTo>
                  <a:pt x="4480560" y="737120"/>
                </a:lnTo>
                <a:lnTo>
                  <a:pt x="4480560" y="3685527"/>
                </a:lnTo>
                <a:lnTo>
                  <a:pt x="4478992" y="3733992"/>
                </a:lnTo>
                <a:lnTo>
                  <a:pt x="4474353" y="3781621"/>
                </a:lnTo>
                <a:lnTo>
                  <a:pt x="4466740" y="3828315"/>
                </a:lnTo>
                <a:lnTo>
                  <a:pt x="4456250" y="3873979"/>
                </a:lnTo>
                <a:lnTo>
                  <a:pt x="4442980" y="3918513"/>
                </a:lnTo>
                <a:lnTo>
                  <a:pt x="4427028" y="3961822"/>
                </a:lnTo>
                <a:lnTo>
                  <a:pt x="4408491" y="4003809"/>
                </a:lnTo>
                <a:lnTo>
                  <a:pt x="4387465" y="4044375"/>
                </a:lnTo>
                <a:lnTo>
                  <a:pt x="4364048" y="4083424"/>
                </a:lnTo>
                <a:lnTo>
                  <a:pt x="4338337" y="4120860"/>
                </a:lnTo>
                <a:lnTo>
                  <a:pt x="4310430" y="4156584"/>
                </a:lnTo>
                <a:lnTo>
                  <a:pt x="4280422" y="4190500"/>
                </a:lnTo>
                <a:lnTo>
                  <a:pt x="4248412" y="4222510"/>
                </a:lnTo>
                <a:lnTo>
                  <a:pt x="4214496" y="4252518"/>
                </a:lnTo>
                <a:lnTo>
                  <a:pt x="4178772" y="4280425"/>
                </a:lnTo>
                <a:lnTo>
                  <a:pt x="4141336" y="4306136"/>
                </a:lnTo>
                <a:lnTo>
                  <a:pt x="4102287" y="4329553"/>
                </a:lnTo>
                <a:lnTo>
                  <a:pt x="4061721" y="4350579"/>
                </a:lnTo>
                <a:lnTo>
                  <a:pt x="4019734" y="4369116"/>
                </a:lnTo>
                <a:lnTo>
                  <a:pt x="3976425" y="4385068"/>
                </a:lnTo>
                <a:lnTo>
                  <a:pt x="3931891" y="4398338"/>
                </a:lnTo>
                <a:lnTo>
                  <a:pt x="3886227" y="4408828"/>
                </a:lnTo>
                <a:lnTo>
                  <a:pt x="3839533" y="4416441"/>
                </a:lnTo>
                <a:lnTo>
                  <a:pt x="3791904" y="4421080"/>
                </a:lnTo>
                <a:lnTo>
                  <a:pt x="3743439" y="4422648"/>
                </a:lnTo>
                <a:lnTo>
                  <a:pt x="737120" y="4422648"/>
                </a:lnTo>
                <a:lnTo>
                  <a:pt x="688655" y="4421080"/>
                </a:lnTo>
                <a:lnTo>
                  <a:pt x="641026" y="4416441"/>
                </a:lnTo>
                <a:lnTo>
                  <a:pt x="594332" y="4408828"/>
                </a:lnTo>
                <a:lnTo>
                  <a:pt x="548668" y="4398338"/>
                </a:lnTo>
                <a:lnTo>
                  <a:pt x="504134" y="4385068"/>
                </a:lnTo>
                <a:lnTo>
                  <a:pt x="460825" y="4369116"/>
                </a:lnTo>
                <a:lnTo>
                  <a:pt x="418838" y="4350579"/>
                </a:lnTo>
                <a:lnTo>
                  <a:pt x="378272" y="4329553"/>
                </a:lnTo>
                <a:lnTo>
                  <a:pt x="339223" y="4306136"/>
                </a:lnTo>
                <a:lnTo>
                  <a:pt x="301787" y="4280425"/>
                </a:lnTo>
                <a:lnTo>
                  <a:pt x="266063" y="4252518"/>
                </a:lnTo>
                <a:lnTo>
                  <a:pt x="232147" y="4222510"/>
                </a:lnTo>
                <a:lnTo>
                  <a:pt x="200137" y="4190500"/>
                </a:lnTo>
                <a:lnTo>
                  <a:pt x="170129" y="4156584"/>
                </a:lnTo>
                <a:lnTo>
                  <a:pt x="142222" y="4120860"/>
                </a:lnTo>
                <a:lnTo>
                  <a:pt x="116511" y="4083424"/>
                </a:lnTo>
                <a:lnTo>
                  <a:pt x="93094" y="4044375"/>
                </a:lnTo>
                <a:lnTo>
                  <a:pt x="72068" y="4003809"/>
                </a:lnTo>
                <a:lnTo>
                  <a:pt x="53531" y="3961822"/>
                </a:lnTo>
                <a:lnTo>
                  <a:pt x="37579" y="3918513"/>
                </a:lnTo>
                <a:lnTo>
                  <a:pt x="24309" y="3873979"/>
                </a:lnTo>
                <a:lnTo>
                  <a:pt x="13819" y="3828315"/>
                </a:lnTo>
                <a:lnTo>
                  <a:pt x="6206" y="3781621"/>
                </a:lnTo>
                <a:lnTo>
                  <a:pt x="1567" y="3733992"/>
                </a:lnTo>
                <a:lnTo>
                  <a:pt x="0" y="3685527"/>
                </a:lnTo>
                <a:lnTo>
                  <a:pt x="0" y="737120"/>
                </a:lnTo>
                <a:close/>
              </a:path>
            </a:pathLst>
          </a:custGeom>
          <a:ln w="28575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53" name="object 53"/>
          <p:cNvSpPr txBox="1"/>
          <p:nvPr/>
        </p:nvSpPr>
        <p:spPr>
          <a:xfrm>
            <a:off x="4045893" y="7929269"/>
            <a:ext cx="3821430" cy="1000595"/>
          </a:xfrm>
          <a:prstGeom prst="rect">
            <a:avLst/>
          </a:prstGeom>
        </p:spPr>
        <p:txBody>
          <a:bodyPr vert="horz" wrap="square" lIns="0" tIns="71438" rIns="0" bIns="0" rtlCol="0">
            <a:spAutoFit/>
          </a:bodyPr>
          <a:lstStyle/>
          <a:p>
            <a:pPr marL="360998" indent="-341948">
              <a:spcBef>
                <a:spcPts val="563"/>
              </a:spcBef>
              <a:buChar char="•"/>
              <a:tabLst>
                <a:tab pos="360998" algn="l"/>
              </a:tabLst>
            </a:pPr>
            <a:r>
              <a:rPr sz="2850" spc="-150" dirty="0">
                <a:latin typeface="Arial"/>
                <a:cs typeface="Arial"/>
              </a:rPr>
              <a:t>Predicts</a:t>
            </a:r>
            <a:r>
              <a:rPr sz="2850" spc="-98" dirty="0">
                <a:latin typeface="Arial"/>
                <a:cs typeface="Arial"/>
              </a:rPr>
              <a:t> </a:t>
            </a:r>
            <a:r>
              <a:rPr sz="2850" spc="-60" dirty="0">
                <a:latin typeface="Arial"/>
                <a:cs typeface="Arial"/>
              </a:rPr>
              <a:t>the</a:t>
            </a:r>
            <a:r>
              <a:rPr sz="2850" spc="-98" dirty="0">
                <a:latin typeface="Arial"/>
                <a:cs typeface="Arial"/>
              </a:rPr>
              <a:t> </a:t>
            </a:r>
            <a:r>
              <a:rPr sz="2850" spc="-15" dirty="0">
                <a:latin typeface="Arial"/>
                <a:cs typeface="Arial"/>
              </a:rPr>
              <a:t>future</a:t>
            </a:r>
            <a:endParaRPr sz="2850">
              <a:latin typeface="Arial"/>
              <a:cs typeface="Arial"/>
            </a:endParaRPr>
          </a:p>
          <a:p>
            <a:pPr marL="360998" indent="-341948">
              <a:spcBef>
                <a:spcPts val="413"/>
              </a:spcBef>
              <a:buChar char="•"/>
              <a:tabLst>
                <a:tab pos="360998" algn="l"/>
              </a:tabLst>
            </a:pPr>
            <a:r>
              <a:rPr sz="2850" spc="-171" dirty="0">
                <a:latin typeface="Arial"/>
                <a:cs typeface="Arial"/>
              </a:rPr>
              <a:t>Explore</a:t>
            </a:r>
            <a:r>
              <a:rPr sz="2850" spc="-83" dirty="0">
                <a:latin typeface="Arial"/>
                <a:cs typeface="Arial"/>
              </a:rPr>
              <a:t> </a:t>
            </a:r>
            <a:r>
              <a:rPr sz="2850" spc="-45" dirty="0">
                <a:latin typeface="Arial"/>
                <a:cs typeface="Arial"/>
              </a:rPr>
              <a:t>the</a:t>
            </a:r>
            <a:r>
              <a:rPr sz="2850" spc="-98" dirty="0">
                <a:latin typeface="Arial"/>
                <a:cs typeface="Arial"/>
              </a:rPr>
              <a:t> </a:t>
            </a:r>
            <a:r>
              <a:rPr sz="2850" spc="-60" dirty="0">
                <a:latin typeface="Arial"/>
                <a:cs typeface="Arial"/>
              </a:rPr>
              <a:t>uncertainty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54" name="Group 3">
            <a:extLst>
              <a:ext uri="{FF2B5EF4-FFF2-40B4-BE49-F238E27FC236}">
                <a16:creationId xmlns:a16="http://schemas.microsoft.com/office/drawing/2014/main" id="{B0F2CD65-3AD1-15C7-A4EA-87AC7C0EC922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D6733ECC-C16D-103F-C768-BF013EC83A0F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7B2171D0-B1E9-1E8F-BE25-79245333EFFF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25B82049-195A-14EF-DA5A-1E824F6F4FA5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Freeform 15">
            <a:extLst>
              <a:ext uri="{FF2B5EF4-FFF2-40B4-BE49-F238E27FC236}">
                <a16:creationId xmlns:a16="http://schemas.microsoft.com/office/drawing/2014/main" id="{FB1805B7-A1AD-464F-BE43-3F322E8FF3B9}"/>
              </a:ext>
            </a:extLst>
          </p:cNvPr>
          <p:cNvSpPr/>
          <p:nvPr/>
        </p:nvSpPr>
        <p:spPr>
          <a:xfrm flipH="1" flipV="1">
            <a:off x="0" y="255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16">
            <a:extLst>
              <a:ext uri="{FF2B5EF4-FFF2-40B4-BE49-F238E27FC236}">
                <a16:creationId xmlns:a16="http://schemas.microsoft.com/office/drawing/2014/main" id="{5C360D09-2C07-E1A3-56C1-27D189A65961}"/>
              </a:ext>
            </a:extLst>
          </p:cNvPr>
          <p:cNvSpPr/>
          <p:nvPr/>
        </p:nvSpPr>
        <p:spPr>
          <a:xfrm flipH="1" flipV="1">
            <a:off x="16433" y="-48847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18">
            <a:extLst>
              <a:ext uri="{FF2B5EF4-FFF2-40B4-BE49-F238E27FC236}">
                <a16:creationId xmlns:a16="http://schemas.microsoft.com/office/drawing/2014/main" id="{794F33A3-D111-7F63-34FE-F94083976D45}"/>
              </a:ext>
            </a:extLst>
          </p:cNvPr>
          <p:cNvSpPr/>
          <p:nvPr/>
        </p:nvSpPr>
        <p:spPr>
          <a:xfrm flipH="1" flipV="1">
            <a:off x="10303433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038" y="1242316"/>
            <a:ext cx="8464868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555" dirty="0"/>
              <a:t>Decision</a:t>
            </a:r>
            <a:r>
              <a:rPr spc="-353" dirty="0"/>
              <a:t> </a:t>
            </a:r>
            <a:r>
              <a:rPr spc="-525" dirty="0"/>
              <a:t>models</a:t>
            </a:r>
            <a:r>
              <a:rPr spc="-353" dirty="0"/>
              <a:t> </a:t>
            </a:r>
            <a:r>
              <a:rPr sz="3000" spc="-217" dirty="0">
                <a:latin typeface="Arial"/>
                <a:cs typeface="Arial"/>
              </a:rPr>
              <a:t>use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38" dirty="0">
                <a:latin typeface="Arial"/>
                <a:cs typeface="Arial"/>
              </a:rPr>
              <a:t>caution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7083" y="4098797"/>
            <a:ext cx="1035557" cy="10355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4221" y="6105905"/>
            <a:ext cx="1099565" cy="10995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7937" y="7820405"/>
            <a:ext cx="1097279" cy="10995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2623" y="5891023"/>
            <a:ext cx="918971" cy="11727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2623" y="7820405"/>
            <a:ext cx="1035557" cy="11818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8921" y="7820405"/>
            <a:ext cx="1296224" cy="12435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2623" y="4069081"/>
            <a:ext cx="1035557" cy="118414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48475" y="4166997"/>
            <a:ext cx="781050" cy="647700"/>
            <a:chOff x="4565650" y="2777998"/>
            <a:chExt cx="520700" cy="431800"/>
          </a:xfrm>
        </p:grpSpPr>
        <p:sp>
          <p:nvSpPr>
            <p:cNvPr id="11" name="object 11"/>
            <p:cNvSpPr/>
            <p:nvPr/>
          </p:nvSpPr>
          <p:spPr>
            <a:xfrm>
              <a:off x="4572000" y="2784348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297942" y="0"/>
                  </a:moveTo>
                  <a:lnTo>
                    <a:pt x="297942" y="104775"/>
                  </a:lnTo>
                  <a:lnTo>
                    <a:pt x="0" y="104775"/>
                  </a:lnTo>
                  <a:lnTo>
                    <a:pt x="0" y="314325"/>
                  </a:lnTo>
                  <a:lnTo>
                    <a:pt x="297942" y="314325"/>
                  </a:lnTo>
                  <a:lnTo>
                    <a:pt x="297942" y="419100"/>
                  </a:lnTo>
                  <a:lnTo>
                    <a:pt x="507492" y="209550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0" y="2784348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0" y="104775"/>
                  </a:moveTo>
                  <a:lnTo>
                    <a:pt x="297942" y="104775"/>
                  </a:lnTo>
                  <a:lnTo>
                    <a:pt x="297942" y="0"/>
                  </a:lnTo>
                  <a:lnTo>
                    <a:pt x="507492" y="209550"/>
                  </a:lnTo>
                  <a:lnTo>
                    <a:pt x="297942" y="419100"/>
                  </a:lnTo>
                  <a:lnTo>
                    <a:pt x="297942" y="314325"/>
                  </a:lnTo>
                  <a:lnTo>
                    <a:pt x="0" y="314325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0492359" y="4166997"/>
            <a:ext cx="781050" cy="647700"/>
            <a:chOff x="6994906" y="2777998"/>
            <a:chExt cx="520700" cy="431800"/>
          </a:xfrm>
        </p:grpSpPr>
        <p:sp>
          <p:nvSpPr>
            <p:cNvPr id="14" name="object 14"/>
            <p:cNvSpPr/>
            <p:nvPr/>
          </p:nvSpPr>
          <p:spPr>
            <a:xfrm>
              <a:off x="7001256" y="2784348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297942" y="0"/>
                  </a:moveTo>
                  <a:lnTo>
                    <a:pt x="297942" y="104775"/>
                  </a:lnTo>
                  <a:lnTo>
                    <a:pt x="0" y="104775"/>
                  </a:lnTo>
                  <a:lnTo>
                    <a:pt x="0" y="314325"/>
                  </a:lnTo>
                  <a:lnTo>
                    <a:pt x="297942" y="314325"/>
                  </a:lnTo>
                  <a:lnTo>
                    <a:pt x="297942" y="419100"/>
                  </a:lnTo>
                  <a:lnTo>
                    <a:pt x="507492" y="209550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001256" y="2784348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0" y="104775"/>
                  </a:moveTo>
                  <a:lnTo>
                    <a:pt x="297942" y="104775"/>
                  </a:lnTo>
                  <a:lnTo>
                    <a:pt x="297942" y="0"/>
                  </a:lnTo>
                  <a:lnTo>
                    <a:pt x="507492" y="209550"/>
                  </a:lnTo>
                  <a:lnTo>
                    <a:pt x="297942" y="419100"/>
                  </a:lnTo>
                  <a:lnTo>
                    <a:pt x="297942" y="314325"/>
                  </a:lnTo>
                  <a:lnTo>
                    <a:pt x="0" y="314325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848475" y="5988939"/>
            <a:ext cx="781050" cy="645795"/>
            <a:chOff x="4565650" y="3992626"/>
            <a:chExt cx="520700" cy="430530"/>
          </a:xfrm>
        </p:grpSpPr>
        <p:sp>
          <p:nvSpPr>
            <p:cNvPr id="17" name="object 17"/>
            <p:cNvSpPr/>
            <p:nvPr/>
          </p:nvSpPr>
          <p:spPr>
            <a:xfrm>
              <a:off x="4572000" y="3998976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298704" y="0"/>
                  </a:moveTo>
                  <a:lnTo>
                    <a:pt x="298704" y="104393"/>
                  </a:lnTo>
                  <a:lnTo>
                    <a:pt x="0" y="104393"/>
                  </a:lnTo>
                  <a:lnTo>
                    <a:pt x="0" y="313182"/>
                  </a:lnTo>
                  <a:lnTo>
                    <a:pt x="298704" y="313182"/>
                  </a:lnTo>
                  <a:lnTo>
                    <a:pt x="298704" y="417575"/>
                  </a:lnTo>
                  <a:lnTo>
                    <a:pt x="507492" y="208787"/>
                  </a:lnTo>
                  <a:lnTo>
                    <a:pt x="298704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0" y="3998976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0" y="104393"/>
                  </a:moveTo>
                  <a:lnTo>
                    <a:pt x="298704" y="104393"/>
                  </a:lnTo>
                  <a:lnTo>
                    <a:pt x="298704" y="0"/>
                  </a:lnTo>
                  <a:lnTo>
                    <a:pt x="507492" y="208787"/>
                  </a:lnTo>
                  <a:lnTo>
                    <a:pt x="298704" y="417575"/>
                  </a:lnTo>
                  <a:lnTo>
                    <a:pt x="298704" y="313182"/>
                  </a:lnTo>
                  <a:lnTo>
                    <a:pt x="0" y="313182"/>
                  </a:lnTo>
                  <a:lnTo>
                    <a:pt x="0" y="104393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492359" y="5988939"/>
            <a:ext cx="781050" cy="645795"/>
            <a:chOff x="6994906" y="3992626"/>
            <a:chExt cx="520700" cy="430530"/>
          </a:xfrm>
        </p:grpSpPr>
        <p:sp>
          <p:nvSpPr>
            <p:cNvPr id="20" name="object 20"/>
            <p:cNvSpPr/>
            <p:nvPr/>
          </p:nvSpPr>
          <p:spPr>
            <a:xfrm>
              <a:off x="7001256" y="3998976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298704" y="0"/>
                  </a:moveTo>
                  <a:lnTo>
                    <a:pt x="298704" y="104393"/>
                  </a:lnTo>
                  <a:lnTo>
                    <a:pt x="0" y="104393"/>
                  </a:lnTo>
                  <a:lnTo>
                    <a:pt x="0" y="313182"/>
                  </a:lnTo>
                  <a:lnTo>
                    <a:pt x="298704" y="313182"/>
                  </a:lnTo>
                  <a:lnTo>
                    <a:pt x="298704" y="417575"/>
                  </a:lnTo>
                  <a:lnTo>
                    <a:pt x="507492" y="208787"/>
                  </a:lnTo>
                  <a:lnTo>
                    <a:pt x="298704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001256" y="3998976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0" y="104393"/>
                  </a:moveTo>
                  <a:lnTo>
                    <a:pt x="298704" y="104393"/>
                  </a:lnTo>
                  <a:lnTo>
                    <a:pt x="298704" y="0"/>
                  </a:lnTo>
                  <a:lnTo>
                    <a:pt x="507492" y="208787"/>
                  </a:lnTo>
                  <a:lnTo>
                    <a:pt x="298704" y="417575"/>
                  </a:lnTo>
                  <a:lnTo>
                    <a:pt x="298704" y="313182"/>
                  </a:lnTo>
                  <a:lnTo>
                    <a:pt x="0" y="313182"/>
                  </a:lnTo>
                  <a:lnTo>
                    <a:pt x="0" y="104393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848475" y="7810880"/>
            <a:ext cx="781050" cy="645795"/>
            <a:chOff x="4565650" y="5207253"/>
            <a:chExt cx="520700" cy="430530"/>
          </a:xfrm>
        </p:grpSpPr>
        <p:sp>
          <p:nvSpPr>
            <p:cNvPr id="23" name="object 23"/>
            <p:cNvSpPr/>
            <p:nvPr/>
          </p:nvSpPr>
          <p:spPr>
            <a:xfrm>
              <a:off x="4572000" y="5213603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298704" y="0"/>
                  </a:moveTo>
                  <a:lnTo>
                    <a:pt x="298704" y="104394"/>
                  </a:lnTo>
                  <a:lnTo>
                    <a:pt x="0" y="104394"/>
                  </a:lnTo>
                  <a:lnTo>
                    <a:pt x="0" y="313182"/>
                  </a:lnTo>
                  <a:lnTo>
                    <a:pt x="298704" y="313182"/>
                  </a:lnTo>
                  <a:lnTo>
                    <a:pt x="298704" y="417576"/>
                  </a:lnTo>
                  <a:lnTo>
                    <a:pt x="507492" y="208788"/>
                  </a:lnTo>
                  <a:lnTo>
                    <a:pt x="298704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0" y="5213603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0" y="104394"/>
                  </a:moveTo>
                  <a:lnTo>
                    <a:pt x="298704" y="104394"/>
                  </a:lnTo>
                  <a:lnTo>
                    <a:pt x="298704" y="0"/>
                  </a:lnTo>
                  <a:lnTo>
                    <a:pt x="507492" y="208788"/>
                  </a:lnTo>
                  <a:lnTo>
                    <a:pt x="298704" y="417576"/>
                  </a:lnTo>
                  <a:lnTo>
                    <a:pt x="298704" y="313182"/>
                  </a:lnTo>
                  <a:lnTo>
                    <a:pt x="0" y="313182"/>
                  </a:lnTo>
                  <a:lnTo>
                    <a:pt x="0" y="104394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0492359" y="7810880"/>
            <a:ext cx="781050" cy="645795"/>
            <a:chOff x="6994906" y="5207253"/>
            <a:chExt cx="520700" cy="430530"/>
          </a:xfrm>
        </p:grpSpPr>
        <p:sp>
          <p:nvSpPr>
            <p:cNvPr id="26" name="object 26"/>
            <p:cNvSpPr/>
            <p:nvPr/>
          </p:nvSpPr>
          <p:spPr>
            <a:xfrm>
              <a:off x="7001256" y="5213603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298704" y="0"/>
                  </a:moveTo>
                  <a:lnTo>
                    <a:pt x="298704" y="104394"/>
                  </a:lnTo>
                  <a:lnTo>
                    <a:pt x="0" y="104394"/>
                  </a:lnTo>
                  <a:lnTo>
                    <a:pt x="0" y="313182"/>
                  </a:lnTo>
                  <a:lnTo>
                    <a:pt x="298704" y="313182"/>
                  </a:lnTo>
                  <a:lnTo>
                    <a:pt x="298704" y="417576"/>
                  </a:lnTo>
                  <a:lnTo>
                    <a:pt x="507492" y="208788"/>
                  </a:lnTo>
                  <a:lnTo>
                    <a:pt x="298704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001256" y="5213603"/>
              <a:ext cx="508000" cy="417830"/>
            </a:xfrm>
            <a:custGeom>
              <a:avLst/>
              <a:gdLst/>
              <a:ahLst/>
              <a:cxnLst/>
              <a:rect l="l" t="t" r="r" b="b"/>
              <a:pathLst>
                <a:path w="508000" h="417829">
                  <a:moveTo>
                    <a:pt x="0" y="104394"/>
                  </a:moveTo>
                  <a:lnTo>
                    <a:pt x="298704" y="104394"/>
                  </a:lnTo>
                  <a:lnTo>
                    <a:pt x="298704" y="0"/>
                  </a:lnTo>
                  <a:lnTo>
                    <a:pt x="507492" y="208788"/>
                  </a:lnTo>
                  <a:lnTo>
                    <a:pt x="298704" y="417576"/>
                  </a:lnTo>
                  <a:lnTo>
                    <a:pt x="298704" y="313182"/>
                  </a:lnTo>
                  <a:lnTo>
                    <a:pt x="0" y="313182"/>
                  </a:lnTo>
                  <a:lnTo>
                    <a:pt x="0" y="104394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3710" y="4334585"/>
            <a:ext cx="1192530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b="1" spc="-195" dirty="0">
                <a:latin typeface="Arial"/>
                <a:cs typeface="Arial"/>
              </a:rPr>
              <a:t>Good</a:t>
            </a:r>
            <a:r>
              <a:rPr sz="2100" b="1" spc="-143" dirty="0">
                <a:latin typeface="Arial"/>
                <a:cs typeface="Arial"/>
              </a:rPr>
              <a:t> </a:t>
            </a:r>
            <a:r>
              <a:rPr sz="2100" b="1" spc="-75" dirty="0">
                <a:latin typeface="Arial"/>
                <a:cs typeface="Arial"/>
              </a:rPr>
              <a:t>data</a:t>
            </a:r>
            <a:endParaRPr sz="2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3590" y="5402828"/>
            <a:ext cx="1745933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53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21331" y="6259777"/>
            <a:ext cx="1521141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68" dirty="0">
                <a:latin typeface="Arial"/>
                <a:cs typeface="Arial"/>
              </a:rPr>
              <a:t>data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13128" y="7288169"/>
            <a:ext cx="1416366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95" dirty="0">
                <a:latin typeface="Arial"/>
                <a:cs typeface="Arial"/>
              </a:rPr>
              <a:t>Good</a:t>
            </a:r>
            <a:r>
              <a:rPr sz="2100" b="1" spc="-143" dirty="0">
                <a:latin typeface="Arial"/>
                <a:cs typeface="Arial"/>
              </a:rPr>
              <a:t> </a:t>
            </a:r>
            <a:r>
              <a:rPr sz="2100" b="1" spc="-60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53872" y="6325037"/>
            <a:ext cx="1667828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13" dirty="0">
                <a:latin typeface="Arial"/>
                <a:cs typeface="Arial"/>
              </a:rPr>
              <a:t> </a:t>
            </a:r>
            <a:r>
              <a:rPr sz="2100" b="1" spc="-98" dirty="0">
                <a:latin typeface="Arial"/>
                <a:cs typeface="Arial"/>
              </a:rPr>
              <a:t>result</a:t>
            </a:r>
            <a:endParaRPr sz="2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93814" y="8146721"/>
            <a:ext cx="1194435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95" dirty="0">
                <a:latin typeface="Arial"/>
                <a:cs typeface="Arial"/>
              </a:rPr>
              <a:t>Good</a:t>
            </a:r>
            <a:r>
              <a:rPr sz="2100" b="1" spc="-120" dirty="0">
                <a:latin typeface="Arial"/>
                <a:cs typeface="Arial"/>
              </a:rPr>
              <a:t> </a:t>
            </a:r>
            <a:r>
              <a:rPr sz="2100" b="1" spc="-75" dirty="0">
                <a:latin typeface="Arial"/>
                <a:cs typeface="Arial"/>
              </a:rPr>
              <a:t>data</a:t>
            </a:r>
            <a:endParaRPr sz="2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64452" y="8980936"/>
            <a:ext cx="1416366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95" dirty="0">
                <a:latin typeface="Arial"/>
                <a:cs typeface="Arial"/>
              </a:rPr>
              <a:t>Good</a:t>
            </a:r>
            <a:r>
              <a:rPr sz="2100" b="1" spc="-143" dirty="0">
                <a:latin typeface="Arial"/>
                <a:cs typeface="Arial"/>
              </a:rPr>
              <a:t> </a:t>
            </a:r>
            <a:r>
              <a:rPr sz="2100" b="1" spc="-60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960559" y="8209576"/>
            <a:ext cx="1443990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b="1" spc="-158" dirty="0">
                <a:latin typeface="Arial"/>
                <a:cs typeface="Arial"/>
              </a:rPr>
              <a:t>Useful</a:t>
            </a:r>
            <a:r>
              <a:rPr sz="2100" b="1" spc="-60" dirty="0">
                <a:latin typeface="Arial"/>
                <a:cs typeface="Arial"/>
              </a:rPr>
              <a:t> </a:t>
            </a:r>
            <a:r>
              <a:rPr sz="2100" b="1" spc="-98" dirty="0">
                <a:latin typeface="Arial"/>
                <a:cs typeface="Arial"/>
              </a:rPr>
              <a:t>result</a:t>
            </a:r>
            <a:endParaRPr sz="2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62222" y="2530287"/>
            <a:ext cx="1521141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68" dirty="0">
                <a:latin typeface="Arial"/>
                <a:cs typeface="Arial"/>
              </a:rPr>
              <a:t>data</a:t>
            </a:r>
            <a:endParaRPr sz="2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33930" y="3497162"/>
            <a:ext cx="1745933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53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812920" y="2480271"/>
            <a:ext cx="1663065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98" dirty="0">
                <a:latin typeface="Arial"/>
                <a:cs typeface="Arial"/>
              </a:rPr>
              <a:t>result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6057" y="2034541"/>
            <a:ext cx="1037843" cy="132128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67927" y="2064257"/>
            <a:ext cx="1165859" cy="116585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3901024" y="4440359"/>
            <a:ext cx="1663065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b="1" spc="-180" dirty="0">
                <a:latin typeface="Arial"/>
                <a:cs typeface="Arial"/>
              </a:rPr>
              <a:t>Garbage</a:t>
            </a:r>
            <a:r>
              <a:rPr sz="2100" b="1" spc="-127" dirty="0">
                <a:latin typeface="Arial"/>
                <a:cs typeface="Arial"/>
              </a:rPr>
              <a:t> </a:t>
            </a:r>
            <a:r>
              <a:rPr sz="2100" b="1" spc="-98" dirty="0">
                <a:latin typeface="Arial"/>
                <a:cs typeface="Arial"/>
              </a:rPr>
              <a:t>result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127229" y="2109979"/>
            <a:ext cx="1165859" cy="1168145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6848475" y="2395346"/>
            <a:ext cx="781050" cy="647700"/>
            <a:chOff x="4565650" y="1596897"/>
            <a:chExt cx="520700" cy="431800"/>
          </a:xfrm>
        </p:grpSpPr>
        <p:sp>
          <p:nvSpPr>
            <p:cNvPr id="44" name="object 44"/>
            <p:cNvSpPr/>
            <p:nvPr/>
          </p:nvSpPr>
          <p:spPr>
            <a:xfrm>
              <a:off x="4572000" y="1603247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297942" y="0"/>
                  </a:moveTo>
                  <a:lnTo>
                    <a:pt x="297942" y="104775"/>
                  </a:lnTo>
                  <a:lnTo>
                    <a:pt x="0" y="104775"/>
                  </a:lnTo>
                  <a:lnTo>
                    <a:pt x="0" y="314325"/>
                  </a:lnTo>
                  <a:lnTo>
                    <a:pt x="297942" y="314325"/>
                  </a:lnTo>
                  <a:lnTo>
                    <a:pt x="297942" y="419100"/>
                  </a:lnTo>
                  <a:lnTo>
                    <a:pt x="507492" y="209550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2000" y="1603247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0" y="104775"/>
                  </a:moveTo>
                  <a:lnTo>
                    <a:pt x="297942" y="104775"/>
                  </a:lnTo>
                  <a:lnTo>
                    <a:pt x="297942" y="0"/>
                  </a:lnTo>
                  <a:lnTo>
                    <a:pt x="507492" y="209550"/>
                  </a:lnTo>
                  <a:lnTo>
                    <a:pt x="297942" y="419100"/>
                  </a:lnTo>
                  <a:lnTo>
                    <a:pt x="297942" y="314325"/>
                  </a:lnTo>
                  <a:lnTo>
                    <a:pt x="0" y="314325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0492359" y="2395346"/>
            <a:ext cx="781050" cy="647700"/>
            <a:chOff x="6994906" y="1596897"/>
            <a:chExt cx="520700" cy="431800"/>
          </a:xfrm>
        </p:grpSpPr>
        <p:sp>
          <p:nvSpPr>
            <p:cNvPr id="47" name="object 47"/>
            <p:cNvSpPr/>
            <p:nvPr/>
          </p:nvSpPr>
          <p:spPr>
            <a:xfrm>
              <a:off x="7001256" y="1603247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297942" y="0"/>
                  </a:moveTo>
                  <a:lnTo>
                    <a:pt x="297942" y="104775"/>
                  </a:lnTo>
                  <a:lnTo>
                    <a:pt x="0" y="104775"/>
                  </a:lnTo>
                  <a:lnTo>
                    <a:pt x="0" y="314325"/>
                  </a:lnTo>
                  <a:lnTo>
                    <a:pt x="297942" y="314325"/>
                  </a:lnTo>
                  <a:lnTo>
                    <a:pt x="297942" y="419100"/>
                  </a:lnTo>
                  <a:lnTo>
                    <a:pt x="507492" y="209550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7001256" y="1603247"/>
              <a:ext cx="508000" cy="419100"/>
            </a:xfrm>
            <a:custGeom>
              <a:avLst/>
              <a:gdLst/>
              <a:ahLst/>
              <a:cxnLst/>
              <a:rect l="l" t="t" r="r" b="b"/>
              <a:pathLst>
                <a:path w="508000" h="419100">
                  <a:moveTo>
                    <a:pt x="0" y="104775"/>
                  </a:moveTo>
                  <a:lnTo>
                    <a:pt x="297942" y="104775"/>
                  </a:lnTo>
                  <a:lnTo>
                    <a:pt x="297942" y="0"/>
                  </a:lnTo>
                  <a:lnTo>
                    <a:pt x="507492" y="209550"/>
                  </a:lnTo>
                  <a:lnTo>
                    <a:pt x="297942" y="419100"/>
                  </a:lnTo>
                  <a:lnTo>
                    <a:pt x="297942" y="314325"/>
                  </a:lnTo>
                  <a:lnTo>
                    <a:pt x="0" y="314325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0E346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127229" y="4046219"/>
            <a:ext cx="1165860" cy="116586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090653" y="5998464"/>
            <a:ext cx="1165860" cy="1165860"/>
          </a:xfrm>
          <a:prstGeom prst="rect">
            <a:avLst/>
          </a:prstGeom>
        </p:spPr>
      </p:pic>
      <p:grpSp>
        <p:nvGrpSpPr>
          <p:cNvPr id="51" name="Group 3">
            <a:extLst>
              <a:ext uri="{FF2B5EF4-FFF2-40B4-BE49-F238E27FC236}">
                <a16:creationId xmlns:a16="http://schemas.microsoft.com/office/drawing/2014/main" id="{B781C7C2-D018-CC3A-7DDC-84F4EA44BFC1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52" name="Freeform 4">
              <a:extLst>
                <a:ext uri="{FF2B5EF4-FFF2-40B4-BE49-F238E27FC236}">
                  <a16:creationId xmlns:a16="http://schemas.microsoft.com/office/drawing/2014/main" id="{B72CB089-809D-4FAB-4F37-8ACCA64AE375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29055FDC-A27C-9F23-F264-EBDC1DF65698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DD21670B-77B0-C6FF-C4CD-2ADBC05793A9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Freeform 15">
            <a:extLst>
              <a:ext uri="{FF2B5EF4-FFF2-40B4-BE49-F238E27FC236}">
                <a16:creationId xmlns:a16="http://schemas.microsoft.com/office/drawing/2014/main" id="{33FA8A8D-4E92-F5F0-1ABD-B40BE66913E1}"/>
              </a:ext>
            </a:extLst>
          </p:cNvPr>
          <p:cNvSpPr/>
          <p:nvPr/>
        </p:nvSpPr>
        <p:spPr>
          <a:xfrm flipH="1" flipV="1">
            <a:off x="22617" y="1519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14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16">
            <a:extLst>
              <a:ext uri="{FF2B5EF4-FFF2-40B4-BE49-F238E27FC236}">
                <a16:creationId xmlns:a16="http://schemas.microsoft.com/office/drawing/2014/main" id="{BE7BEB04-AB0F-42B1-2EE7-16C8EF066C1E}"/>
              </a:ext>
            </a:extLst>
          </p:cNvPr>
          <p:cNvSpPr/>
          <p:nvPr/>
        </p:nvSpPr>
        <p:spPr>
          <a:xfrm flipH="1" flipV="1">
            <a:off x="-23171" y="21346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14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18">
            <a:extLst>
              <a:ext uri="{FF2B5EF4-FFF2-40B4-BE49-F238E27FC236}">
                <a16:creationId xmlns:a16="http://schemas.microsoft.com/office/drawing/2014/main" id="{AB56AFEF-0074-365B-D013-71A9109188B5}"/>
              </a:ext>
            </a:extLst>
          </p:cNvPr>
          <p:cNvSpPr/>
          <p:nvPr/>
        </p:nvSpPr>
        <p:spPr>
          <a:xfrm flipH="1" flipV="1">
            <a:off x="10315304" y="14629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14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1732199"/>
            <a:ext cx="6978015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375" dirty="0"/>
              <a:t>Data</a:t>
            </a:r>
            <a:r>
              <a:rPr spc="-293" dirty="0"/>
              <a:t> </a:t>
            </a:r>
            <a:r>
              <a:rPr spc="-300" dirty="0"/>
              <a:t>for</a:t>
            </a:r>
            <a:r>
              <a:rPr spc="-306" dirty="0"/>
              <a:t> </a:t>
            </a:r>
            <a:r>
              <a:rPr spc="-285" dirty="0"/>
              <a:t>the</a:t>
            </a:r>
            <a:r>
              <a:rPr spc="-293" dirty="0"/>
              <a:t> </a:t>
            </a:r>
            <a:r>
              <a:rPr spc="-54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523" y="2515447"/>
            <a:ext cx="3443288" cy="733855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4650" b="1" spc="-420" dirty="0">
                <a:solidFill>
                  <a:srgbClr val="153553"/>
                </a:solidFill>
                <a:latin typeface="Arial"/>
                <a:cs typeface="Arial"/>
              </a:rPr>
              <a:t>Data</a:t>
            </a:r>
            <a:r>
              <a:rPr sz="4650" b="1" spc="-585" dirty="0">
                <a:solidFill>
                  <a:srgbClr val="153553"/>
                </a:solidFill>
                <a:latin typeface="Arial"/>
                <a:cs typeface="Arial"/>
              </a:rPr>
              <a:t> </a:t>
            </a:r>
            <a:r>
              <a:rPr sz="4650" b="1" spc="-510" dirty="0">
                <a:solidFill>
                  <a:srgbClr val="153553"/>
                </a:solidFill>
                <a:latin typeface="Arial"/>
                <a:cs typeface="Arial"/>
              </a:rPr>
              <a:t>Collection</a:t>
            </a:r>
            <a:endParaRPr sz="465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4035" y="3307259"/>
            <a:ext cx="13142595" cy="257175"/>
            <a:chOff x="1716023" y="2204839"/>
            <a:chExt cx="8761730" cy="171450"/>
          </a:xfrm>
        </p:grpSpPr>
        <p:sp>
          <p:nvSpPr>
            <p:cNvPr id="5" name="object 5"/>
            <p:cNvSpPr/>
            <p:nvPr/>
          </p:nvSpPr>
          <p:spPr>
            <a:xfrm>
              <a:off x="1716023" y="2290572"/>
              <a:ext cx="8618855" cy="0"/>
            </a:xfrm>
            <a:custGeom>
              <a:avLst/>
              <a:gdLst/>
              <a:ahLst/>
              <a:cxnLst/>
              <a:rect l="l" t="t" r="r" b="b"/>
              <a:pathLst>
                <a:path w="8618855">
                  <a:moveTo>
                    <a:pt x="0" y="0"/>
                  </a:moveTo>
                  <a:lnTo>
                    <a:pt x="8618347" y="0"/>
                  </a:lnTo>
                </a:path>
              </a:pathLst>
            </a:custGeom>
            <a:ln w="57150">
              <a:solidFill>
                <a:srgbClr val="0C25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10305793" y="220483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C254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856425" y="3006485"/>
            <a:ext cx="979170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b="1" spc="-240" dirty="0">
                <a:latin typeface="Arial"/>
                <a:cs typeface="Arial"/>
              </a:rPr>
              <a:t>Time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54046" y="3824479"/>
            <a:ext cx="5886450" cy="940118"/>
            <a:chOff x="1769364" y="2549652"/>
            <a:chExt cx="3924300" cy="6267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9364" y="2549652"/>
              <a:ext cx="3924299" cy="6263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95272" y="2575559"/>
              <a:ext cx="3817620" cy="520065"/>
            </a:xfrm>
            <a:custGeom>
              <a:avLst/>
              <a:gdLst/>
              <a:ahLst/>
              <a:cxnLst/>
              <a:rect l="l" t="t" r="r" b="b"/>
              <a:pathLst>
                <a:path w="3817620" h="520064">
                  <a:moveTo>
                    <a:pt x="3817620" y="0"/>
                  </a:moveTo>
                  <a:lnTo>
                    <a:pt x="259842" y="0"/>
                  </a:lnTo>
                  <a:lnTo>
                    <a:pt x="0" y="259842"/>
                  </a:lnTo>
                  <a:lnTo>
                    <a:pt x="259842" y="519684"/>
                  </a:lnTo>
                  <a:lnTo>
                    <a:pt x="3817620" y="519684"/>
                  </a:lnTo>
                  <a:lnTo>
                    <a:pt x="381762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84241" y="3883647"/>
            <a:ext cx="3824288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b="1" spc="-278" dirty="0">
                <a:latin typeface="Arial"/>
                <a:cs typeface="Arial"/>
              </a:rPr>
              <a:t>Retrospective</a:t>
            </a:r>
            <a:r>
              <a:rPr sz="3600" b="1" spc="-83" dirty="0">
                <a:latin typeface="Arial"/>
                <a:cs typeface="Arial"/>
              </a:rPr>
              <a:t> </a:t>
            </a:r>
            <a:r>
              <a:rPr sz="3600" b="1" spc="-263" dirty="0">
                <a:latin typeface="Arial"/>
                <a:cs typeface="Arial"/>
              </a:rPr>
              <a:t>Study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76638" y="3835909"/>
            <a:ext cx="5886450" cy="962978"/>
            <a:chOff x="6451092" y="2557272"/>
            <a:chExt cx="3924300" cy="64198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092" y="2557272"/>
              <a:ext cx="3924299" cy="6416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31864" y="2583180"/>
              <a:ext cx="3817620" cy="535305"/>
            </a:xfrm>
            <a:custGeom>
              <a:avLst/>
              <a:gdLst/>
              <a:ahLst/>
              <a:cxnLst/>
              <a:rect l="l" t="t" r="r" b="b"/>
              <a:pathLst>
                <a:path w="3817620" h="535305">
                  <a:moveTo>
                    <a:pt x="355015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3550158" y="534924"/>
                  </a:lnTo>
                  <a:lnTo>
                    <a:pt x="3817620" y="267462"/>
                  </a:lnTo>
                  <a:lnTo>
                    <a:pt x="355015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35249" y="3904824"/>
            <a:ext cx="3429000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b="1" spc="-293" dirty="0">
                <a:latin typeface="Arial"/>
                <a:cs typeface="Arial"/>
              </a:rPr>
              <a:t>Prospective</a:t>
            </a:r>
            <a:r>
              <a:rPr sz="3600" b="1" spc="-143" dirty="0">
                <a:latin typeface="Arial"/>
                <a:cs typeface="Arial"/>
              </a:rPr>
              <a:t> </a:t>
            </a:r>
            <a:r>
              <a:rPr sz="3600" b="1" spc="-263" dirty="0">
                <a:latin typeface="Arial"/>
                <a:cs typeface="Arial"/>
              </a:rPr>
              <a:t>Study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8290" y="4800934"/>
            <a:ext cx="5062538" cy="1835118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84848" indent="-684848">
              <a:spcBef>
                <a:spcPts val="150"/>
              </a:spcBef>
              <a:buFont typeface="Wingdings"/>
              <a:buChar char=""/>
              <a:tabLst>
                <a:tab pos="684848" algn="l"/>
              </a:tabLst>
            </a:pPr>
            <a:r>
              <a:rPr sz="2700" spc="-188" dirty="0">
                <a:solidFill>
                  <a:srgbClr val="00B050"/>
                </a:solidFill>
                <a:latin typeface="Arial"/>
                <a:cs typeface="Arial"/>
              </a:rPr>
              <a:t>Cheaper</a:t>
            </a:r>
            <a:r>
              <a:rPr sz="2700" spc="-8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143" dirty="0">
                <a:solidFill>
                  <a:srgbClr val="00B050"/>
                </a:solidFill>
                <a:latin typeface="Arial"/>
                <a:cs typeface="Arial"/>
              </a:rPr>
              <a:t>and</a:t>
            </a:r>
            <a:r>
              <a:rPr sz="2700" spc="-8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203" dirty="0">
                <a:solidFill>
                  <a:srgbClr val="00B050"/>
                </a:solidFill>
                <a:latin typeface="Arial"/>
                <a:cs typeface="Arial"/>
              </a:rPr>
              <a:t>less</a:t>
            </a:r>
            <a:r>
              <a:rPr sz="2700" spc="-9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00B050"/>
                </a:solidFill>
                <a:latin typeface="Arial"/>
                <a:cs typeface="Arial"/>
              </a:rPr>
              <a:t>time</a:t>
            </a:r>
            <a:r>
              <a:rPr sz="2700" spc="-8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45" dirty="0">
                <a:solidFill>
                  <a:srgbClr val="00B050"/>
                </a:solidFill>
                <a:latin typeface="Arial"/>
                <a:cs typeface="Arial"/>
              </a:rPr>
              <a:t>required</a:t>
            </a:r>
            <a:endParaRPr sz="2700">
              <a:latin typeface="Arial"/>
              <a:cs typeface="Arial"/>
            </a:endParaRPr>
          </a:p>
          <a:p>
            <a:pPr marL="684848" indent="-684848">
              <a:buFont typeface="Wingdings"/>
              <a:buChar char=""/>
              <a:tabLst>
                <a:tab pos="684848" algn="l"/>
              </a:tabLst>
            </a:pPr>
            <a:r>
              <a:rPr sz="2700" spc="-127" dirty="0">
                <a:solidFill>
                  <a:srgbClr val="00B050"/>
                </a:solidFill>
                <a:latin typeface="Arial"/>
                <a:cs typeface="Arial"/>
              </a:rPr>
              <a:t>Useful</a:t>
            </a:r>
            <a:r>
              <a:rPr sz="2700" spc="-1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00B050"/>
                </a:solidFill>
                <a:latin typeface="Arial"/>
                <a:cs typeface="Arial"/>
              </a:rPr>
              <a:t>in</a:t>
            </a:r>
            <a:r>
              <a:rPr sz="2700" spc="-11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255" dirty="0">
                <a:solidFill>
                  <a:srgbClr val="00B050"/>
                </a:solidFill>
                <a:latin typeface="Arial"/>
                <a:cs typeface="Arial"/>
              </a:rPr>
              <a:t>cases</a:t>
            </a:r>
            <a:r>
              <a:rPr sz="2700" spc="-11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2700" spc="-113" dirty="0">
                <a:solidFill>
                  <a:srgbClr val="00B050"/>
                </a:solidFill>
                <a:latin typeface="Arial"/>
                <a:cs typeface="Arial"/>
              </a:rPr>
              <a:t> rare </a:t>
            </a:r>
            <a:r>
              <a:rPr sz="2700" spc="-105" dirty="0">
                <a:solidFill>
                  <a:srgbClr val="00B050"/>
                </a:solidFill>
                <a:latin typeface="Arial"/>
                <a:cs typeface="Arial"/>
              </a:rPr>
              <a:t>diseases</a:t>
            </a:r>
            <a:endParaRPr sz="2700">
              <a:latin typeface="Arial"/>
              <a:cs typeface="Arial"/>
            </a:endParaRPr>
          </a:p>
          <a:p>
            <a:pPr marL="685800" marR="392430" indent="-685800">
              <a:spcBef>
                <a:spcPts val="1155"/>
              </a:spcBef>
              <a:tabLst>
                <a:tab pos="684848" algn="l"/>
              </a:tabLst>
            </a:pPr>
            <a:r>
              <a:rPr sz="2700" spc="-75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700" spc="-90" dirty="0">
                <a:solidFill>
                  <a:srgbClr val="C00000"/>
                </a:solidFill>
                <a:latin typeface="Arial"/>
                <a:cs typeface="Arial"/>
              </a:rPr>
              <a:t>All</a:t>
            </a:r>
            <a:r>
              <a:rPr sz="2700" spc="-11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spc="-83" dirty="0">
                <a:solidFill>
                  <a:srgbClr val="C00000"/>
                </a:solidFill>
                <a:latin typeface="Arial"/>
                <a:cs typeface="Arial"/>
              </a:rPr>
              <a:t>required</a:t>
            </a:r>
            <a:r>
              <a:rPr sz="270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spc="-120" dirty="0">
                <a:solidFill>
                  <a:srgbClr val="C00000"/>
                </a:solidFill>
                <a:latin typeface="Arial"/>
                <a:cs typeface="Arial"/>
              </a:rPr>
              <a:t>data </a:t>
            </a:r>
            <a:r>
              <a:rPr sz="2700" spc="-171" dirty="0">
                <a:solidFill>
                  <a:srgbClr val="C00000"/>
                </a:solidFill>
                <a:latin typeface="Arial"/>
                <a:cs typeface="Arial"/>
              </a:rPr>
              <a:t>may</a:t>
            </a:r>
            <a:r>
              <a:rPr sz="2700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700" spc="-9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spc="-38" dirty="0">
                <a:solidFill>
                  <a:srgbClr val="C00000"/>
                </a:solidFill>
                <a:latin typeface="Arial"/>
                <a:cs typeface="Arial"/>
              </a:rPr>
              <a:t>be </a:t>
            </a:r>
            <a:r>
              <a:rPr sz="2700" spc="-15" dirty="0">
                <a:solidFill>
                  <a:srgbClr val="C00000"/>
                </a:solidFill>
                <a:latin typeface="Arial"/>
                <a:cs typeface="Arial"/>
              </a:rPr>
              <a:t>available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09732" y="4858304"/>
            <a:ext cx="4742498" cy="1414170"/>
          </a:xfrm>
          <a:prstGeom prst="rect">
            <a:avLst/>
          </a:prstGeom>
        </p:spPr>
        <p:txBody>
          <a:bodyPr vert="horz" wrap="square" lIns="0" tIns="61913" rIns="0" bIns="0" rtlCol="0">
            <a:spAutoFit/>
          </a:bodyPr>
          <a:lstStyle/>
          <a:p>
            <a:pPr marL="704850" marR="7620" indent="-685800">
              <a:lnSpc>
                <a:spcPts val="2955"/>
              </a:lnSpc>
              <a:spcBef>
                <a:spcPts val="488"/>
              </a:spcBef>
              <a:buFont typeface="Wingdings"/>
              <a:buChar char=""/>
              <a:tabLst>
                <a:tab pos="704850" algn="l"/>
              </a:tabLst>
            </a:pPr>
            <a:r>
              <a:rPr sz="2700" spc="-285" dirty="0">
                <a:solidFill>
                  <a:srgbClr val="00B050"/>
                </a:solidFill>
                <a:latin typeface="Arial"/>
                <a:cs typeface="Arial"/>
              </a:rPr>
              <a:t>Can</a:t>
            </a:r>
            <a:r>
              <a:rPr sz="2700" spc="-98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150" dirty="0">
                <a:solidFill>
                  <a:srgbClr val="00B050"/>
                </a:solidFill>
                <a:latin typeface="Arial"/>
                <a:cs typeface="Arial"/>
              </a:rPr>
              <a:t>design</a:t>
            </a:r>
            <a:r>
              <a:rPr sz="2700" spc="-11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120" dirty="0">
                <a:solidFill>
                  <a:srgbClr val="00B050"/>
                </a:solidFill>
                <a:latin typeface="Arial"/>
                <a:cs typeface="Arial"/>
              </a:rPr>
              <a:t>data </a:t>
            </a:r>
            <a:r>
              <a:rPr sz="2700" spc="-75" dirty="0">
                <a:solidFill>
                  <a:srgbClr val="00B050"/>
                </a:solidFill>
                <a:latin typeface="Arial"/>
                <a:cs typeface="Arial"/>
              </a:rPr>
              <a:t>collection</a:t>
            </a:r>
            <a:r>
              <a:rPr sz="2700" spc="-5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700" spc="-165" dirty="0">
                <a:solidFill>
                  <a:srgbClr val="00B050"/>
                </a:solidFill>
                <a:latin typeface="Arial"/>
                <a:cs typeface="Arial"/>
              </a:rPr>
              <a:t>as </a:t>
            </a:r>
            <a:r>
              <a:rPr sz="2700" spc="-15" dirty="0">
                <a:solidFill>
                  <a:srgbClr val="00B050"/>
                </a:solidFill>
                <a:latin typeface="Arial"/>
                <a:cs typeface="Arial"/>
              </a:rPr>
              <a:t>required</a:t>
            </a:r>
            <a:endParaRPr sz="2700">
              <a:latin typeface="Arial"/>
              <a:cs typeface="Arial"/>
            </a:endParaRPr>
          </a:p>
          <a:p>
            <a:pPr marL="19050">
              <a:spcBef>
                <a:spcPts val="1343"/>
              </a:spcBef>
              <a:tabLst>
                <a:tab pos="703898" algn="l"/>
              </a:tabLst>
            </a:pPr>
            <a:r>
              <a:rPr sz="2700" spc="-75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700" spc="-68" dirty="0">
                <a:solidFill>
                  <a:srgbClr val="C00000"/>
                </a:solidFill>
                <a:latin typeface="Arial"/>
                <a:cs typeface="Arial"/>
              </a:rPr>
              <a:t>More</a:t>
            </a:r>
            <a:r>
              <a:rPr sz="2700" spc="-9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spc="-135" dirty="0">
                <a:solidFill>
                  <a:srgbClr val="C00000"/>
                </a:solidFill>
                <a:latin typeface="Arial"/>
                <a:cs typeface="Arial"/>
              </a:rPr>
              <a:t>resource</a:t>
            </a:r>
            <a:r>
              <a:rPr sz="2700" spc="-11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spc="-15" dirty="0">
                <a:solidFill>
                  <a:srgbClr val="C00000"/>
                </a:solidFill>
                <a:latin typeface="Arial"/>
                <a:cs typeface="Arial"/>
              </a:rPr>
              <a:t>intensive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18293" y="6668131"/>
            <a:ext cx="221170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u="sng" spc="-24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Some</a:t>
            </a:r>
            <a:r>
              <a:rPr sz="2700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9732" y="6632035"/>
            <a:ext cx="222313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u="sng" spc="-24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Some</a:t>
            </a:r>
            <a:r>
              <a:rPr sz="2700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54272" y="7107310"/>
            <a:ext cx="3348038" cy="925253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703898" indent="-684848">
              <a:spcBef>
                <a:spcPts val="435"/>
              </a:spcBef>
              <a:buChar char="•"/>
              <a:tabLst>
                <a:tab pos="703898" algn="l"/>
              </a:tabLst>
            </a:pPr>
            <a:r>
              <a:rPr sz="2700" spc="-135" dirty="0">
                <a:latin typeface="Arial"/>
                <a:cs typeface="Arial"/>
              </a:rPr>
              <a:t>e-</a:t>
            </a:r>
            <a:r>
              <a:rPr sz="2700" spc="-120" dirty="0">
                <a:latin typeface="Arial"/>
                <a:cs typeface="Arial"/>
              </a:rPr>
              <a:t>claim</a:t>
            </a:r>
            <a:r>
              <a:rPr sz="2700" spc="-3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system</a:t>
            </a:r>
            <a:endParaRPr sz="2700">
              <a:latin typeface="Arial"/>
              <a:cs typeface="Arial"/>
            </a:endParaRPr>
          </a:p>
          <a:p>
            <a:pPr marL="703898" indent="-684848">
              <a:spcBef>
                <a:spcPts val="293"/>
              </a:spcBef>
              <a:buChar char="•"/>
              <a:tabLst>
                <a:tab pos="703898" algn="l"/>
              </a:tabLst>
            </a:pPr>
            <a:r>
              <a:rPr sz="2700" spc="-120" dirty="0">
                <a:latin typeface="Arial"/>
                <a:cs typeface="Arial"/>
              </a:rPr>
              <a:t>Hospital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150" dirty="0">
                <a:latin typeface="Arial"/>
                <a:cs typeface="Arial"/>
              </a:rPr>
              <a:t>databases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12394" y="7139470"/>
            <a:ext cx="3110865" cy="122982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03898" indent="-684848">
              <a:spcBef>
                <a:spcPts val="150"/>
              </a:spcBef>
              <a:buChar char="•"/>
              <a:tabLst>
                <a:tab pos="703898" algn="l"/>
              </a:tabLst>
            </a:pPr>
            <a:r>
              <a:rPr sz="2700" spc="-15" dirty="0">
                <a:latin typeface="Arial"/>
                <a:cs typeface="Arial"/>
              </a:rPr>
              <a:t>Surveys</a:t>
            </a:r>
            <a:endParaRPr sz="2700">
              <a:latin typeface="Arial"/>
              <a:cs typeface="Arial"/>
            </a:endParaRPr>
          </a:p>
          <a:p>
            <a:pPr marL="703898" indent="-684848">
              <a:lnSpc>
                <a:spcPts val="3098"/>
              </a:lnSpc>
              <a:buChar char="•"/>
              <a:tabLst>
                <a:tab pos="703898" algn="l"/>
              </a:tabLst>
            </a:pPr>
            <a:r>
              <a:rPr sz="2700" spc="-15" dirty="0">
                <a:latin typeface="Arial"/>
                <a:cs typeface="Arial"/>
              </a:rPr>
              <a:t>Interviews</a:t>
            </a:r>
            <a:endParaRPr sz="2700">
              <a:latin typeface="Arial"/>
              <a:cs typeface="Arial"/>
            </a:endParaRPr>
          </a:p>
          <a:p>
            <a:pPr marL="703898" indent="-684848">
              <a:lnSpc>
                <a:spcPts val="3098"/>
              </a:lnSpc>
              <a:buChar char="•"/>
              <a:tabLst>
                <a:tab pos="703898" algn="l"/>
              </a:tabLst>
            </a:pPr>
            <a:r>
              <a:rPr sz="2700" spc="-143" dirty="0">
                <a:latin typeface="Arial"/>
                <a:cs typeface="Arial"/>
              </a:rPr>
              <a:t>Clinical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spc="-53" dirty="0">
                <a:latin typeface="Arial"/>
                <a:cs typeface="Arial"/>
              </a:rPr>
              <a:t>follow-</a:t>
            </a:r>
            <a:r>
              <a:rPr sz="2700" spc="-38" dirty="0">
                <a:latin typeface="Arial"/>
                <a:cs typeface="Arial"/>
              </a:rPr>
              <a:t>up</a:t>
            </a:r>
            <a:endParaRPr sz="2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7968" y="9776189"/>
            <a:ext cx="11197589" cy="3424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100" i="1" spc="-90" dirty="0">
                <a:latin typeface="Arial"/>
                <a:cs typeface="Arial"/>
              </a:rPr>
              <a:t>Either</a:t>
            </a:r>
            <a:r>
              <a:rPr sz="2100" i="1" spc="-105" dirty="0">
                <a:latin typeface="Arial"/>
                <a:cs typeface="Arial"/>
              </a:rPr>
              <a:t> </a:t>
            </a:r>
            <a:r>
              <a:rPr sz="2100" i="1" spc="-30" dirty="0">
                <a:latin typeface="Arial"/>
                <a:cs typeface="Arial"/>
              </a:rPr>
              <a:t>of</a:t>
            </a:r>
            <a:r>
              <a:rPr sz="2100" i="1" spc="-113" dirty="0">
                <a:latin typeface="Arial"/>
                <a:cs typeface="Arial"/>
              </a:rPr>
              <a:t> </a:t>
            </a:r>
            <a:r>
              <a:rPr sz="2100" i="1" spc="-60" dirty="0">
                <a:latin typeface="Arial"/>
                <a:cs typeface="Arial"/>
              </a:rPr>
              <a:t>them</a:t>
            </a:r>
            <a:r>
              <a:rPr sz="2100" i="1" spc="-90" dirty="0">
                <a:latin typeface="Arial"/>
                <a:cs typeface="Arial"/>
              </a:rPr>
              <a:t> </a:t>
            </a:r>
            <a:r>
              <a:rPr sz="2100" i="1" spc="-98" dirty="0">
                <a:latin typeface="Arial"/>
                <a:cs typeface="Arial"/>
              </a:rPr>
              <a:t>may</a:t>
            </a:r>
            <a:r>
              <a:rPr sz="2100" i="1" spc="-105" dirty="0">
                <a:latin typeface="Arial"/>
                <a:cs typeface="Arial"/>
              </a:rPr>
              <a:t> </a:t>
            </a:r>
            <a:r>
              <a:rPr sz="2100" i="1" spc="-15" dirty="0">
                <a:latin typeface="Arial"/>
                <a:cs typeface="Arial"/>
              </a:rPr>
              <a:t>not</a:t>
            </a:r>
            <a:r>
              <a:rPr sz="2100" i="1" spc="-83" dirty="0">
                <a:latin typeface="Arial"/>
                <a:cs typeface="Arial"/>
              </a:rPr>
              <a:t> guarantee</a:t>
            </a:r>
            <a:r>
              <a:rPr sz="2100" i="1" spc="-98" dirty="0">
                <a:latin typeface="Arial"/>
                <a:cs typeface="Arial"/>
              </a:rPr>
              <a:t> </a:t>
            </a:r>
            <a:r>
              <a:rPr sz="2100" i="1" spc="-60" dirty="0">
                <a:latin typeface="Arial"/>
                <a:cs typeface="Arial"/>
              </a:rPr>
              <a:t>the</a:t>
            </a:r>
            <a:r>
              <a:rPr sz="2100" i="1" spc="-75" dirty="0">
                <a:latin typeface="Arial"/>
                <a:cs typeface="Arial"/>
              </a:rPr>
              <a:t> </a:t>
            </a:r>
            <a:r>
              <a:rPr sz="2100" i="1" spc="-38" dirty="0">
                <a:latin typeface="Arial"/>
                <a:cs typeface="Arial"/>
              </a:rPr>
              <a:t>quality</a:t>
            </a:r>
            <a:r>
              <a:rPr sz="2100" i="1" spc="-68" dirty="0">
                <a:latin typeface="Arial"/>
                <a:cs typeface="Arial"/>
              </a:rPr>
              <a:t> </a:t>
            </a:r>
            <a:r>
              <a:rPr sz="2100" i="1" spc="-30" dirty="0">
                <a:latin typeface="Arial"/>
                <a:cs typeface="Arial"/>
              </a:rPr>
              <a:t>of</a:t>
            </a:r>
            <a:r>
              <a:rPr sz="2100" i="1" spc="-113" dirty="0">
                <a:latin typeface="Arial"/>
                <a:cs typeface="Arial"/>
              </a:rPr>
              <a:t> </a:t>
            </a:r>
            <a:r>
              <a:rPr sz="2100" i="1" spc="-53" dirty="0">
                <a:latin typeface="Arial"/>
                <a:cs typeface="Arial"/>
              </a:rPr>
              <a:t>the</a:t>
            </a:r>
            <a:r>
              <a:rPr sz="2100" i="1" spc="-98" dirty="0">
                <a:latin typeface="Arial"/>
                <a:cs typeface="Arial"/>
              </a:rPr>
              <a:t> </a:t>
            </a:r>
            <a:r>
              <a:rPr sz="2100" i="1" spc="-45" dirty="0">
                <a:latin typeface="Arial"/>
                <a:cs typeface="Arial"/>
              </a:rPr>
              <a:t>data,</a:t>
            </a:r>
            <a:r>
              <a:rPr sz="2100" i="1" spc="-68" dirty="0">
                <a:latin typeface="Arial"/>
                <a:cs typeface="Arial"/>
              </a:rPr>
              <a:t> </a:t>
            </a:r>
            <a:r>
              <a:rPr sz="2100" i="1" spc="-98" dirty="0">
                <a:latin typeface="Arial"/>
                <a:cs typeface="Arial"/>
              </a:rPr>
              <a:t>and</a:t>
            </a:r>
            <a:r>
              <a:rPr sz="2100" i="1" spc="-83" dirty="0">
                <a:latin typeface="Arial"/>
                <a:cs typeface="Arial"/>
              </a:rPr>
              <a:t> </a:t>
            </a:r>
            <a:r>
              <a:rPr sz="2100" i="1" spc="-45" dirty="0">
                <a:latin typeface="Arial"/>
                <a:cs typeface="Arial"/>
              </a:rPr>
              <a:t>validation</a:t>
            </a:r>
            <a:r>
              <a:rPr sz="2100" i="1" spc="-60" dirty="0">
                <a:latin typeface="Arial"/>
                <a:cs typeface="Arial"/>
              </a:rPr>
              <a:t> </a:t>
            </a:r>
            <a:r>
              <a:rPr sz="2100" i="1" spc="-127" dirty="0">
                <a:latin typeface="Arial"/>
                <a:cs typeface="Arial"/>
              </a:rPr>
              <a:t>steps</a:t>
            </a:r>
            <a:r>
              <a:rPr sz="2100" i="1" spc="-90" dirty="0">
                <a:latin typeface="Arial"/>
                <a:cs typeface="Arial"/>
              </a:rPr>
              <a:t> </a:t>
            </a:r>
            <a:r>
              <a:rPr sz="2100" i="1" spc="-98" dirty="0">
                <a:latin typeface="Arial"/>
                <a:cs typeface="Arial"/>
              </a:rPr>
              <a:t>may</a:t>
            </a:r>
            <a:r>
              <a:rPr sz="2100" i="1" spc="-113" dirty="0">
                <a:latin typeface="Arial"/>
                <a:cs typeface="Arial"/>
              </a:rPr>
              <a:t> </a:t>
            </a:r>
            <a:r>
              <a:rPr sz="2100" i="1" spc="-143" dirty="0">
                <a:latin typeface="Arial"/>
                <a:cs typeface="Arial"/>
              </a:rPr>
              <a:t>be</a:t>
            </a:r>
            <a:r>
              <a:rPr sz="2100" i="1" spc="-98" dirty="0">
                <a:latin typeface="Arial"/>
                <a:cs typeface="Arial"/>
              </a:rPr>
              <a:t> </a:t>
            </a:r>
            <a:r>
              <a:rPr sz="2100" i="1" spc="-105" dirty="0">
                <a:latin typeface="Arial"/>
                <a:cs typeface="Arial"/>
              </a:rPr>
              <a:t>conducted</a:t>
            </a:r>
            <a:r>
              <a:rPr sz="2100" i="1" spc="-83" dirty="0">
                <a:latin typeface="Arial"/>
                <a:cs typeface="Arial"/>
              </a:rPr>
              <a:t> </a:t>
            </a:r>
            <a:r>
              <a:rPr sz="2100" i="1" spc="-15" dirty="0">
                <a:latin typeface="Arial"/>
                <a:cs typeface="Arial"/>
              </a:rPr>
              <a:t>after.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3" name="Group 3">
            <a:extLst>
              <a:ext uri="{FF2B5EF4-FFF2-40B4-BE49-F238E27FC236}">
                <a16:creationId xmlns:a16="http://schemas.microsoft.com/office/drawing/2014/main" id="{9DEEF434-0300-8023-EB95-22C61482D83B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24" name="Freeform 4">
              <a:extLst>
                <a:ext uri="{FF2B5EF4-FFF2-40B4-BE49-F238E27FC236}">
                  <a16:creationId xmlns:a16="http://schemas.microsoft.com/office/drawing/2014/main" id="{28EF976B-131F-58F8-183D-6F49A5B10E8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14B036B-5AE2-EEA1-5532-6BD2612FC9D8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EE1BBD52-9BDE-7E26-FFBF-209D5A34AFCF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15">
            <a:extLst>
              <a:ext uri="{FF2B5EF4-FFF2-40B4-BE49-F238E27FC236}">
                <a16:creationId xmlns:a16="http://schemas.microsoft.com/office/drawing/2014/main" id="{654660EC-5CE4-0BB2-435F-76DC1F633307}"/>
              </a:ext>
            </a:extLst>
          </p:cNvPr>
          <p:cNvSpPr/>
          <p:nvPr/>
        </p:nvSpPr>
        <p:spPr>
          <a:xfrm flipH="1" flipV="1">
            <a:off x="10236" y="-2678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7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B66BBBAB-7E0B-4C0F-D60C-EE4293590E0B}"/>
              </a:ext>
            </a:extLst>
          </p:cNvPr>
          <p:cNvSpPr/>
          <p:nvPr/>
        </p:nvSpPr>
        <p:spPr>
          <a:xfrm flipH="1" flipV="1">
            <a:off x="10236" y="-20087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7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0A453B58-BC93-C0D0-3060-00FEE41D9FA6}"/>
              </a:ext>
            </a:extLst>
          </p:cNvPr>
          <p:cNvSpPr/>
          <p:nvPr/>
        </p:nvSpPr>
        <p:spPr>
          <a:xfrm flipH="1" flipV="1">
            <a:off x="10272653" y="-123457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7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465" y="1274950"/>
            <a:ext cx="6246494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488" dirty="0"/>
              <a:t>Value</a:t>
            </a:r>
            <a:r>
              <a:rPr spc="-353" dirty="0"/>
              <a:t> </a:t>
            </a:r>
            <a:r>
              <a:rPr spc="-450" dirty="0"/>
              <a:t>Adjustment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8172" y="1972257"/>
            <a:ext cx="10436543" cy="191815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4800" spc="-450" dirty="0">
                <a:latin typeface="Arial"/>
                <a:cs typeface="Arial"/>
              </a:rPr>
              <a:t>A</a:t>
            </a:r>
            <a:r>
              <a:rPr sz="4800" spc="-248" dirty="0">
                <a:latin typeface="Arial"/>
                <a:cs typeface="Arial"/>
              </a:rPr>
              <a:t> </a:t>
            </a:r>
            <a:r>
              <a:rPr sz="4800" spc="-330" dirty="0">
                <a:latin typeface="Arial"/>
                <a:cs typeface="Arial"/>
              </a:rPr>
              <a:t>key</a:t>
            </a:r>
            <a:r>
              <a:rPr sz="4800" spc="-233" dirty="0">
                <a:latin typeface="Arial"/>
                <a:cs typeface="Arial"/>
              </a:rPr>
              <a:t> </a:t>
            </a:r>
            <a:r>
              <a:rPr sz="4800" spc="-171" dirty="0">
                <a:latin typeface="Arial"/>
                <a:cs typeface="Arial"/>
              </a:rPr>
              <a:t>consideration</a:t>
            </a:r>
            <a:r>
              <a:rPr sz="4800" spc="-248" dirty="0">
                <a:latin typeface="Arial"/>
                <a:cs typeface="Arial"/>
              </a:rPr>
              <a:t> </a:t>
            </a:r>
            <a:r>
              <a:rPr sz="4800" dirty="0">
                <a:latin typeface="Arial"/>
                <a:cs typeface="Arial"/>
              </a:rPr>
              <a:t>of</a:t>
            </a:r>
            <a:r>
              <a:rPr sz="4800" spc="-240" dirty="0">
                <a:latin typeface="Arial"/>
                <a:cs typeface="Arial"/>
              </a:rPr>
              <a:t> </a:t>
            </a:r>
            <a:r>
              <a:rPr sz="4800" u="sng" spc="-5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time</a:t>
            </a:r>
            <a:r>
              <a:rPr sz="4800" u="sng" spc="-21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preference</a:t>
            </a:r>
            <a:endParaRPr sz="4800" dirty="0">
              <a:latin typeface="Arial"/>
              <a:cs typeface="Arial"/>
            </a:endParaRPr>
          </a:p>
          <a:p>
            <a:pPr marL="5732144">
              <a:spcBef>
                <a:spcPts val="3960"/>
              </a:spcBef>
            </a:pPr>
            <a:r>
              <a:rPr sz="4200" b="1" spc="-278" dirty="0">
                <a:latin typeface="Arial"/>
                <a:cs typeface="Arial"/>
              </a:rPr>
              <a:t>Would</a:t>
            </a:r>
            <a:r>
              <a:rPr sz="4200" b="1" spc="-158" dirty="0">
                <a:latin typeface="Arial"/>
                <a:cs typeface="Arial"/>
              </a:rPr>
              <a:t> </a:t>
            </a:r>
            <a:r>
              <a:rPr sz="4200" b="1" spc="-368" dirty="0">
                <a:latin typeface="Arial"/>
                <a:cs typeface="Arial"/>
              </a:rPr>
              <a:t>you</a:t>
            </a:r>
            <a:r>
              <a:rPr sz="4200" b="1" spc="-171" dirty="0">
                <a:latin typeface="Arial"/>
                <a:cs typeface="Arial"/>
              </a:rPr>
              <a:t> </a:t>
            </a:r>
            <a:r>
              <a:rPr sz="4200" b="1" spc="-315" dirty="0">
                <a:latin typeface="Arial"/>
                <a:cs typeface="Arial"/>
              </a:rPr>
              <a:t>rather….?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0749" y="4678307"/>
            <a:ext cx="4578668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91528" indent="-772476">
              <a:spcBef>
                <a:spcPts val="150"/>
              </a:spcBef>
              <a:buAutoNum type="alphaUcPeriod"/>
              <a:tabLst>
                <a:tab pos="791528" algn="l"/>
              </a:tabLst>
            </a:pPr>
            <a:r>
              <a:rPr sz="2700" b="1" spc="-217" dirty="0">
                <a:latin typeface="Arial"/>
                <a:cs typeface="Arial"/>
              </a:rPr>
              <a:t>have</a:t>
            </a:r>
            <a:r>
              <a:rPr sz="2700" b="1" spc="-158" dirty="0">
                <a:latin typeface="Arial"/>
                <a:cs typeface="Arial"/>
              </a:rPr>
              <a:t> </a:t>
            </a:r>
            <a:r>
              <a:rPr sz="2700" b="1" spc="-127" dirty="0">
                <a:latin typeface="Arial"/>
                <a:cs typeface="Arial"/>
              </a:rPr>
              <a:t>1,000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338" dirty="0">
                <a:latin typeface="Arial"/>
                <a:cs typeface="Arial"/>
              </a:rPr>
              <a:t>USD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240" dirty="0">
                <a:latin typeface="Arial"/>
                <a:cs typeface="Arial"/>
              </a:rPr>
              <a:t>by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30" dirty="0">
                <a:latin typeface="Arial"/>
                <a:cs typeface="Arial"/>
              </a:rPr>
              <a:t>today</a:t>
            </a:r>
            <a:endParaRPr sz="2700">
              <a:latin typeface="Arial"/>
              <a:cs typeface="Arial"/>
            </a:endParaRPr>
          </a:p>
          <a:p>
            <a:pPr marL="791528" indent="-772476">
              <a:buAutoNum type="alphaUcPeriod"/>
              <a:tabLst>
                <a:tab pos="791528" algn="l"/>
              </a:tabLst>
            </a:pPr>
            <a:r>
              <a:rPr sz="2700" b="1" spc="-217" dirty="0">
                <a:latin typeface="Arial"/>
                <a:cs typeface="Arial"/>
              </a:rPr>
              <a:t>have</a:t>
            </a:r>
            <a:r>
              <a:rPr sz="2700" b="1" spc="-158" dirty="0">
                <a:latin typeface="Arial"/>
                <a:cs typeface="Arial"/>
              </a:rPr>
              <a:t> </a:t>
            </a:r>
            <a:r>
              <a:rPr sz="2700" b="1" spc="-127" dirty="0">
                <a:latin typeface="Arial"/>
                <a:cs typeface="Arial"/>
              </a:rPr>
              <a:t>1,000</a:t>
            </a:r>
            <a:r>
              <a:rPr sz="2700" b="1" spc="-98" dirty="0">
                <a:latin typeface="Arial"/>
                <a:cs typeface="Arial"/>
              </a:rPr>
              <a:t> </a:t>
            </a:r>
            <a:r>
              <a:rPr sz="2700" b="1" spc="-338" dirty="0">
                <a:latin typeface="Arial"/>
                <a:cs typeface="Arial"/>
              </a:rPr>
              <a:t>USD</a:t>
            </a:r>
            <a:r>
              <a:rPr sz="2700" b="1" spc="-98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next</a:t>
            </a:r>
            <a:r>
              <a:rPr sz="2700" b="1" spc="-143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week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7116" y="4653416"/>
            <a:ext cx="4763453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91528" indent="-772476">
              <a:spcBef>
                <a:spcPts val="150"/>
              </a:spcBef>
              <a:buAutoNum type="alphaUcPeriod"/>
              <a:tabLst>
                <a:tab pos="791528" algn="l"/>
              </a:tabLst>
            </a:pPr>
            <a:r>
              <a:rPr sz="2700" b="1" spc="-217" dirty="0">
                <a:latin typeface="Arial"/>
                <a:cs typeface="Arial"/>
              </a:rPr>
              <a:t>have</a:t>
            </a:r>
            <a:r>
              <a:rPr sz="2700" b="1" spc="-158" dirty="0">
                <a:latin typeface="Arial"/>
                <a:cs typeface="Arial"/>
              </a:rPr>
              <a:t> </a:t>
            </a:r>
            <a:r>
              <a:rPr sz="2700" b="1" spc="-127" dirty="0">
                <a:latin typeface="Arial"/>
                <a:cs typeface="Arial"/>
              </a:rPr>
              <a:t>1,000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338" dirty="0">
                <a:latin typeface="Arial"/>
                <a:cs typeface="Arial"/>
              </a:rPr>
              <a:t>USD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240" dirty="0">
                <a:latin typeface="Arial"/>
                <a:cs typeface="Arial"/>
              </a:rPr>
              <a:t>by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30" dirty="0">
                <a:latin typeface="Arial"/>
                <a:cs typeface="Arial"/>
              </a:rPr>
              <a:t>today</a:t>
            </a:r>
            <a:endParaRPr sz="2700">
              <a:latin typeface="Arial"/>
              <a:cs typeface="Arial"/>
            </a:endParaRPr>
          </a:p>
          <a:p>
            <a:pPr marL="791528" indent="-772476">
              <a:buAutoNum type="alphaUcPeriod"/>
              <a:tabLst>
                <a:tab pos="791528" algn="l"/>
              </a:tabLst>
            </a:pPr>
            <a:r>
              <a:rPr sz="2700" b="1" spc="-217" dirty="0">
                <a:latin typeface="Arial"/>
                <a:cs typeface="Arial"/>
              </a:rPr>
              <a:t>have</a:t>
            </a:r>
            <a:r>
              <a:rPr sz="2700" b="1" spc="-158" dirty="0">
                <a:latin typeface="Arial"/>
                <a:cs typeface="Arial"/>
              </a:rPr>
              <a:t> </a:t>
            </a:r>
            <a:r>
              <a:rPr sz="2700" b="1" spc="-127" dirty="0">
                <a:latin typeface="Arial"/>
                <a:cs typeface="Arial"/>
              </a:rPr>
              <a:t>1,200</a:t>
            </a:r>
            <a:r>
              <a:rPr sz="2700" b="1" spc="-98" dirty="0">
                <a:latin typeface="Arial"/>
                <a:cs typeface="Arial"/>
              </a:rPr>
              <a:t> </a:t>
            </a:r>
            <a:r>
              <a:rPr sz="2700" b="1" spc="-338" dirty="0">
                <a:latin typeface="Arial"/>
                <a:cs typeface="Arial"/>
              </a:rPr>
              <a:t>USD</a:t>
            </a:r>
            <a:r>
              <a:rPr sz="2700" b="1" spc="-98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next</a:t>
            </a:r>
            <a:r>
              <a:rPr sz="2700" b="1" spc="-143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month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4246" y="6944002"/>
            <a:ext cx="7107555" cy="81432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91528" indent="-772476">
              <a:lnSpc>
                <a:spcPts val="3113"/>
              </a:lnSpc>
              <a:spcBef>
                <a:spcPts val="150"/>
              </a:spcBef>
              <a:buAutoNum type="alphaUcPeriod"/>
              <a:tabLst>
                <a:tab pos="791528" algn="l"/>
              </a:tabLst>
            </a:pPr>
            <a:r>
              <a:rPr sz="2700" b="1" spc="-188" dirty="0">
                <a:latin typeface="Arial"/>
                <a:cs typeface="Arial"/>
              </a:rPr>
              <a:t>be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spc="-240" dirty="0">
                <a:latin typeface="Arial"/>
                <a:cs typeface="Arial"/>
              </a:rPr>
              <a:t>physically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210" dirty="0">
                <a:latin typeface="Arial"/>
                <a:cs typeface="Arial"/>
              </a:rPr>
              <a:t>and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158" dirty="0">
                <a:latin typeface="Arial"/>
                <a:cs typeface="Arial"/>
              </a:rPr>
              <a:t>mentally</a:t>
            </a:r>
            <a:r>
              <a:rPr sz="2700" b="1" spc="-127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healthy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38" dirty="0">
                <a:latin typeface="Arial"/>
                <a:cs typeface="Arial"/>
              </a:rPr>
              <a:t>now</a:t>
            </a:r>
            <a:endParaRPr sz="2700">
              <a:latin typeface="Arial"/>
              <a:cs typeface="Arial"/>
            </a:endParaRPr>
          </a:p>
          <a:p>
            <a:pPr marL="791528" indent="-772476">
              <a:lnSpc>
                <a:spcPts val="3113"/>
              </a:lnSpc>
              <a:buAutoNum type="alphaUcPeriod"/>
              <a:tabLst>
                <a:tab pos="791528" algn="l"/>
              </a:tabLst>
            </a:pPr>
            <a:r>
              <a:rPr sz="2700" b="1" spc="-188" dirty="0">
                <a:latin typeface="Arial"/>
                <a:cs typeface="Arial"/>
              </a:rPr>
              <a:t>be</a:t>
            </a:r>
            <a:r>
              <a:rPr sz="2700" b="1" spc="-83" dirty="0">
                <a:latin typeface="Arial"/>
                <a:cs typeface="Arial"/>
              </a:rPr>
              <a:t> </a:t>
            </a:r>
            <a:r>
              <a:rPr sz="2700" b="1" spc="-240" dirty="0">
                <a:latin typeface="Arial"/>
                <a:cs typeface="Arial"/>
              </a:rPr>
              <a:t>physically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210" dirty="0">
                <a:latin typeface="Arial"/>
                <a:cs typeface="Arial"/>
              </a:rPr>
              <a:t>and</a:t>
            </a:r>
            <a:r>
              <a:rPr sz="2700" b="1" spc="-105" dirty="0">
                <a:latin typeface="Arial"/>
                <a:cs typeface="Arial"/>
              </a:rPr>
              <a:t> </a:t>
            </a:r>
            <a:r>
              <a:rPr sz="2700" b="1" spc="-158" dirty="0">
                <a:latin typeface="Arial"/>
                <a:cs typeface="Arial"/>
              </a:rPr>
              <a:t>mentally</a:t>
            </a:r>
            <a:r>
              <a:rPr sz="2700" b="1" spc="-127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healthy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next</a:t>
            </a:r>
            <a:r>
              <a:rPr sz="2700" b="1" spc="-113" dirty="0">
                <a:latin typeface="Arial"/>
                <a:cs typeface="Arial"/>
              </a:rPr>
              <a:t> </a:t>
            </a:r>
            <a:r>
              <a:rPr sz="2700" b="1" spc="-60" dirty="0">
                <a:latin typeface="Arial"/>
                <a:cs typeface="Arial"/>
              </a:rPr>
              <a:t>year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64836" y="4745110"/>
            <a:ext cx="1061085" cy="778193"/>
            <a:chOff x="6376557" y="3163406"/>
            <a:chExt cx="707390" cy="518795"/>
          </a:xfrm>
        </p:grpSpPr>
        <p:sp>
          <p:nvSpPr>
            <p:cNvPr id="8" name="object 8"/>
            <p:cNvSpPr/>
            <p:nvPr/>
          </p:nvSpPr>
          <p:spPr>
            <a:xfrm>
              <a:off x="6376555" y="3163417"/>
              <a:ext cx="707390" cy="518795"/>
            </a:xfrm>
            <a:custGeom>
              <a:avLst/>
              <a:gdLst/>
              <a:ahLst/>
              <a:cxnLst/>
              <a:rect l="l" t="t" r="r" b="b"/>
              <a:pathLst>
                <a:path w="707390" h="518795">
                  <a:moveTo>
                    <a:pt x="559854" y="78397"/>
                  </a:moveTo>
                  <a:lnTo>
                    <a:pt x="528510" y="0"/>
                  </a:lnTo>
                  <a:lnTo>
                    <a:pt x="105930" y="172897"/>
                  </a:lnTo>
                  <a:lnTo>
                    <a:pt x="148196" y="172961"/>
                  </a:lnTo>
                  <a:lnTo>
                    <a:pt x="519569" y="21031"/>
                  </a:lnTo>
                  <a:lnTo>
                    <a:pt x="543788" y="81610"/>
                  </a:lnTo>
                  <a:lnTo>
                    <a:pt x="559854" y="78397"/>
                  </a:lnTo>
                  <a:close/>
                </a:path>
                <a:path w="707390" h="518795">
                  <a:moveTo>
                    <a:pt x="643991" y="172948"/>
                  </a:moveTo>
                  <a:lnTo>
                    <a:pt x="627621" y="89522"/>
                  </a:lnTo>
                  <a:lnTo>
                    <a:pt x="208495" y="172897"/>
                  </a:lnTo>
                  <a:lnTo>
                    <a:pt x="290588" y="172961"/>
                  </a:lnTo>
                  <a:lnTo>
                    <a:pt x="614934" y="108432"/>
                  </a:lnTo>
                  <a:lnTo>
                    <a:pt x="627621" y="172948"/>
                  </a:lnTo>
                  <a:lnTo>
                    <a:pt x="643991" y="172948"/>
                  </a:lnTo>
                  <a:close/>
                </a:path>
                <a:path w="707390" h="518795">
                  <a:moveTo>
                    <a:pt x="707275" y="197307"/>
                  </a:moveTo>
                  <a:lnTo>
                    <a:pt x="0" y="197307"/>
                  </a:lnTo>
                  <a:lnTo>
                    <a:pt x="0" y="212547"/>
                  </a:lnTo>
                  <a:lnTo>
                    <a:pt x="0" y="502183"/>
                  </a:lnTo>
                  <a:lnTo>
                    <a:pt x="0" y="518706"/>
                  </a:lnTo>
                  <a:lnTo>
                    <a:pt x="707275" y="518706"/>
                  </a:lnTo>
                  <a:lnTo>
                    <a:pt x="707275" y="502615"/>
                  </a:lnTo>
                  <a:lnTo>
                    <a:pt x="707275" y="502183"/>
                  </a:lnTo>
                  <a:lnTo>
                    <a:pt x="707275" y="213156"/>
                  </a:lnTo>
                  <a:lnTo>
                    <a:pt x="691197" y="213156"/>
                  </a:lnTo>
                  <a:lnTo>
                    <a:pt x="691197" y="502183"/>
                  </a:lnTo>
                  <a:lnTo>
                    <a:pt x="16065" y="502183"/>
                  </a:lnTo>
                  <a:lnTo>
                    <a:pt x="16065" y="212547"/>
                  </a:lnTo>
                  <a:lnTo>
                    <a:pt x="707275" y="212547"/>
                  </a:lnTo>
                  <a:lnTo>
                    <a:pt x="707275" y="197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2333" y="3448930"/>
              <a:ext cx="115720" cy="1447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6702" y="3489385"/>
              <a:ext cx="65124" cy="638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8984" y="3489377"/>
              <a:ext cx="64289" cy="64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24770" y="3408728"/>
              <a:ext cx="610870" cy="225425"/>
            </a:xfrm>
            <a:custGeom>
              <a:avLst/>
              <a:gdLst/>
              <a:ahLst/>
              <a:cxnLst/>
              <a:rect l="l" t="t" r="r" b="b"/>
              <a:pathLst>
                <a:path w="610870" h="225425">
                  <a:moveTo>
                    <a:pt x="586727" y="225137"/>
                  </a:moveTo>
                  <a:lnTo>
                    <a:pt x="32144" y="225137"/>
                  </a:lnTo>
                  <a:lnTo>
                    <a:pt x="0" y="192975"/>
                  </a:lnTo>
                  <a:lnTo>
                    <a:pt x="0" y="32162"/>
                  </a:lnTo>
                  <a:lnTo>
                    <a:pt x="32144" y="0"/>
                  </a:lnTo>
                  <a:lnTo>
                    <a:pt x="586727" y="0"/>
                  </a:lnTo>
                  <a:lnTo>
                    <a:pt x="602799" y="16081"/>
                  </a:lnTo>
                  <a:lnTo>
                    <a:pt x="38814" y="16081"/>
                  </a:lnTo>
                  <a:lnTo>
                    <a:pt x="16072" y="38836"/>
                  </a:lnTo>
                  <a:lnTo>
                    <a:pt x="16072" y="186333"/>
                  </a:lnTo>
                  <a:lnTo>
                    <a:pt x="38814" y="209056"/>
                  </a:lnTo>
                  <a:lnTo>
                    <a:pt x="602799" y="209056"/>
                  </a:lnTo>
                  <a:lnTo>
                    <a:pt x="586727" y="225137"/>
                  </a:lnTo>
                  <a:close/>
                </a:path>
                <a:path w="610870" h="225425">
                  <a:moveTo>
                    <a:pt x="602799" y="209056"/>
                  </a:moveTo>
                  <a:lnTo>
                    <a:pt x="580073" y="209056"/>
                  </a:lnTo>
                  <a:lnTo>
                    <a:pt x="594763" y="194374"/>
                  </a:lnTo>
                  <a:lnTo>
                    <a:pt x="594763" y="30779"/>
                  </a:lnTo>
                  <a:lnTo>
                    <a:pt x="580073" y="16081"/>
                  </a:lnTo>
                  <a:lnTo>
                    <a:pt x="602799" y="16081"/>
                  </a:lnTo>
                  <a:lnTo>
                    <a:pt x="610835" y="24121"/>
                  </a:lnTo>
                  <a:lnTo>
                    <a:pt x="610835" y="201016"/>
                  </a:lnTo>
                  <a:lnTo>
                    <a:pt x="602799" y="209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3" name="object 13"/>
          <p:cNvSpPr/>
          <p:nvPr/>
        </p:nvSpPr>
        <p:spPr>
          <a:xfrm>
            <a:off x="3055598" y="4728161"/>
            <a:ext cx="1013460" cy="866775"/>
          </a:xfrm>
          <a:custGeom>
            <a:avLst/>
            <a:gdLst/>
            <a:ahLst/>
            <a:cxnLst/>
            <a:rect l="l" t="t" r="r" b="b"/>
            <a:pathLst>
              <a:path w="675639" h="577850">
                <a:moveTo>
                  <a:pt x="450024" y="577850"/>
                </a:moveTo>
                <a:lnTo>
                  <a:pt x="412166" y="577850"/>
                </a:lnTo>
                <a:lnTo>
                  <a:pt x="376192" y="574040"/>
                </a:lnTo>
                <a:lnTo>
                  <a:pt x="312606" y="562610"/>
                </a:lnTo>
                <a:lnTo>
                  <a:pt x="274509" y="548640"/>
                </a:lnTo>
                <a:lnTo>
                  <a:pt x="230562" y="508000"/>
                </a:lnTo>
                <a:lnTo>
                  <a:pt x="225012" y="481330"/>
                </a:lnTo>
                <a:lnTo>
                  <a:pt x="187154" y="481330"/>
                </a:lnTo>
                <a:lnTo>
                  <a:pt x="117767" y="472440"/>
                </a:lnTo>
                <a:lnTo>
                  <a:pt x="49497" y="452120"/>
                </a:lnTo>
                <a:lnTo>
                  <a:pt x="5549" y="411480"/>
                </a:lnTo>
                <a:lnTo>
                  <a:pt x="0" y="384810"/>
                </a:lnTo>
                <a:lnTo>
                  <a:pt x="0" y="304800"/>
                </a:lnTo>
                <a:lnTo>
                  <a:pt x="2310" y="287020"/>
                </a:lnTo>
                <a:lnTo>
                  <a:pt x="8839" y="271780"/>
                </a:lnTo>
                <a:lnTo>
                  <a:pt x="18985" y="259080"/>
                </a:lnTo>
                <a:lnTo>
                  <a:pt x="32144" y="247650"/>
                </a:lnTo>
                <a:lnTo>
                  <a:pt x="32144" y="232410"/>
                </a:lnTo>
                <a:lnTo>
                  <a:pt x="17968" y="220980"/>
                </a:lnTo>
                <a:lnTo>
                  <a:pt x="7935" y="207010"/>
                </a:lnTo>
                <a:lnTo>
                  <a:pt x="1971" y="193040"/>
                </a:lnTo>
                <a:lnTo>
                  <a:pt x="0" y="176530"/>
                </a:lnTo>
                <a:lnTo>
                  <a:pt x="0" y="95250"/>
                </a:lnTo>
                <a:lnTo>
                  <a:pt x="11979" y="58420"/>
                </a:lnTo>
                <a:lnTo>
                  <a:pt x="43335" y="31750"/>
                </a:lnTo>
                <a:lnTo>
                  <a:pt x="87192" y="15240"/>
                </a:lnTo>
                <a:lnTo>
                  <a:pt x="136674" y="5080"/>
                </a:lnTo>
                <a:lnTo>
                  <a:pt x="184905" y="0"/>
                </a:lnTo>
                <a:lnTo>
                  <a:pt x="262870" y="0"/>
                </a:lnTo>
                <a:lnTo>
                  <a:pt x="332257" y="8890"/>
                </a:lnTo>
                <a:lnTo>
                  <a:pt x="400526" y="29210"/>
                </a:lnTo>
                <a:lnTo>
                  <a:pt x="427925" y="46990"/>
                </a:lnTo>
                <a:lnTo>
                  <a:pt x="225815" y="46990"/>
                </a:lnTo>
                <a:lnTo>
                  <a:pt x="156830" y="50800"/>
                </a:lnTo>
                <a:lnTo>
                  <a:pt x="100652" y="62230"/>
                </a:lnTo>
                <a:lnTo>
                  <a:pt x="62857" y="77470"/>
                </a:lnTo>
                <a:lnTo>
                  <a:pt x="49020" y="95250"/>
                </a:lnTo>
                <a:lnTo>
                  <a:pt x="62857" y="114300"/>
                </a:lnTo>
                <a:lnTo>
                  <a:pt x="100652" y="129540"/>
                </a:lnTo>
                <a:lnTo>
                  <a:pt x="156830" y="139700"/>
                </a:lnTo>
                <a:lnTo>
                  <a:pt x="225815" y="143510"/>
                </a:lnTo>
                <a:lnTo>
                  <a:pt x="450024" y="143510"/>
                </a:lnTo>
                <a:lnTo>
                  <a:pt x="450024" y="160020"/>
                </a:lnTo>
                <a:lnTo>
                  <a:pt x="451599" y="161290"/>
                </a:lnTo>
                <a:lnTo>
                  <a:pt x="49020" y="161290"/>
                </a:lnTo>
                <a:lnTo>
                  <a:pt x="49020" y="176530"/>
                </a:lnTo>
                <a:lnTo>
                  <a:pt x="51217" y="182880"/>
                </a:lnTo>
                <a:lnTo>
                  <a:pt x="57558" y="190500"/>
                </a:lnTo>
                <a:lnTo>
                  <a:pt x="67666" y="196850"/>
                </a:lnTo>
                <a:lnTo>
                  <a:pt x="81165" y="203200"/>
                </a:lnTo>
                <a:lnTo>
                  <a:pt x="113309" y="203200"/>
                </a:lnTo>
                <a:lnTo>
                  <a:pt x="113309" y="214630"/>
                </a:lnTo>
                <a:lnTo>
                  <a:pt x="128779" y="217170"/>
                </a:lnTo>
                <a:lnTo>
                  <a:pt x="145454" y="219710"/>
                </a:lnTo>
                <a:lnTo>
                  <a:pt x="177598" y="219710"/>
                </a:lnTo>
                <a:lnTo>
                  <a:pt x="177598" y="223520"/>
                </a:lnTo>
                <a:lnTo>
                  <a:pt x="201443" y="223520"/>
                </a:lnTo>
                <a:lnTo>
                  <a:pt x="209743" y="224790"/>
                </a:lnTo>
                <a:lnTo>
                  <a:pt x="482169" y="224790"/>
                </a:lnTo>
                <a:lnTo>
                  <a:pt x="481365" y="227330"/>
                </a:lnTo>
                <a:lnTo>
                  <a:pt x="521144" y="232410"/>
                </a:lnTo>
                <a:lnTo>
                  <a:pt x="539225" y="236220"/>
                </a:lnTo>
                <a:lnTo>
                  <a:pt x="556101" y="240030"/>
                </a:lnTo>
                <a:lnTo>
                  <a:pt x="594198" y="254000"/>
                </a:lnTo>
                <a:lnTo>
                  <a:pt x="621596" y="271780"/>
                </a:lnTo>
                <a:lnTo>
                  <a:pt x="622515" y="273050"/>
                </a:lnTo>
                <a:lnTo>
                  <a:pt x="418683" y="273050"/>
                </a:lnTo>
                <a:lnTo>
                  <a:pt x="349698" y="276860"/>
                </a:lnTo>
                <a:lnTo>
                  <a:pt x="321609" y="281940"/>
                </a:lnTo>
                <a:lnTo>
                  <a:pt x="81165" y="281940"/>
                </a:lnTo>
                <a:lnTo>
                  <a:pt x="81165" y="297180"/>
                </a:lnTo>
                <a:lnTo>
                  <a:pt x="83362" y="304800"/>
                </a:lnTo>
                <a:lnTo>
                  <a:pt x="89703" y="311150"/>
                </a:lnTo>
                <a:lnTo>
                  <a:pt x="99811" y="318770"/>
                </a:lnTo>
                <a:lnTo>
                  <a:pt x="113309" y="323850"/>
                </a:lnTo>
                <a:lnTo>
                  <a:pt x="145454" y="323850"/>
                </a:lnTo>
                <a:lnTo>
                  <a:pt x="145454" y="335280"/>
                </a:lnTo>
                <a:lnTo>
                  <a:pt x="160923" y="337820"/>
                </a:lnTo>
                <a:lnTo>
                  <a:pt x="177598" y="340360"/>
                </a:lnTo>
                <a:lnTo>
                  <a:pt x="258632" y="340360"/>
                </a:lnTo>
                <a:lnTo>
                  <a:pt x="293520" y="355600"/>
                </a:lnTo>
                <a:lnTo>
                  <a:pt x="349698" y="365760"/>
                </a:lnTo>
                <a:lnTo>
                  <a:pt x="418683" y="369570"/>
                </a:lnTo>
                <a:lnTo>
                  <a:pt x="666900" y="369570"/>
                </a:lnTo>
                <a:lnTo>
                  <a:pt x="667804" y="370840"/>
                </a:lnTo>
                <a:lnTo>
                  <a:pt x="49020" y="370840"/>
                </a:lnTo>
                <a:lnTo>
                  <a:pt x="49020" y="384810"/>
                </a:lnTo>
                <a:lnTo>
                  <a:pt x="51217" y="392430"/>
                </a:lnTo>
                <a:lnTo>
                  <a:pt x="57558" y="400050"/>
                </a:lnTo>
                <a:lnTo>
                  <a:pt x="67666" y="406400"/>
                </a:lnTo>
                <a:lnTo>
                  <a:pt x="81165" y="412750"/>
                </a:lnTo>
                <a:lnTo>
                  <a:pt x="113309" y="412750"/>
                </a:lnTo>
                <a:lnTo>
                  <a:pt x="113309" y="422910"/>
                </a:lnTo>
                <a:lnTo>
                  <a:pt x="128779" y="425450"/>
                </a:lnTo>
                <a:lnTo>
                  <a:pt x="145454" y="427990"/>
                </a:lnTo>
                <a:lnTo>
                  <a:pt x="177598" y="427990"/>
                </a:lnTo>
                <a:lnTo>
                  <a:pt x="177598" y="430530"/>
                </a:lnTo>
                <a:lnTo>
                  <a:pt x="193671" y="433070"/>
                </a:lnTo>
                <a:lnTo>
                  <a:pt x="306177" y="433070"/>
                </a:lnTo>
                <a:lnTo>
                  <a:pt x="306177" y="438150"/>
                </a:lnTo>
                <a:lnTo>
                  <a:pt x="313686" y="439420"/>
                </a:lnTo>
                <a:lnTo>
                  <a:pt x="321647" y="441960"/>
                </a:lnTo>
                <a:lnTo>
                  <a:pt x="338322" y="444500"/>
                </a:lnTo>
                <a:lnTo>
                  <a:pt x="370466" y="444500"/>
                </a:lnTo>
                <a:lnTo>
                  <a:pt x="370466" y="448310"/>
                </a:lnTo>
                <a:lnTo>
                  <a:pt x="378314" y="448310"/>
                </a:lnTo>
                <a:lnTo>
                  <a:pt x="386237" y="449580"/>
                </a:lnTo>
                <a:lnTo>
                  <a:pt x="675036" y="449580"/>
                </a:lnTo>
                <a:lnTo>
                  <a:pt x="675036" y="467360"/>
                </a:lnTo>
                <a:lnTo>
                  <a:pt x="627623" y="467360"/>
                </a:lnTo>
                <a:lnTo>
                  <a:pt x="620114" y="471170"/>
                </a:lnTo>
                <a:lnTo>
                  <a:pt x="612153" y="474980"/>
                </a:lnTo>
                <a:lnTo>
                  <a:pt x="595478" y="480060"/>
                </a:lnTo>
                <a:lnTo>
                  <a:pt x="274032" y="480060"/>
                </a:lnTo>
                <a:lnTo>
                  <a:pt x="274032" y="481330"/>
                </a:lnTo>
                <a:lnTo>
                  <a:pt x="276230" y="488950"/>
                </a:lnTo>
                <a:lnTo>
                  <a:pt x="282571" y="496570"/>
                </a:lnTo>
                <a:lnTo>
                  <a:pt x="292679" y="502920"/>
                </a:lnTo>
                <a:lnTo>
                  <a:pt x="306177" y="509270"/>
                </a:lnTo>
                <a:lnTo>
                  <a:pt x="338322" y="509270"/>
                </a:lnTo>
                <a:lnTo>
                  <a:pt x="338322" y="518160"/>
                </a:lnTo>
                <a:lnTo>
                  <a:pt x="345830" y="520700"/>
                </a:lnTo>
                <a:lnTo>
                  <a:pt x="370466" y="524510"/>
                </a:lnTo>
                <a:lnTo>
                  <a:pt x="402611" y="524510"/>
                </a:lnTo>
                <a:lnTo>
                  <a:pt x="402611" y="528320"/>
                </a:lnTo>
                <a:lnTo>
                  <a:pt x="410459" y="529590"/>
                </a:lnTo>
                <a:lnTo>
                  <a:pt x="650514" y="529590"/>
                </a:lnTo>
                <a:lnTo>
                  <a:pt x="631701" y="544830"/>
                </a:lnTo>
                <a:lnTo>
                  <a:pt x="587844" y="562610"/>
                </a:lnTo>
                <a:lnTo>
                  <a:pt x="538362" y="572770"/>
                </a:lnTo>
                <a:lnTo>
                  <a:pt x="490130" y="576580"/>
                </a:lnTo>
                <a:lnTo>
                  <a:pt x="450024" y="577850"/>
                </a:lnTo>
                <a:close/>
              </a:path>
              <a:path w="675639" h="577850">
                <a:moveTo>
                  <a:pt x="450024" y="143510"/>
                </a:moveTo>
                <a:lnTo>
                  <a:pt x="225815" y="143510"/>
                </a:lnTo>
                <a:lnTo>
                  <a:pt x="294801" y="139700"/>
                </a:lnTo>
                <a:lnTo>
                  <a:pt x="350978" y="129540"/>
                </a:lnTo>
                <a:lnTo>
                  <a:pt x="388773" y="114300"/>
                </a:lnTo>
                <a:lnTo>
                  <a:pt x="402611" y="95250"/>
                </a:lnTo>
                <a:lnTo>
                  <a:pt x="388773" y="77470"/>
                </a:lnTo>
                <a:lnTo>
                  <a:pt x="350978" y="62230"/>
                </a:lnTo>
                <a:lnTo>
                  <a:pt x="294801" y="50800"/>
                </a:lnTo>
                <a:lnTo>
                  <a:pt x="225815" y="46990"/>
                </a:lnTo>
                <a:lnTo>
                  <a:pt x="427925" y="46990"/>
                </a:lnTo>
                <a:lnTo>
                  <a:pt x="444474" y="69850"/>
                </a:lnTo>
                <a:lnTo>
                  <a:pt x="450024" y="95250"/>
                </a:lnTo>
                <a:lnTo>
                  <a:pt x="450024" y="143510"/>
                </a:lnTo>
                <a:close/>
              </a:path>
              <a:path w="675639" h="577850">
                <a:moveTo>
                  <a:pt x="113309" y="203200"/>
                </a:moveTo>
                <a:lnTo>
                  <a:pt x="81165" y="203200"/>
                </a:lnTo>
                <a:lnTo>
                  <a:pt x="81165" y="173990"/>
                </a:lnTo>
                <a:lnTo>
                  <a:pt x="72413" y="171450"/>
                </a:lnTo>
                <a:lnTo>
                  <a:pt x="64188" y="168910"/>
                </a:lnTo>
                <a:lnTo>
                  <a:pt x="56416" y="165100"/>
                </a:lnTo>
                <a:lnTo>
                  <a:pt x="49020" y="161290"/>
                </a:lnTo>
                <a:lnTo>
                  <a:pt x="402611" y="161290"/>
                </a:lnTo>
                <a:lnTo>
                  <a:pt x="395102" y="165100"/>
                </a:lnTo>
                <a:lnTo>
                  <a:pt x="387141" y="168910"/>
                </a:lnTo>
                <a:lnTo>
                  <a:pt x="378879" y="171450"/>
                </a:lnTo>
                <a:lnTo>
                  <a:pt x="370466" y="175260"/>
                </a:lnTo>
                <a:lnTo>
                  <a:pt x="370466" y="182880"/>
                </a:lnTo>
                <a:lnTo>
                  <a:pt x="113309" y="182880"/>
                </a:lnTo>
                <a:lnTo>
                  <a:pt x="113309" y="203200"/>
                </a:lnTo>
                <a:close/>
              </a:path>
              <a:path w="675639" h="577850">
                <a:moveTo>
                  <a:pt x="480526" y="203200"/>
                </a:moveTo>
                <a:lnTo>
                  <a:pt x="370466" y="203200"/>
                </a:lnTo>
                <a:lnTo>
                  <a:pt x="383964" y="198120"/>
                </a:lnTo>
                <a:lnTo>
                  <a:pt x="394072" y="190500"/>
                </a:lnTo>
                <a:lnTo>
                  <a:pt x="400413" y="184150"/>
                </a:lnTo>
                <a:lnTo>
                  <a:pt x="402611" y="176530"/>
                </a:lnTo>
                <a:lnTo>
                  <a:pt x="402611" y="161290"/>
                </a:lnTo>
                <a:lnTo>
                  <a:pt x="451599" y="161290"/>
                </a:lnTo>
                <a:lnTo>
                  <a:pt x="464200" y="171450"/>
                </a:lnTo>
                <a:lnTo>
                  <a:pt x="474233" y="185420"/>
                </a:lnTo>
                <a:lnTo>
                  <a:pt x="480197" y="200660"/>
                </a:lnTo>
                <a:lnTo>
                  <a:pt x="480526" y="203200"/>
                </a:lnTo>
                <a:close/>
              </a:path>
              <a:path w="675639" h="577850">
                <a:moveTo>
                  <a:pt x="177598" y="219710"/>
                </a:moveTo>
                <a:lnTo>
                  <a:pt x="145454" y="219710"/>
                </a:lnTo>
                <a:lnTo>
                  <a:pt x="145454" y="187960"/>
                </a:lnTo>
                <a:lnTo>
                  <a:pt x="113309" y="182880"/>
                </a:lnTo>
                <a:lnTo>
                  <a:pt x="338322" y="182880"/>
                </a:lnTo>
                <a:lnTo>
                  <a:pt x="306177" y="187960"/>
                </a:lnTo>
                <a:lnTo>
                  <a:pt x="306177" y="190500"/>
                </a:lnTo>
                <a:lnTo>
                  <a:pt x="177598" y="190500"/>
                </a:lnTo>
                <a:lnTo>
                  <a:pt x="177598" y="219710"/>
                </a:lnTo>
                <a:close/>
              </a:path>
              <a:path w="675639" h="577850">
                <a:moveTo>
                  <a:pt x="482169" y="218440"/>
                </a:moveTo>
                <a:lnTo>
                  <a:pt x="306177" y="218440"/>
                </a:lnTo>
                <a:lnTo>
                  <a:pt x="322852" y="215900"/>
                </a:lnTo>
                <a:lnTo>
                  <a:pt x="338322" y="213360"/>
                </a:lnTo>
                <a:lnTo>
                  <a:pt x="338322" y="182880"/>
                </a:lnTo>
                <a:lnTo>
                  <a:pt x="370466" y="182880"/>
                </a:lnTo>
                <a:lnTo>
                  <a:pt x="370466" y="203200"/>
                </a:lnTo>
                <a:lnTo>
                  <a:pt x="480526" y="203200"/>
                </a:lnTo>
                <a:lnTo>
                  <a:pt x="482169" y="215900"/>
                </a:lnTo>
                <a:lnTo>
                  <a:pt x="482169" y="218440"/>
                </a:lnTo>
                <a:close/>
              </a:path>
              <a:path w="675639" h="577850">
                <a:moveTo>
                  <a:pt x="265619" y="191770"/>
                </a:moveTo>
                <a:lnTo>
                  <a:pt x="185446" y="191770"/>
                </a:lnTo>
                <a:lnTo>
                  <a:pt x="177598" y="190500"/>
                </a:lnTo>
                <a:lnTo>
                  <a:pt x="274032" y="190500"/>
                </a:lnTo>
                <a:lnTo>
                  <a:pt x="265619" y="191770"/>
                </a:lnTo>
                <a:close/>
              </a:path>
              <a:path w="675639" h="577850">
                <a:moveTo>
                  <a:pt x="482169" y="224790"/>
                </a:moveTo>
                <a:lnTo>
                  <a:pt x="241888" y="224790"/>
                </a:lnTo>
                <a:lnTo>
                  <a:pt x="250188" y="223520"/>
                </a:lnTo>
                <a:lnTo>
                  <a:pt x="274032" y="223520"/>
                </a:lnTo>
                <a:lnTo>
                  <a:pt x="274032" y="190500"/>
                </a:lnTo>
                <a:lnTo>
                  <a:pt x="306177" y="190500"/>
                </a:lnTo>
                <a:lnTo>
                  <a:pt x="306177" y="218440"/>
                </a:lnTo>
                <a:lnTo>
                  <a:pt x="482169" y="218440"/>
                </a:lnTo>
                <a:lnTo>
                  <a:pt x="482169" y="224790"/>
                </a:lnTo>
                <a:close/>
              </a:path>
              <a:path w="675639" h="577850">
                <a:moveTo>
                  <a:pt x="241888" y="224790"/>
                </a:moveTo>
                <a:lnTo>
                  <a:pt x="209743" y="224790"/>
                </a:lnTo>
                <a:lnTo>
                  <a:pt x="209743" y="191770"/>
                </a:lnTo>
                <a:lnTo>
                  <a:pt x="241888" y="191770"/>
                </a:lnTo>
                <a:lnTo>
                  <a:pt x="241888" y="224790"/>
                </a:lnTo>
                <a:close/>
              </a:path>
              <a:path w="675639" h="577850">
                <a:moveTo>
                  <a:pt x="666900" y="369570"/>
                </a:moveTo>
                <a:lnTo>
                  <a:pt x="418683" y="369570"/>
                </a:lnTo>
                <a:lnTo>
                  <a:pt x="487668" y="365760"/>
                </a:lnTo>
                <a:lnTo>
                  <a:pt x="543846" y="355600"/>
                </a:lnTo>
                <a:lnTo>
                  <a:pt x="581641" y="339090"/>
                </a:lnTo>
                <a:lnTo>
                  <a:pt x="595478" y="321310"/>
                </a:lnTo>
                <a:lnTo>
                  <a:pt x="581641" y="302260"/>
                </a:lnTo>
                <a:lnTo>
                  <a:pt x="543846" y="287020"/>
                </a:lnTo>
                <a:lnTo>
                  <a:pt x="487668" y="276860"/>
                </a:lnTo>
                <a:lnTo>
                  <a:pt x="418683" y="273050"/>
                </a:lnTo>
                <a:lnTo>
                  <a:pt x="622515" y="273050"/>
                </a:lnTo>
                <a:lnTo>
                  <a:pt x="638145" y="294640"/>
                </a:lnTo>
                <a:lnTo>
                  <a:pt x="643695" y="321310"/>
                </a:lnTo>
                <a:lnTo>
                  <a:pt x="643695" y="345440"/>
                </a:lnTo>
                <a:lnTo>
                  <a:pt x="657859" y="356870"/>
                </a:lnTo>
                <a:lnTo>
                  <a:pt x="666900" y="369570"/>
                </a:lnTo>
                <a:close/>
              </a:path>
              <a:path w="675639" h="577850">
                <a:moveTo>
                  <a:pt x="145454" y="323850"/>
                </a:moveTo>
                <a:lnTo>
                  <a:pt x="113309" y="323850"/>
                </a:lnTo>
                <a:lnTo>
                  <a:pt x="113309" y="294640"/>
                </a:lnTo>
                <a:lnTo>
                  <a:pt x="104557" y="292100"/>
                </a:lnTo>
                <a:lnTo>
                  <a:pt x="96333" y="289560"/>
                </a:lnTo>
                <a:lnTo>
                  <a:pt x="88560" y="285750"/>
                </a:lnTo>
                <a:lnTo>
                  <a:pt x="81165" y="281940"/>
                </a:lnTo>
                <a:lnTo>
                  <a:pt x="321609" y="281940"/>
                </a:lnTo>
                <a:lnTo>
                  <a:pt x="293520" y="287020"/>
                </a:lnTo>
                <a:lnTo>
                  <a:pt x="255725" y="302260"/>
                </a:lnTo>
                <a:lnTo>
                  <a:pt x="254802" y="303530"/>
                </a:lnTo>
                <a:lnTo>
                  <a:pt x="145454" y="303530"/>
                </a:lnTo>
                <a:lnTo>
                  <a:pt x="145454" y="323850"/>
                </a:lnTo>
                <a:close/>
              </a:path>
              <a:path w="675639" h="577850">
                <a:moveTo>
                  <a:pt x="258632" y="340360"/>
                </a:moveTo>
                <a:lnTo>
                  <a:pt x="177598" y="340360"/>
                </a:lnTo>
                <a:lnTo>
                  <a:pt x="177598" y="308610"/>
                </a:lnTo>
                <a:lnTo>
                  <a:pt x="145454" y="303530"/>
                </a:lnTo>
                <a:lnTo>
                  <a:pt x="254802" y="303530"/>
                </a:lnTo>
                <a:lnTo>
                  <a:pt x="241888" y="321310"/>
                </a:lnTo>
                <a:lnTo>
                  <a:pt x="255725" y="339090"/>
                </a:lnTo>
                <a:lnTo>
                  <a:pt x="258632" y="340360"/>
                </a:lnTo>
                <a:close/>
              </a:path>
              <a:path w="675639" h="577850">
                <a:moveTo>
                  <a:pt x="113309" y="412750"/>
                </a:moveTo>
                <a:lnTo>
                  <a:pt x="81165" y="412750"/>
                </a:lnTo>
                <a:lnTo>
                  <a:pt x="81165" y="382270"/>
                </a:lnTo>
                <a:lnTo>
                  <a:pt x="72413" y="379730"/>
                </a:lnTo>
                <a:lnTo>
                  <a:pt x="64188" y="377190"/>
                </a:lnTo>
                <a:lnTo>
                  <a:pt x="56416" y="374650"/>
                </a:lnTo>
                <a:lnTo>
                  <a:pt x="49020" y="370840"/>
                </a:lnTo>
                <a:lnTo>
                  <a:pt x="667804" y="370840"/>
                </a:lnTo>
                <a:lnTo>
                  <a:pt x="673530" y="384810"/>
                </a:lnTo>
                <a:lnTo>
                  <a:pt x="673761" y="387350"/>
                </a:lnTo>
                <a:lnTo>
                  <a:pt x="241888" y="387350"/>
                </a:lnTo>
                <a:lnTo>
                  <a:pt x="241888" y="391160"/>
                </a:lnTo>
                <a:lnTo>
                  <a:pt x="113309" y="391160"/>
                </a:lnTo>
                <a:lnTo>
                  <a:pt x="113309" y="412750"/>
                </a:lnTo>
                <a:close/>
              </a:path>
              <a:path w="675639" h="577850">
                <a:moveTo>
                  <a:pt x="306177" y="429260"/>
                </a:moveTo>
                <a:lnTo>
                  <a:pt x="274032" y="429260"/>
                </a:lnTo>
                <a:lnTo>
                  <a:pt x="274032" y="398780"/>
                </a:lnTo>
                <a:lnTo>
                  <a:pt x="265280" y="396240"/>
                </a:lnTo>
                <a:lnTo>
                  <a:pt x="257056" y="393700"/>
                </a:lnTo>
                <a:lnTo>
                  <a:pt x="249283" y="389890"/>
                </a:lnTo>
                <a:lnTo>
                  <a:pt x="241888" y="387350"/>
                </a:lnTo>
                <a:lnTo>
                  <a:pt x="595478" y="387350"/>
                </a:lnTo>
                <a:lnTo>
                  <a:pt x="587970" y="389890"/>
                </a:lnTo>
                <a:lnTo>
                  <a:pt x="580009" y="393700"/>
                </a:lnTo>
                <a:lnTo>
                  <a:pt x="571747" y="397510"/>
                </a:lnTo>
                <a:lnTo>
                  <a:pt x="563334" y="400050"/>
                </a:lnTo>
                <a:lnTo>
                  <a:pt x="563334" y="406400"/>
                </a:lnTo>
                <a:lnTo>
                  <a:pt x="306177" y="406400"/>
                </a:lnTo>
                <a:lnTo>
                  <a:pt x="306177" y="429260"/>
                </a:lnTo>
                <a:close/>
              </a:path>
              <a:path w="675639" h="577850">
                <a:moveTo>
                  <a:pt x="675036" y="429260"/>
                </a:moveTo>
                <a:lnTo>
                  <a:pt x="563334" y="429260"/>
                </a:lnTo>
                <a:lnTo>
                  <a:pt x="576832" y="422910"/>
                </a:lnTo>
                <a:lnTo>
                  <a:pt x="586940" y="416560"/>
                </a:lnTo>
                <a:lnTo>
                  <a:pt x="593281" y="408940"/>
                </a:lnTo>
                <a:lnTo>
                  <a:pt x="595478" y="401320"/>
                </a:lnTo>
                <a:lnTo>
                  <a:pt x="595478" y="387350"/>
                </a:lnTo>
                <a:lnTo>
                  <a:pt x="673761" y="387350"/>
                </a:lnTo>
                <a:lnTo>
                  <a:pt x="673993" y="389890"/>
                </a:lnTo>
                <a:lnTo>
                  <a:pt x="674109" y="391160"/>
                </a:lnTo>
                <a:lnTo>
                  <a:pt x="674225" y="392430"/>
                </a:lnTo>
                <a:lnTo>
                  <a:pt x="674341" y="393700"/>
                </a:lnTo>
                <a:lnTo>
                  <a:pt x="674457" y="394970"/>
                </a:lnTo>
                <a:lnTo>
                  <a:pt x="674573" y="396240"/>
                </a:lnTo>
                <a:lnTo>
                  <a:pt x="674689" y="397510"/>
                </a:lnTo>
                <a:lnTo>
                  <a:pt x="674805" y="398780"/>
                </a:lnTo>
                <a:lnTo>
                  <a:pt x="674920" y="400050"/>
                </a:lnTo>
                <a:lnTo>
                  <a:pt x="675036" y="429260"/>
                </a:lnTo>
                <a:close/>
              </a:path>
              <a:path w="675639" h="577850">
                <a:moveTo>
                  <a:pt x="177598" y="427990"/>
                </a:moveTo>
                <a:lnTo>
                  <a:pt x="145454" y="427990"/>
                </a:lnTo>
                <a:lnTo>
                  <a:pt x="145454" y="396240"/>
                </a:lnTo>
                <a:lnTo>
                  <a:pt x="113309" y="391160"/>
                </a:lnTo>
                <a:lnTo>
                  <a:pt x="241888" y="391160"/>
                </a:lnTo>
                <a:lnTo>
                  <a:pt x="241888" y="400050"/>
                </a:lnTo>
                <a:lnTo>
                  <a:pt x="177598" y="400050"/>
                </a:lnTo>
                <a:lnTo>
                  <a:pt x="177598" y="427990"/>
                </a:lnTo>
                <a:close/>
              </a:path>
              <a:path w="675639" h="577850">
                <a:moveTo>
                  <a:pt x="306177" y="433070"/>
                </a:moveTo>
                <a:lnTo>
                  <a:pt x="201707" y="433070"/>
                </a:lnTo>
                <a:lnTo>
                  <a:pt x="198078" y="425450"/>
                </a:lnTo>
                <a:lnTo>
                  <a:pt x="195579" y="417830"/>
                </a:lnTo>
                <a:lnTo>
                  <a:pt x="194135" y="410210"/>
                </a:lnTo>
                <a:lnTo>
                  <a:pt x="193671" y="401320"/>
                </a:lnTo>
                <a:lnTo>
                  <a:pt x="193671" y="400050"/>
                </a:lnTo>
                <a:lnTo>
                  <a:pt x="241888" y="400050"/>
                </a:lnTo>
                <a:lnTo>
                  <a:pt x="241888" y="401320"/>
                </a:lnTo>
                <a:lnTo>
                  <a:pt x="244085" y="408940"/>
                </a:lnTo>
                <a:lnTo>
                  <a:pt x="250426" y="415290"/>
                </a:lnTo>
                <a:lnTo>
                  <a:pt x="260534" y="422910"/>
                </a:lnTo>
                <a:lnTo>
                  <a:pt x="274032" y="429260"/>
                </a:lnTo>
                <a:lnTo>
                  <a:pt x="306177" y="429260"/>
                </a:lnTo>
                <a:lnTo>
                  <a:pt x="306177" y="433070"/>
                </a:lnTo>
                <a:close/>
              </a:path>
              <a:path w="675639" h="577850">
                <a:moveTo>
                  <a:pt x="370466" y="444500"/>
                </a:moveTo>
                <a:lnTo>
                  <a:pt x="338322" y="444500"/>
                </a:lnTo>
                <a:lnTo>
                  <a:pt x="338322" y="411480"/>
                </a:lnTo>
                <a:lnTo>
                  <a:pt x="330022" y="411480"/>
                </a:lnTo>
                <a:lnTo>
                  <a:pt x="314025" y="408940"/>
                </a:lnTo>
                <a:lnTo>
                  <a:pt x="306177" y="406400"/>
                </a:lnTo>
                <a:lnTo>
                  <a:pt x="563334" y="406400"/>
                </a:lnTo>
                <a:lnTo>
                  <a:pt x="563334" y="407670"/>
                </a:lnTo>
                <a:lnTo>
                  <a:pt x="531189" y="407670"/>
                </a:lnTo>
                <a:lnTo>
                  <a:pt x="499045" y="412750"/>
                </a:lnTo>
                <a:lnTo>
                  <a:pt x="499045" y="415290"/>
                </a:lnTo>
                <a:lnTo>
                  <a:pt x="370466" y="415290"/>
                </a:lnTo>
                <a:lnTo>
                  <a:pt x="370466" y="444500"/>
                </a:lnTo>
                <a:close/>
              </a:path>
              <a:path w="675639" h="577850">
                <a:moveTo>
                  <a:pt x="675036" y="444500"/>
                </a:moveTo>
                <a:lnTo>
                  <a:pt x="499045" y="444500"/>
                </a:lnTo>
                <a:lnTo>
                  <a:pt x="515720" y="441960"/>
                </a:lnTo>
                <a:lnTo>
                  <a:pt x="523680" y="439420"/>
                </a:lnTo>
                <a:lnTo>
                  <a:pt x="531189" y="438150"/>
                </a:lnTo>
                <a:lnTo>
                  <a:pt x="531189" y="407670"/>
                </a:lnTo>
                <a:lnTo>
                  <a:pt x="563334" y="407670"/>
                </a:lnTo>
                <a:lnTo>
                  <a:pt x="563334" y="429260"/>
                </a:lnTo>
                <a:lnTo>
                  <a:pt x="675036" y="429260"/>
                </a:lnTo>
                <a:lnTo>
                  <a:pt x="675036" y="444500"/>
                </a:lnTo>
                <a:close/>
              </a:path>
              <a:path w="675639" h="577850">
                <a:moveTo>
                  <a:pt x="458487" y="416560"/>
                </a:moveTo>
                <a:lnTo>
                  <a:pt x="378314" y="416560"/>
                </a:lnTo>
                <a:lnTo>
                  <a:pt x="370466" y="415290"/>
                </a:lnTo>
                <a:lnTo>
                  <a:pt x="466900" y="415290"/>
                </a:lnTo>
                <a:lnTo>
                  <a:pt x="458487" y="416560"/>
                </a:lnTo>
                <a:close/>
              </a:path>
              <a:path w="675639" h="577850">
                <a:moveTo>
                  <a:pt x="675036" y="449580"/>
                </a:moveTo>
                <a:lnTo>
                  <a:pt x="443055" y="449580"/>
                </a:lnTo>
                <a:lnTo>
                  <a:pt x="459052" y="448310"/>
                </a:lnTo>
                <a:lnTo>
                  <a:pt x="466900" y="448310"/>
                </a:lnTo>
                <a:lnTo>
                  <a:pt x="466900" y="415290"/>
                </a:lnTo>
                <a:lnTo>
                  <a:pt x="499045" y="415290"/>
                </a:lnTo>
                <a:lnTo>
                  <a:pt x="499045" y="444500"/>
                </a:lnTo>
                <a:lnTo>
                  <a:pt x="675036" y="444500"/>
                </a:lnTo>
                <a:lnTo>
                  <a:pt x="675036" y="449580"/>
                </a:lnTo>
                <a:close/>
              </a:path>
              <a:path w="675639" h="577850">
                <a:moveTo>
                  <a:pt x="442264" y="417830"/>
                </a:moveTo>
                <a:lnTo>
                  <a:pt x="394311" y="417830"/>
                </a:lnTo>
                <a:lnTo>
                  <a:pt x="386237" y="416560"/>
                </a:lnTo>
                <a:lnTo>
                  <a:pt x="450225" y="416560"/>
                </a:lnTo>
                <a:lnTo>
                  <a:pt x="442264" y="417830"/>
                </a:lnTo>
                <a:close/>
              </a:path>
              <a:path w="675639" h="577850">
                <a:moveTo>
                  <a:pt x="434755" y="449580"/>
                </a:moveTo>
                <a:lnTo>
                  <a:pt x="402611" y="449580"/>
                </a:lnTo>
                <a:lnTo>
                  <a:pt x="402611" y="417830"/>
                </a:lnTo>
                <a:lnTo>
                  <a:pt x="434755" y="417830"/>
                </a:lnTo>
                <a:lnTo>
                  <a:pt x="434755" y="449580"/>
                </a:lnTo>
                <a:close/>
              </a:path>
              <a:path w="675639" h="577850">
                <a:moveTo>
                  <a:pt x="666251" y="509270"/>
                </a:moveTo>
                <a:lnTo>
                  <a:pt x="595478" y="509270"/>
                </a:lnTo>
                <a:lnTo>
                  <a:pt x="608977" y="502920"/>
                </a:lnTo>
                <a:lnTo>
                  <a:pt x="619085" y="496570"/>
                </a:lnTo>
                <a:lnTo>
                  <a:pt x="625426" y="488950"/>
                </a:lnTo>
                <a:lnTo>
                  <a:pt x="627623" y="481330"/>
                </a:lnTo>
                <a:lnTo>
                  <a:pt x="627623" y="467360"/>
                </a:lnTo>
                <a:lnTo>
                  <a:pt x="675036" y="467360"/>
                </a:lnTo>
                <a:lnTo>
                  <a:pt x="675036" y="481330"/>
                </a:lnTo>
                <a:lnTo>
                  <a:pt x="666251" y="509270"/>
                </a:lnTo>
                <a:close/>
              </a:path>
              <a:path w="675639" h="577850">
                <a:moveTo>
                  <a:pt x="338322" y="509270"/>
                </a:moveTo>
                <a:lnTo>
                  <a:pt x="306177" y="509270"/>
                </a:lnTo>
                <a:lnTo>
                  <a:pt x="306177" y="487680"/>
                </a:lnTo>
                <a:lnTo>
                  <a:pt x="287305" y="483870"/>
                </a:lnTo>
                <a:lnTo>
                  <a:pt x="281265" y="481330"/>
                </a:lnTo>
                <a:lnTo>
                  <a:pt x="277247" y="481330"/>
                </a:lnTo>
                <a:lnTo>
                  <a:pt x="274836" y="480060"/>
                </a:lnTo>
                <a:lnTo>
                  <a:pt x="595478" y="480060"/>
                </a:lnTo>
                <a:lnTo>
                  <a:pt x="595478" y="487680"/>
                </a:lnTo>
                <a:lnTo>
                  <a:pt x="563334" y="487680"/>
                </a:lnTo>
                <a:lnTo>
                  <a:pt x="531189" y="492760"/>
                </a:lnTo>
                <a:lnTo>
                  <a:pt x="338322" y="492760"/>
                </a:lnTo>
                <a:lnTo>
                  <a:pt x="338322" y="509270"/>
                </a:lnTo>
                <a:close/>
              </a:path>
              <a:path w="675639" h="577850">
                <a:moveTo>
                  <a:pt x="656785" y="524510"/>
                </a:moveTo>
                <a:lnTo>
                  <a:pt x="531189" y="524510"/>
                </a:lnTo>
                <a:lnTo>
                  <a:pt x="555825" y="520700"/>
                </a:lnTo>
                <a:lnTo>
                  <a:pt x="563334" y="518160"/>
                </a:lnTo>
                <a:lnTo>
                  <a:pt x="563334" y="487680"/>
                </a:lnTo>
                <a:lnTo>
                  <a:pt x="595478" y="487680"/>
                </a:lnTo>
                <a:lnTo>
                  <a:pt x="595478" y="509270"/>
                </a:lnTo>
                <a:lnTo>
                  <a:pt x="666251" y="509270"/>
                </a:lnTo>
                <a:lnTo>
                  <a:pt x="663056" y="519430"/>
                </a:lnTo>
                <a:lnTo>
                  <a:pt x="656785" y="524510"/>
                </a:lnTo>
                <a:close/>
              </a:path>
              <a:path w="675639" h="577850">
                <a:moveTo>
                  <a:pt x="402611" y="524510"/>
                </a:moveTo>
                <a:lnTo>
                  <a:pt x="370466" y="524510"/>
                </a:lnTo>
                <a:lnTo>
                  <a:pt x="370466" y="496570"/>
                </a:lnTo>
                <a:lnTo>
                  <a:pt x="362166" y="495300"/>
                </a:lnTo>
                <a:lnTo>
                  <a:pt x="354092" y="495300"/>
                </a:lnTo>
                <a:lnTo>
                  <a:pt x="338322" y="492760"/>
                </a:lnTo>
                <a:lnTo>
                  <a:pt x="531189" y="492760"/>
                </a:lnTo>
                <a:lnTo>
                  <a:pt x="531189" y="496570"/>
                </a:lnTo>
                <a:lnTo>
                  <a:pt x="490632" y="496570"/>
                </a:lnTo>
                <a:lnTo>
                  <a:pt x="482370" y="497840"/>
                </a:lnTo>
                <a:lnTo>
                  <a:pt x="402611" y="497840"/>
                </a:lnTo>
                <a:lnTo>
                  <a:pt x="402611" y="524510"/>
                </a:lnTo>
                <a:close/>
              </a:path>
              <a:path w="675639" h="577850">
                <a:moveTo>
                  <a:pt x="650514" y="529590"/>
                </a:moveTo>
                <a:lnTo>
                  <a:pt x="491197" y="529590"/>
                </a:lnTo>
                <a:lnTo>
                  <a:pt x="499045" y="528320"/>
                </a:lnTo>
                <a:lnTo>
                  <a:pt x="499045" y="496570"/>
                </a:lnTo>
                <a:lnTo>
                  <a:pt x="531189" y="496570"/>
                </a:lnTo>
                <a:lnTo>
                  <a:pt x="531189" y="524510"/>
                </a:lnTo>
                <a:lnTo>
                  <a:pt x="656785" y="524510"/>
                </a:lnTo>
                <a:lnTo>
                  <a:pt x="650514" y="529590"/>
                </a:lnTo>
                <a:close/>
              </a:path>
              <a:path w="675639" h="577850">
                <a:moveTo>
                  <a:pt x="466900" y="529590"/>
                </a:moveTo>
                <a:lnTo>
                  <a:pt x="434755" y="529590"/>
                </a:lnTo>
                <a:lnTo>
                  <a:pt x="434755" y="497840"/>
                </a:lnTo>
                <a:lnTo>
                  <a:pt x="466900" y="497840"/>
                </a:lnTo>
                <a:lnTo>
                  <a:pt x="466900" y="5295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9809" y="5305825"/>
            <a:ext cx="1819655" cy="130757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63524" y="4729733"/>
            <a:ext cx="1792605" cy="679673"/>
          </a:xfrm>
          <a:prstGeom prst="rect">
            <a:avLst/>
          </a:prstGeom>
          <a:solidFill>
            <a:srgbClr val="EDDEA4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484823">
              <a:lnSpc>
                <a:spcPts val="5331"/>
              </a:lnSpc>
            </a:pPr>
            <a:r>
              <a:rPr sz="4800" b="1" spc="-1103" dirty="0">
                <a:latin typeface="Arial"/>
                <a:cs typeface="Arial"/>
              </a:rPr>
              <a:t>Cost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0701" y="7539229"/>
            <a:ext cx="2379725" cy="130759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531869" y="6963155"/>
            <a:ext cx="1977390" cy="679673"/>
          </a:xfrm>
          <a:prstGeom prst="rect">
            <a:avLst/>
          </a:prstGeom>
          <a:solidFill>
            <a:srgbClr val="EDDEA4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78118">
              <a:lnSpc>
                <a:spcPts val="5340"/>
              </a:lnSpc>
            </a:pPr>
            <a:r>
              <a:rPr sz="4800" b="1" spc="-1178" dirty="0">
                <a:latin typeface="Arial"/>
                <a:cs typeface="Arial"/>
              </a:rPr>
              <a:t>Outcome</a:t>
            </a:r>
            <a:endParaRPr sz="4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86476" y="7093271"/>
            <a:ext cx="627698" cy="710564"/>
          </a:xfrm>
          <a:custGeom>
            <a:avLst/>
            <a:gdLst/>
            <a:ahLst/>
            <a:cxnLst/>
            <a:rect l="l" t="t" r="r" b="b"/>
            <a:pathLst>
              <a:path w="418464" h="473710">
                <a:moveTo>
                  <a:pt x="81848" y="473694"/>
                </a:moveTo>
                <a:lnTo>
                  <a:pt x="55142" y="473111"/>
                </a:lnTo>
                <a:lnTo>
                  <a:pt x="37714" y="469028"/>
                </a:lnTo>
                <a:lnTo>
                  <a:pt x="21891" y="457946"/>
                </a:lnTo>
                <a:lnTo>
                  <a:pt x="0" y="436365"/>
                </a:lnTo>
                <a:lnTo>
                  <a:pt x="0" y="308217"/>
                </a:lnTo>
                <a:lnTo>
                  <a:pt x="5179" y="300510"/>
                </a:lnTo>
                <a:lnTo>
                  <a:pt x="20190" y="283553"/>
                </a:lnTo>
                <a:lnTo>
                  <a:pt x="44242" y="266596"/>
                </a:lnTo>
                <a:lnTo>
                  <a:pt x="76544" y="258888"/>
                </a:lnTo>
                <a:lnTo>
                  <a:pt x="102310" y="262101"/>
                </a:lnTo>
                <a:lnTo>
                  <a:pt x="119939" y="269170"/>
                </a:lnTo>
                <a:lnTo>
                  <a:pt x="132144" y="276239"/>
                </a:lnTo>
                <a:lnTo>
                  <a:pt x="141637" y="279452"/>
                </a:lnTo>
                <a:lnTo>
                  <a:pt x="150174" y="274288"/>
                </a:lnTo>
                <a:lnTo>
                  <a:pt x="163598" y="262929"/>
                </a:lnTo>
                <a:lnTo>
                  <a:pt x="183294" y="251569"/>
                </a:lnTo>
                <a:lnTo>
                  <a:pt x="210647" y="246405"/>
                </a:lnTo>
                <a:lnTo>
                  <a:pt x="237349" y="250407"/>
                </a:lnTo>
                <a:lnTo>
                  <a:pt x="259045" y="258654"/>
                </a:lnTo>
                <a:lnTo>
                  <a:pt x="275452" y="265511"/>
                </a:lnTo>
                <a:lnTo>
                  <a:pt x="286287" y="265341"/>
                </a:lnTo>
                <a:lnTo>
                  <a:pt x="289588" y="257643"/>
                </a:lnTo>
                <a:lnTo>
                  <a:pt x="288781" y="245010"/>
                </a:lnTo>
                <a:lnTo>
                  <a:pt x="285703" y="230240"/>
                </a:lnTo>
                <a:lnTo>
                  <a:pt x="282189" y="216132"/>
                </a:lnTo>
                <a:lnTo>
                  <a:pt x="279612" y="198205"/>
                </a:lnTo>
                <a:lnTo>
                  <a:pt x="277850" y="173806"/>
                </a:lnTo>
                <a:lnTo>
                  <a:pt x="276493" y="148467"/>
                </a:lnTo>
                <a:lnTo>
                  <a:pt x="275137" y="127725"/>
                </a:lnTo>
                <a:lnTo>
                  <a:pt x="245515" y="81210"/>
                </a:lnTo>
                <a:lnTo>
                  <a:pt x="226765" y="70243"/>
                </a:lnTo>
                <a:lnTo>
                  <a:pt x="220434" y="71943"/>
                </a:lnTo>
                <a:lnTo>
                  <a:pt x="212780" y="75543"/>
                </a:lnTo>
                <a:lnTo>
                  <a:pt x="201245" y="78758"/>
                </a:lnTo>
                <a:lnTo>
                  <a:pt x="149205" y="74221"/>
                </a:lnTo>
                <a:lnTo>
                  <a:pt x="135026" y="43589"/>
                </a:lnTo>
                <a:lnTo>
                  <a:pt x="144379" y="23910"/>
                </a:lnTo>
                <a:lnTo>
                  <a:pt x="157349" y="7353"/>
                </a:lnTo>
                <a:lnTo>
                  <a:pt x="167674" y="0"/>
                </a:lnTo>
                <a:lnTo>
                  <a:pt x="194197" y="163"/>
                </a:lnTo>
                <a:lnTo>
                  <a:pt x="254430" y="11049"/>
                </a:lnTo>
                <a:lnTo>
                  <a:pt x="294673" y="40353"/>
                </a:lnTo>
                <a:lnTo>
                  <a:pt x="325253" y="82044"/>
                </a:lnTo>
                <a:lnTo>
                  <a:pt x="357912" y="135993"/>
                </a:lnTo>
                <a:lnTo>
                  <a:pt x="384650" y="194000"/>
                </a:lnTo>
                <a:lnTo>
                  <a:pt x="402504" y="248072"/>
                </a:lnTo>
                <a:lnTo>
                  <a:pt x="413663" y="293284"/>
                </a:lnTo>
                <a:lnTo>
                  <a:pt x="417849" y="326048"/>
                </a:lnTo>
                <a:lnTo>
                  <a:pt x="414786" y="342772"/>
                </a:lnTo>
                <a:lnTo>
                  <a:pt x="402984" y="352068"/>
                </a:lnTo>
                <a:lnTo>
                  <a:pt x="383882" y="364045"/>
                </a:lnTo>
                <a:lnTo>
                  <a:pt x="361593" y="377355"/>
                </a:lnTo>
                <a:lnTo>
                  <a:pt x="340230" y="390654"/>
                </a:lnTo>
                <a:lnTo>
                  <a:pt x="290326" y="425224"/>
                </a:lnTo>
                <a:lnTo>
                  <a:pt x="223786" y="453009"/>
                </a:lnTo>
                <a:lnTo>
                  <a:pt x="206440" y="453634"/>
                </a:lnTo>
                <a:lnTo>
                  <a:pt x="187586" y="451766"/>
                </a:lnTo>
                <a:lnTo>
                  <a:pt x="169805" y="449660"/>
                </a:lnTo>
                <a:lnTo>
                  <a:pt x="155680" y="449572"/>
                </a:lnTo>
                <a:lnTo>
                  <a:pt x="142186" y="454282"/>
                </a:lnTo>
                <a:lnTo>
                  <a:pt x="124979" y="462470"/>
                </a:lnTo>
                <a:lnTo>
                  <a:pt x="104665" y="470239"/>
                </a:lnTo>
                <a:lnTo>
                  <a:pt x="81848" y="473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F81DD99D-863B-F362-0A5C-8C114ACFB8EF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5CDFB042-027D-C6B0-4017-9652C53E26B7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48B41F78-03E7-0086-ABB1-4480E3669836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839A477-D642-0B41-1526-5CC86E6AD9D6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15">
            <a:extLst>
              <a:ext uri="{FF2B5EF4-FFF2-40B4-BE49-F238E27FC236}">
                <a16:creationId xmlns:a16="http://schemas.microsoft.com/office/drawing/2014/main" id="{FF4F2A74-CA5B-E579-01DD-C58A9C74971D}"/>
              </a:ext>
            </a:extLst>
          </p:cNvPr>
          <p:cNvSpPr/>
          <p:nvPr/>
        </p:nvSpPr>
        <p:spPr>
          <a:xfrm flipH="1" flipV="1">
            <a:off x="0" y="-80836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10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2A7948F3-045F-04A6-4757-66FCC718A215}"/>
              </a:ext>
            </a:extLst>
          </p:cNvPr>
          <p:cNvSpPr/>
          <p:nvPr/>
        </p:nvSpPr>
        <p:spPr>
          <a:xfrm flipH="1" flipV="1">
            <a:off x="-6453" y="-811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10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FE0A0622-D019-E636-0EDB-1086ADEEE0AB}"/>
              </a:ext>
            </a:extLst>
          </p:cNvPr>
          <p:cNvSpPr/>
          <p:nvPr/>
        </p:nvSpPr>
        <p:spPr>
          <a:xfrm flipH="1" flipV="1">
            <a:off x="10287000" y="-4016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10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172" y="783388"/>
            <a:ext cx="5815013" cy="1035861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713" dirty="0"/>
              <a:t>Cost</a:t>
            </a:r>
            <a:r>
              <a:rPr spc="-344" dirty="0"/>
              <a:t> </a:t>
            </a:r>
            <a:r>
              <a:rPr spc="-465" dirty="0"/>
              <a:t>Adjustment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6910" y="6574535"/>
            <a:ext cx="4743450" cy="236507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6198" rIns="0" bIns="0" rtlCol="0">
            <a:spAutoFit/>
          </a:bodyPr>
          <a:lstStyle/>
          <a:p>
            <a:pPr marL="141923" marR="132398" algn="ctr">
              <a:spcBef>
                <a:spcPts val="443"/>
              </a:spcBef>
            </a:pPr>
            <a:r>
              <a:rPr sz="3000" spc="-143" dirty="0">
                <a:latin typeface="Arial"/>
                <a:cs typeface="Arial"/>
              </a:rPr>
              <a:t>Accounting</a:t>
            </a:r>
            <a:r>
              <a:rPr sz="3000" spc="-158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for</a:t>
            </a:r>
            <a:r>
              <a:rPr sz="3000" spc="-127" dirty="0">
                <a:latin typeface="Arial"/>
                <a:cs typeface="Arial"/>
              </a:rPr>
              <a:t> </a:t>
            </a:r>
            <a:r>
              <a:rPr sz="3000" spc="-38" dirty="0">
                <a:latin typeface="Arial"/>
                <a:cs typeface="Arial"/>
              </a:rPr>
              <a:t>the </a:t>
            </a:r>
            <a:r>
              <a:rPr sz="3000" spc="-45" dirty="0">
                <a:latin typeface="Arial"/>
                <a:cs typeface="Arial"/>
              </a:rPr>
              <a:t>opportunity</a:t>
            </a:r>
            <a:r>
              <a:rPr sz="3000" spc="-135" dirty="0">
                <a:latin typeface="Arial"/>
                <a:cs typeface="Arial"/>
              </a:rPr>
              <a:t> cost</a:t>
            </a:r>
            <a:r>
              <a:rPr sz="3000" spc="-113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associated </a:t>
            </a:r>
            <a:r>
              <a:rPr sz="3000" dirty="0">
                <a:latin typeface="Arial"/>
                <a:cs typeface="Arial"/>
              </a:rPr>
              <a:t>with</a:t>
            </a:r>
            <a:r>
              <a:rPr sz="3000" spc="-113" dirty="0">
                <a:latin typeface="Arial"/>
                <a:cs typeface="Arial"/>
              </a:rPr>
              <a:t> </a:t>
            </a:r>
            <a:r>
              <a:rPr sz="3000" spc="-158" dirty="0">
                <a:latin typeface="Arial"/>
                <a:cs typeface="Arial"/>
              </a:rPr>
              <a:t>spending</a:t>
            </a:r>
            <a:r>
              <a:rPr sz="3000" spc="-135" dirty="0">
                <a:latin typeface="Arial"/>
                <a:cs typeface="Arial"/>
              </a:rPr>
              <a:t> money </a:t>
            </a:r>
            <a:r>
              <a:rPr sz="3000" spc="-38" dirty="0">
                <a:latin typeface="Arial"/>
                <a:cs typeface="Arial"/>
              </a:rPr>
              <a:t>now </a:t>
            </a:r>
            <a:r>
              <a:rPr sz="3000" spc="-60" dirty="0">
                <a:latin typeface="Arial"/>
                <a:cs typeface="Arial"/>
              </a:rPr>
              <a:t>rather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spc="-68" dirty="0">
                <a:latin typeface="Arial"/>
                <a:cs typeface="Arial"/>
              </a:rPr>
              <a:t>than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in</a:t>
            </a:r>
            <a:r>
              <a:rPr sz="3000" spc="-127" dirty="0">
                <a:latin typeface="Arial"/>
                <a:cs typeface="Arial"/>
              </a:rPr>
              <a:t> </a:t>
            </a:r>
            <a:r>
              <a:rPr sz="3000" spc="-30" dirty="0">
                <a:latin typeface="Arial"/>
                <a:cs typeface="Arial"/>
              </a:rPr>
              <a:t>the</a:t>
            </a:r>
            <a:r>
              <a:rPr sz="3000" spc="-135" dirty="0">
                <a:latin typeface="Arial"/>
                <a:cs typeface="Arial"/>
              </a:rPr>
              <a:t> </a:t>
            </a:r>
            <a:r>
              <a:rPr sz="3000" spc="-30" dirty="0">
                <a:latin typeface="Arial"/>
                <a:cs typeface="Arial"/>
              </a:rPr>
              <a:t>future</a:t>
            </a:r>
            <a:r>
              <a:rPr sz="3000" spc="-150" dirty="0">
                <a:latin typeface="Arial"/>
                <a:cs typeface="Arial"/>
              </a:rPr>
              <a:t> </a:t>
            </a:r>
            <a:r>
              <a:rPr sz="3000" spc="-83" dirty="0">
                <a:latin typeface="Arial"/>
                <a:cs typeface="Arial"/>
              </a:rPr>
              <a:t>and </a:t>
            </a:r>
            <a:r>
              <a:rPr sz="3000" spc="-30" dirty="0">
                <a:latin typeface="Arial"/>
                <a:cs typeface="Arial"/>
              </a:rPr>
              <a:t>the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120" dirty="0">
                <a:latin typeface="Arial"/>
                <a:cs typeface="Arial"/>
              </a:rPr>
              <a:t>societal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time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30" dirty="0">
                <a:latin typeface="Arial"/>
                <a:cs typeface="Arial"/>
              </a:rPr>
              <a:t>preference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37995" y="2144267"/>
            <a:ext cx="13812203" cy="4034790"/>
            <a:chOff x="1491996" y="1429511"/>
            <a:chExt cx="9208135" cy="2689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1996" y="1429511"/>
              <a:ext cx="9208007" cy="2689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45336" y="1444750"/>
              <a:ext cx="9101455" cy="2583180"/>
            </a:xfrm>
            <a:custGeom>
              <a:avLst/>
              <a:gdLst/>
              <a:ahLst/>
              <a:cxnLst/>
              <a:rect l="l" t="t" r="r" b="b"/>
              <a:pathLst>
                <a:path w="9101455" h="2583179">
                  <a:moveTo>
                    <a:pt x="8670785" y="0"/>
                  </a:moveTo>
                  <a:lnTo>
                    <a:pt x="430542" y="0"/>
                  </a:lnTo>
                  <a:lnTo>
                    <a:pt x="383630" y="2526"/>
                  </a:lnTo>
                  <a:lnTo>
                    <a:pt x="338181" y="9930"/>
                  </a:lnTo>
                  <a:lnTo>
                    <a:pt x="294457" y="21949"/>
                  </a:lnTo>
                  <a:lnTo>
                    <a:pt x="252723" y="38320"/>
                  </a:lnTo>
                  <a:lnTo>
                    <a:pt x="213239" y="58781"/>
                  </a:lnTo>
                  <a:lnTo>
                    <a:pt x="176269" y="83069"/>
                  </a:lnTo>
                  <a:lnTo>
                    <a:pt x="142076" y="110922"/>
                  </a:lnTo>
                  <a:lnTo>
                    <a:pt x="110922" y="142076"/>
                  </a:lnTo>
                  <a:lnTo>
                    <a:pt x="83069" y="176269"/>
                  </a:lnTo>
                  <a:lnTo>
                    <a:pt x="58781" y="213239"/>
                  </a:lnTo>
                  <a:lnTo>
                    <a:pt x="38320" y="252723"/>
                  </a:lnTo>
                  <a:lnTo>
                    <a:pt x="21949" y="294457"/>
                  </a:lnTo>
                  <a:lnTo>
                    <a:pt x="9930" y="338181"/>
                  </a:lnTo>
                  <a:lnTo>
                    <a:pt x="2526" y="383630"/>
                  </a:lnTo>
                  <a:lnTo>
                    <a:pt x="0" y="430542"/>
                  </a:lnTo>
                  <a:lnTo>
                    <a:pt x="0" y="2152637"/>
                  </a:lnTo>
                  <a:lnTo>
                    <a:pt x="2526" y="2199549"/>
                  </a:lnTo>
                  <a:lnTo>
                    <a:pt x="9930" y="2244998"/>
                  </a:lnTo>
                  <a:lnTo>
                    <a:pt x="21949" y="2288722"/>
                  </a:lnTo>
                  <a:lnTo>
                    <a:pt x="38320" y="2330456"/>
                  </a:lnTo>
                  <a:lnTo>
                    <a:pt x="58781" y="2369940"/>
                  </a:lnTo>
                  <a:lnTo>
                    <a:pt x="83069" y="2406910"/>
                  </a:lnTo>
                  <a:lnTo>
                    <a:pt x="110922" y="2441103"/>
                  </a:lnTo>
                  <a:lnTo>
                    <a:pt x="142076" y="2472257"/>
                  </a:lnTo>
                  <a:lnTo>
                    <a:pt x="176269" y="2500110"/>
                  </a:lnTo>
                  <a:lnTo>
                    <a:pt x="213239" y="2524398"/>
                  </a:lnTo>
                  <a:lnTo>
                    <a:pt x="252723" y="2544859"/>
                  </a:lnTo>
                  <a:lnTo>
                    <a:pt x="294457" y="2561230"/>
                  </a:lnTo>
                  <a:lnTo>
                    <a:pt x="338181" y="2573249"/>
                  </a:lnTo>
                  <a:lnTo>
                    <a:pt x="383630" y="2580653"/>
                  </a:lnTo>
                  <a:lnTo>
                    <a:pt x="430542" y="2583180"/>
                  </a:lnTo>
                  <a:lnTo>
                    <a:pt x="8670785" y="2583180"/>
                  </a:lnTo>
                  <a:lnTo>
                    <a:pt x="8717697" y="2580653"/>
                  </a:lnTo>
                  <a:lnTo>
                    <a:pt x="8763146" y="2573249"/>
                  </a:lnTo>
                  <a:lnTo>
                    <a:pt x="8806870" y="2561230"/>
                  </a:lnTo>
                  <a:lnTo>
                    <a:pt x="8848604" y="2544859"/>
                  </a:lnTo>
                  <a:lnTo>
                    <a:pt x="8888088" y="2524398"/>
                  </a:lnTo>
                  <a:lnTo>
                    <a:pt x="8925058" y="2500110"/>
                  </a:lnTo>
                  <a:lnTo>
                    <a:pt x="8959251" y="2472257"/>
                  </a:lnTo>
                  <a:lnTo>
                    <a:pt x="8990405" y="2441103"/>
                  </a:lnTo>
                  <a:lnTo>
                    <a:pt x="9018258" y="2406910"/>
                  </a:lnTo>
                  <a:lnTo>
                    <a:pt x="9042546" y="2369940"/>
                  </a:lnTo>
                  <a:lnTo>
                    <a:pt x="9063007" y="2330456"/>
                  </a:lnTo>
                  <a:lnTo>
                    <a:pt x="9079378" y="2288722"/>
                  </a:lnTo>
                  <a:lnTo>
                    <a:pt x="9091397" y="2244998"/>
                  </a:lnTo>
                  <a:lnTo>
                    <a:pt x="9098801" y="2199549"/>
                  </a:lnTo>
                  <a:lnTo>
                    <a:pt x="9101328" y="2152637"/>
                  </a:lnTo>
                  <a:lnTo>
                    <a:pt x="9101328" y="430542"/>
                  </a:lnTo>
                  <a:lnTo>
                    <a:pt x="9098801" y="383630"/>
                  </a:lnTo>
                  <a:lnTo>
                    <a:pt x="9091397" y="338181"/>
                  </a:lnTo>
                  <a:lnTo>
                    <a:pt x="9079378" y="294457"/>
                  </a:lnTo>
                  <a:lnTo>
                    <a:pt x="9063007" y="252723"/>
                  </a:lnTo>
                  <a:lnTo>
                    <a:pt x="9042546" y="213239"/>
                  </a:lnTo>
                  <a:lnTo>
                    <a:pt x="9018258" y="176269"/>
                  </a:lnTo>
                  <a:lnTo>
                    <a:pt x="8990405" y="142076"/>
                  </a:lnTo>
                  <a:lnTo>
                    <a:pt x="8959251" y="110922"/>
                  </a:lnTo>
                  <a:lnTo>
                    <a:pt x="8925058" y="83069"/>
                  </a:lnTo>
                  <a:lnTo>
                    <a:pt x="8888088" y="58781"/>
                  </a:lnTo>
                  <a:lnTo>
                    <a:pt x="8848604" y="38320"/>
                  </a:lnTo>
                  <a:lnTo>
                    <a:pt x="8806870" y="21949"/>
                  </a:lnTo>
                  <a:lnTo>
                    <a:pt x="8763146" y="9930"/>
                  </a:lnTo>
                  <a:lnTo>
                    <a:pt x="8717697" y="2526"/>
                  </a:lnTo>
                  <a:lnTo>
                    <a:pt x="867078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29829" y="3325225"/>
            <a:ext cx="199072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27" dirty="0">
                <a:solidFill>
                  <a:srgbClr val="002060"/>
                </a:solidFill>
                <a:latin typeface="Arial"/>
                <a:cs typeface="Arial"/>
              </a:rPr>
              <a:t>Inflation</a:t>
            </a:r>
            <a:r>
              <a:rPr sz="2700" b="1" spc="-12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700" b="1" spc="-180" dirty="0">
                <a:solidFill>
                  <a:srgbClr val="002060"/>
                </a:solidFill>
                <a:latin typeface="Arial"/>
                <a:cs typeface="Arial"/>
              </a:rPr>
              <a:t>(CPI)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268" y="3319396"/>
            <a:ext cx="200501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33" dirty="0">
                <a:solidFill>
                  <a:srgbClr val="002060"/>
                </a:solidFill>
                <a:latin typeface="Arial"/>
                <a:cs typeface="Arial"/>
              </a:rPr>
              <a:t>Discount</a:t>
            </a:r>
            <a:r>
              <a:rPr sz="2700" b="1" spc="-127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700" b="1" spc="-165" dirty="0">
                <a:solidFill>
                  <a:srgbClr val="002060"/>
                </a:solidFill>
                <a:latin typeface="Arial"/>
                <a:cs typeface="Arial"/>
              </a:rPr>
              <a:t>Rate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4141" y="4384547"/>
            <a:ext cx="2263139" cy="13075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007857" y="3808475"/>
            <a:ext cx="2236470" cy="679673"/>
          </a:xfrm>
          <a:prstGeom prst="rect">
            <a:avLst/>
          </a:prstGeom>
          <a:solidFill>
            <a:srgbClr val="F96E46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428625">
              <a:lnSpc>
                <a:spcPts val="5331"/>
              </a:lnSpc>
            </a:pPr>
            <a:r>
              <a:rPr sz="4800" b="1" spc="-1005" dirty="0">
                <a:latin typeface="Arial"/>
                <a:cs typeface="Arial"/>
              </a:rPr>
              <a:t>Present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2729" y="4384547"/>
            <a:ext cx="2263139" cy="13075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696443" y="3808475"/>
            <a:ext cx="2236470" cy="679673"/>
          </a:xfrm>
          <a:prstGeom prst="rect">
            <a:avLst/>
          </a:prstGeom>
          <a:solidFill>
            <a:srgbClr val="174A8C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539115">
              <a:lnSpc>
                <a:spcPts val="5331"/>
              </a:lnSpc>
            </a:pPr>
            <a:r>
              <a:rPr sz="4800" b="1" spc="-1013" dirty="0">
                <a:latin typeface="Arial"/>
                <a:cs typeface="Arial"/>
              </a:rPr>
              <a:t>Future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87267" y="4391405"/>
            <a:ext cx="2263139" cy="13075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300983" y="3815333"/>
            <a:ext cx="2236470" cy="679673"/>
          </a:xfrm>
          <a:prstGeom prst="rect">
            <a:avLst/>
          </a:prstGeom>
          <a:solidFill>
            <a:srgbClr val="EDDEA4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715326">
              <a:lnSpc>
                <a:spcPts val="5331"/>
              </a:lnSpc>
            </a:pPr>
            <a:r>
              <a:rPr sz="4800" b="1" spc="-1020" dirty="0">
                <a:latin typeface="Arial"/>
                <a:cs typeface="Arial"/>
              </a:rPr>
              <a:t>Past</a:t>
            </a:r>
            <a:endParaRPr sz="4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43016" y="3957065"/>
            <a:ext cx="6602730" cy="487680"/>
          </a:xfrm>
          <a:custGeom>
            <a:avLst/>
            <a:gdLst/>
            <a:ahLst/>
            <a:cxnLst/>
            <a:rect l="l" t="t" r="r" b="b"/>
            <a:pathLst>
              <a:path w="4401820" h="325119">
                <a:moveTo>
                  <a:pt x="1254252" y="150876"/>
                </a:moveTo>
                <a:lnTo>
                  <a:pt x="1103376" y="0"/>
                </a:lnTo>
                <a:lnTo>
                  <a:pt x="1103376" y="75438"/>
                </a:lnTo>
                <a:lnTo>
                  <a:pt x="0" y="75438"/>
                </a:lnTo>
                <a:lnTo>
                  <a:pt x="0" y="226314"/>
                </a:lnTo>
                <a:lnTo>
                  <a:pt x="1103376" y="226314"/>
                </a:lnTo>
                <a:lnTo>
                  <a:pt x="1103376" y="301752"/>
                </a:lnTo>
                <a:lnTo>
                  <a:pt x="1254252" y="150876"/>
                </a:lnTo>
                <a:close/>
              </a:path>
              <a:path w="4401820" h="325119">
                <a:moveTo>
                  <a:pt x="4401312" y="98298"/>
                </a:moveTo>
                <a:lnTo>
                  <a:pt x="3297936" y="98298"/>
                </a:lnTo>
                <a:lnTo>
                  <a:pt x="3297936" y="22860"/>
                </a:lnTo>
                <a:lnTo>
                  <a:pt x="3147060" y="173736"/>
                </a:lnTo>
                <a:lnTo>
                  <a:pt x="3297936" y="324612"/>
                </a:lnTo>
                <a:lnTo>
                  <a:pt x="3297936" y="249174"/>
                </a:lnTo>
                <a:lnTo>
                  <a:pt x="4401312" y="249174"/>
                </a:lnTo>
                <a:lnTo>
                  <a:pt x="4401312" y="98298"/>
                </a:lnTo>
                <a:close/>
              </a:path>
            </a:pathLst>
          </a:custGeom>
          <a:solidFill>
            <a:srgbClr val="145D5D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6" name="object 16"/>
          <p:cNvSpPr txBox="1"/>
          <p:nvPr/>
        </p:nvSpPr>
        <p:spPr>
          <a:xfrm>
            <a:off x="4981195" y="6805421"/>
            <a:ext cx="3856673" cy="19005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41935" marR="228600" indent="-953" algn="ctr">
              <a:spcBef>
                <a:spcPts val="420"/>
              </a:spcBef>
            </a:pPr>
            <a:r>
              <a:rPr sz="3000" spc="-143" dirty="0">
                <a:latin typeface="Arial"/>
                <a:cs typeface="Arial"/>
              </a:rPr>
              <a:t>Accounting</a:t>
            </a:r>
            <a:r>
              <a:rPr sz="3000" spc="-158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for</a:t>
            </a:r>
            <a:r>
              <a:rPr sz="3000" spc="-113" dirty="0">
                <a:latin typeface="Arial"/>
                <a:cs typeface="Arial"/>
              </a:rPr>
              <a:t> </a:t>
            </a:r>
            <a:r>
              <a:rPr sz="3000" spc="-38" dirty="0">
                <a:latin typeface="Arial"/>
                <a:cs typeface="Arial"/>
              </a:rPr>
              <a:t>how </a:t>
            </a:r>
            <a:r>
              <a:rPr sz="3000" spc="-30" dirty="0">
                <a:latin typeface="Arial"/>
                <a:cs typeface="Arial"/>
              </a:rPr>
              <a:t>the</a:t>
            </a:r>
            <a:r>
              <a:rPr sz="3000" spc="-98" dirty="0">
                <a:latin typeface="Arial"/>
                <a:cs typeface="Arial"/>
              </a:rPr>
              <a:t> </a:t>
            </a:r>
            <a:r>
              <a:rPr sz="3000" spc="-158" dirty="0">
                <a:latin typeface="Arial"/>
                <a:cs typeface="Arial"/>
              </a:rPr>
              <a:t>purchasing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power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158" dirty="0">
                <a:latin typeface="Arial"/>
                <a:cs typeface="Arial"/>
              </a:rPr>
              <a:t> </a:t>
            </a:r>
            <a:r>
              <a:rPr sz="3000" spc="-248" dirty="0">
                <a:latin typeface="Arial"/>
                <a:cs typeface="Arial"/>
              </a:rPr>
              <a:t>a</a:t>
            </a:r>
            <a:r>
              <a:rPr sz="3000" spc="-127" dirty="0">
                <a:latin typeface="Arial"/>
                <a:cs typeface="Arial"/>
              </a:rPr>
              <a:t> currency</a:t>
            </a:r>
            <a:r>
              <a:rPr sz="3000" spc="-158" dirty="0">
                <a:latin typeface="Arial"/>
                <a:cs typeface="Arial"/>
              </a:rPr>
              <a:t> </a:t>
            </a:r>
            <a:r>
              <a:rPr sz="3000" spc="-38" dirty="0">
                <a:latin typeface="Arial"/>
                <a:cs typeface="Arial"/>
              </a:rPr>
              <a:t>has </a:t>
            </a:r>
            <a:r>
              <a:rPr sz="3000" spc="-188" dirty="0">
                <a:latin typeface="Arial"/>
                <a:cs typeface="Arial"/>
              </a:rPr>
              <a:t>changed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sz="3000" spc="-127" dirty="0">
                <a:latin typeface="Arial"/>
                <a:cs typeface="Arial"/>
              </a:rPr>
              <a:t>over</a:t>
            </a:r>
            <a:r>
              <a:rPr sz="3000" spc="-90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time.</a:t>
            </a:r>
            <a:endParaRPr sz="300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20650" y="1174264"/>
            <a:ext cx="10888026" cy="5635943"/>
            <a:chOff x="4480433" y="782842"/>
            <a:chExt cx="7258684" cy="3757295"/>
          </a:xfrm>
        </p:grpSpPr>
        <p:sp>
          <p:nvSpPr>
            <p:cNvPr id="18" name="object 18"/>
            <p:cNvSpPr/>
            <p:nvPr/>
          </p:nvSpPr>
          <p:spPr>
            <a:xfrm>
              <a:off x="4483608" y="2962655"/>
              <a:ext cx="0" cy="1574165"/>
            </a:xfrm>
            <a:custGeom>
              <a:avLst/>
              <a:gdLst/>
              <a:ahLst/>
              <a:cxnLst/>
              <a:rect l="l" t="t" r="r" b="b"/>
              <a:pathLst>
                <a:path h="1574164">
                  <a:moveTo>
                    <a:pt x="0" y="0"/>
                  </a:moveTo>
                  <a:lnTo>
                    <a:pt x="0" y="1573745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807452" y="2939796"/>
              <a:ext cx="0" cy="1423035"/>
            </a:xfrm>
            <a:custGeom>
              <a:avLst/>
              <a:gdLst/>
              <a:ahLst/>
              <a:cxnLst/>
              <a:rect l="l" t="t" r="r" b="b"/>
              <a:pathLst>
                <a:path h="1423035">
                  <a:moveTo>
                    <a:pt x="0" y="0"/>
                  </a:moveTo>
                  <a:lnTo>
                    <a:pt x="0" y="1422438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9429195" y="782842"/>
              <a:ext cx="2310130" cy="1261110"/>
            </a:xfrm>
            <a:custGeom>
              <a:avLst/>
              <a:gdLst/>
              <a:ahLst/>
              <a:cxnLst/>
              <a:rect l="l" t="t" r="r" b="b"/>
              <a:pathLst>
                <a:path w="2310129" h="1261110">
                  <a:moveTo>
                    <a:pt x="1411066" y="0"/>
                  </a:moveTo>
                  <a:lnTo>
                    <a:pt x="1360047" y="3945"/>
                  </a:lnTo>
                  <a:lnTo>
                    <a:pt x="1311624" y="15990"/>
                  </a:lnTo>
                  <a:lnTo>
                    <a:pt x="1267674" y="35666"/>
                  </a:lnTo>
                  <a:lnTo>
                    <a:pt x="1230074" y="62509"/>
                  </a:lnTo>
                  <a:lnTo>
                    <a:pt x="1200701" y="96049"/>
                  </a:lnTo>
                  <a:lnTo>
                    <a:pt x="1185507" y="85694"/>
                  </a:lnTo>
                  <a:lnTo>
                    <a:pt x="1134508" y="59905"/>
                  </a:lnTo>
                  <a:lnTo>
                    <a:pt x="1087139" y="45044"/>
                  </a:lnTo>
                  <a:lnTo>
                    <a:pt x="1038375" y="36916"/>
                  </a:lnTo>
                  <a:lnTo>
                    <a:pt x="989303" y="35272"/>
                  </a:lnTo>
                  <a:lnTo>
                    <a:pt x="941012" y="39865"/>
                  </a:lnTo>
                  <a:lnTo>
                    <a:pt x="894589" y="50445"/>
                  </a:lnTo>
                  <a:lnTo>
                    <a:pt x="851122" y="66766"/>
                  </a:lnTo>
                  <a:lnTo>
                    <a:pt x="811700" y="88578"/>
                  </a:lnTo>
                  <a:lnTo>
                    <a:pt x="777411" y="115635"/>
                  </a:lnTo>
                  <a:lnTo>
                    <a:pt x="749343" y="147687"/>
                  </a:lnTo>
                  <a:lnTo>
                    <a:pt x="706258" y="131695"/>
                  </a:lnTo>
                  <a:lnTo>
                    <a:pt x="660996" y="120172"/>
                  </a:lnTo>
                  <a:lnTo>
                    <a:pt x="614182" y="113213"/>
                  </a:lnTo>
                  <a:lnTo>
                    <a:pt x="566440" y="110911"/>
                  </a:lnTo>
                  <a:lnTo>
                    <a:pt x="518393" y="113359"/>
                  </a:lnTo>
                  <a:lnTo>
                    <a:pt x="466107" y="121578"/>
                  </a:lnTo>
                  <a:lnTo>
                    <a:pt x="417232" y="135042"/>
                  </a:lnTo>
                  <a:lnTo>
                    <a:pt x="372244" y="153282"/>
                  </a:lnTo>
                  <a:lnTo>
                    <a:pt x="331622" y="175834"/>
                  </a:lnTo>
                  <a:lnTo>
                    <a:pt x="295843" y="202228"/>
                  </a:lnTo>
                  <a:lnTo>
                    <a:pt x="265385" y="232000"/>
                  </a:lnTo>
                  <a:lnTo>
                    <a:pt x="240724" y="264681"/>
                  </a:lnTo>
                  <a:lnTo>
                    <a:pt x="222340" y="299804"/>
                  </a:lnTo>
                  <a:lnTo>
                    <a:pt x="210709" y="336904"/>
                  </a:lnTo>
                  <a:lnTo>
                    <a:pt x="206309" y="375512"/>
                  </a:lnTo>
                  <a:lnTo>
                    <a:pt x="209618" y="415162"/>
                  </a:lnTo>
                  <a:lnTo>
                    <a:pt x="207675" y="419086"/>
                  </a:lnTo>
                  <a:lnTo>
                    <a:pt x="154326" y="428033"/>
                  </a:lnTo>
                  <a:lnTo>
                    <a:pt x="105875" y="445770"/>
                  </a:lnTo>
                  <a:lnTo>
                    <a:pt x="64211" y="471387"/>
                  </a:lnTo>
                  <a:lnTo>
                    <a:pt x="31221" y="503973"/>
                  </a:lnTo>
                  <a:lnTo>
                    <a:pt x="9619" y="540602"/>
                  </a:lnTo>
                  <a:lnTo>
                    <a:pt x="0" y="578697"/>
                  </a:lnTo>
                  <a:lnTo>
                    <a:pt x="1864" y="616831"/>
                  </a:lnTo>
                  <a:lnTo>
                    <a:pt x="14714" y="653582"/>
                  </a:lnTo>
                  <a:lnTo>
                    <a:pt x="38052" y="687524"/>
                  </a:lnTo>
                  <a:lnTo>
                    <a:pt x="71381" y="717233"/>
                  </a:lnTo>
                  <a:lnTo>
                    <a:pt x="114203" y="741285"/>
                  </a:lnTo>
                  <a:lnTo>
                    <a:pt x="83740" y="771422"/>
                  </a:lnTo>
                  <a:lnTo>
                    <a:pt x="63001" y="805326"/>
                  </a:lnTo>
                  <a:lnTo>
                    <a:pt x="52547" y="841739"/>
                  </a:lnTo>
                  <a:lnTo>
                    <a:pt x="52938" y="879398"/>
                  </a:lnTo>
                  <a:lnTo>
                    <a:pt x="65269" y="918184"/>
                  </a:lnTo>
                  <a:lnTo>
                    <a:pt x="88381" y="952764"/>
                  </a:lnTo>
                  <a:lnTo>
                    <a:pt x="120724" y="982227"/>
                  </a:lnTo>
                  <a:lnTo>
                    <a:pt x="160744" y="1005666"/>
                  </a:lnTo>
                  <a:lnTo>
                    <a:pt x="206891" y="1022171"/>
                  </a:lnTo>
                  <a:lnTo>
                    <a:pt x="257613" y="1030833"/>
                  </a:lnTo>
                  <a:lnTo>
                    <a:pt x="311358" y="1030743"/>
                  </a:lnTo>
                  <a:lnTo>
                    <a:pt x="315714" y="1036293"/>
                  </a:lnTo>
                  <a:lnTo>
                    <a:pt x="345117" y="1068127"/>
                  </a:lnTo>
                  <a:lnTo>
                    <a:pt x="378818" y="1096364"/>
                  </a:lnTo>
                  <a:lnTo>
                    <a:pt x="416286" y="1120906"/>
                  </a:lnTo>
                  <a:lnTo>
                    <a:pt x="456993" y="1141655"/>
                  </a:lnTo>
                  <a:lnTo>
                    <a:pt x="500406" y="1158512"/>
                  </a:lnTo>
                  <a:lnTo>
                    <a:pt x="545996" y="1171379"/>
                  </a:lnTo>
                  <a:lnTo>
                    <a:pt x="593234" y="1180157"/>
                  </a:lnTo>
                  <a:lnTo>
                    <a:pt x="641588" y="1184748"/>
                  </a:lnTo>
                  <a:lnTo>
                    <a:pt x="690528" y="1185052"/>
                  </a:lnTo>
                  <a:lnTo>
                    <a:pt x="739525" y="1180972"/>
                  </a:lnTo>
                  <a:lnTo>
                    <a:pt x="788047" y="1172408"/>
                  </a:lnTo>
                  <a:lnTo>
                    <a:pt x="835566" y="1159263"/>
                  </a:lnTo>
                  <a:lnTo>
                    <a:pt x="881550" y="1141437"/>
                  </a:lnTo>
                  <a:lnTo>
                    <a:pt x="912007" y="1170795"/>
                  </a:lnTo>
                  <a:lnTo>
                    <a:pt x="947331" y="1196575"/>
                  </a:lnTo>
                  <a:lnTo>
                    <a:pt x="986956" y="1218466"/>
                  </a:lnTo>
                  <a:lnTo>
                    <a:pt x="1030318" y="1236156"/>
                  </a:lnTo>
                  <a:lnTo>
                    <a:pt x="1076850" y="1249336"/>
                  </a:lnTo>
                  <a:lnTo>
                    <a:pt x="1128989" y="1258059"/>
                  </a:lnTo>
                  <a:lnTo>
                    <a:pt x="1180962" y="1260943"/>
                  </a:lnTo>
                  <a:lnTo>
                    <a:pt x="1232074" y="1258266"/>
                  </a:lnTo>
                  <a:lnTo>
                    <a:pt x="1281629" y="1250305"/>
                  </a:lnTo>
                  <a:lnTo>
                    <a:pt x="1328933" y="1237338"/>
                  </a:lnTo>
                  <a:lnTo>
                    <a:pt x="1373289" y="1219642"/>
                  </a:lnTo>
                  <a:lnTo>
                    <a:pt x="1414001" y="1197494"/>
                  </a:lnTo>
                  <a:lnTo>
                    <a:pt x="1450375" y="1171172"/>
                  </a:lnTo>
                  <a:lnTo>
                    <a:pt x="1481714" y="1140953"/>
                  </a:lnTo>
                  <a:lnTo>
                    <a:pt x="1507323" y="1107115"/>
                  </a:lnTo>
                  <a:lnTo>
                    <a:pt x="1526506" y="1069936"/>
                  </a:lnTo>
                  <a:lnTo>
                    <a:pt x="1564072" y="1084791"/>
                  </a:lnTo>
                  <a:lnTo>
                    <a:pt x="1603838" y="1095629"/>
                  </a:lnTo>
                  <a:lnTo>
                    <a:pt x="1645227" y="1102327"/>
                  </a:lnTo>
                  <a:lnTo>
                    <a:pt x="1687657" y="1104759"/>
                  </a:lnTo>
                  <a:lnTo>
                    <a:pt x="1743234" y="1101392"/>
                  </a:lnTo>
                  <a:lnTo>
                    <a:pt x="1795621" y="1091042"/>
                  </a:lnTo>
                  <a:lnTo>
                    <a:pt x="1843938" y="1074353"/>
                  </a:lnTo>
                  <a:lnTo>
                    <a:pt x="1887305" y="1051967"/>
                  </a:lnTo>
                  <a:lnTo>
                    <a:pt x="1924842" y="1024527"/>
                  </a:lnTo>
                  <a:lnTo>
                    <a:pt x="1955670" y="992675"/>
                  </a:lnTo>
                  <a:lnTo>
                    <a:pt x="1978909" y="957056"/>
                  </a:lnTo>
                  <a:lnTo>
                    <a:pt x="1993678" y="918312"/>
                  </a:lnTo>
                  <a:lnTo>
                    <a:pt x="1999099" y="877086"/>
                  </a:lnTo>
                  <a:lnTo>
                    <a:pt x="2044584" y="870015"/>
                  </a:lnTo>
                  <a:lnTo>
                    <a:pt x="2088296" y="858722"/>
                  </a:lnTo>
                  <a:lnTo>
                    <a:pt x="2129710" y="843371"/>
                  </a:lnTo>
                  <a:lnTo>
                    <a:pt x="2168301" y="824127"/>
                  </a:lnTo>
                  <a:lnTo>
                    <a:pt x="2211966" y="794759"/>
                  </a:lnTo>
                  <a:lnTo>
                    <a:pt x="2247772" y="761464"/>
                  </a:lnTo>
                  <a:lnTo>
                    <a:pt x="2275582" y="725019"/>
                  </a:lnTo>
                  <a:lnTo>
                    <a:pt x="2295259" y="686202"/>
                  </a:lnTo>
                  <a:lnTo>
                    <a:pt x="2306666" y="645787"/>
                  </a:lnTo>
                  <a:lnTo>
                    <a:pt x="2309666" y="604553"/>
                  </a:lnTo>
                  <a:lnTo>
                    <a:pt x="2304123" y="563276"/>
                  </a:lnTo>
                  <a:lnTo>
                    <a:pt x="2289899" y="522732"/>
                  </a:lnTo>
                  <a:lnTo>
                    <a:pt x="2266858" y="483697"/>
                  </a:lnTo>
                  <a:lnTo>
                    <a:pt x="2234862" y="446950"/>
                  </a:lnTo>
                  <a:lnTo>
                    <a:pt x="2238607" y="440112"/>
                  </a:lnTo>
                  <a:lnTo>
                    <a:pt x="2242031" y="433185"/>
                  </a:lnTo>
                  <a:lnTo>
                    <a:pt x="2245131" y="426174"/>
                  </a:lnTo>
                  <a:lnTo>
                    <a:pt x="2247904" y="419086"/>
                  </a:lnTo>
                  <a:lnTo>
                    <a:pt x="2257402" y="376690"/>
                  </a:lnTo>
                  <a:lnTo>
                    <a:pt x="2255434" y="335010"/>
                  </a:lnTo>
                  <a:lnTo>
                    <a:pt x="2242807" y="295092"/>
                  </a:lnTo>
                  <a:lnTo>
                    <a:pt x="2220323" y="257985"/>
                  </a:lnTo>
                  <a:lnTo>
                    <a:pt x="2188787" y="224735"/>
                  </a:lnTo>
                  <a:lnTo>
                    <a:pt x="2149003" y="196389"/>
                  </a:lnTo>
                  <a:lnTo>
                    <a:pt x="2101774" y="173993"/>
                  </a:lnTo>
                  <a:lnTo>
                    <a:pt x="2047905" y="158596"/>
                  </a:lnTo>
                  <a:lnTo>
                    <a:pt x="2036182" y="126511"/>
                  </a:lnTo>
                  <a:lnTo>
                    <a:pt x="1991900" y="69541"/>
                  </a:lnTo>
                  <a:lnTo>
                    <a:pt x="1960338" y="45935"/>
                  </a:lnTo>
                  <a:lnTo>
                    <a:pt x="1917048" y="23844"/>
                  </a:lnTo>
                  <a:lnTo>
                    <a:pt x="1870127" y="9044"/>
                  </a:lnTo>
                  <a:lnTo>
                    <a:pt x="1821048" y="1443"/>
                  </a:lnTo>
                  <a:lnTo>
                    <a:pt x="1771278" y="953"/>
                  </a:lnTo>
                  <a:lnTo>
                    <a:pt x="1722289" y="7483"/>
                  </a:lnTo>
                  <a:lnTo>
                    <a:pt x="1675551" y="20944"/>
                  </a:lnTo>
                  <a:lnTo>
                    <a:pt x="1632533" y="41246"/>
                  </a:lnTo>
                  <a:lnTo>
                    <a:pt x="1594705" y="68299"/>
                  </a:lnTo>
                  <a:lnTo>
                    <a:pt x="1577370" y="53252"/>
                  </a:lnTo>
                  <a:lnTo>
                    <a:pt x="1557904" y="39815"/>
                  </a:lnTo>
                  <a:lnTo>
                    <a:pt x="1536509" y="28114"/>
                  </a:lnTo>
                  <a:lnTo>
                    <a:pt x="1513387" y="18274"/>
                  </a:lnTo>
                  <a:lnTo>
                    <a:pt x="1462805" y="4620"/>
                  </a:lnTo>
                  <a:lnTo>
                    <a:pt x="1411066" y="0"/>
                  </a:lnTo>
                  <a:close/>
                </a:path>
              </a:pathLst>
            </a:custGeom>
            <a:solidFill>
              <a:srgbClr val="C3D9F5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094071" y="1625476"/>
            <a:ext cx="1321116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8098" marR="7620" indent="-2858" algn="ctr">
              <a:spcBef>
                <a:spcPts val="150"/>
              </a:spcBef>
            </a:pPr>
            <a:r>
              <a:rPr b="1" spc="-150" dirty="0">
                <a:latin typeface="Arial"/>
                <a:cs typeface="Arial"/>
              </a:rPr>
              <a:t>Varies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across </a:t>
            </a:r>
            <a:r>
              <a:rPr b="1" spc="-15" dirty="0">
                <a:latin typeface="Arial"/>
                <a:cs typeface="Arial"/>
              </a:rPr>
              <a:t>countries </a:t>
            </a:r>
            <a:r>
              <a:rPr b="1" spc="-83" dirty="0">
                <a:latin typeface="Arial"/>
                <a:cs typeface="Arial"/>
              </a:rPr>
              <a:t>(e.g.,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158" dirty="0">
                <a:latin typeface="Arial"/>
                <a:cs typeface="Arial"/>
              </a:rPr>
              <a:t>3%,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143" dirty="0">
                <a:latin typeface="Arial"/>
                <a:cs typeface="Arial"/>
              </a:rPr>
              <a:t>5%)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49013" y="5298514"/>
            <a:ext cx="3438525" cy="1987868"/>
          </a:xfrm>
          <a:custGeom>
            <a:avLst/>
            <a:gdLst/>
            <a:ahLst/>
            <a:cxnLst/>
            <a:rect l="l" t="t" r="r" b="b"/>
            <a:pathLst>
              <a:path w="2292350" h="1325245">
                <a:moveTo>
                  <a:pt x="1400818" y="0"/>
                </a:moveTo>
                <a:lnTo>
                  <a:pt x="1350167" y="4147"/>
                </a:lnTo>
                <a:lnTo>
                  <a:pt x="1302095" y="16804"/>
                </a:lnTo>
                <a:lnTo>
                  <a:pt x="1258463" y="37481"/>
                </a:lnTo>
                <a:lnTo>
                  <a:pt x="1221137" y="65687"/>
                </a:lnTo>
                <a:lnTo>
                  <a:pt x="1191977" y="100932"/>
                </a:lnTo>
                <a:lnTo>
                  <a:pt x="1176893" y="90052"/>
                </a:lnTo>
                <a:lnTo>
                  <a:pt x="1126267" y="62959"/>
                </a:lnTo>
                <a:lnTo>
                  <a:pt x="1079241" y="47342"/>
                </a:lnTo>
                <a:lnTo>
                  <a:pt x="1030830" y="38800"/>
                </a:lnTo>
                <a:lnTo>
                  <a:pt x="982114" y="37072"/>
                </a:lnTo>
                <a:lnTo>
                  <a:pt x="934173" y="41897"/>
                </a:lnTo>
                <a:lnTo>
                  <a:pt x="888087" y="53015"/>
                </a:lnTo>
                <a:lnTo>
                  <a:pt x="844937" y="70164"/>
                </a:lnTo>
                <a:lnTo>
                  <a:pt x="805802" y="93085"/>
                </a:lnTo>
                <a:lnTo>
                  <a:pt x="771761" y="121517"/>
                </a:lnTo>
                <a:lnTo>
                  <a:pt x="743896" y="155199"/>
                </a:lnTo>
                <a:lnTo>
                  <a:pt x="701124" y="138390"/>
                </a:lnTo>
                <a:lnTo>
                  <a:pt x="656191" y="126281"/>
                </a:lnTo>
                <a:lnTo>
                  <a:pt x="609716" y="118968"/>
                </a:lnTo>
                <a:lnTo>
                  <a:pt x="562319" y="116548"/>
                </a:lnTo>
                <a:lnTo>
                  <a:pt x="514623" y="119118"/>
                </a:lnTo>
                <a:lnTo>
                  <a:pt x="462720" y="127755"/>
                </a:lnTo>
                <a:lnTo>
                  <a:pt x="414201" y="141903"/>
                </a:lnTo>
                <a:lnTo>
                  <a:pt x="369542" y="161070"/>
                </a:lnTo>
                <a:lnTo>
                  <a:pt x="329215" y="184767"/>
                </a:lnTo>
                <a:lnTo>
                  <a:pt x="293695" y="212502"/>
                </a:lnTo>
                <a:lnTo>
                  <a:pt x="263458" y="243785"/>
                </a:lnTo>
                <a:lnTo>
                  <a:pt x="238976" y="278125"/>
                </a:lnTo>
                <a:lnTo>
                  <a:pt x="220725" y="315033"/>
                </a:lnTo>
                <a:lnTo>
                  <a:pt x="209178" y="354016"/>
                </a:lnTo>
                <a:lnTo>
                  <a:pt x="204810" y="394586"/>
                </a:lnTo>
                <a:lnTo>
                  <a:pt x="208095" y="436250"/>
                </a:lnTo>
                <a:lnTo>
                  <a:pt x="206165" y="440378"/>
                </a:lnTo>
                <a:lnTo>
                  <a:pt x="153209" y="449779"/>
                </a:lnTo>
                <a:lnTo>
                  <a:pt x="105111" y="468414"/>
                </a:lnTo>
                <a:lnTo>
                  <a:pt x="63747" y="495329"/>
                </a:lnTo>
                <a:lnTo>
                  <a:pt x="30994" y="529570"/>
                </a:lnTo>
                <a:lnTo>
                  <a:pt x="9549" y="568062"/>
                </a:lnTo>
                <a:lnTo>
                  <a:pt x="0" y="608092"/>
                </a:lnTo>
                <a:lnTo>
                  <a:pt x="1851" y="648165"/>
                </a:lnTo>
                <a:lnTo>
                  <a:pt x="14609" y="686782"/>
                </a:lnTo>
                <a:lnTo>
                  <a:pt x="37779" y="722447"/>
                </a:lnTo>
                <a:lnTo>
                  <a:pt x="70867" y="753664"/>
                </a:lnTo>
                <a:lnTo>
                  <a:pt x="113379" y="778934"/>
                </a:lnTo>
                <a:lnTo>
                  <a:pt x="83139" y="810600"/>
                </a:lnTo>
                <a:lnTo>
                  <a:pt x="62550" y="846228"/>
                </a:lnTo>
                <a:lnTo>
                  <a:pt x="52168" y="884490"/>
                </a:lnTo>
                <a:lnTo>
                  <a:pt x="52546" y="924057"/>
                </a:lnTo>
                <a:lnTo>
                  <a:pt x="64789" y="964815"/>
                </a:lnTo>
                <a:lnTo>
                  <a:pt x="87734" y="1001152"/>
                </a:lnTo>
                <a:lnTo>
                  <a:pt x="119842" y="1032113"/>
                </a:lnTo>
                <a:lnTo>
                  <a:pt x="159572" y="1056742"/>
                </a:lnTo>
                <a:lnTo>
                  <a:pt x="205384" y="1074087"/>
                </a:lnTo>
                <a:lnTo>
                  <a:pt x="255740" y="1083191"/>
                </a:lnTo>
                <a:lnTo>
                  <a:pt x="309099" y="1083099"/>
                </a:lnTo>
                <a:lnTo>
                  <a:pt x="313429" y="1088916"/>
                </a:lnTo>
                <a:lnTo>
                  <a:pt x="342616" y="1122368"/>
                </a:lnTo>
                <a:lnTo>
                  <a:pt x="376070" y="1152040"/>
                </a:lnTo>
                <a:lnTo>
                  <a:pt x="413265" y="1177831"/>
                </a:lnTo>
                <a:lnTo>
                  <a:pt x="453674" y="1199635"/>
                </a:lnTo>
                <a:lnTo>
                  <a:pt x="496770" y="1217349"/>
                </a:lnTo>
                <a:lnTo>
                  <a:pt x="542029" y="1230870"/>
                </a:lnTo>
                <a:lnTo>
                  <a:pt x="588922" y="1240095"/>
                </a:lnTo>
                <a:lnTo>
                  <a:pt x="636923" y="1244920"/>
                </a:lnTo>
                <a:lnTo>
                  <a:pt x="685507" y="1245241"/>
                </a:lnTo>
                <a:lnTo>
                  <a:pt x="734147" y="1240954"/>
                </a:lnTo>
                <a:lnTo>
                  <a:pt x="782316" y="1231958"/>
                </a:lnTo>
                <a:lnTo>
                  <a:pt x="829489" y="1218147"/>
                </a:lnTo>
                <a:lnTo>
                  <a:pt x="875138" y="1199418"/>
                </a:lnTo>
                <a:lnTo>
                  <a:pt x="905376" y="1230263"/>
                </a:lnTo>
                <a:lnTo>
                  <a:pt x="940445" y="1257350"/>
                </a:lnTo>
                <a:lnTo>
                  <a:pt x="979782" y="1280353"/>
                </a:lnTo>
                <a:lnTo>
                  <a:pt x="1022830" y="1298943"/>
                </a:lnTo>
                <a:lnTo>
                  <a:pt x="1069028" y="1312791"/>
                </a:lnTo>
                <a:lnTo>
                  <a:pt x="1120788" y="1321957"/>
                </a:lnTo>
                <a:lnTo>
                  <a:pt x="1172383" y="1324987"/>
                </a:lnTo>
                <a:lnTo>
                  <a:pt x="1223123" y="1322173"/>
                </a:lnTo>
                <a:lnTo>
                  <a:pt x="1272318" y="1313807"/>
                </a:lnTo>
                <a:lnTo>
                  <a:pt x="1319277" y="1300180"/>
                </a:lnTo>
                <a:lnTo>
                  <a:pt x="1363310" y="1281585"/>
                </a:lnTo>
                <a:lnTo>
                  <a:pt x="1403726" y="1258312"/>
                </a:lnTo>
                <a:lnTo>
                  <a:pt x="1439836" y="1230655"/>
                </a:lnTo>
                <a:lnTo>
                  <a:pt x="1470949" y="1198903"/>
                </a:lnTo>
                <a:lnTo>
                  <a:pt x="1496374" y="1163349"/>
                </a:lnTo>
                <a:lnTo>
                  <a:pt x="1515421" y="1124285"/>
                </a:lnTo>
                <a:lnTo>
                  <a:pt x="1552710" y="1139889"/>
                </a:lnTo>
                <a:lnTo>
                  <a:pt x="1592186" y="1151274"/>
                </a:lnTo>
                <a:lnTo>
                  <a:pt x="1633271" y="1158309"/>
                </a:lnTo>
                <a:lnTo>
                  <a:pt x="1675390" y="1160861"/>
                </a:lnTo>
                <a:lnTo>
                  <a:pt x="1730566" y="1157323"/>
                </a:lnTo>
                <a:lnTo>
                  <a:pt x="1782574" y="1146448"/>
                </a:lnTo>
                <a:lnTo>
                  <a:pt x="1830541" y="1128912"/>
                </a:lnTo>
                <a:lnTo>
                  <a:pt x="1873594" y="1105390"/>
                </a:lnTo>
                <a:lnTo>
                  <a:pt x="1910859" y="1076558"/>
                </a:lnTo>
                <a:lnTo>
                  <a:pt x="1941464" y="1043090"/>
                </a:lnTo>
                <a:lnTo>
                  <a:pt x="1964536" y="1005663"/>
                </a:lnTo>
                <a:lnTo>
                  <a:pt x="1979200" y="964951"/>
                </a:lnTo>
                <a:lnTo>
                  <a:pt x="1984584" y="921631"/>
                </a:lnTo>
                <a:lnTo>
                  <a:pt x="2029733" y="914202"/>
                </a:lnTo>
                <a:lnTo>
                  <a:pt x="2073125" y="902337"/>
                </a:lnTo>
                <a:lnTo>
                  <a:pt x="2114236" y="886209"/>
                </a:lnTo>
                <a:lnTo>
                  <a:pt x="2152542" y="865993"/>
                </a:lnTo>
                <a:lnTo>
                  <a:pt x="2192268" y="838121"/>
                </a:lnTo>
                <a:lnTo>
                  <a:pt x="2225558" y="806778"/>
                </a:lnTo>
                <a:lnTo>
                  <a:pt x="2252308" y="772577"/>
                </a:lnTo>
                <a:lnTo>
                  <a:pt x="2272417" y="736131"/>
                </a:lnTo>
                <a:lnTo>
                  <a:pt x="2285782" y="698054"/>
                </a:lnTo>
                <a:lnTo>
                  <a:pt x="2292300" y="658957"/>
                </a:lnTo>
                <a:lnTo>
                  <a:pt x="2291871" y="619455"/>
                </a:lnTo>
                <a:lnTo>
                  <a:pt x="2284390" y="580161"/>
                </a:lnTo>
                <a:lnTo>
                  <a:pt x="2269756" y="541687"/>
                </a:lnTo>
                <a:lnTo>
                  <a:pt x="2247867" y="504646"/>
                </a:lnTo>
                <a:lnTo>
                  <a:pt x="2218620" y="469651"/>
                </a:lnTo>
                <a:lnTo>
                  <a:pt x="2222344" y="462468"/>
                </a:lnTo>
                <a:lnTo>
                  <a:pt x="2225744" y="455189"/>
                </a:lnTo>
                <a:lnTo>
                  <a:pt x="2228821" y="447820"/>
                </a:lnTo>
                <a:lnTo>
                  <a:pt x="2231574" y="440365"/>
                </a:lnTo>
                <a:lnTo>
                  <a:pt x="2241004" y="395820"/>
                </a:lnTo>
                <a:lnTo>
                  <a:pt x="2239051" y="352026"/>
                </a:lnTo>
                <a:lnTo>
                  <a:pt x="2226515" y="310083"/>
                </a:lnTo>
                <a:lnTo>
                  <a:pt x="2204193" y="271091"/>
                </a:lnTo>
                <a:lnTo>
                  <a:pt x="2172884" y="236152"/>
                </a:lnTo>
                <a:lnTo>
                  <a:pt x="2133386" y="206366"/>
                </a:lnTo>
                <a:lnTo>
                  <a:pt x="2086500" y="182833"/>
                </a:lnTo>
                <a:lnTo>
                  <a:pt x="2033022" y="166654"/>
                </a:lnTo>
                <a:lnTo>
                  <a:pt x="2021384" y="132938"/>
                </a:lnTo>
                <a:lnTo>
                  <a:pt x="1977424" y="73078"/>
                </a:lnTo>
                <a:lnTo>
                  <a:pt x="1946090" y="48278"/>
                </a:lnTo>
                <a:lnTo>
                  <a:pt x="1903116" y="25064"/>
                </a:lnTo>
                <a:lnTo>
                  <a:pt x="1856537" y="9511"/>
                </a:lnTo>
                <a:lnTo>
                  <a:pt x="1807814" y="1524"/>
                </a:lnTo>
                <a:lnTo>
                  <a:pt x="1758407" y="1008"/>
                </a:lnTo>
                <a:lnTo>
                  <a:pt x="1709774" y="7870"/>
                </a:lnTo>
                <a:lnTo>
                  <a:pt x="1663377" y="22014"/>
                </a:lnTo>
                <a:lnTo>
                  <a:pt x="1620673" y="43346"/>
                </a:lnTo>
                <a:lnTo>
                  <a:pt x="1583124" y="71773"/>
                </a:lnTo>
                <a:lnTo>
                  <a:pt x="1565913" y="55964"/>
                </a:lnTo>
                <a:lnTo>
                  <a:pt x="1546588" y="41845"/>
                </a:lnTo>
                <a:lnTo>
                  <a:pt x="1525351" y="29546"/>
                </a:lnTo>
                <a:lnTo>
                  <a:pt x="1502403" y="19195"/>
                </a:lnTo>
                <a:lnTo>
                  <a:pt x="1452185" y="4852"/>
                </a:lnTo>
                <a:lnTo>
                  <a:pt x="1400818" y="0"/>
                </a:lnTo>
                <a:close/>
              </a:path>
            </a:pathLst>
          </a:custGeom>
          <a:solidFill>
            <a:srgbClr val="C3D9F5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3" name="object 23"/>
          <p:cNvSpPr txBox="1"/>
          <p:nvPr/>
        </p:nvSpPr>
        <p:spPr>
          <a:xfrm>
            <a:off x="1454551" y="6015003"/>
            <a:ext cx="1351598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803" dirty="0">
                <a:latin typeface="Arial"/>
                <a:cs typeface="Arial"/>
              </a:rPr>
              <a:t>𝑃𝑃𝑃𝑃</a:t>
            </a:r>
            <a:r>
              <a:rPr spc="53" dirty="0">
                <a:latin typeface="Arial"/>
                <a:cs typeface="Arial"/>
              </a:rPr>
              <a:t> </a:t>
            </a:r>
            <a:r>
              <a:rPr spc="293" dirty="0">
                <a:latin typeface="Arial"/>
                <a:cs typeface="Arial"/>
              </a:rPr>
              <a:t>=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915" dirty="0">
                <a:latin typeface="Arial"/>
                <a:cs typeface="Arial"/>
              </a:rPr>
              <a:t>𝐶𝐶𝐶𝐶𝐶𝐶𝐶𝐶</a:t>
            </a:r>
            <a:r>
              <a:rPr spc="338" dirty="0">
                <a:latin typeface="Arial"/>
                <a:cs typeface="Arial"/>
              </a:rPr>
              <a:t> </a:t>
            </a:r>
            <a:r>
              <a:rPr spc="135" dirty="0">
                <a:latin typeface="Arial"/>
                <a:cs typeface="Arial"/>
              </a:rPr>
              <a:t>×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38342" y="6189500"/>
            <a:ext cx="1003935" cy="16193"/>
          </a:xfrm>
          <a:custGeom>
            <a:avLst/>
            <a:gdLst/>
            <a:ahLst/>
            <a:cxnLst/>
            <a:rect l="l" t="t" r="r" b="b"/>
            <a:pathLst>
              <a:path w="669289" h="10795">
                <a:moveTo>
                  <a:pt x="669036" y="0"/>
                </a:moveTo>
                <a:lnTo>
                  <a:pt x="334518" y="0"/>
                </a:lnTo>
                <a:lnTo>
                  <a:pt x="0" y="0"/>
                </a:lnTo>
                <a:lnTo>
                  <a:pt x="0" y="10668"/>
                </a:lnTo>
                <a:lnTo>
                  <a:pt x="669036" y="10668"/>
                </a:lnTo>
                <a:lnTo>
                  <a:pt x="669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5" name="object 25"/>
          <p:cNvSpPr txBox="1"/>
          <p:nvPr/>
        </p:nvSpPr>
        <p:spPr>
          <a:xfrm>
            <a:off x="2781192" y="5880130"/>
            <a:ext cx="1104900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>
              <a:spcBef>
                <a:spcPts val="150"/>
              </a:spcBef>
            </a:pPr>
            <a:r>
              <a:rPr sz="2700" spc="-1068" baseline="11574" dirty="0">
                <a:latin typeface="Arial"/>
                <a:cs typeface="Arial"/>
              </a:rPr>
              <a:t>𝐶𝐶𝑃𝑃𝐶𝐶</a:t>
            </a:r>
            <a:r>
              <a:rPr sz="1275" spc="-713" dirty="0">
                <a:latin typeface="Arial"/>
                <a:cs typeface="Arial"/>
              </a:rPr>
              <a:t>𝑝𝑝𝑝𝑝𝑝𝑝𝑝𝑝𝑝𝑝𝑝𝑝𝑝𝑝</a:t>
            </a:r>
            <a:endParaRPr sz="1275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8352" y="6213886"/>
            <a:ext cx="830580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>
              <a:spcBef>
                <a:spcPts val="150"/>
              </a:spcBef>
            </a:pPr>
            <a:r>
              <a:rPr sz="2700" spc="-1125" baseline="11574" dirty="0">
                <a:latin typeface="Arial"/>
                <a:cs typeface="Arial"/>
              </a:rPr>
              <a:t>𝐶𝐶𝑃𝑃𝐶𝐶</a:t>
            </a:r>
            <a:r>
              <a:rPr sz="1275" spc="-750" dirty="0">
                <a:latin typeface="Arial"/>
                <a:cs typeface="Arial"/>
              </a:rPr>
              <a:t>𝑝𝑝𝑝𝑝𝑝𝑝𝑝𝑝</a:t>
            </a:r>
            <a:endParaRPr sz="127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911" y="9813520"/>
            <a:ext cx="4048125" cy="27315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1650" spc="-217" dirty="0">
                <a:latin typeface="Arial"/>
                <a:cs typeface="Arial"/>
              </a:rPr>
              <a:t>PV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143" dirty="0">
                <a:latin typeface="Arial"/>
                <a:cs typeface="Arial"/>
              </a:rPr>
              <a:t>=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90" dirty="0">
                <a:latin typeface="Arial"/>
                <a:cs typeface="Arial"/>
              </a:rPr>
              <a:t>Present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value;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210" dirty="0">
                <a:latin typeface="Arial"/>
                <a:cs typeface="Arial"/>
              </a:rPr>
              <a:t>CPI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43" dirty="0">
                <a:latin typeface="Arial"/>
                <a:cs typeface="Arial"/>
              </a:rPr>
              <a:t>=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113" dirty="0">
                <a:latin typeface="Arial"/>
                <a:cs typeface="Arial"/>
              </a:rPr>
              <a:t>Consumer</a:t>
            </a:r>
            <a:r>
              <a:rPr sz="1650" spc="-105" dirty="0">
                <a:latin typeface="Arial"/>
                <a:cs typeface="Arial"/>
              </a:rPr>
              <a:t> Price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Index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335F54C8-9359-E6BB-E7FB-B7ACE53C51F1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29" name="Freeform 4">
              <a:extLst>
                <a:ext uri="{FF2B5EF4-FFF2-40B4-BE49-F238E27FC236}">
                  <a16:creationId xmlns:a16="http://schemas.microsoft.com/office/drawing/2014/main" id="{A0C9BAD3-D156-2FD3-984E-793F297D4381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9D169147-398A-3F48-2478-52794499B14B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8053B6F2-C8B9-238D-8C3C-AA8BDAF1D95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E171A101-CC84-3C1D-ABB0-9177D83025C2}"/>
              </a:ext>
            </a:extLst>
          </p:cNvPr>
          <p:cNvSpPr/>
          <p:nvPr/>
        </p:nvSpPr>
        <p:spPr>
          <a:xfrm flipH="1" flipV="1">
            <a:off x="28304" y="-50547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8B02B8F-1C80-1DFA-1AFA-1D659B175141}"/>
              </a:ext>
            </a:extLst>
          </p:cNvPr>
          <p:cNvSpPr/>
          <p:nvPr/>
        </p:nvSpPr>
        <p:spPr>
          <a:xfrm flipH="1" flipV="1">
            <a:off x="-50467" y="1803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C51586E5-B661-9D3D-F818-6834563CC143}"/>
              </a:ext>
            </a:extLst>
          </p:cNvPr>
          <p:cNvSpPr/>
          <p:nvPr/>
        </p:nvSpPr>
        <p:spPr>
          <a:xfrm flipH="1" flipV="1">
            <a:off x="10290560" y="-28846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313017"/>
            <a:ext cx="4571048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480" dirty="0"/>
              <a:t>Time</a:t>
            </a:r>
            <a:r>
              <a:rPr spc="-381" dirty="0"/>
              <a:t> </a:t>
            </a:r>
            <a:r>
              <a:rPr spc="-488" dirty="0"/>
              <a:t>horizon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1242" y="2358260"/>
            <a:ext cx="8187690" cy="1164742"/>
          </a:xfrm>
          <a:prstGeom prst="rect">
            <a:avLst/>
          </a:prstGeom>
        </p:spPr>
        <p:txBody>
          <a:bodyPr vert="horz" wrap="square" lIns="0" tIns="86678" rIns="0" bIns="0" rtlCol="0">
            <a:spAutoFit/>
          </a:bodyPr>
          <a:lstStyle/>
          <a:p>
            <a:pPr marL="361950" marR="7620" indent="-342900">
              <a:lnSpc>
                <a:spcPts val="4215"/>
              </a:lnSpc>
              <a:spcBef>
                <a:spcPts val="683"/>
              </a:spcBef>
              <a:buChar char="•"/>
              <a:tabLst>
                <a:tab pos="361950" algn="l"/>
              </a:tabLst>
            </a:pPr>
            <a:r>
              <a:rPr sz="3900" spc="-171" dirty="0">
                <a:latin typeface="Arial"/>
                <a:cs typeface="Arial"/>
              </a:rPr>
              <a:t>Determines</a:t>
            </a:r>
            <a:r>
              <a:rPr sz="3900" spc="-233" dirty="0">
                <a:latin typeface="Arial"/>
                <a:cs typeface="Arial"/>
              </a:rPr>
              <a:t> </a:t>
            </a:r>
            <a:r>
              <a:rPr sz="3900" spc="-68" dirty="0">
                <a:latin typeface="Arial"/>
                <a:cs typeface="Arial"/>
              </a:rPr>
              <a:t>the</a:t>
            </a:r>
            <a:r>
              <a:rPr sz="3900" spc="-165" dirty="0">
                <a:latin typeface="Arial"/>
                <a:cs typeface="Arial"/>
              </a:rPr>
              <a:t> </a:t>
            </a:r>
            <a:r>
              <a:rPr sz="3900" spc="-90" dirty="0">
                <a:latin typeface="Arial"/>
                <a:cs typeface="Arial"/>
              </a:rPr>
              <a:t>duration</a:t>
            </a:r>
            <a:r>
              <a:rPr sz="3900" spc="-171" dirty="0">
                <a:latin typeface="Arial"/>
                <a:cs typeface="Arial"/>
              </a:rPr>
              <a:t> </a:t>
            </a:r>
            <a:r>
              <a:rPr sz="3900" spc="-150" dirty="0">
                <a:latin typeface="Arial"/>
                <a:cs typeface="Arial"/>
              </a:rPr>
              <a:t>over </a:t>
            </a:r>
            <a:r>
              <a:rPr sz="3900" spc="-15" dirty="0">
                <a:latin typeface="Arial"/>
                <a:cs typeface="Arial"/>
              </a:rPr>
              <a:t>which </a:t>
            </a:r>
            <a:r>
              <a:rPr sz="3900" spc="-68" dirty="0">
                <a:latin typeface="Arial"/>
                <a:cs typeface="Arial"/>
              </a:rPr>
              <a:t>the</a:t>
            </a:r>
            <a:r>
              <a:rPr sz="3900" spc="-195" dirty="0">
                <a:latin typeface="Arial"/>
                <a:cs typeface="Arial"/>
              </a:rPr>
              <a:t> </a:t>
            </a:r>
            <a:r>
              <a:rPr sz="3900" spc="-180" dirty="0">
                <a:latin typeface="Arial"/>
                <a:cs typeface="Arial"/>
              </a:rPr>
              <a:t>outcomes</a:t>
            </a:r>
            <a:r>
              <a:rPr sz="3900" spc="-195" dirty="0">
                <a:latin typeface="Arial"/>
                <a:cs typeface="Arial"/>
              </a:rPr>
              <a:t> </a:t>
            </a:r>
            <a:r>
              <a:rPr sz="3900" spc="-210" dirty="0">
                <a:latin typeface="Arial"/>
                <a:cs typeface="Arial"/>
              </a:rPr>
              <a:t>and</a:t>
            </a:r>
            <a:r>
              <a:rPr sz="3900" spc="-195" dirty="0">
                <a:latin typeface="Arial"/>
                <a:cs typeface="Arial"/>
              </a:rPr>
              <a:t> </a:t>
            </a:r>
            <a:r>
              <a:rPr sz="3900" spc="-240" dirty="0">
                <a:latin typeface="Arial"/>
                <a:cs typeface="Arial"/>
              </a:rPr>
              <a:t>costs</a:t>
            </a:r>
            <a:r>
              <a:rPr sz="3900" spc="-195" dirty="0">
                <a:latin typeface="Arial"/>
                <a:cs typeface="Arial"/>
              </a:rPr>
              <a:t> </a:t>
            </a:r>
            <a:r>
              <a:rPr sz="3900" spc="-188" dirty="0">
                <a:latin typeface="Arial"/>
                <a:cs typeface="Arial"/>
              </a:rPr>
              <a:t>are</a:t>
            </a:r>
            <a:r>
              <a:rPr sz="3900" spc="-171" dirty="0">
                <a:latin typeface="Arial"/>
                <a:cs typeface="Arial"/>
              </a:rPr>
              <a:t> </a:t>
            </a:r>
            <a:r>
              <a:rPr sz="3900" spc="-135" dirty="0">
                <a:latin typeface="Arial"/>
                <a:cs typeface="Arial"/>
              </a:rPr>
              <a:t>calculated.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867" y="4139123"/>
            <a:ext cx="8079105" cy="1703351"/>
          </a:xfrm>
          <a:prstGeom prst="rect">
            <a:avLst/>
          </a:prstGeom>
        </p:spPr>
        <p:txBody>
          <a:bodyPr vert="horz" wrap="square" lIns="0" tIns="86678" rIns="0" bIns="0" rtlCol="0">
            <a:spAutoFit/>
          </a:bodyPr>
          <a:lstStyle/>
          <a:p>
            <a:pPr marL="360998" marR="7620" indent="-342900" algn="just">
              <a:lnSpc>
                <a:spcPts val="4215"/>
              </a:lnSpc>
              <a:spcBef>
                <a:spcPts val="683"/>
              </a:spcBef>
              <a:buChar char="•"/>
              <a:tabLst>
                <a:tab pos="360998" algn="l"/>
              </a:tabLst>
            </a:pPr>
            <a:r>
              <a:rPr sz="3900" spc="-120" dirty="0">
                <a:latin typeface="Arial"/>
                <a:cs typeface="Arial"/>
              </a:rPr>
              <a:t>Modelling</a:t>
            </a:r>
            <a:r>
              <a:rPr sz="3900" spc="-8" dirty="0">
                <a:latin typeface="Arial"/>
                <a:cs typeface="Arial"/>
              </a:rPr>
              <a:t> </a:t>
            </a:r>
            <a:r>
              <a:rPr sz="3900" spc="-248" dirty="0">
                <a:latin typeface="Arial"/>
                <a:cs typeface="Arial"/>
              </a:rPr>
              <a:t>approaches</a:t>
            </a:r>
            <a:r>
              <a:rPr sz="3900" spc="30" dirty="0">
                <a:latin typeface="Arial"/>
                <a:cs typeface="Arial"/>
              </a:rPr>
              <a:t> </a:t>
            </a:r>
            <a:r>
              <a:rPr sz="3900" spc="-338" dirty="0">
                <a:latin typeface="Arial"/>
                <a:cs typeface="Arial"/>
              </a:rPr>
              <a:t>may</a:t>
            </a:r>
            <a:r>
              <a:rPr sz="3900" spc="60" dirty="0">
                <a:latin typeface="Arial"/>
                <a:cs typeface="Arial"/>
              </a:rPr>
              <a:t> </a:t>
            </a:r>
            <a:r>
              <a:rPr sz="3900" spc="-344" dirty="0">
                <a:latin typeface="Arial"/>
                <a:cs typeface="Arial"/>
              </a:rPr>
              <a:t>be</a:t>
            </a:r>
            <a:r>
              <a:rPr sz="3900" spc="75" dirty="0">
                <a:latin typeface="Arial"/>
                <a:cs typeface="Arial"/>
              </a:rPr>
              <a:t> </a:t>
            </a:r>
            <a:r>
              <a:rPr sz="3900" spc="-113" dirty="0">
                <a:latin typeface="Arial"/>
                <a:cs typeface="Arial"/>
              </a:rPr>
              <a:t>needed </a:t>
            </a:r>
            <a:r>
              <a:rPr sz="3900" dirty="0">
                <a:latin typeface="Arial"/>
                <a:cs typeface="Arial"/>
              </a:rPr>
              <a:t>to</a:t>
            </a:r>
            <a:r>
              <a:rPr sz="3900" spc="-180" dirty="0">
                <a:latin typeface="Arial"/>
                <a:cs typeface="Arial"/>
              </a:rPr>
              <a:t> </a:t>
            </a:r>
            <a:r>
              <a:rPr sz="3900" spc="-150" dirty="0">
                <a:latin typeface="Arial"/>
                <a:cs typeface="Arial"/>
              </a:rPr>
              <a:t>estimate</a:t>
            </a:r>
            <a:r>
              <a:rPr sz="3900" spc="-120" dirty="0">
                <a:latin typeface="Arial"/>
                <a:cs typeface="Arial"/>
              </a:rPr>
              <a:t> </a:t>
            </a:r>
            <a:r>
              <a:rPr sz="3900" spc="-195" dirty="0">
                <a:latin typeface="Arial"/>
                <a:cs typeface="Arial"/>
              </a:rPr>
              <a:t>outcomes</a:t>
            </a:r>
            <a:r>
              <a:rPr sz="3900" spc="-83" dirty="0">
                <a:latin typeface="Arial"/>
                <a:cs typeface="Arial"/>
              </a:rPr>
              <a:t> </a:t>
            </a:r>
            <a:r>
              <a:rPr sz="3900" dirty="0">
                <a:latin typeface="Arial"/>
                <a:cs typeface="Arial"/>
              </a:rPr>
              <a:t>that</a:t>
            </a:r>
            <a:r>
              <a:rPr sz="3900" spc="-98" dirty="0">
                <a:latin typeface="Arial"/>
                <a:cs typeface="Arial"/>
              </a:rPr>
              <a:t> </a:t>
            </a:r>
            <a:r>
              <a:rPr sz="3900" spc="-248" dirty="0">
                <a:latin typeface="Arial"/>
                <a:cs typeface="Arial"/>
              </a:rPr>
              <a:t>are</a:t>
            </a:r>
            <a:r>
              <a:rPr sz="3900" spc="-23" dirty="0">
                <a:latin typeface="Arial"/>
                <a:cs typeface="Arial"/>
              </a:rPr>
              <a:t> </a:t>
            </a:r>
            <a:r>
              <a:rPr sz="3900" spc="-150" dirty="0">
                <a:latin typeface="Arial"/>
                <a:cs typeface="Arial"/>
              </a:rPr>
              <a:t>beyond </a:t>
            </a:r>
            <a:r>
              <a:rPr sz="3900" spc="-180" dirty="0">
                <a:latin typeface="Arial"/>
                <a:cs typeface="Arial"/>
              </a:rPr>
              <a:t>available</a:t>
            </a:r>
            <a:r>
              <a:rPr sz="3900" spc="-171" dirty="0">
                <a:latin typeface="Arial"/>
                <a:cs typeface="Arial"/>
              </a:rPr>
              <a:t> </a:t>
            </a:r>
            <a:r>
              <a:rPr sz="3900" spc="-15" dirty="0">
                <a:latin typeface="Arial"/>
                <a:cs typeface="Arial"/>
              </a:rPr>
              <a:t>data.</a:t>
            </a:r>
            <a:endParaRPr sz="3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1364" y="6616883"/>
            <a:ext cx="8081963" cy="1703351"/>
          </a:xfrm>
          <a:prstGeom prst="rect">
            <a:avLst/>
          </a:prstGeom>
        </p:spPr>
        <p:txBody>
          <a:bodyPr vert="horz" wrap="square" lIns="0" tIns="86678" rIns="0" bIns="0" rtlCol="0">
            <a:spAutoFit/>
          </a:bodyPr>
          <a:lstStyle/>
          <a:p>
            <a:pPr marL="360998" marR="7620" indent="-342900" algn="just">
              <a:lnSpc>
                <a:spcPts val="4215"/>
              </a:lnSpc>
              <a:spcBef>
                <a:spcPts val="683"/>
              </a:spcBef>
              <a:buChar char="•"/>
              <a:tabLst>
                <a:tab pos="360998" algn="l"/>
              </a:tabLst>
            </a:pPr>
            <a:r>
              <a:rPr sz="3900" spc="-188" dirty="0">
                <a:latin typeface="Arial"/>
                <a:cs typeface="Arial"/>
              </a:rPr>
              <a:t>Guidelines</a:t>
            </a:r>
            <a:r>
              <a:rPr sz="3900" spc="-278" dirty="0">
                <a:latin typeface="Arial"/>
                <a:cs typeface="Arial"/>
              </a:rPr>
              <a:t> </a:t>
            </a:r>
            <a:r>
              <a:rPr sz="3900" spc="-105" dirty="0">
                <a:latin typeface="Arial"/>
                <a:cs typeface="Arial"/>
              </a:rPr>
              <a:t>typically</a:t>
            </a:r>
            <a:r>
              <a:rPr sz="3900" spc="-225" dirty="0">
                <a:latin typeface="Arial"/>
                <a:cs typeface="Arial"/>
              </a:rPr>
              <a:t> </a:t>
            </a:r>
            <a:r>
              <a:rPr sz="3900" spc="-171" dirty="0">
                <a:latin typeface="Arial"/>
                <a:cs typeface="Arial"/>
              </a:rPr>
              <a:t>recommend</a:t>
            </a:r>
            <a:r>
              <a:rPr sz="3900" spc="-240" dirty="0">
                <a:latin typeface="Arial"/>
                <a:cs typeface="Arial"/>
              </a:rPr>
              <a:t> </a:t>
            </a:r>
            <a:r>
              <a:rPr sz="3900" spc="-210" dirty="0">
                <a:latin typeface="Arial"/>
                <a:cs typeface="Arial"/>
              </a:rPr>
              <a:t>using</a:t>
            </a:r>
            <a:r>
              <a:rPr sz="3900" spc="-120" dirty="0">
                <a:latin typeface="Arial"/>
                <a:cs typeface="Arial"/>
              </a:rPr>
              <a:t> </a:t>
            </a:r>
            <a:r>
              <a:rPr sz="3900" spc="-306" dirty="0">
                <a:latin typeface="Arial"/>
                <a:cs typeface="Arial"/>
              </a:rPr>
              <a:t>a</a:t>
            </a:r>
            <a:r>
              <a:rPr sz="3900" spc="-203" dirty="0">
                <a:latin typeface="Arial"/>
                <a:cs typeface="Arial"/>
              </a:rPr>
              <a:t> </a:t>
            </a:r>
            <a:r>
              <a:rPr sz="3900" spc="-38" dirty="0">
                <a:latin typeface="Arial"/>
                <a:cs typeface="Arial"/>
              </a:rPr>
              <a:t>time</a:t>
            </a:r>
            <a:r>
              <a:rPr sz="3900" spc="-225" dirty="0">
                <a:latin typeface="Arial"/>
                <a:cs typeface="Arial"/>
              </a:rPr>
              <a:t> </a:t>
            </a:r>
            <a:r>
              <a:rPr sz="3900" spc="-143" dirty="0">
                <a:latin typeface="Arial"/>
                <a:cs typeface="Arial"/>
              </a:rPr>
              <a:t>horizon</a:t>
            </a:r>
            <a:r>
              <a:rPr sz="3900" spc="-203" dirty="0">
                <a:latin typeface="Arial"/>
                <a:cs typeface="Arial"/>
              </a:rPr>
              <a:t> </a:t>
            </a:r>
            <a:r>
              <a:rPr sz="3900" spc="-150" dirty="0">
                <a:latin typeface="Arial"/>
                <a:cs typeface="Arial"/>
              </a:rPr>
              <a:t>long</a:t>
            </a:r>
            <a:r>
              <a:rPr sz="3900" spc="-210" dirty="0">
                <a:latin typeface="Arial"/>
                <a:cs typeface="Arial"/>
              </a:rPr>
              <a:t> </a:t>
            </a:r>
            <a:r>
              <a:rPr sz="3900" spc="-195" dirty="0">
                <a:latin typeface="Arial"/>
                <a:cs typeface="Arial"/>
              </a:rPr>
              <a:t>enough</a:t>
            </a:r>
            <a:r>
              <a:rPr sz="3900" spc="-225" dirty="0">
                <a:latin typeface="Arial"/>
                <a:cs typeface="Arial"/>
              </a:rPr>
              <a:t> </a:t>
            </a:r>
            <a:r>
              <a:rPr sz="3900" spc="23" dirty="0">
                <a:latin typeface="Arial"/>
                <a:cs typeface="Arial"/>
              </a:rPr>
              <a:t>to</a:t>
            </a:r>
            <a:r>
              <a:rPr sz="3900" spc="-210" dirty="0">
                <a:latin typeface="Arial"/>
                <a:cs typeface="Arial"/>
              </a:rPr>
              <a:t> </a:t>
            </a:r>
            <a:r>
              <a:rPr sz="3900" spc="-143" dirty="0">
                <a:latin typeface="Arial"/>
                <a:cs typeface="Arial"/>
              </a:rPr>
              <a:t>capture</a:t>
            </a:r>
            <a:r>
              <a:rPr sz="3900" spc="-120" dirty="0">
                <a:latin typeface="Arial"/>
                <a:cs typeface="Arial"/>
              </a:rPr>
              <a:t> </a:t>
            </a:r>
            <a:r>
              <a:rPr sz="3900" spc="-90" dirty="0">
                <a:latin typeface="Arial"/>
                <a:cs typeface="Arial"/>
              </a:rPr>
              <a:t>all</a:t>
            </a:r>
            <a:r>
              <a:rPr sz="3900" spc="-203" dirty="0">
                <a:latin typeface="Arial"/>
                <a:cs typeface="Arial"/>
              </a:rPr>
              <a:t> </a:t>
            </a:r>
            <a:r>
              <a:rPr sz="3900" spc="-127" dirty="0">
                <a:latin typeface="Arial"/>
                <a:cs typeface="Arial"/>
              </a:rPr>
              <a:t>relevant</a:t>
            </a:r>
            <a:r>
              <a:rPr sz="3900" spc="-233" dirty="0">
                <a:latin typeface="Arial"/>
                <a:cs typeface="Arial"/>
              </a:rPr>
              <a:t> </a:t>
            </a:r>
            <a:r>
              <a:rPr sz="3900" spc="-240" dirty="0">
                <a:latin typeface="Arial"/>
                <a:cs typeface="Arial"/>
              </a:rPr>
              <a:t>costs</a:t>
            </a:r>
            <a:r>
              <a:rPr sz="3900" spc="-217" dirty="0">
                <a:latin typeface="Arial"/>
                <a:cs typeface="Arial"/>
              </a:rPr>
              <a:t> </a:t>
            </a:r>
            <a:r>
              <a:rPr sz="3900" spc="-203" dirty="0">
                <a:latin typeface="Arial"/>
                <a:cs typeface="Arial"/>
              </a:rPr>
              <a:t>and</a:t>
            </a:r>
            <a:r>
              <a:rPr sz="3900" spc="-225" dirty="0">
                <a:latin typeface="Arial"/>
                <a:cs typeface="Arial"/>
              </a:rPr>
              <a:t> </a:t>
            </a:r>
            <a:r>
              <a:rPr sz="3900" spc="-105" dirty="0">
                <a:latin typeface="Arial"/>
                <a:cs typeface="Arial"/>
              </a:rPr>
              <a:t>health</a:t>
            </a:r>
            <a:r>
              <a:rPr sz="3900" spc="-240" dirty="0">
                <a:latin typeface="Arial"/>
                <a:cs typeface="Arial"/>
              </a:rPr>
              <a:t> </a:t>
            </a:r>
            <a:r>
              <a:rPr sz="3900" spc="-120" dirty="0">
                <a:latin typeface="Arial"/>
                <a:cs typeface="Arial"/>
              </a:rPr>
              <a:t>benefits.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12247" y="2162555"/>
            <a:ext cx="5799773" cy="3536633"/>
            <a:chOff x="7408164" y="1441703"/>
            <a:chExt cx="3866515" cy="2357755"/>
          </a:xfrm>
        </p:grpSpPr>
        <p:sp>
          <p:nvSpPr>
            <p:cNvPr id="7" name="object 7"/>
            <p:cNvSpPr/>
            <p:nvPr/>
          </p:nvSpPr>
          <p:spPr>
            <a:xfrm>
              <a:off x="7481316" y="1441703"/>
              <a:ext cx="0" cy="2326005"/>
            </a:xfrm>
            <a:custGeom>
              <a:avLst/>
              <a:gdLst/>
              <a:ahLst/>
              <a:cxnLst/>
              <a:rect l="l" t="t" r="r" b="b"/>
              <a:pathLst>
                <a:path h="2326004">
                  <a:moveTo>
                    <a:pt x="0" y="2325624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8" name="object 8"/>
            <p:cNvSpPr/>
            <p:nvPr/>
          </p:nvSpPr>
          <p:spPr>
            <a:xfrm>
              <a:off x="7408164" y="1552955"/>
              <a:ext cx="73660" cy="2214880"/>
            </a:xfrm>
            <a:custGeom>
              <a:avLst/>
              <a:gdLst/>
              <a:ahLst/>
              <a:cxnLst/>
              <a:rect l="l" t="t" r="r" b="b"/>
              <a:pathLst>
                <a:path w="73659" h="2214879">
                  <a:moveTo>
                    <a:pt x="0" y="2214372"/>
                  </a:moveTo>
                  <a:lnTo>
                    <a:pt x="73152" y="2214372"/>
                  </a:lnTo>
                </a:path>
                <a:path w="73659" h="2214879">
                  <a:moveTo>
                    <a:pt x="0" y="1770888"/>
                  </a:moveTo>
                  <a:lnTo>
                    <a:pt x="73152" y="1770888"/>
                  </a:lnTo>
                </a:path>
                <a:path w="73659" h="2214879">
                  <a:moveTo>
                    <a:pt x="0" y="1328928"/>
                  </a:moveTo>
                  <a:lnTo>
                    <a:pt x="73152" y="1328928"/>
                  </a:lnTo>
                </a:path>
                <a:path w="73659" h="2214879">
                  <a:moveTo>
                    <a:pt x="0" y="885444"/>
                  </a:moveTo>
                  <a:lnTo>
                    <a:pt x="73152" y="885444"/>
                  </a:lnTo>
                </a:path>
                <a:path w="73659" h="2214879">
                  <a:moveTo>
                    <a:pt x="0" y="443484"/>
                  </a:moveTo>
                  <a:lnTo>
                    <a:pt x="73152" y="443484"/>
                  </a:lnTo>
                </a:path>
                <a:path w="73659" h="2214879">
                  <a:moveTo>
                    <a:pt x="0" y="0"/>
                  </a:moveTo>
                  <a:lnTo>
                    <a:pt x="73152" y="0"/>
                  </a:lnTo>
                </a:path>
              </a:pathLst>
            </a:custGeom>
            <a:ln w="9525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9" name="object 9"/>
            <p:cNvSpPr/>
            <p:nvPr/>
          </p:nvSpPr>
          <p:spPr>
            <a:xfrm>
              <a:off x="7481316" y="3767327"/>
              <a:ext cx="3761740" cy="0"/>
            </a:xfrm>
            <a:custGeom>
              <a:avLst/>
              <a:gdLst/>
              <a:ahLst/>
              <a:cxnLst/>
              <a:rect l="l" t="t" r="r" b="b"/>
              <a:pathLst>
                <a:path w="3761740">
                  <a:moveTo>
                    <a:pt x="0" y="0"/>
                  </a:moveTo>
                  <a:lnTo>
                    <a:pt x="3761232" y="0"/>
                  </a:lnTo>
                </a:path>
              </a:pathLst>
            </a:custGeom>
            <a:ln w="9525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857744" y="1664207"/>
              <a:ext cx="3385185" cy="2103120"/>
            </a:xfrm>
            <a:custGeom>
              <a:avLst/>
              <a:gdLst/>
              <a:ahLst/>
              <a:cxnLst/>
              <a:rect l="l" t="t" r="r" b="b"/>
              <a:pathLst>
                <a:path w="3385184" h="2103120">
                  <a:moveTo>
                    <a:pt x="0" y="2103120"/>
                  </a:moveTo>
                  <a:lnTo>
                    <a:pt x="374904" y="2103120"/>
                  </a:lnTo>
                  <a:lnTo>
                    <a:pt x="751332" y="2103120"/>
                  </a:lnTo>
                  <a:lnTo>
                    <a:pt x="1127760" y="2103120"/>
                  </a:lnTo>
                  <a:lnTo>
                    <a:pt x="1504188" y="1937004"/>
                  </a:lnTo>
                  <a:lnTo>
                    <a:pt x="1880616" y="1638300"/>
                  </a:lnTo>
                  <a:lnTo>
                    <a:pt x="2257044" y="1306068"/>
                  </a:lnTo>
                  <a:lnTo>
                    <a:pt x="2631948" y="830580"/>
                  </a:lnTo>
                  <a:lnTo>
                    <a:pt x="3008376" y="332232"/>
                  </a:lnTo>
                  <a:lnTo>
                    <a:pt x="3384804" y="0"/>
                  </a:lnTo>
                </a:path>
              </a:pathLst>
            </a:custGeom>
            <a:ln w="63500">
              <a:solidFill>
                <a:srgbClr val="F96E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481316" y="1517903"/>
              <a:ext cx="3761740" cy="2194560"/>
            </a:xfrm>
            <a:custGeom>
              <a:avLst/>
              <a:gdLst/>
              <a:ahLst/>
              <a:cxnLst/>
              <a:rect l="l" t="t" r="r" b="b"/>
              <a:pathLst>
                <a:path w="3761740" h="2194560">
                  <a:moveTo>
                    <a:pt x="0" y="2194560"/>
                  </a:moveTo>
                  <a:lnTo>
                    <a:pt x="9144" y="2165604"/>
                  </a:lnTo>
                  <a:lnTo>
                    <a:pt x="18288" y="2138172"/>
                  </a:lnTo>
                  <a:lnTo>
                    <a:pt x="28956" y="2109216"/>
                  </a:lnTo>
                  <a:lnTo>
                    <a:pt x="38100" y="2080260"/>
                  </a:lnTo>
                  <a:lnTo>
                    <a:pt x="47244" y="2052828"/>
                  </a:lnTo>
                  <a:lnTo>
                    <a:pt x="56388" y="2025396"/>
                  </a:lnTo>
                  <a:lnTo>
                    <a:pt x="67056" y="1997964"/>
                  </a:lnTo>
                  <a:lnTo>
                    <a:pt x="76200" y="1972056"/>
                  </a:lnTo>
                  <a:lnTo>
                    <a:pt x="85344" y="1944624"/>
                  </a:lnTo>
                  <a:lnTo>
                    <a:pt x="94488" y="1918716"/>
                  </a:lnTo>
                  <a:lnTo>
                    <a:pt x="105155" y="1892808"/>
                  </a:lnTo>
                  <a:lnTo>
                    <a:pt x="114300" y="1866900"/>
                  </a:lnTo>
                  <a:lnTo>
                    <a:pt x="123444" y="1840992"/>
                  </a:lnTo>
                  <a:lnTo>
                    <a:pt x="134112" y="1816608"/>
                  </a:lnTo>
                  <a:lnTo>
                    <a:pt x="143256" y="1790700"/>
                  </a:lnTo>
                  <a:lnTo>
                    <a:pt x="152400" y="1766316"/>
                  </a:lnTo>
                  <a:lnTo>
                    <a:pt x="161544" y="1741932"/>
                  </a:lnTo>
                  <a:lnTo>
                    <a:pt x="172212" y="1717548"/>
                  </a:lnTo>
                  <a:lnTo>
                    <a:pt x="181356" y="1694688"/>
                  </a:lnTo>
                  <a:lnTo>
                    <a:pt x="190500" y="1670304"/>
                  </a:lnTo>
                  <a:lnTo>
                    <a:pt x="199644" y="1647444"/>
                  </a:lnTo>
                  <a:lnTo>
                    <a:pt x="210311" y="1624584"/>
                  </a:lnTo>
                  <a:lnTo>
                    <a:pt x="219456" y="1601724"/>
                  </a:lnTo>
                  <a:lnTo>
                    <a:pt x="228600" y="1580388"/>
                  </a:lnTo>
                  <a:lnTo>
                    <a:pt x="237744" y="1557528"/>
                  </a:lnTo>
                  <a:lnTo>
                    <a:pt x="248411" y="1536192"/>
                  </a:lnTo>
                  <a:lnTo>
                    <a:pt x="257556" y="1513332"/>
                  </a:lnTo>
                  <a:lnTo>
                    <a:pt x="266700" y="1491996"/>
                  </a:lnTo>
                  <a:lnTo>
                    <a:pt x="277368" y="1472184"/>
                  </a:lnTo>
                  <a:lnTo>
                    <a:pt x="286512" y="1450848"/>
                  </a:lnTo>
                  <a:lnTo>
                    <a:pt x="295656" y="1429512"/>
                  </a:lnTo>
                  <a:lnTo>
                    <a:pt x="304800" y="1409700"/>
                  </a:lnTo>
                  <a:lnTo>
                    <a:pt x="315468" y="1389888"/>
                  </a:lnTo>
                  <a:lnTo>
                    <a:pt x="324612" y="1370076"/>
                  </a:lnTo>
                  <a:lnTo>
                    <a:pt x="333756" y="1350264"/>
                  </a:lnTo>
                  <a:lnTo>
                    <a:pt x="342900" y="1330452"/>
                  </a:lnTo>
                  <a:lnTo>
                    <a:pt x="353568" y="1310640"/>
                  </a:lnTo>
                  <a:lnTo>
                    <a:pt x="362712" y="1292352"/>
                  </a:lnTo>
                  <a:lnTo>
                    <a:pt x="371856" y="1274064"/>
                  </a:lnTo>
                  <a:lnTo>
                    <a:pt x="381000" y="1255776"/>
                  </a:lnTo>
                  <a:lnTo>
                    <a:pt x="391668" y="1237488"/>
                  </a:lnTo>
                  <a:lnTo>
                    <a:pt x="400812" y="1219200"/>
                  </a:lnTo>
                  <a:lnTo>
                    <a:pt x="409956" y="1200912"/>
                  </a:lnTo>
                  <a:lnTo>
                    <a:pt x="419100" y="1184148"/>
                  </a:lnTo>
                  <a:lnTo>
                    <a:pt x="429768" y="1165860"/>
                  </a:lnTo>
                  <a:lnTo>
                    <a:pt x="438912" y="1149096"/>
                  </a:lnTo>
                  <a:lnTo>
                    <a:pt x="448056" y="1132332"/>
                  </a:lnTo>
                  <a:lnTo>
                    <a:pt x="458723" y="1115568"/>
                  </a:lnTo>
                  <a:lnTo>
                    <a:pt x="467868" y="1098804"/>
                  </a:lnTo>
                  <a:lnTo>
                    <a:pt x="477012" y="1082040"/>
                  </a:lnTo>
                  <a:lnTo>
                    <a:pt x="486156" y="1066800"/>
                  </a:lnTo>
                  <a:lnTo>
                    <a:pt x="496823" y="1050036"/>
                  </a:lnTo>
                  <a:lnTo>
                    <a:pt x="505968" y="1034796"/>
                  </a:lnTo>
                  <a:lnTo>
                    <a:pt x="515112" y="1019556"/>
                  </a:lnTo>
                  <a:lnTo>
                    <a:pt x="524256" y="1004316"/>
                  </a:lnTo>
                  <a:lnTo>
                    <a:pt x="534924" y="989076"/>
                  </a:lnTo>
                  <a:lnTo>
                    <a:pt x="544068" y="973836"/>
                  </a:lnTo>
                  <a:lnTo>
                    <a:pt x="553212" y="960120"/>
                  </a:lnTo>
                  <a:lnTo>
                    <a:pt x="562356" y="944880"/>
                  </a:lnTo>
                  <a:lnTo>
                    <a:pt x="573024" y="931164"/>
                  </a:lnTo>
                  <a:lnTo>
                    <a:pt x="582168" y="917448"/>
                  </a:lnTo>
                  <a:lnTo>
                    <a:pt x="591312" y="903732"/>
                  </a:lnTo>
                  <a:lnTo>
                    <a:pt x="600456" y="890016"/>
                  </a:lnTo>
                  <a:lnTo>
                    <a:pt x="611124" y="876300"/>
                  </a:lnTo>
                  <a:lnTo>
                    <a:pt x="620268" y="862584"/>
                  </a:lnTo>
                  <a:lnTo>
                    <a:pt x="629412" y="848868"/>
                  </a:lnTo>
                  <a:lnTo>
                    <a:pt x="640080" y="836676"/>
                  </a:lnTo>
                  <a:lnTo>
                    <a:pt x="649224" y="824484"/>
                  </a:lnTo>
                  <a:lnTo>
                    <a:pt x="658368" y="810768"/>
                  </a:lnTo>
                  <a:lnTo>
                    <a:pt x="667512" y="798576"/>
                  </a:lnTo>
                  <a:lnTo>
                    <a:pt x="678180" y="786384"/>
                  </a:lnTo>
                  <a:lnTo>
                    <a:pt x="687324" y="774192"/>
                  </a:lnTo>
                  <a:lnTo>
                    <a:pt x="696468" y="762000"/>
                  </a:lnTo>
                  <a:lnTo>
                    <a:pt x="705612" y="751332"/>
                  </a:lnTo>
                  <a:lnTo>
                    <a:pt x="716280" y="739140"/>
                  </a:lnTo>
                  <a:lnTo>
                    <a:pt x="725424" y="726948"/>
                  </a:lnTo>
                  <a:lnTo>
                    <a:pt x="734568" y="716280"/>
                  </a:lnTo>
                  <a:lnTo>
                    <a:pt x="743712" y="705612"/>
                  </a:lnTo>
                  <a:lnTo>
                    <a:pt x="754380" y="694944"/>
                  </a:lnTo>
                  <a:lnTo>
                    <a:pt x="763524" y="682752"/>
                  </a:lnTo>
                  <a:lnTo>
                    <a:pt x="772668" y="672084"/>
                  </a:lnTo>
                  <a:lnTo>
                    <a:pt x="783336" y="662940"/>
                  </a:lnTo>
                  <a:lnTo>
                    <a:pt x="792480" y="652272"/>
                  </a:lnTo>
                  <a:lnTo>
                    <a:pt x="801624" y="641604"/>
                  </a:lnTo>
                  <a:lnTo>
                    <a:pt x="810768" y="632460"/>
                  </a:lnTo>
                  <a:lnTo>
                    <a:pt x="821436" y="621792"/>
                  </a:lnTo>
                  <a:lnTo>
                    <a:pt x="830580" y="612648"/>
                  </a:lnTo>
                  <a:lnTo>
                    <a:pt x="839724" y="601980"/>
                  </a:lnTo>
                  <a:lnTo>
                    <a:pt x="848868" y="592836"/>
                  </a:lnTo>
                  <a:lnTo>
                    <a:pt x="859536" y="583692"/>
                  </a:lnTo>
                  <a:lnTo>
                    <a:pt x="868680" y="574548"/>
                  </a:lnTo>
                  <a:lnTo>
                    <a:pt x="877824" y="565404"/>
                  </a:lnTo>
                  <a:lnTo>
                    <a:pt x="886968" y="556260"/>
                  </a:lnTo>
                  <a:lnTo>
                    <a:pt x="897636" y="548640"/>
                  </a:lnTo>
                  <a:lnTo>
                    <a:pt x="906780" y="539496"/>
                  </a:lnTo>
                  <a:lnTo>
                    <a:pt x="915924" y="530352"/>
                  </a:lnTo>
                  <a:lnTo>
                    <a:pt x="925068" y="522732"/>
                  </a:lnTo>
                  <a:lnTo>
                    <a:pt x="935736" y="513588"/>
                  </a:lnTo>
                  <a:lnTo>
                    <a:pt x="944880" y="505968"/>
                  </a:lnTo>
                  <a:lnTo>
                    <a:pt x="954024" y="498348"/>
                  </a:lnTo>
                  <a:lnTo>
                    <a:pt x="964691" y="490728"/>
                  </a:lnTo>
                  <a:lnTo>
                    <a:pt x="973836" y="483108"/>
                  </a:lnTo>
                  <a:lnTo>
                    <a:pt x="982980" y="475488"/>
                  </a:lnTo>
                  <a:lnTo>
                    <a:pt x="992124" y="467868"/>
                  </a:lnTo>
                  <a:lnTo>
                    <a:pt x="1002791" y="460248"/>
                  </a:lnTo>
                  <a:lnTo>
                    <a:pt x="1011936" y="452628"/>
                  </a:lnTo>
                  <a:lnTo>
                    <a:pt x="1021080" y="445008"/>
                  </a:lnTo>
                  <a:lnTo>
                    <a:pt x="1030224" y="438912"/>
                  </a:lnTo>
                  <a:lnTo>
                    <a:pt x="1040891" y="431292"/>
                  </a:lnTo>
                  <a:lnTo>
                    <a:pt x="1050036" y="425196"/>
                  </a:lnTo>
                  <a:lnTo>
                    <a:pt x="1059180" y="417576"/>
                  </a:lnTo>
                  <a:lnTo>
                    <a:pt x="1068324" y="411480"/>
                  </a:lnTo>
                  <a:lnTo>
                    <a:pt x="1078992" y="405384"/>
                  </a:lnTo>
                  <a:lnTo>
                    <a:pt x="1088136" y="397764"/>
                  </a:lnTo>
                  <a:lnTo>
                    <a:pt x="1097280" y="391668"/>
                  </a:lnTo>
                  <a:lnTo>
                    <a:pt x="1106424" y="385572"/>
                  </a:lnTo>
                  <a:lnTo>
                    <a:pt x="1117092" y="379476"/>
                  </a:lnTo>
                  <a:lnTo>
                    <a:pt x="1126236" y="373380"/>
                  </a:lnTo>
                  <a:lnTo>
                    <a:pt x="1135380" y="368808"/>
                  </a:lnTo>
                  <a:lnTo>
                    <a:pt x="1146048" y="362712"/>
                  </a:lnTo>
                  <a:lnTo>
                    <a:pt x="1155192" y="356616"/>
                  </a:lnTo>
                  <a:lnTo>
                    <a:pt x="1164336" y="350520"/>
                  </a:lnTo>
                  <a:lnTo>
                    <a:pt x="1173480" y="345948"/>
                  </a:lnTo>
                  <a:lnTo>
                    <a:pt x="1184148" y="339852"/>
                  </a:lnTo>
                  <a:lnTo>
                    <a:pt x="1193292" y="335280"/>
                  </a:lnTo>
                  <a:lnTo>
                    <a:pt x="1202436" y="329184"/>
                  </a:lnTo>
                  <a:lnTo>
                    <a:pt x="1211580" y="324612"/>
                  </a:lnTo>
                  <a:lnTo>
                    <a:pt x="1222248" y="320040"/>
                  </a:lnTo>
                  <a:lnTo>
                    <a:pt x="1231392" y="313944"/>
                  </a:lnTo>
                  <a:lnTo>
                    <a:pt x="1240536" y="309372"/>
                  </a:lnTo>
                  <a:lnTo>
                    <a:pt x="1249680" y="304800"/>
                  </a:lnTo>
                  <a:lnTo>
                    <a:pt x="1260348" y="300228"/>
                  </a:lnTo>
                  <a:lnTo>
                    <a:pt x="1269492" y="295656"/>
                  </a:lnTo>
                  <a:lnTo>
                    <a:pt x="1278636" y="291084"/>
                  </a:lnTo>
                  <a:lnTo>
                    <a:pt x="1289304" y="286512"/>
                  </a:lnTo>
                  <a:lnTo>
                    <a:pt x="1298448" y="281940"/>
                  </a:lnTo>
                  <a:lnTo>
                    <a:pt x="1307592" y="277368"/>
                  </a:lnTo>
                  <a:lnTo>
                    <a:pt x="1316736" y="272796"/>
                  </a:lnTo>
                  <a:lnTo>
                    <a:pt x="1327404" y="269748"/>
                  </a:lnTo>
                  <a:lnTo>
                    <a:pt x="1336548" y="265176"/>
                  </a:lnTo>
                  <a:lnTo>
                    <a:pt x="1345692" y="260604"/>
                  </a:lnTo>
                  <a:lnTo>
                    <a:pt x="1354836" y="257556"/>
                  </a:lnTo>
                  <a:lnTo>
                    <a:pt x="1365504" y="252984"/>
                  </a:lnTo>
                  <a:lnTo>
                    <a:pt x="1374648" y="249936"/>
                  </a:lnTo>
                  <a:lnTo>
                    <a:pt x="1383792" y="245364"/>
                  </a:lnTo>
                  <a:lnTo>
                    <a:pt x="1392936" y="242316"/>
                  </a:lnTo>
                  <a:lnTo>
                    <a:pt x="1403604" y="239268"/>
                  </a:lnTo>
                  <a:lnTo>
                    <a:pt x="1412748" y="234696"/>
                  </a:lnTo>
                  <a:lnTo>
                    <a:pt x="1421892" y="231648"/>
                  </a:lnTo>
                  <a:lnTo>
                    <a:pt x="1431036" y="228600"/>
                  </a:lnTo>
                  <a:lnTo>
                    <a:pt x="1441704" y="224028"/>
                  </a:lnTo>
                  <a:lnTo>
                    <a:pt x="1450848" y="220980"/>
                  </a:lnTo>
                  <a:lnTo>
                    <a:pt x="1459992" y="217932"/>
                  </a:lnTo>
                  <a:lnTo>
                    <a:pt x="1470660" y="214884"/>
                  </a:lnTo>
                  <a:lnTo>
                    <a:pt x="1479804" y="211836"/>
                  </a:lnTo>
                  <a:lnTo>
                    <a:pt x="1488948" y="208787"/>
                  </a:lnTo>
                  <a:lnTo>
                    <a:pt x="1498092" y="205740"/>
                  </a:lnTo>
                  <a:lnTo>
                    <a:pt x="1508760" y="202692"/>
                  </a:lnTo>
                  <a:lnTo>
                    <a:pt x="1517904" y="199644"/>
                  </a:lnTo>
                  <a:lnTo>
                    <a:pt x="1527048" y="196596"/>
                  </a:lnTo>
                  <a:lnTo>
                    <a:pt x="1536192" y="193548"/>
                  </a:lnTo>
                  <a:lnTo>
                    <a:pt x="1546860" y="192024"/>
                  </a:lnTo>
                  <a:lnTo>
                    <a:pt x="1556004" y="188976"/>
                  </a:lnTo>
                  <a:lnTo>
                    <a:pt x="1565148" y="185928"/>
                  </a:lnTo>
                  <a:lnTo>
                    <a:pt x="1574292" y="182880"/>
                  </a:lnTo>
                  <a:lnTo>
                    <a:pt x="1584960" y="181356"/>
                  </a:lnTo>
                  <a:lnTo>
                    <a:pt x="1594104" y="178308"/>
                  </a:lnTo>
                  <a:lnTo>
                    <a:pt x="1603248" y="176784"/>
                  </a:lnTo>
                  <a:lnTo>
                    <a:pt x="1613916" y="173736"/>
                  </a:lnTo>
                  <a:lnTo>
                    <a:pt x="1623060" y="170687"/>
                  </a:lnTo>
                  <a:lnTo>
                    <a:pt x="1632204" y="169164"/>
                  </a:lnTo>
                  <a:lnTo>
                    <a:pt x="1641348" y="166116"/>
                  </a:lnTo>
                  <a:lnTo>
                    <a:pt x="1652016" y="164592"/>
                  </a:lnTo>
                  <a:lnTo>
                    <a:pt x="1661160" y="161544"/>
                  </a:lnTo>
                  <a:lnTo>
                    <a:pt x="1670304" y="160020"/>
                  </a:lnTo>
                  <a:lnTo>
                    <a:pt x="1679448" y="158496"/>
                  </a:lnTo>
                  <a:lnTo>
                    <a:pt x="1690116" y="155448"/>
                  </a:lnTo>
                  <a:lnTo>
                    <a:pt x="1699260" y="153924"/>
                  </a:lnTo>
                  <a:lnTo>
                    <a:pt x="1708404" y="150876"/>
                  </a:lnTo>
                  <a:lnTo>
                    <a:pt x="1717548" y="149352"/>
                  </a:lnTo>
                  <a:lnTo>
                    <a:pt x="1728216" y="147828"/>
                  </a:lnTo>
                  <a:lnTo>
                    <a:pt x="1737360" y="146304"/>
                  </a:lnTo>
                  <a:lnTo>
                    <a:pt x="1746504" y="143256"/>
                  </a:lnTo>
                  <a:lnTo>
                    <a:pt x="1755648" y="141732"/>
                  </a:lnTo>
                  <a:lnTo>
                    <a:pt x="1766316" y="140208"/>
                  </a:lnTo>
                  <a:lnTo>
                    <a:pt x="1775460" y="138684"/>
                  </a:lnTo>
                  <a:lnTo>
                    <a:pt x="1784604" y="137160"/>
                  </a:lnTo>
                  <a:lnTo>
                    <a:pt x="1795272" y="134112"/>
                  </a:lnTo>
                  <a:lnTo>
                    <a:pt x="1804416" y="132587"/>
                  </a:lnTo>
                  <a:lnTo>
                    <a:pt x="1813560" y="131064"/>
                  </a:lnTo>
                  <a:lnTo>
                    <a:pt x="1822704" y="129540"/>
                  </a:lnTo>
                  <a:lnTo>
                    <a:pt x="1833372" y="128016"/>
                  </a:lnTo>
                  <a:lnTo>
                    <a:pt x="1842516" y="126492"/>
                  </a:lnTo>
                  <a:lnTo>
                    <a:pt x="1851660" y="124968"/>
                  </a:lnTo>
                  <a:lnTo>
                    <a:pt x="1860804" y="123443"/>
                  </a:lnTo>
                  <a:lnTo>
                    <a:pt x="1871472" y="121920"/>
                  </a:lnTo>
                  <a:lnTo>
                    <a:pt x="1880616" y="120396"/>
                  </a:lnTo>
                  <a:lnTo>
                    <a:pt x="1889760" y="118872"/>
                  </a:lnTo>
                  <a:lnTo>
                    <a:pt x="1898904" y="117348"/>
                  </a:lnTo>
                  <a:lnTo>
                    <a:pt x="1909572" y="115824"/>
                  </a:lnTo>
                  <a:lnTo>
                    <a:pt x="1918716" y="114300"/>
                  </a:lnTo>
                  <a:lnTo>
                    <a:pt x="1927860" y="112776"/>
                  </a:lnTo>
                  <a:lnTo>
                    <a:pt x="1937004" y="111252"/>
                  </a:lnTo>
                  <a:lnTo>
                    <a:pt x="1947672" y="111252"/>
                  </a:lnTo>
                  <a:lnTo>
                    <a:pt x="1956816" y="109728"/>
                  </a:lnTo>
                  <a:lnTo>
                    <a:pt x="1965960" y="108204"/>
                  </a:lnTo>
                  <a:lnTo>
                    <a:pt x="1976627" y="106680"/>
                  </a:lnTo>
                  <a:lnTo>
                    <a:pt x="1985772" y="105156"/>
                  </a:lnTo>
                  <a:lnTo>
                    <a:pt x="1994916" y="103632"/>
                  </a:lnTo>
                  <a:lnTo>
                    <a:pt x="2004060" y="102108"/>
                  </a:lnTo>
                  <a:lnTo>
                    <a:pt x="2014727" y="102108"/>
                  </a:lnTo>
                  <a:lnTo>
                    <a:pt x="2023872" y="100584"/>
                  </a:lnTo>
                  <a:lnTo>
                    <a:pt x="2033016" y="99060"/>
                  </a:lnTo>
                  <a:lnTo>
                    <a:pt x="2042160" y="97536"/>
                  </a:lnTo>
                  <a:lnTo>
                    <a:pt x="2052827" y="96012"/>
                  </a:lnTo>
                  <a:lnTo>
                    <a:pt x="2061972" y="96012"/>
                  </a:lnTo>
                  <a:lnTo>
                    <a:pt x="2071116" y="94487"/>
                  </a:lnTo>
                  <a:lnTo>
                    <a:pt x="2080260" y="92964"/>
                  </a:lnTo>
                  <a:lnTo>
                    <a:pt x="2090927" y="91440"/>
                  </a:lnTo>
                  <a:lnTo>
                    <a:pt x="2100072" y="91440"/>
                  </a:lnTo>
                  <a:lnTo>
                    <a:pt x="2109216" y="89916"/>
                  </a:lnTo>
                  <a:lnTo>
                    <a:pt x="2119884" y="88392"/>
                  </a:lnTo>
                  <a:lnTo>
                    <a:pt x="2129028" y="88392"/>
                  </a:lnTo>
                  <a:lnTo>
                    <a:pt x="2138172" y="86868"/>
                  </a:lnTo>
                  <a:lnTo>
                    <a:pt x="2147316" y="85343"/>
                  </a:lnTo>
                  <a:lnTo>
                    <a:pt x="2157984" y="83820"/>
                  </a:lnTo>
                  <a:lnTo>
                    <a:pt x="2167128" y="83820"/>
                  </a:lnTo>
                  <a:lnTo>
                    <a:pt x="2176272" y="82296"/>
                  </a:lnTo>
                  <a:lnTo>
                    <a:pt x="2185416" y="80772"/>
                  </a:lnTo>
                  <a:lnTo>
                    <a:pt x="2196084" y="80772"/>
                  </a:lnTo>
                  <a:lnTo>
                    <a:pt x="2205228" y="79248"/>
                  </a:lnTo>
                  <a:lnTo>
                    <a:pt x="2214372" y="77724"/>
                  </a:lnTo>
                  <a:lnTo>
                    <a:pt x="2223516" y="77724"/>
                  </a:lnTo>
                  <a:lnTo>
                    <a:pt x="2234184" y="76200"/>
                  </a:lnTo>
                  <a:lnTo>
                    <a:pt x="2243328" y="74676"/>
                  </a:lnTo>
                  <a:lnTo>
                    <a:pt x="2252472" y="74676"/>
                  </a:lnTo>
                  <a:lnTo>
                    <a:pt x="2261616" y="73152"/>
                  </a:lnTo>
                  <a:lnTo>
                    <a:pt x="2272284" y="73152"/>
                  </a:lnTo>
                  <a:lnTo>
                    <a:pt x="2281428" y="71628"/>
                  </a:lnTo>
                  <a:lnTo>
                    <a:pt x="2290572" y="70104"/>
                  </a:lnTo>
                  <a:lnTo>
                    <a:pt x="2301240" y="70104"/>
                  </a:lnTo>
                  <a:lnTo>
                    <a:pt x="2310384" y="68580"/>
                  </a:lnTo>
                  <a:lnTo>
                    <a:pt x="2319528" y="67056"/>
                  </a:lnTo>
                  <a:lnTo>
                    <a:pt x="2328672" y="67056"/>
                  </a:lnTo>
                  <a:lnTo>
                    <a:pt x="2339340" y="65532"/>
                  </a:lnTo>
                  <a:lnTo>
                    <a:pt x="2348484" y="65532"/>
                  </a:lnTo>
                  <a:lnTo>
                    <a:pt x="2357628" y="64008"/>
                  </a:lnTo>
                  <a:lnTo>
                    <a:pt x="2366772" y="62484"/>
                  </a:lnTo>
                  <a:lnTo>
                    <a:pt x="2377440" y="62484"/>
                  </a:lnTo>
                  <a:lnTo>
                    <a:pt x="2386584" y="60960"/>
                  </a:lnTo>
                  <a:lnTo>
                    <a:pt x="2395728" y="60960"/>
                  </a:lnTo>
                  <a:lnTo>
                    <a:pt x="2404872" y="59436"/>
                  </a:lnTo>
                  <a:lnTo>
                    <a:pt x="2415540" y="57912"/>
                  </a:lnTo>
                  <a:lnTo>
                    <a:pt x="2424684" y="57912"/>
                  </a:lnTo>
                  <a:lnTo>
                    <a:pt x="2433828" y="56387"/>
                  </a:lnTo>
                  <a:lnTo>
                    <a:pt x="2442972" y="56387"/>
                  </a:lnTo>
                  <a:lnTo>
                    <a:pt x="2453640" y="54864"/>
                  </a:lnTo>
                  <a:lnTo>
                    <a:pt x="2462784" y="53340"/>
                  </a:lnTo>
                  <a:lnTo>
                    <a:pt x="2471928" y="53340"/>
                  </a:lnTo>
                  <a:lnTo>
                    <a:pt x="2482596" y="51816"/>
                  </a:lnTo>
                  <a:lnTo>
                    <a:pt x="2491740" y="51816"/>
                  </a:lnTo>
                  <a:lnTo>
                    <a:pt x="2500884" y="50292"/>
                  </a:lnTo>
                  <a:lnTo>
                    <a:pt x="2510028" y="48768"/>
                  </a:lnTo>
                  <a:lnTo>
                    <a:pt x="2520696" y="48768"/>
                  </a:lnTo>
                  <a:lnTo>
                    <a:pt x="2529840" y="47243"/>
                  </a:lnTo>
                  <a:lnTo>
                    <a:pt x="2538984" y="47243"/>
                  </a:lnTo>
                  <a:lnTo>
                    <a:pt x="2548128" y="45720"/>
                  </a:lnTo>
                  <a:lnTo>
                    <a:pt x="2558796" y="45720"/>
                  </a:lnTo>
                  <a:lnTo>
                    <a:pt x="2567940" y="44196"/>
                  </a:lnTo>
                  <a:lnTo>
                    <a:pt x="2577084" y="42672"/>
                  </a:lnTo>
                  <a:lnTo>
                    <a:pt x="2586228" y="42672"/>
                  </a:lnTo>
                  <a:lnTo>
                    <a:pt x="2596896" y="41148"/>
                  </a:lnTo>
                  <a:lnTo>
                    <a:pt x="2606040" y="41148"/>
                  </a:lnTo>
                  <a:lnTo>
                    <a:pt x="2615184" y="39624"/>
                  </a:lnTo>
                  <a:lnTo>
                    <a:pt x="2625852" y="39624"/>
                  </a:lnTo>
                  <a:lnTo>
                    <a:pt x="2634996" y="38100"/>
                  </a:lnTo>
                  <a:lnTo>
                    <a:pt x="2644140" y="38100"/>
                  </a:lnTo>
                  <a:lnTo>
                    <a:pt x="2653284" y="36576"/>
                  </a:lnTo>
                  <a:lnTo>
                    <a:pt x="2663952" y="35052"/>
                  </a:lnTo>
                  <a:lnTo>
                    <a:pt x="2673096" y="35052"/>
                  </a:lnTo>
                  <a:lnTo>
                    <a:pt x="2682240" y="33528"/>
                  </a:lnTo>
                  <a:lnTo>
                    <a:pt x="2691384" y="33528"/>
                  </a:lnTo>
                  <a:lnTo>
                    <a:pt x="2702052" y="32004"/>
                  </a:lnTo>
                  <a:lnTo>
                    <a:pt x="2711196" y="32004"/>
                  </a:lnTo>
                  <a:lnTo>
                    <a:pt x="2720340" y="30480"/>
                  </a:lnTo>
                  <a:lnTo>
                    <a:pt x="2729484" y="30480"/>
                  </a:lnTo>
                  <a:lnTo>
                    <a:pt x="2740152" y="28956"/>
                  </a:lnTo>
                  <a:lnTo>
                    <a:pt x="2749296" y="28956"/>
                  </a:lnTo>
                  <a:lnTo>
                    <a:pt x="2758440" y="27432"/>
                  </a:lnTo>
                  <a:lnTo>
                    <a:pt x="2767584" y="25908"/>
                  </a:lnTo>
                  <a:lnTo>
                    <a:pt x="2778252" y="25908"/>
                  </a:lnTo>
                  <a:lnTo>
                    <a:pt x="2787396" y="24384"/>
                  </a:lnTo>
                  <a:lnTo>
                    <a:pt x="2796540" y="24384"/>
                  </a:lnTo>
                  <a:lnTo>
                    <a:pt x="2807208" y="22860"/>
                  </a:lnTo>
                  <a:lnTo>
                    <a:pt x="2816352" y="22860"/>
                  </a:lnTo>
                  <a:lnTo>
                    <a:pt x="2825496" y="21336"/>
                  </a:lnTo>
                  <a:lnTo>
                    <a:pt x="2834640" y="21336"/>
                  </a:lnTo>
                  <a:lnTo>
                    <a:pt x="2845308" y="19812"/>
                  </a:lnTo>
                  <a:lnTo>
                    <a:pt x="2854452" y="19812"/>
                  </a:lnTo>
                  <a:lnTo>
                    <a:pt x="2863596" y="18287"/>
                  </a:lnTo>
                  <a:lnTo>
                    <a:pt x="2872740" y="18287"/>
                  </a:lnTo>
                  <a:lnTo>
                    <a:pt x="2883408" y="16764"/>
                  </a:lnTo>
                  <a:lnTo>
                    <a:pt x="2892552" y="16764"/>
                  </a:lnTo>
                  <a:lnTo>
                    <a:pt x="2901696" y="16764"/>
                  </a:lnTo>
                  <a:lnTo>
                    <a:pt x="2910840" y="15240"/>
                  </a:lnTo>
                  <a:lnTo>
                    <a:pt x="2921508" y="15240"/>
                  </a:lnTo>
                  <a:lnTo>
                    <a:pt x="2930652" y="13716"/>
                  </a:lnTo>
                  <a:lnTo>
                    <a:pt x="2939796" y="13716"/>
                  </a:lnTo>
                  <a:lnTo>
                    <a:pt x="2950464" y="12192"/>
                  </a:lnTo>
                  <a:lnTo>
                    <a:pt x="2959608" y="12192"/>
                  </a:lnTo>
                  <a:lnTo>
                    <a:pt x="2968752" y="12192"/>
                  </a:lnTo>
                  <a:lnTo>
                    <a:pt x="2977896" y="10668"/>
                  </a:lnTo>
                  <a:lnTo>
                    <a:pt x="2988564" y="10668"/>
                  </a:lnTo>
                  <a:lnTo>
                    <a:pt x="2997708" y="9143"/>
                  </a:lnTo>
                  <a:lnTo>
                    <a:pt x="3006852" y="9143"/>
                  </a:lnTo>
                  <a:lnTo>
                    <a:pt x="3015996" y="9143"/>
                  </a:lnTo>
                  <a:lnTo>
                    <a:pt x="3026664" y="7620"/>
                  </a:lnTo>
                  <a:lnTo>
                    <a:pt x="3035808" y="7620"/>
                  </a:lnTo>
                  <a:lnTo>
                    <a:pt x="3044952" y="7620"/>
                  </a:lnTo>
                  <a:lnTo>
                    <a:pt x="3054096" y="6096"/>
                  </a:lnTo>
                  <a:lnTo>
                    <a:pt x="3064764" y="6096"/>
                  </a:lnTo>
                  <a:lnTo>
                    <a:pt x="3073908" y="6096"/>
                  </a:lnTo>
                  <a:lnTo>
                    <a:pt x="3083052" y="4572"/>
                  </a:lnTo>
                  <a:lnTo>
                    <a:pt x="3092196" y="4572"/>
                  </a:lnTo>
                  <a:lnTo>
                    <a:pt x="3102864" y="4572"/>
                  </a:lnTo>
                  <a:lnTo>
                    <a:pt x="3112008" y="3048"/>
                  </a:lnTo>
                  <a:lnTo>
                    <a:pt x="3121152" y="3048"/>
                  </a:lnTo>
                  <a:lnTo>
                    <a:pt x="3131820" y="3048"/>
                  </a:lnTo>
                  <a:lnTo>
                    <a:pt x="3140964" y="3048"/>
                  </a:lnTo>
                  <a:lnTo>
                    <a:pt x="3150108" y="3048"/>
                  </a:lnTo>
                  <a:lnTo>
                    <a:pt x="3159252" y="1524"/>
                  </a:lnTo>
                  <a:lnTo>
                    <a:pt x="3208020" y="1524"/>
                  </a:lnTo>
                  <a:lnTo>
                    <a:pt x="3217164" y="0"/>
                  </a:lnTo>
                  <a:lnTo>
                    <a:pt x="3313176" y="0"/>
                  </a:lnTo>
                  <a:lnTo>
                    <a:pt x="3322320" y="1524"/>
                  </a:lnTo>
                  <a:lnTo>
                    <a:pt x="3369564" y="1524"/>
                  </a:lnTo>
                  <a:lnTo>
                    <a:pt x="3378708" y="3048"/>
                  </a:lnTo>
                  <a:lnTo>
                    <a:pt x="3389376" y="3048"/>
                  </a:lnTo>
                  <a:lnTo>
                    <a:pt x="3398520" y="3048"/>
                  </a:lnTo>
                  <a:lnTo>
                    <a:pt x="3407664" y="4572"/>
                  </a:lnTo>
                  <a:lnTo>
                    <a:pt x="3416808" y="4572"/>
                  </a:lnTo>
                  <a:lnTo>
                    <a:pt x="3427476" y="4572"/>
                  </a:lnTo>
                  <a:lnTo>
                    <a:pt x="3436620" y="6096"/>
                  </a:lnTo>
                  <a:lnTo>
                    <a:pt x="3445764" y="6096"/>
                  </a:lnTo>
                  <a:lnTo>
                    <a:pt x="3456432" y="7620"/>
                  </a:lnTo>
                  <a:lnTo>
                    <a:pt x="3465576" y="7620"/>
                  </a:lnTo>
                  <a:lnTo>
                    <a:pt x="3474720" y="9143"/>
                  </a:lnTo>
                  <a:lnTo>
                    <a:pt x="3483864" y="9143"/>
                  </a:lnTo>
                  <a:lnTo>
                    <a:pt x="3494532" y="10668"/>
                  </a:lnTo>
                  <a:lnTo>
                    <a:pt x="3503676" y="10668"/>
                  </a:lnTo>
                  <a:lnTo>
                    <a:pt x="3512820" y="12192"/>
                  </a:lnTo>
                  <a:lnTo>
                    <a:pt x="3521964" y="13716"/>
                  </a:lnTo>
                  <a:lnTo>
                    <a:pt x="3532632" y="13716"/>
                  </a:lnTo>
                  <a:lnTo>
                    <a:pt x="3541776" y="15240"/>
                  </a:lnTo>
                  <a:lnTo>
                    <a:pt x="3550920" y="16764"/>
                  </a:lnTo>
                  <a:lnTo>
                    <a:pt x="3560064" y="18287"/>
                  </a:lnTo>
                  <a:lnTo>
                    <a:pt x="3570732" y="19812"/>
                  </a:lnTo>
                  <a:lnTo>
                    <a:pt x="3579876" y="21336"/>
                  </a:lnTo>
                  <a:lnTo>
                    <a:pt x="3589020" y="21336"/>
                  </a:lnTo>
                  <a:lnTo>
                    <a:pt x="3598164" y="22860"/>
                  </a:lnTo>
                  <a:lnTo>
                    <a:pt x="3608832" y="24384"/>
                  </a:lnTo>
                  <a:lnTo>
                    <a:pt x="3617976" y="25908"/>
                  </a:lnTo>
                  <a:lnTo>
                    <a:pt x="3627120" y="28956"/>
                  </a:lnTo>
                  <a:lnTo>
                    <a:pt x="3637788" y="30480"/>
                  </a:lnTo>
                  <a:lnTo>
                    <a:pt x="3646932" y="32004"/>
                  </a:lnTo>
                  <a:lnTo>
                    <a:pt x="3656076" y="33528"/>
                  </a:lnTo>
                  <a:lnTo>
                    <a:pt x="3665220" y="35052"/>
                  </a:lnTo>
                  <a:lnTo>
                    <a:pt x="3675888" y="38100"/>
                  </a:lnTo>
                  <a:lnTo>
                    <a:pt x="3685032" y="39624"/>
                  </a:lnTo>
                  <a:lnTo>
                    <a:pt x="3694176" y="41148"/>
                  </a:lnTo>
                  <a:lnTo>
                    <a:pt x="3703320" y="44196"/>
                  </a:lnTo>
                  <a:lnTo>
                    <a:pt x="3713988" y="45720"/>
                  </a:lnTo>
                  <a:lnTo>
                    <a:pt x="3723132" y="48768"/>
                  </a:lnTo>
                  <a:lnTo>
                    <a:pt x="3732276" y="50292"/>
                  </a:lnTo>
                  <a:lnTo>
                    <a:pt x="3741420" y="53340"/>
                  </a:lnTo>
                  <a:lnTo>
                    <a:pt x="3752088" y="56387"/>
                  </a:lnTo>
                  <a:lnTo>
                    <a:pt x="3761232" y="57912"/>
                  </a:lnTo>
                </a:path>
              </a:pathLst>
            </a:custGeom>
            <a:ln w="634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10853" y="5387744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7A7A7A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10853" y="4723487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7A7A7A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10853" y="405923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7A7A7A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10853" y="3394976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7A7A7A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10853" y="2730720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7A7A7A"/>
                </a:solidFill>
                <a:latin typeface="Arial"/>
                <a:cs typeface="Arial"/>
              </a:rPr>
              <a:t>8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37022" y="2066464"/>
            <a:ext cx="38671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90" dirty="0">
                <a:solidFill>
                  <a:srgbClr val="7A7A7A"/>
                </a:solidFill>
                <a:latin typeface="Arial"/>
                <a:cs typeface="Arial"/>
              </a:rPr>
              <a:t>10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15494" y="583356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595958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43979" y="583356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595958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72462" y="583356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595958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500946" y="583356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595958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29429" y="5833563"/>
            <a:ext cx="21240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75" dirty="0">
                <a:solidFill>
                  <a:srgbClr val="595958"/>
                </a:solidFill>
                <a:latin typeface="Arial"/>
                <a:cs typeface="Arial"/>
              </a:rPr>
              <a:t>8</a:t>
            </a:r>
            <a:endParaRPr sz="2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70817" y="5833564"/>
            <a:ext cx="38671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90" dirty="0">
                <a:solidFill>
                  <a:srgbClr val="595958"/>
                </a:solidFill>
                <a:latin typeface="Arial"/>
                <a:cs typeface="Arial"/>
              </a:rPr>
              <a:t>10</a:t>
            </a:r>
            <a:endParaRPr sz="2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63224" y="7108070"/>
            <a:ext cx="5942648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2700" b="1" i="1" spc="-255" dirty="0">
                <a:solidFill>
                  <a:srgbClr val="1F497D"/>
                </a:solidFill>
                <a:latin typeface="Arial"/>
                <a:cs typeface="Arial"/>
              </a:rPr>
              <a:t>The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188" dirty="0">
                <a:solidFill>
                  <a:srgbClr val="1F497D"/>
                </a:solidFill>
                <a:latin typeface="Arial"/>
                <a:cs typeface="Arial"/>
              </a:rPr>
              <a:t>higher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135" dirty="0">
                <a:solidFill>
                  <a:srgbClr val="1F497D"/>
                </a:solidFill>
                <a:latin typeface="Arial"/>
                <a:cs typeface="Arial"/>
              </a:rPr>
              <a:t>the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240" dirty="0">
                <a:solidFill>
                  <a:srgbClr val="1F497D"/>
                </a:solidFill>
                <a:latin typeface="Arial"/>
                <a:cs typeface="Arial"/>
              </a:rPr>
              <a:t>discount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90" dirty="0">
                <a:solidFill>
                  <a:srgbClr val="1F497D"/>
                </a:solidFill>
                <a:latin typeface="Arial"/>
                <a:cs typeface="Arial"/>
              </a:rPr>
              <a:t>rate,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135" dirty="0">
                <a:solidFill>
                  <a:srgbClr val="1F497D"/>
                </a:solidFill>
                <a:latin typeface="Arial"/>
                <a:cs typeface="Arial"/>
              </a:rPr>
              <a:t>the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30" dirty="0">
                <a:solidFill>
                  <a:srgbClr val="1F497D"/>
                </a:solidFill>
                <a:latin typeface="Arial"/>
                <a:cs typeface="Arial"/>
              </a:rPr>
              <a:t>less </a:t>
            </a:r>
            <a:r>
              <a:rPr sz="2700" b="1" i="1" spc="-135" dirty="0">
                <a:solidFill>
                  <a:srgbClr val="1F497D"/>
                </a:solidFill>
                <a:latin typeface="Arial"/>
                <a:cs typeface="Arial"/>
              </a:rPr>
              <a:t>important</a:t>
            </a:r>
            <a:r>
              <a:rPr sz="2700" b="1" i="1" spc="-11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150" dirty="0">
                <a:solidFill>
                  <a:srgbClr val="1F497D"/>
                </a:solidFill>
                <a:latin typeface="Arial"/>
                <a:cs typeface="Arial"/>
              </a:rPr>
              <a:t>future</a:t>
            </a:r>
            <a:r>
              <a:rPr sz="2700" b="1" i="1" spc="-68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248" dirty="0">
                <a:solidFill>
                  <a:srgbClr val="1F497D"/>
                </a:solidFill>
                <a:latin typeface="Arial"/>
                <a:cs typeface="Arial"/>
              </a:rPr>
              <a:t>outcomes</a:t>
            </a:r>
            <a:r>
              <a:rPr sz="2700" b="1" i="1" spc="-90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195" dirty="0">
                <a:solidFill>
                  <a:srgbClr val="1F497D"/>
                </a:solidFill>
                <a:latin typeface="Arial"/>
                <a:cs typeface="Arial"/>
              </a:rPr>
              <a:t>and</a:t>
            </a:r>
            <a:r>
              <a:rPr sz="2700" b="1" i="1" spc="-98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306" dirty="0">
                <a:solidFill>
                  <a:srgbClr val="1F497D"/>
                </a:solidFill>
                <a:latin typeface="Arial"/>
                <a:cs typeface="Arial"/>
              </a:rPr>
              <a:t>costs</a:t>
            </a:r>
            <a:r>
              <a:rPr sz="2700" b="1" i="1" spc="-10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i="1" spc="-45" dirty="0">
                <a:solidFill>
                  <a:srgbClr val="1F497D"/>
                </a:solidFill>
                <a:latin typeface="Arial"/>
                <a:cs typeface="Arial"/>
              </a:rPr>
              <a:t>are.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62884" y="1765093"/>
            <a:ext cx="231838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03" dirty="0">
                <a:solidFill>
                  <a:srgbClr val="1F497D"/>
                </a:solidFill>
                <a:latin typeface="Arial"/>
                <a:cs typeface="Arial"/>
              </a:rPr>
              <a:t>Cumulative</a:t>
            </a:r>
            <a:r>
              <a:rPr sz="2700" b="1" spc="-83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700" b="1" spc="-188" dirty="0">
                <a:solidFill>
                  <a:srgbClr val="1F497D"/>
                </a:solidFill>
                <a:latin typeface="Arial"/>
                <a:cs typeface="Arial"/>
              </a:rPr>
              <a:t>cost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75854" y="3677104"/>
            <a:ext cx="1651635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R="12383" algn="r">
              <a:spcBef>
                <a:spcPts val="150"/>
              </a:spcBef>
            </a:pPr>
            <a:r>
              <a:rPr sz="2700" b="1" spc="-188" dirty="0">
                <a:solidFill>
                  <a:srgbClr val="C0504D"/>
                </a:solidFill>
                <a:latin typeface="Arial"/>
                <a:cs typeface="Arial"/>
              </a:rPr>
              <a:t>Cumulative</a:t>
            </a:r>
            <a:endParaRPr sz="2700">
              <a:latin typeface="Arial"/>
              <a:cs typeface="Arial"/>
            </a:endParaRPr>
          </a:p>
          <a:p>
            <a:pPr marR="7620" algn="r"/>
            <a:r>
              <a:rPr sz="2700" b="1" spc="-15" dirty="0">
                <a:solidFill>
                  <a:srgbClr val="C0504D"/>
                </a:solidFill>
                <a:latin typeface="Arial"/>
                <a:cs typeface="Arial"/>
              </a:rPr>
              <a:t>benefit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620848" y="6279255"/>
            <a:ext cx="823913" cy="4809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000" b="1" spc="-195" dirty="0">
                <a:latin typeface="Arial"/>
                <a:cs typeface="Arial"/>
              </a:rPr>
              <a:t>Time</a:t>
            </a:r>
            <a:endParaRPr sz="3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4601" y="9843518"/>
            <a:ext cx="3203258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105" dirty="0">
                <a:latin typeface="Arial"/>
                <a:cs typeface="Arial"/>
              </a:rPr>
              <a:t>Slide</a:t>
            </a:r>
            <a:r>
              <a:rPr spc="-83" dirty="0">
                <a:latin typeface="Arial"/>
                <a:cs typeface="Arial"/>
              </a:rPr>
              <a:t> courtesy </a:t>
            </a:r>
            <a:r>
              <a:rPr dirty="0">
                <a:latin typeface="Arial"/>
                <a:cs typeface="Arial"/>
              </a:rPr>
              <a:t>of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83" dirty="0">
                <a:latin typeface="Arial"/>
                <a:cs typeface="Arial"/>
              </a:rPr>
              <a:t>Dr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27" dirty="0">
                <a:latin typeface="Arial"/>
                <a:cs typeface="Arial"/>
              </a:rPr>
              <a:t>Hugo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344" dirty="0">
                <a:latin typeface="Arial"/>
                <a:cs typeface="Arial"/>
              </a:rPr>
              <a:t>C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turner</a:t>
            </a:r>
            <a:endParaRPr>
              <a:latin typeface="Arial"/>
              <a:cs typeface="Arial"/>
            </a:endParaRPr>
          </a:p>
        </p:txBody>
      </p:sp>
      <p:grpSp>
        <p:nvGrpSpPr>
          <p:cNvPr id="29" name="Group 3">
            <a:extLst>
              <a:ext uri="{FF2B5EF4-FFF2-40B4-BE49-F238E27FC236}">
                <a16:creationId xmlns:a16="http://schemas.microsoft.com/office/drawing/2014/main" id="{AFACBD7C-D6DD-9538-A93A-C1D4BDF14635}"/>
              </a:ext>
            </a:extLst>
          </p:cNvPr>
          <p:cNvGrpSpPr/>
          <p:nvPr/>
        </p:nvGrpSpPr>
        <p:grpSpPr>
          <a:xfrm>
            <a:off x="5834903" y="-22939"/>
            <a:ext cx="6832187" cy="1491696"/>
            <a:chOff x="0" y="0"/>
            <a:chExt cx="9109583" cy="1988928"/>
          </a:xfrm>
        </p:grpSpPr>
        <p:sp>
          <p:nvSpPr>
            <p:cNvPr id="30" name="Freeform 4">
              <a:extLst>
                <a:ext uri="{FF2B5EF4-FFF2-40B4-BE49-F238E27FC236}">
                  <a16:creationId xmlns:a16="http://schemas.microsoft.com/office/drawing/2014/main" id="{A8C0F17D-EDEF-B867-1BF2-0799EA910F67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39D49344-4F2D-698E-FB9D-797BBB466BB9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8DD69354-BC43-B426-3FA2-EDD96244BBC7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15">
            <a:extLst>
              <a:ext uri="{FF2B5EF4-FFF2-40B4-BE49-F238E27FC236}">
                <a16:creationId xmlns:a16="http://schemas.microsoft.com/office/drawing/2014/main" id="{E1D3A029-601B-9DED-CC31-70A70D1951A3}"/>
              </a:ext>
            </a:extLst>
          </p:cNvPr>
          <p:cNvSpPr/>
          <p:nvPr/>
        </p:nvSpPr>
        <p:spPr>
          <a:xfrm flipH="1" flipV="1">
            <a:off x="-27296" y="-229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5D023833-BA8B-9213-AB81-BF9AAA9C926D}"/>
              </a:ext>
            </a:extLst>
          </p:cNvPr>
          <p:cNvSpPr/>
          <p:nvPr/>
        </p:nvSpPr>
        <p:spPr>
          <a:xfrm flipH="1" flipV="1">
            <a:off x="-44297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04D2D555-DAC4-B2D6-DFB3-8CFC8D9DF3EC}"/>
              </a:ext>
            </a:extLst>
          </p:cNvPr>
          <p:cNvSpPr/>
          <p:nvPr/>
        </p:nvSpPr>
        <p:spPr>
          <a:xfrm flipH="1" flipV="1">
            <a:off x="10255213" y="-10137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863" y="1303451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306" dirty="0"/>
              <a:t>Different</a:t>
            </a:r>
            <a:r>
              <a:rPr spc="-381" dirty="0"/>
              <a:t> </a:t>
            </a:r>
            <a:r>
              <a:rPr spc="-503" dirty="0"/>
              <a:t>types</a:t>
            </a:r>
            <a:r>
              <a:rPr spc="-330" dirty="0"/>
              <a:t> </a:t>
            </a:r>
            <a:r>
              <a:rPr spc="-315" dirty="0"/>
              <a:t>of</a:t>
            </a:r>
            <a:r>
              <a:rPr spc="-323" dirty="0"/>
              <a:t> </a:t>
            </a:r>
            <a:r>
              <a:rPr spc="-540" dirty="0"/>
              <a:t>decision</a:t>
            </a:r>
            <a:r>
              <a:rPr spc="-368" dirty="0"/>
              <a:t> </a:t>
            </a:r>
            <a:r>
              <a:rPr spc="-548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4386" y="2739771"/>
            <a:ext cx="4096703" cy="504946"/>
          </a:xfrm>
          <a:prstGeom prst="rect">
            <a:avLst/>
          </a:prstGeom>
          <a:ln w="28575">
            <a:solidFill>
              <a:srgbClr val="0C2546"/>
            </a:solidFill>
          </a:ln>
        </p:spPr>
        <p:txBody>
          <a:bodyPr vert="horz" wrap="square" lIns="0" tIns="42863" rIns="0" bIns="0" rtlCol="0">
            <a:spAutoFit/>
          </a:bodyPr>
          <a:lstStyle/>
          <a:p>
            <a:pPr marL="930593">
              <a:spcBef>
                <a:spcPts val="338"/>
              </a:spcBef>
            </a:pPr>
            <a:r>
              <a:rPr sz="3000" b="1" spc="-263" dirty="0">
                <a:solidFill>
                  <a:srgbClr val="0C2546"/>
                </a:solidFill>
                <a:latin typeface="Arial"/>
                <a:cs typeface="Arial"/>
              </a:rPr>
              <a:t>Decision</a:t>
            </a:r>
            <a:r>
              <a:rPr sz="3000" b="1" spc="-105" dirty="0">
                <a:solidFill>
                  <a:srgbClr val="0C2546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0C2546"/>
                </a:solidFill>
                <a:latin typeface="Arial"/>
                <a:cs typeface="Arial"/>
              </a:rPr>
              <a:t>trees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605" y="3861053"/>
            <a:ext cx="11295698" cy="2697480"/>
            <a:chOff x="173736" y="2574035"/>
            <a:chExt cx="7530465" cy="1798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6" y="2574035"/>
              <a:ext cx="3435108" cy="17983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2459" y="2594542"/>
              <a:ext cx="3411116" cy="13944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545690" y="6610348"/>
            <a:ext cx="4903469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2700" spc="-158" dirty="0">
                <a:latin typeface="Arial"/>
                <a:cs typeface="Arial"/>
              </a:rPr>
              <a:t>Essentially,</a:t>
            </a:r>
            <a:r>
              <a:rPr sz="2700" spc="-113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repeated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127" dirty="0">
                <a:latin typeface="Arial"/>
                <a:cs typeface="Arial"/>
              </a:rPr>
              <a:t>decision</a:t>
            </a:r>
            <a:r>
              <a:rPr sz="2700" spc="-83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trees </a:t>
            </a:r>
            <a:r>
              <a:rPr sz="2700" spc="-98" dirty="0">
                <a:latin typeface="Arial"/>
                <a:cs typeface="Arial"/>
              </a:rPr>
              <a:t>(over</a:t>
            </a:r>
            <a:r>
              <a:rPr sz="2700" spc="-127" dirty="0">
                <a:latin typeface="Arial"/>
                <a:cs typeface="Arial"/>
              </a:rPr>
              <a:t> </a:t>
            </a:r>
            <a:r>
              <a:rPr sz="2700" spc="-98" dirty="0">
                <a:latin typeface="Arial"/>
                <a:cs typeface="Arial"/>
              </a:rPr>
              <a:t>longer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time</a:t>
            </a:r>
            <a:r>
              <a:rPr sz="2700" spc="-135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periods)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6247" y="6610347"/>
            <a:ext cx="4229100" cy="126573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2700" spc="-120" dirty="0">
                <a:latin typeface="Arial"/>
                <a:cs typeface="Arial"/>
              </a:rPr>
              <a:t>Similar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Markov</a:t>
            </a:r>
            <a:r>
              <a:rPr sz="2700" spc="-113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models,</a:t>
            </a:r>
            <a:r>
              <a:rPr sz="2700" spc="-113" dirty="0">
                <a:latin typeface="Arial"/>
                <a:cs typeface="Arial"/>
              </a:rPr>
              <a:t> </a:t>
            </a:r>
            <a:r>
              <a:rPr sz="2700" spc="-38" dirty="0">
                <a:latin typeface="Arial"/>
                <a:cs typeface="Arial"/>
              </a:rPr>
              <a:t>but </a:t>
            </a:r>
            <a:r>
              <a:rPr sz="2700" spc="-83" dirty="0">
                <a:latin typeface="Arial"/>
                <a:cs typeface="Arial"/>
              </a:rPr>
              <a:t>patients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95" dirty="0">
                <a:latin typeface="Arial"/>
                <a:cs typeface="Arial"/>
              </a:rPr>
              <a:t>can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60" dirty="0">
                <a:latin typeface="Arial"/>
                <a:cs typeface="Arial"/>
              </a:rPr>
              <a:t>interact</a:t>
            </a:r>
            <a:r>
              <a:rPr sz="2700" spc="-83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(e.g.,</a:t>
            </a:r>
            <a:r>
              <a:rPr sz="2700" spc="-113" dirty="0">
                <a:latin typeface="Arial"/>
                <a:cs typeface="Arial"/>
              </a:rPr>
              <a:t> </a:t>
            </a:r>
            <a:r>
              <a:rPr sz="2700" spc="-38" dirty="0">
                <a:latin typeface="Arial"/>
                <a:cs typeface="Arial"/>
              </a:rPr>
              <a:t>by </a:t>
            </a:r>
            <a:r>
              <a:rPr sz="2700" spc="-75" dirty="0">
                <a:latin typeface="Arial"/>
                <a:cs typeface="Arial"/>
              </a:rPr>
              <a:t>infecting </a:t>
            </a:r>
            <a:r>
              <a:rPr sz="2700" spc="-188" dirty="0">
                <a:latin typeface="Arial"/>
                <a:cs typeface="Arial"/>
              </a:rPr>
              <a:t>each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other)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3243" y="4162807"/>
            <a:ext cx="5305805" cy="162763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42558" y="2744342"/>
            <a:ext cx="4096703" cy="461665"/>
          </a:xfrm>
          <a:prstGeom prst="rect">
            <a:avLst/>
          </a:prstGeom>
          <a:ln w="28575">
            <a:solidFill>
              <a:srgbClr val="0C25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7230">
              <a:lnSpc>
                <a:spcPts val="3563"/>
              </a:lnSpc>
            </a:pPr>
            <a:r>
              <a:rPr sz="3300" b="1" spc="-203" dirty="0">
                <a:solidFill>
                  <a:srgbClr val="0C2546"/>
                </a:solidFill>
                <a:latin typeface="Arial"/>
                <a:cs typeface="Arial"/>
              </a:rPr>
              <a:t>Markov</a:t>
            </a:r>
            <a:r>
              <a:rPr sz="3300" b="1" spc="-83" dirty="0">
                <a:solidFill>
                  <a:srgbClr val="0C2546"/>
                </a:solidFill>
                <a:latin typeface="Arial"/>
                <a:cs typeface="Arial"/>
              </a:rPr>
              <a:t> </a:t>
            </a:r>
            <a:r>
              <a:rPr sz="3300" b="1" spc="-30" dirty="0">
                <a:solidFill>
                  <a:srgbClr val="0C2546"/>
                </a:solidFill>
                <a:latin typeface="Arial"/>
                <a:cs typeface="Arial"/>
              </a:rPr>
              <a:t>models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22732" y="2543176"/>
            <a:ext cx="4524375" cy="868828"/>
          </a:xfrm>
          <a:prstGeom prst="rect">
            <a:avLst/>
          </a:prstGeom>
          <a:ln w="28575">
            <a:solidFill>
              <a:srgbClr val="0C2546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658176" marR="650558" indent="214313">
              <a:lnSpc>
                <a:spcPts val="3240"/>
              </a:lnSpc>
              <a:spcBef>
                <a:spcPts val="375"/>
              </a:spcBef>
            </a:pPr>
            <a:r>
              <a:rPr sz="3000" b="1" spc="-285" dirty="0">
                <a:solidFill>
                  <a:srgbClr val="0C2546"/>
                </a:solidFill>
                <a:latin typeface="Arial"/>
                <a:cs typeface="Arial"/>
              </a:rPr>
              <a:t>Dynamics</a:t>
            </a:r>
            <a:r>
              <a:rPr sz="3000" b="1" spc="-127" dirty="0">
                <a:solidFill>
                  <a:srgbClr val="0C2546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0C2546"/>
                </a:solidFill>
                <a:latin typeface="Arial"/>
                <a:cs typeface="Arial"/>
              </a:rPr>
              <a:t>models </a:t>
            </a:r>
            <a:r>
              <a:rPr sz="3000" b="1" spc="-203" dirty="0">
                <a:solidFill>
                  <a:srgbClr val="0C2546"/>
                </a:solidFill>
                <a:latin typeface="Arial"/>
                <a:cs typeface="Arial"/>
              </a:rPr>
              <a:t>(infectious</a:t>
            </a:r>
            <a:r>
              <a:rPr sz="3000" b="1" spc="-98" dirty="0">
                <a:solidFill>
                  <a:srgbClr val="0C2546"/>
                </a:solidFill>
                <a:latin typeface="Arial"/>
                <a:cs typeface="Arial"/>
              </a:rPr>
              <a:t> </a:t>
            </a:r>
            <a:r>
              <a:rPr sz="3000" b="1" spc="-248" dirty="0">
                <a:solidFill>
                  <a:srgbClr val="0C2546"/>
                </a:solidFill>
                <a:latin typeface="Arial"/>
                <a:cs typeface="Arial"/>
              </a:rPr>
              <a:t>diseases)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7863" y="6865662"/>
            <a:ext cx="4739640" cy="126573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2700" spc="-127" dirty="0">
                <a:latin typeface="Arial"/>
                <a:cs typeface="Arial"/>
              </a:rPr>
              <a:t>Short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38" dirty="0">
                <a:latin typeface="Arial"/>
                <a:cs typeface="Arial"/>
              </a:rPr>
              <a:t>term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83" dirty="0">
                <a:latin typeface="Arial"/>
                <a:cs typeface="Arial"/>
              </a:rPr>
              <a:t>situations</a:t>
            </a:r>
            <a:r>
              <a:rPr sz="2700" spc="-11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with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several </a:t>
            </a:r>
            <a:r>
              <a:rPr sz="2700" spc="-135" dirty="0">
                <a:latin typeface="Arial"/>
                <a:cs typeface="Arial"/>
              </a:rPr>
              <a:t>possible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27" dirty="0">
                <a:latin typeface="Arial"/>
                <a:cs typeface="Arial"/>
              </a:rPr>
              <a:t>outcomes</a:t>
            </a:r>
            <a:r>
              <a:rPr sz="2700" spc="-83" dirty="0">
                <a:latin typeface="Arial"/>
                <a:cs typeface="Arial"/>
              </a:rPr>
              <a:t> </a:t>
            </a:r>
            <a:r>
              <a:rPr sz="2700" spc="-143" dirty="0">
                <a:latin typeface="Arial"/>
                <a:cs typeface="Arial"/>
              </a:rPr>
              <a:t>(above</a:t>
            </a:r>
            <a:r>
              <a:rPr sz="2700" spc="-83" dirty="0">
                <a:latin typeface="Arial"/>
                <a:cs typeface="Arial"/>
              </a:rPr>
              <a:t> </a:t>
            </a:r>
            <a:r>
              <a:rPr sz="2700" spc="-38" dirty="0">
                <a:latin typeface="Arial"/>
                <a:cs typeface="Arial"/>
              </a:rPr>
              <a:t>is </a:t>
            </a:r>
            <a:r>
              <a:rPr sz="2700" spc="-120" dirty="0">
                <a:latin typeface="Arial"/>
                <a:cs typeface="Arial"/>
              </a:rPr>
              <a:t>essentially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113" dirty="0">
                <a:latin typeface="Arial"/>
                <a:cs typeface="Arial"/>
              </a:rPr>
              <a:t>one</a:t>
            </a:r>
            <a:r>
              <a:rPr sz="2700" spc="-83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hospital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visit)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8905" y="2295430"/>
            <a:ext cx="13529310" cy="6615113"/>
            <a:chOff x="259270" y="1530286"/>
            <a:chExt cx="9019540" cy="4410075"/>
          </a:xfrm>
        </p:grpSpPr>
        <p:sp>
          <p:nvSpPr>
            <p:cNvPr id="14" name="object 14"/>
            <p:cNvSpPr/>
            <p:nvPr/>
          </p:nvSpPr>
          <p:spPr>
            <a:xfrm>
              <a:off x="273558" y="1544574"/>
              <a:ext cx="7754620" cy="4381500"/>
            </a:xfrm>
            <a:custGeom>
              <a:avLst/>
              <a:gdLst/>
              <a:ahLst/>
              <a:cxnLst/>
              <a:rect l="l" t="t" r="r" b="b"/>
              <a:pathLst>
                <a:path w="7754620" h="4381500">
                  <a:moveTo>
                    <a:pt x="0" y="0"/>
                  </a:moveTo>
                  <a:lnTo>
                    <a:pt x="7754111" y="0"/>
                  </a:lnTo>
                  <a:lnTo>
                    <a:pt x="7754111" y="4381500"/>
                  </a:lnTo>
                  <a:lnTo>
                    <a:pt x="0" y="43815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E83A08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1447" y="5740908"/>
              <a:ext cx="6623050" cy="0"/>
            </a:xfrm>
            <a:custGeom>
              <a:avLst/>
              <a:gdLst/>
              <a:ahLst/>
              <a:cxnLst/>
              <a:rect l="l" t="t" r="r" b="b"/>
              <a:pathLst>
                <a:path w="6623050">
                  <a:moveTo>
                    <a:pt x="0" y="0"/>
                  </a:moveTo>
                  <a:lnTo>
                    <a:pt x="6622491" y="0"/>
                  </a:lnTo>
                </a:path>
              </a:pathLst>
            </a:custGeom>
            <a:ln w="85725">
              <a:solidFill>
                <a:srgbClr val="0C25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9021062" y="5612330"/>
              <a:ext cx="257810" cy="257175"/>
            </a:xfrm>
            <a:custGeom>
              <a:avLst/>
              <a:gdLst/>
              <a:ahLst/>
              <a:cxnLst/>
              <a:rect l="l" t="t" r="r" b="b"/>
              <a:pathLst>
                <a:path w="257809" h="257175">
                  <a:moveTo>
                    <a:pt x="0" y="0"/>
                  </a:moveTo>
                  <a:lnTo>
                    <a:pt x="12" y="257175"/>
                  </a:lnTo>
                  <a:lnTo>
                    <a:pt x="257187" y="128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254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60214" y="7962380"/>
            <a:ext cx="3841433" cy="5261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3300" spc="-150" dirty="0">
                <a:solidFill>
                  <a:srgbClr val="0C2546"/>
                </a:solidFill>
                <a:latin typeface="Arial"/>
                <a:cs typeface="Arial"/>
              </a:rPr>
              <a:t>Complexity</a:t>
            </a:r>
            <a:r>
              <a:rPr sz="3300" spc="-113" dirty="0">
                <a:solidFill>
                  <a:srgbClr val="0C2546"/>
                </a:solidFill>
                <a:latin typeface="Arial"/>
                <a:cs typeface="Arial"/>
              </a:rPr>
              <a:t> </a:t>
            </a:r>
            <a:r>
              <a:rPr sz="3300" spc="-127" dirty="0">
                <a:solidFill>
                  <a:srgbClr val="0C2546"/>
                </a:solidFill>
                <a:latin typeface="Arial"/>
                <a:cs typeface="Arial"/>
              </a:rPr>
              <a:t>(generally</a:t>
            </a:r>
            <a:r>
              <a:rPr sz="3300" spc="-127" dirty="0">
                <a:solidFill>
                  <a:srgbClr val="174A8C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B3D5D6DD-0F3F-9A85-A8B9-F1EE6AB971D5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4A55C000-5371-FBEC-2AF3-11ACB630E0CF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EE6ED6E-098C-02B2-7057-13DD68159644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61E7B07-D035-6B35-4DE6-65ABEBD25772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15">
            <a:extLst>
              <a:ext uri="{FF2B5EF4-FFF2-40B4-BE49-F238E27FC236}">
                <a16:creationId xmlns:a16="http://schemas.microsoft.com/office/drawing/2014/main" id="{9E76A916-63E3-2C17-9C3B-5DE2A2B48FD0}"/>
              </a:ext>
            </a:extLst>
          </p:cNvPr>
          <p:cNvSpPr/>
          <p:nvPr/>
        </p:nvSpPr>
        <p:spPr>
          <a:xfrm flipH="1" flipV="1">
            <a:off x="22617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1B0E9E7-B683-3E82-E5B3-FE5089FFCE2A}"/>
              </a:ext>
            </a:extLst>
          </p:cNvPr>
          <p:cNvSpPr/>
          <p:nvPr/>
        </p:nvSpPr>
        <p:spPr>
          <a:xfrm flipH="1" flipV="1">
            <a:off x="6824" y="23161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1CDE71C6-508B-75A2-E8D8-FE5C3C11189E}"/>
              </a:ext>
            </a:extLst>
          </p:cNvPr>
          <p:cNvSpPr/>
          <p:nvPr/>
        </p:nvSpPr>
        <p:spPr>
          <a:xfrm flipH="1" flipV="1">
            <a:off x="10280176" y="-57813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930368"/>
            <a:ext cx="12344400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465" dirty="0"/>
              <a:t>How</a:t>
            </a:r>
            <a:r>
              <a:rPr spc="-338" dirty="0"/>
              <a:t> </a:t>
            </a:r>
            <a:r>
              <a:rPr spc="-248" dirty="0"/>
              <a:t>to</a:t>
            </a:r>
            <a:r>
              <a:rPr spc="-330" dirty="0"/>
              <a:t> </a:t>
            </a:r>
            <a:r>
              <a:rPr spc="-660" dirty="0"/>
              <a:t>choose</a:t>
            </a:r>
            <a:r>
              <a:rPr spc="-338" dirty="0"/>
              <a:t> </a:t>
            </a:r>
            <a:r>
              <a:rPr spc="-465" dirty="0"/>
              <a:t>your</a:t>
            </a:r>
            <a:r>
              <a:rPr spc="-338" dirty="0"/>
              <a:t> </a:t>
            </a:r>
            <a:r>
              <a:rPr spc="-540" dirty="0"/>
              <a:t>decision</a:t>
            </a:r>
            <a:r>
              <a:rPr spc="-375" dirty="0"/>
              <a:t> </a:t>
            </a:r>
            <a:r>
              <a:rPr spc="-540" dirty="0"/>
              <a:t>model?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98976"/>
              </p:ext>
            </p:extLst>
          </p:nvPr>
        </p:nvGraphicFramePr>
        <p:xfrm>
          <a:off x="1217295" y="3228534"/>
          <a:ext cx="15511462" cy="6137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72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r>
                        <a:rPr sz="2700" b="1" spc="-8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sz="2700" b="1" spc="-10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3695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marL="967740"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r>
                        <a:rPr sz="2700" b="1" spc="-13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General</a:t>
                      </a:r>
                      <a:r>
                        <a:rPr sz="2700" b="1" spc="-6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4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3695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206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r>
                        <a:rPr sz="2700" b="1" spc="-16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2700" b="1" spc="-8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9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700" b="1" spc="-8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6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Decision</a:t>
                      </a:r>
                      <a:r>
                        <a:rPr sz="2700" b="1" spc="-7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8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Best</a:t>
                      </a:r>
                      <a:r>
                        <a:rPr sz="2700" b="1" spc="-11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2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suit</a:t>
                      </a:r>
                      <a:r>
                        <a:rPr sz="2700" b="1" spc="-80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5" dirty="0">
                          <a:solidFill>
                            <a:srgbClr val="FEFEFE"/>
                          </a:solidFill>
                          <a:latin typeface="Arial"/>
                          <a:cs typeface="Arial"/>
                        </a:rPr>
                        <a:t>for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369569" marB="0">
                    <a:lnL w="12700">
                      <a:solidFill>
                        <a:srgbClr val="002060"/>
                      </a:solidFill>
                      <a:prstDash val="solid"/>
                    </a:lnL>
                    <a:lnR w="12700">
                      <a:solidFill>
                        <a:srgbClr val="002060"/>
                      </a:solidFill>
                      <a:prstDash val="solid"/>
                    </a:lnR>
                    <a:lnT w="12700">
                      <a:solidFill>
                        <a:srgbClr val="002060"/>
                      </a:solidFill>
                      <a:prstDash val="solid"/>
                    </a:lnT>
                    <a:lnB w="12700">
                      <a:solidFill>
                        <a:srgbClr val="002060"/>
                      </a:solidFill>
                      <a:prstDash val="solid"/>
                    </a:lnB>
                    <a:solidFill>
                      <a:srgbClr val="174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0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00" b="1" spc="-1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Decision</a:t>
                      </a:r>
                      <a:r>
                        <a:rPr sz="2700" b="1" spc="-1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Tree</a:t>
                      </a:r>
                      <a:r>
                        <a:rPr sz="2700" b="1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98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 marR="385445">
                        <a:lnSpc>
                          <a:spcPct val="100000"/>
                        </a:lnSpc>
                      </a:pPr>
                      <a:r>
                        <a:rPr sz="2400" spc="-10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Diagrams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risk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events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states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nature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over</a:t>
                      </a:r>
                      <a:r>
                        <a:rPr sz="2400" spc="-4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fixed</a:t>
                      </a:r>
                      <a:r>
                        <a:rPr sz="2400" spc="-1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horizon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5369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Interventions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relevant 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time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horizon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2400" spc="-4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fixed,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recommended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acute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intervention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2400" spc="-4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recurrent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33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206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87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00" b="1" spc="-1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Markov</a:t>
                      </a:r>
                      <a:r>
                        <a:rPr sz="2700" b="1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803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Stimulate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hypothetical 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cohort</a:t>
                      </a:r>
                      <a:r>
                        <a:rPr sz="2400" spc="-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individuals</a:t>
                      </a:r>
                      <a:r>
                        <a:rPr sz="2400" spc="-1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set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health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states over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time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2448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Modeling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interventions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14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diseases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conditions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involves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risk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over</a:t>
                      </a:r>
                      <a:r>
                        <a:rPr sz="2400" spc="-1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7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long-</a:t>
                      </a:r>
                      <a:r>
                        <a:rPr sz="2400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time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horizon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and/or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recurrent</a:t>
                      </a:r>
                      <a:r>
                        <a:rPr sz="2400" spc="-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events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87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00" b="1" spc="-1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Dynamic</a:t>
                      </a:r>
                      <a:r>
                        <a:rPr sz="2700" b="1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 marR="398780">
                        <a:lnSpc>
                          <a:spcPct val="100000"/>
                        </a:lnSpc>
                      </a:pPr>
                      <a:r>
                        <a:rPr sz="2400" spc="-1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allows</a:t>
                      </a:r>
                      <a:r>
                        <a:rPr sz="2400" spc="-8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forms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interaction 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between</a:t>
                      </a:r>
                      <a:r>
                        <a:rPr sz="2400" spc="-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individuals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3652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2400" spc="-10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Recommended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when</a:t>
                      </a:r>
                      <a:r>
                        <a:rPr sz="2400" spc="-3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interaction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between </a:t>
                      </a:r>
                      <a:r>
                        <a:rPr sz="2400" spc="-5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individuals</a:t>
                      </a:r>
                      <a:r>
                        <a:rPr sz="2400" spc="-10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needs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taken</a:t>
                      </a:r>
                      <a:r>
                        <a:rPr sz="2400" spc="-6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into</a:t>
                      </a:r>
                      <a:r>
                        <a:rPr sz="2400" spc="-7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accounts,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2400" spc="-9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r>
                        <a:rPr sz="2400" spc="-6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infectious</a:t>
                      </a:r>
                      <a:r>
                        <a:rPr sz="2400" spc="-4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diseases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17295" y="9870858"/>
            <a:ext cx="15853410" cy="38600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9050" marR="7620">
              <a:lnSpc>
                <a:spcPts val="1425"/>
              </a:lnSpc>
              <a:spcBef>
                <a:spcPts val="210"/>
              </a:spcBef>
            </a:pP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Cooper,</a:t>
            </a:r>
            <a:r>
              <a:rPr sz="1200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53" dirty="0">
                <a:solidFill>
                  <a:srgbClr val="303030"/>
                </a:solidFill>
                <a:latin typeface="Arial"/>
                <a:cs typeface="Arial"/>
              </a:rPr>
              <a:t>K.,</a:t>
            </a:r>
            <a:r>
              <a:rPr sz="1200" spc="8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Brailsford,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98" dirty="0">
                <a:solidFill>
                  <a:srgbClr val="303030"/>
                </a:solidFill>
                <a:latin typeface="Arial"/>
                <a:cs typeface="Arial"/>
              </a:rPr>
              <a:t>S.</a:t>
            </a:r>
            <a:r>
              <a:rPr sz="1200" spc="6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68" dirty="0">
                <a:solidFill>
                  <a:srgbClr val="303030"/>
                </a:solidFill>
                <a:latin typeface="Arial"/>
                <a:cs typeface="Arial"/>
              </a:rPr>
              <a:t>C.,</a:t>
            </a:r>
            <a:r>
              <a:rPr sz="1200" spc="6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&amp;</a:t>
            </a:r>
            <a:r>
              <a:rPr sz="1200" spc="9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Davies,</a:t>
            </a:r>
            <a:r>
              <a:rPr sz="1200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303030"/>
                </a:solidFill>
                <a:latin typeface="Arial"/>
                <a:cs typeface="Arial"/>
              </a:rPr>
              <a:t>R.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(2007).</a:t>
            </a:r>
            <a:r>
              <a:rPr sz="1200" spc="12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Choice</a:t>
            </a:r>
            <a:r>
              <a:rPr sz="1200" spc="5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of</a:t>
            </a:r>
            <a:r>
              <a:rPr sz="1200" spc="9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modelling</a:t>
            </a:r>
            <a:r>
              <a:rPr sz="1200" spc="5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technique</a:t>
            </a:r>
            <a:r>
              <a:rPr sz="1200" spc="1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for</a:t>
            </a:r>
            <a:r>
              <a:rPr sz="1200" spc="11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evaluating</a:t>
            </a:r>
            <a:r>
              <a:rPr sz="1200" spc="3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health</a:t>
            </a:r>
            <a:r>
              <a:rPr sz="1200" spc="6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care</a:t>
            </a:r>
            <a:r>
              <a:rPr sz="1200" spc="8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interventions.</a:t>
            </a:r>
            <a:r>
              <a:rPr sz="1200" spc="3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15" dirty="0">
                <a:solidFill>
                  <a:srgbClr val="303030"/>
                </a:solidFill>
                <a:latin typeface="Arial"/>
                <a:cs typeface="Arial"/>
              </a:rPr>
              <a:t>Journal</a:t>
            </a:r>
            <a:r>
              <a:rPr sz="1200" i="1" spc="4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of</a:t>
            </a:r>
            <a:r>
              <a:rPr sz="1200" i="1" spc="2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the</a:t>
            </a:r>
            <a:r>
              <a:rPr sz="1200" i="1" spc="6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Operational</a:t>
            </a:r>
            <a:r>
              <a:rPr sz="1200" i="1" spc="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303030"/>
                </a:solidFill>
                <a:latin typeface="Arial"/>
                <a:cs typeface="Arial"/>
              </a:rPr>
              <a:t>Research</a:t>
            </a:r>
            <a:r>
              <a:rPr sz="1200" i="1" spc="4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53" dirty="0">
                <a:solidFill>
                  <a:srgbClr val="303030"/>
                </a:solidFill>
                <a:latin typeface="Arial"/>
                <a:cs typeface="Arial"/>
              </a:rPr>
              <a:t>Society</a:t>
            </a:r>
            <a:r>
              <a:rPr sz="1200" spc="-53" dirty="0">
                <a:solidFill>
                  <a:srgbClr val="303030"/>
                </a:solidFill>
                <a:latin typeface="Arial"/>
                <a:cs typeface="Arial"/>
              </a:rPr>
              <a:t>,</a:t>
            </a:r>
            <a:r>
              <a:rPr sz="1200" spc="6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303030"/>
                </a:solidFill>
                <a:latin typeface="Arial"/>
                <a:cs typeface="Arial"/>
              </a:rPr>
              <a:t>58</a:t>
            </a:r>
            <a:r>
              <a:rPr sz="1200" spc="-30" dirty="0">
                <a:solidFill>
                  <a:srgbClr val="303030"/>
                </a:solidFill>
                <a:latin typeface="Arial"/>
                <a:cs typeface="Arial"/>
              </a:rPr>
              <a:t>(2),</a:t>
            </a:r>
            <a:r>
              <a:rPr sz="1200" spc="6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168–176.</a:t>
            </a:r>
            <a:r>
              <a:rPr sz="1200" spc="15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03030"/>
                </a:solidFill>
                <a:latin typeface="Arial"/>
                <a:cs typeface="Arial"/>
              </a:rPr>
              <a:t>https://doi.org/10.1057/palgrave.jors.2602230</a:t>
            </a:r>
            <a:r>
              <a:rPr sz="1200" spc="750" dirty="0">
                <a:solidFill>
                  <a:srgbClr val="303030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Barton</a:t>
            </a:r>
            <a:r>
              <a:rPr sz="1200" spc="11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53" dirty="0">
                <a:solidFill>
                  <a:srgbClr val="303030"/>
                </a:solidFill>
                <a:latin typeface="Arial"/>
                <a:cs typeface="Arial"/>
              </a:rPr>
              <a:t>P,</a:t>
            </a:r>
            <a:r>
              <a:rPr sz="1200" spc="13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Bryan</a:t>
            </a:r>
            <a:r>
              <a:rPr sz="1200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303030"/>
                </a:solidFill>
                <a:latin typeface="Arial"/>
                <a:cs typeface="Arial"/>
              </a:rPr>
              <a:t>S,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Robinson</a:t>
            </a:r>
            <a:r>
              <a:rPr sz="1200" spc="12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303030"/>
                </a:solidFill>
                <a:latin typeface="Arial"/>
                <a:cs typeface="Arial"/>
              </a:rPr>
              <a:t>S.</a:t>
            </a:r>
            <a:r>
              <a:rPr sz="1200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Modelling</a:t>
            </a:r>
            <a:r>
              <a:rPr sz="1200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in</a:t>
            </a:r>
            <a:r>
              <a:rPr sz="1200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the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economic</a:t>
            </a:r>
            <a:r>
              <a:rPr sz="1200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evaluation</a:t>
            </a:r>
            <a:r>
              <a:rPr sz="1200" spc="9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of</a:t>
            </a:r>
            <a:r>
              <a:rPr sz="1200" spc="127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health</a:t>
            </a:r>
            <a:r>
              <a:rPr sz="1200" spc="6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care:</a:t>
            </a:r>
            <a:r>
              <a:rPr sz="1200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selecting</a:t>
            </a:r>
            <a:r>
              <a:rPr sz="1200" spc="5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the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appropriate</a:t>
            </a:r>
            <a:r>
              <a:rPr sz="1200" spc="10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approach.</a:t>
            </a:r>
            <a:r>
              <a:rPr sz="1200" spc="9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303030"/>
                </a:solidFill>
                <a:latin typeface="Arial"/>
                <a:cs typeface="Arial"/>
              </a:rPr>
              <a:t>Journal</a:t>
            </a:r>
            <a:r>
              <a:rPr sz="1200" i="1" spc="38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of</a:t>
            </a:r>
            <a:r>
              <a:rPr sz="1200" i="1" spc="9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Health</a:t>
            </a:r>
            <a:r>
              <a:rPr sz="1200" i="1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303030"/>
                </a:solidFill>
                <a:latin typeface="Arial"/>
                <a:cs typeface="Arial"/>
              </a:rPr>
              <a:t>Services</a:t>
            </a:r>
            <a:r>
              <a:rPr sz="1200" i="1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303030"/>
                </a:solidFill>
                <a:latin typeface="Arial"/>
                <a:cs typeface="Arial"/>
              </a:rPr>
              <a:t>Research</a:t>
            </a:r>
            <a:r>
              <a:rPr sz="1200" i="1" spc="53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03030"/>
                </a:solidFill>
                <a:latin typeface="Arial"/>
                <a:cs typeface="Arial"/>
              </a:rPr>
              <a:t>&amp;</a:t>
            </a:r>
            <a:r>
              <a:rPr sz="1200" i="1" spc="12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303030"/>
                </a:solidFill>
                <a:latin typeface="Arial"/>
                <a:cs typeface="Arial"/>
              </a:rPr>
              <a:t>Policy</a:t>
            </a:r>
            <a:r>
              <a:rPr sz="1200" spc="-30" dirty="0">
                <a:solidFill>
                  <a:srgbClr val="303030"/>
                </a:solidFill>
                <a:latin typeface="Arial"/>
                <a:cs typeface="Arial"/>
              </a:rPr>
              <a:t>.</a:t>
            </a:r>
            <a:r>
              <a:rPr sz="1200" spc="7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03030"/>
                </a:solidFill>
                <a:latin typeface="Arial"/>
                <a:cs typeface="Arial"/>
              </a:rPr>
              <a:t>2004;9(2):110-</a:t>
            </a:r>
            <a:r>
              <a:rPr sz="1200" dirty="0">
                <a:solidFill>
                  <a:srgbClr val="303030"/>
                </a:solidFill>
                <a:latin typeface="Arial"/>
                <a:cs typeface="Arial"/>
              </a:rPr>
              <a:t>118.</a:t>
            </a:r>
            <a:r>
              <a:rPr sz="1200" spc="25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03030"/>
                </a:solidFill>
                <a:latin typeface="Arial"/>
                <a:cs typeface="Arial"/>
              </a:rPr>
              <a:t>doi:</a:t>
            </a:r>
            <a:r>
              <a:rPr sz="1200" u="sng" spc="-15" dirty="0">
                <a:solidFill>
                  <a:srgbClr val="00B0F0"/>
                </a:solidFill>
                <a:uFill>
                  <a:solidFill>
                    <a:srgbClr val="00B0F0"/>
                  </a:solidFill>
                </a:uFill>
                <a:latin typeface="Arial"/>
                <a:cs typeface="Arial"/>
                <a:hlinkClick r:id="rId2"/>
              </a:rPr>
              <a:t>10.1258/135581904322987535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1FA74885-DEC1-BC05-EA35-ED3385F31067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7036B8F-82B2-9BE7-E33F-71981BE9377F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2F14A79-8DB6-2CCD-8EE8-6B581D12DED7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010987B-EB6B-BEB3-6B49-54309DF013B7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15">
            <a:extLst>
              <a:ext uri="{FF2B5EF4-FFF2-40B4-BE49-F238E27FC236}">
                <a16:creationId xmlns:a16="http://schemas.microsoft.com/office/drawing/2014/main" id="{BB6A6BD9-4C58-6536-6CF6-29B3E15470B4}"/>
              </a:ext>
            </a:extLst>
          </p:cNvPr>
          <p:cNvSpPr/>
          <p:nvPr/>
        </p:nvSpPr>
        <p:spPr>
          <a:xfrm flipH="1" flipV="1">
            <a:off x="44917" y="-1683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12368E5D-EEA6-B234-FFF0-F842BE08FA3F}"/>
              </a:ext>
            </a:extLst>
          </p:cNvPr>
          <p:cNvSpPr/>
          <p:nvPr/>
        </p:nvSpPr>
        <p:spPr>
          <a:xfrm flipH="1" flipV="1">
            <a:off x="-7605" y="-498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8">
            <a:extLst>
              <a:ext uri="{FF2B5EF4-FFF2-40B4-BE49-F238E27FC236}">
                <a16:creationId xmlns:a16="http://schemas.microsoft.com/office/drawing/2014/main" id="{8BC95340-7B1E-434A-E5ED-FBAF57E0516D}"/>
              </a:ext>
            </a:extLst>
          </p:cNvPr>
          <p:cNvSpPr/>
          <p:nvPr/>
        </p:nvSpPr>
        <p:spPr>
          <a:xfrm flipH="1" flipV="1">
            <a:off x="10322257" y="1360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1536229"/>
            <a:ext cx="13280708" cy="966483"/>
          </a:xfrm>
          <a:prstGeom prst="rect">
            <a:avLst/>
          </a:prstGeom>
        </p:spPr>
        <p:txBody>
          <a:bodyPr vert="horz" wrap="square" lIns="0" tIns="133350" rIns="0" bIns="0" rtlCol="0" anchor="ctr">
            <a:spAutoFit/>
          </a:bodyPr>
          <a:lstStyle/>
          <a:p>
            <a:pPr marL="19050" marR="7620">
              <a:lnSpc>
                <a:spcPts val="7125"/>
              </a:lnSpc>
              <a:spcBef>
                <a:spcPts val="1050"/>
              </a:spcBef>
            </a:pPr>
            <a:r>
              <a:rPr spc="-578" dirty="0"/>
              <a:t>Combining</a:t>
            </a:r>
            <a:r>
              <a:rPr spc="-344" dirty="0"/>
              <a:t> between</a:t>
            </a:r>
            <a:r>
              <a:rPr spc="-360" dirty="0"/>
              <a:t> </a:t>
            </a:r>
            <a:r>
              <a:rPr spc="-563" dirty="0"/>
              <a:t>Decision</a:t>
            </a:r>
            <a:r>
              <a:rPr spc="-338" dirty="0"/>
              <a:t> </a:t>
            </a:r>
            <a:r>
              <a:rPr spc="-255" dirty="0"/>
              <a:t>tree</a:t>
            </a:r>
            <a:r>
              <a:rPr spc="-300" dirty="0"/>
              <a:t> </a:t>
            </a:r>
            <a:r>
              <a:rPr spc="-540" dirty="0"/>
              <a:t>and </a:t>
            </a:r>
            <a:r>
              <a:rPr spc="-375" dirty="0"/>
              <a:t>Markov</a:t>
            </a:r>
            <a:r>
              <a:rPr spc="-285" dirty="0"/>
              <a:t> </a:t>
            </a:r>
            <a:r>
              <a:rPr spc="-15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926" y="3167422"/>
            <a:ext cx="13522697" cy="50811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0847" y="9396538"/>
            <a:ext cx="9737408" cy="64248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indent="-953">
              <a:spcBef>
                <a:spcPts val="150"/>
              </a:spcBef>
            </a:pP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Kingkaew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7" dirty="0">
                <a:solidFill>
                  <a:srgbClr val="1B1B1B"/>
                </a:solidFill>
                <a:latin typeface="Arial"/>
                <a:cs typeface="Arial"/>
              </a:rPr>
              <a:t>P,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Maleewong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U,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Ngarmukos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8" dirty="0">
                <a:solidFill>
                  <a:srgbClr val="1B1B1B"/>
                </a:solidFill>
                <a:latin typeface="Arial"/>
                <a:cs typeface="Arial"/>
              </a:rPr>
              <a:t>C,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Teerawattananon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0" dirty="0">
                <a:solidFill>
                  <a:srgbClr val="1B1B1B"/>
                </a:solidFill>
                <a:latin typeface="Arial"/>
                <a:cs typeface="Arial"/>
              </a:rPr>
              <a:t>Y.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Evidence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to</a:t>
            </a:r>
            <a:r>
              <a:rPr sz="1350" spc="-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inform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decision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makers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in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Thailand: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cost-effectiveness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analysis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of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screening</a:t>
            </a:r>
            <a:r>
              <a:rPr sz="135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1B1B1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treatment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strategies</a:t>
            </a:r>
            <a:r>
              <a:rPr sz="1350" spc="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B1B1B"/>
                </a:solidFill>
                <a:latin typeface="Arial"/>
                <a:cs typeface="Arial"/>
              </a:rPr>
              <a:t>for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postmenopausal</a:t>
            </a:r>
            <a:r>
              <a:rPr sz="1350" spc="2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68" dirty="0">
                <a:solidFill>
                  <a:srgbClr val="1B1B1B"/>
                </a:solidFill>
                <a:latin typeface="Arial"/>
                <a:cs typeface="Arial"/>
              </a:rPr>
              <a:t>osteoporosis.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Value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53" dirty="0">
                <a:solidFill>
                  <a:srgbClr val="1B1B1B"/>
                </a:solidFill>
                <a:latin typeface="Arial"/>
                <a:cs typeface="Arial"/>
              </a:rPr>
              <a:t>Health.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83" dirty="0">
                <a:solidFill>
                  <a:srgbClr val="1B1B1B"/>
                </a:solidFill>
                <a:latin typeface="Arial"/>
                <a:cs typeface="Arial"/>
              </a:rPr>
              <a:t>2012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27" dirty="0">
                <a:solidFill>
                  <a:srgbClr val="1B1B1B"/>
                </a:solidFill>
                <a:latin typeface="Arial"/>
                <a:cs typeface="Arial"/>
              </a:rPr>
              <a:t>Jan-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Feb;15(1</a:t>
            </a:r>
            <a:r>
              <a:rPr sz="1350" spc="-3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05" dirty="0">
                <a:solidFill>
                  <a:srgbClr val="1B1B1B"/>
                </a:solidFill>
                <a:latin typeface="Arial"/>
                <a:cs typeface="Arial"/>
              </a:rPr>
              <a:t>Suppl):S20-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8.</a:t>
            </a:r>
            <a:r>
              <a:rPr sz="1350" spc="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1B1B1B"/>
                </a:solidFill>
                <a:latin typeface="Arial"/>
                <a:cs typeface="Arial"/>
              </a:rPr>
              <a:t>doi: </a:t>
            </a:r>
            <a:r>
              <a:rPr sz="1350" spc="-60" dirty="0">
                <a:solidFill>
                  <a:srgbClr val="1B1B1B"/>
                </a:solidFill>
                <a:latin typeface="Arial"/>
                <a:cs typeface="Arial"/>
              </a:rPr>
              <a:t>10.1016/j.jval.2011.11.015.</a:t>
            </a:r>
            <a:r>
              <a:rPr sz="1350" spc="-8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1B1B1B"/>
                </a:solidFill>
                <a:latin typeface="Arial"/>
                <a:cs typeface="Arial"/>
              </a:rPr>
              <a:t>PMID:</a:t>
            </a:r>
            <a:r>
              <a:rPr sz="1350" spc="53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1B1B1B"/>
                </a:solidFill>
                <a:latin typeface="Arial"/>
                <a:cs typeface="Arial"/>
              </a:rPr>
              <a:t>22265062.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C2011C5C-0BD9-2B2A-8FF6-71C4FB4FAB57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6F1C3D33-0F40-ED39-4268-4F727405912D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D644CFE-1492-7C0C-8EE9-6847EB99758E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90605BE-88F4-19AC-0038-C1880C2BF1E6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15">
            <a:extLst>
              <a:ext uri="{FF2B5EF4-FFF2-40B4-BE49-F238E27FC236}">
                <a16:creationId xmlns:a16="http://schemas.microsoft.com/office/drawing/2014/main" id="{75533EF7-AAE8-807C-8CD8-A8AE31E833DA}"/>
              </a:ext>
            </a:extLst>
          </p:cNvPr>
          <p:cNvSpPr/>
          <p:nvPr/>
        </p:nvSpPr>
        <p:spPr>
          <a:xfrm flipH="1" flipV="1">
            <a:off x="0" y="-559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84646049-9812-BFA3-6A43-728BDAB059FC}"/>
              </a:ext>
            </a:extLst>
          </p:cNvPr>
          <p:cNvSpPr/>
          <p:nvPr/>
        </p:nvSpPr>
        <p:spPr>
          <a:xfrm flipH="1" flipV="1">
            <a:off x="0" y="-559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8">
            <a:extLst>
              <a:ext uri="{FF2B5EF4-FFF2-40B4-BE49-F238E27FC236}">
                <a16:creationId xmlns:a16="http://schemas.microsoft.com/office/drawing/2014/main" id="{73D01FC3-BA38-5845-3B19-A32632CB4FA4}"/>
              </a:ext>
            </a:extLst>
          </p:cNvPr>
          <p:cNvSpPr/>
          <p:nvPr/>
        </p:nvSpPr>
        <p:spPr>
          <a:xfrm flipH="1" flipV="1">
            <a:off x="10256293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5409" y="636380"/>
            <a:ext cx="13217843" cy="696344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413" dirty="0"/>
              <a:t>Overview</a:t>
            </a:r>
            <a:r>
              <a:rPr spc="-368" dirty="0"/>
              <a:t> </a:t>
            </a:r>
            <a:r>
              <a:rPr spc="-630" dirty="0"/>
              <a:t>steps</a:t>
            </a:r>
            <a:r>
              <a:rPr spc="-368" dirty="0"/>
              <a:t> </a:t>
            </a:r>
            <a:r>
              <a:rPr spc="-323" dirty="0"/>
              <a:t>for</a:t>
            </a:r>
            <a:r>
              <a:rPr spc="-338" dirty="0"/>
              <a:t> </a:t>
            </a:r>
            <a:r>
              <a:rPr spc="-450" dirty="0"/>
              <a:t>building</a:t>
            </a:r>
            <a:r>
              <a:rPr spc="-360" dirty="0"/>
              <a:t> </a:t>
            </a:r>
            <a:r>
              <a:rPr spc="-443" dirty="0"/>
              <a:t>a</a:t>
            </a:r>
            <a:r>
              <a:rPr spc="-330" dirty="0"/>
              <a:t> </a:t>
            </a:r>
            <a:r>
              <a:rPr spc="-555" dirty="0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409" y="1367345"/>
            <a:ext cx="5167313" cy="197714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6600" b="1" spc="-458" dirty="0">
                <a:solidFill>
                  <a:srgbClr val="174A8C"/>
                </a:solidFill>
                <a:latin typeface="Arial"/>
                <a:cs typeface="Arial"/>
              </a:rPr>
              <a:t>model</a:t>
            </a:r>
            <a:endParaRPr sz="6600">
              <a:latin typeface="Arial"/>
              <a:cs typeface="Arial"/>
            </a:endParaRPr>
          </a:p>
          <a:p>
            <a:pPr marL="653414" algn="ctr">
              <a:spcBef>
                <a:spcPts val="4148"/>
              </a:spcBef>
            </a:pPr>
            <a:r>
              <a:rPr sz="2700" b="1" spc="-240" dirty="0">
                <a:latin typeface="Arial"/>
                <a:cs typeface="Arial"/>
              </a:rPr>
              <a:t>Specifying</a:t>
            </a:r>
            <a:r>
              <a:rPr sz="2700" b="1" spc="-18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decision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problem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7791" y="3912262"/>
            <a:ext cx="5298756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95" dirty="0">
                <a:latin typeface="Arial"/>
                <a:cs typeface="Arial"/>
              </a:rPr>
              <a:t>Defining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13" dirty="0">
                <a:latin typeface="Arial"/>
                <a:cs typeface="Arial"/>
              </a:rPr>
              <a:t>boundaries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6402" y="4966337"/>
            <a:ext cx="405574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10" dirty="0">
                <a:latin typeface="Arial"/>
                <a:cs typeface="Arial"/>
              </a:rPr>
              <a:t>Structuring</a:t>
            </a:r>
            <a:r>
              <a:rPr sz="2700" b="1" spc="-150" dirty="0">
                <a:latin typeface="Arial"/>
                <a:cs typeface="Arial"/>
              </a:rPr>
              <a:t> </a:t>
            </a:r>
            <a:r>
              <a:rPr sz="2700" spc="-210" dirty="0">
                <a:latin typeface="Arial"/>
                <a:cs typeface="Arial"/>
              </a:rPr>
              <a:t>a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decision</a:t>
            </a:r>
            <a:r>
              <a:rPr sz="2700" spc="-53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3816" y="6020411"/>
            <a:ext cx="3128009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63" dirty="0">
                <a:latin typeface="Arial"/>
                <a:cs typeface="Arial"/>
              </a:rPr>
              <a:t>Synthesising</a:t>
            </a:r>
            <a:r>
              <a:rPr sz="2700" b="1" spc="-38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evidence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505" y="7074487"/>
            <a:ext cx="350805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03" dirty="0">
                <a:latin typeface="Arial"/>
                <a:cs typeface="Arial"/>
              </a:rPr>
              <a:t>Dealing</a:t>
            </a:r>
            <a:r>
              <a:rPr sz="2700" b="1" spc="-165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with</a:t>
            </a:r>
            <a:r>
              <a:rPr sz="2700" b="1" spc="-113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uncertainty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8518" y="8001344"/>
            <a:ext cx="245459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60" dirty="0">
                <a:latin typeface="Arial"/>
                <a:cs typeface="Arial"/>
              </a:rPr>
              <a:t>Model</a:t>
            </a:r>
            <a:r>
              <a:rPr sz="2700" spc="-127" dirty="0">
                <a:latin typeface="Arial"/>
                <a:cs typeface="Arial"/>
              </a:rPr>
              <a:t> </a:t>
            </a:r>
            <a:r>
              <a:rPr sz="2700" b="1" spc="-135" dirty="0">
                <a:latin typeface="Arial"/>
                <a:cs typeface="Arial"/>
              </a:rPr>
              <a:t>utilisation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35989" y="285388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258" y="244886"/>
                </a:lnTo>
                <a:lnTo>
                  <a:pt x="0" y="199209"/>
                </a:lnTo>
                <a:lnTo>
                  <a:pt x="5061" y="155244"/>
                </a:lnTo>
                <a:lnTo>
                  <a:pt x="20236" y="111602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5" y="0"/>
                </a:lnTo>
                <a:lnTo>
                  <a:pt x="244773" y="5261"/>
                </a:lnTo>
                <a:lnTo>
                  <a:pt x="286712" y="20248"/>
                </a:lnTo>
                <a:lnTo>
                  <a:pt x="323676" y="43764"/>
                </a:lnTo>
                <a:lnTo>
                  <a:pt x="354500" y="74614"/>
                </a:lnTo>
                <a:lnTo>
                  <a:pt x="373713" y="104863"/>
                </a:lnTo>
                <a:lnTo>
                  <a:pt x="208408" y="104863"/>
                </a:lnTo>
                <a:lnTo>
                  <a:pt x="205955" y="106137"/>
                </a:lnTo>
                <a:lnTo>
                  <a:pt x="203544" y="107533"/>
                </a:lnTo>
                <a:lnTo>
                  <a:pt x="198815" y="110585"/>
                </a:lnTo>
                <a:lnTo>
                  <a:pt x="196409" y="111981"/>
                </a:lnTo>
                <a:lnTo>
                  <a:pt x="193961" y="113255"/>
                </a:lnTo>
                <a:lnTo>
                  <a:pt x="191748" y="114540"/>
                </a:lnTo>
                <a:lnTo>
                  <a:pt x="189510" y="115768"/>
                </a:lnTo>
                <a:lnTo>
                  <a:pt x="184991" y="118086"/>
                </a:lnTo>
                <a:lnTo>
                  <a:pt x="180556" y="120410"/>
                </a:lnTo>
                <a:lnTo>
                  <a:pt x="175916" y="122293"/>
                </a:lnTo>
                <a:lnTo>
                  <a:pt x="151660" y="131037"/>
                </a:lnTo>
                <a:lnTo>
                  <a:pt x="151660" y="155244"/>
                </a:lnTo>
                <a:lnTo>
                  <a:pt x="190653" y="155244"/>
                </a:lnTo>
                <a:lnTo>
                  <a:pt x="190653" y="283768"/>
                </a:lnTo>
                <a:lnTo>
                  <a:pt x="379049" y="283768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9049" y="283768"/>
                </a:moveTo>
                <a:lnTo>
                  <a:pt x="220938" y="283768"/>
                </a:lnTo>
                <a:lnTo>
                  <a:pt x="220938" y="104863"/>
                </a:lnTo>
                <a:lnTo>
                  <a:pt x="373713" y="104863"/>
                </a:lnTo>
                <a:lnTo>
                  <a:pt x="377992" y="111602"/>
                </a:lnTo>
                <a:lnTo>
                  <a:pt x="392956" y="153530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9049" y="283768"/>
                </a:lnTo>
                <a:close/>
              </a:path>
              <a:path w="398780" h="398780">
                <a:moveTo>
                  <a:pt x="190653" y="155244"/>
                </a:moveTo>
                <a:lnTo>
                  <a:pt x="151660" y="155244"/>
                </a:lnTo>
                <a:lnTo>
                  <a:pt x="155964" y="154200"/>
                </a:lnTo>
                <a:lnTo>
                  <a:pt x="159906" y="153124"/>
                </a:lnTo>
                <a:lnTo>
                  <a:pt x="190653" y="139046"/>
                </a:lnTo>
                <a:lnTo>
                  <a:pt x="190653" y="1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0" name="object 10"/>
          <p:cNvSpPr/>
          <p:nvPr/>
        </p:nvSpPr>
        <p:spPr>
          <a:xfrm>
            <a:off x="2307539" y="3866580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383" y="245237"/>
                </a:lnTo>
                <a:lnTo>
                  <a:pt x="99" y="200075"/>
                </a:lnTo>
                <a:lnTo>
                  <a:pt x="0" y="199209"/>
                </a:lnTo>
                <a:lnTo>
                  <a:pt x="5258" y="153533"/>
                </a:lnTo>
                <a:lnTo>
                  <a:pt x="20161" y="111814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0" y="0"/>
                </a:lnTo>
                <a:lnTo>
                  <a:pt x="244766" y="5261"/>
                </a:lnTo>
                <a:lnTo>
                  <a:pt x="286705" y="20248"/>
                </a:lnTo>
                <a:lnTo>
                  <a:pt x="323670" y="43764"/>
                </a:lnTo>
                <a:lnTo>
                  <a:pt x="354495" y="74614"/>
                </a:lnTo>
                <a:lnTo>
                  <a:pt x="376810" y="109746"/>
                </a:lnTo>
                <a:lnTo>
                  <a:pt x="200665" y="109746"/>
                </a:lnTo>
                <a:lnTo>
                  <a:pt x="192294" y="109975"/>
                </a:lnTo>
                <a:lnTo>
                  <a:pt x="151582" y="125655"/>
                </a:lnTo>
                <a:lnTo>
                  <a:pt x="151582" y="152825"/>
                </a:lnTo>
                <a:lnTo>
                  <a:pt x="223341" y="152825"/>
                </a:lnTo>
                <a:lnTo>
                  <a:pt x="223576" y="153533"/>
                </a:lnTo>
                <a:lnTo>
                  <a:pt x="224167" y="157190"/>
                </a:lnTo>
                <a:lnTo>
                  <a:pt x="224193" y="165078"/>
                </a:lnTo>
                <a:lnTo>
                  <a:pt x="223727" y="169285"/>
                </a:lnTo>
                <a:lnTo>
                  <a:pt x="196996" y="203977"/>
                </a:lnTo>
                <a:lnTo>
                  <a:pt x="191266" y="207413"/>
                </a:lnTo>
                <a:lnTo>
                  <a:pt x="184425" y="211593"/>
                </a:lnTo>
                <a:lnTo>
                  <a:pt x="152143" y="239566"/>
                </a:lnTo>
                <a:lnTo>
                  <a:pt x="142077" y="264812"/>
                </a:lnTo>
                <a:lnTo>
                  <a:pt x="142182" y="288536"/>
                </a:lnTo>
                <a:lnTo>
                  <a:pt x="376867" y="288536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6867" y="288536"/>
                </a:moveTo>
                <a:lnTo>
                  <a:pt x="256019" y="288536"/>
                </a:lnTo>
                <a:lnTo>
                  <a:pt x="255998" y="264812"/>
                </a:lnTo>
                <a:lnTo>
                  <a:pt x="171229" y="264812"/>
                </a:lnTo>
                <a:lnTo>
                  <a:pt x="194039" y="232805"/>
                </a:lnTo>
                <a:lnTo>
                  <a:pt x="198909" y="229443"/>
                </a:lnTo>
                <a:lnTo>
                  <a:pt x="204482" y="225782"/>
                </a:lnTo>
                <a:lnTo>
                  <a:pt x="217624" y="217542"/>
                </a:lnTo>
                <a:lnTo>
                  <a:pt x="224141" y="212711"/>
                </a:lnTo>
                <a:lnTo>
                  <a:pt x="248895" y="182094"/>
                </a:lnTo>
                <a:lnTo>
                  <a:pt x="252601" y="150061"/>
                </a:lnTo>
                <a:lnTo>
                  <a:pt x="251254" y="143484"/>
                </a:lnTo>
                <a:lnTo>
                  <a:pt x="226038" y="114876"/>
                </a:lnTo>
                <a:lnTo>
                  <a:pt x="206018" y="109746"/>
                </a:lnTo>
                <a:lnTo>
                  <a:pt x="376810" y="109746"/>
                </a:lnTo>
                <a:lnTo>
                  <a:pt x="377989" y="111602"/>
                </a:lnTo>
                <a:lnTo>
                  <a:pt x="392955" y="153533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7960" y="286816"/>
                </a:lnTo>
                <a:lnTo>
                  <a:pt x="376867" y="288536"/>
                </a:lnTo>
                <a:close/>
              </a:path>
              <a:path w="398780" h="398780">
                <a:moveTo>
                  <a:pt x="223341" y="152825"/>
                </a:moveTo>
                <a:lnTo>
                  <a:pt x="151582" y="152825"/>
                </a:lnTo>
                <a:lnTo>
                  <a:pt x="156418" y="148504"/>
                </a:lnTo>
                <a:lnTo>
                  <a:pt x="188317" y="132191"/>
                </a:lnTo>
                <a:lnTo>
                  <a:pt x="200524" y="132191"/>
                </a:lnTo>
                <a:lnTo>
                  <a:pt x="223341" y="152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1" name="object 11"/>
          <p:cNvSpPr/>
          <p:nvPr/>
        </p:nvSpPr>
        <p:spPr>
          <a:xfrm>
            <a:off x="3512246" y="4913568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79">
                <a:moveTo>
                  <a:pt x="199098" y="398430"/>
                </a:moveTo>
                <a:lnTo>
                  <a:pt x="153445" y="393166"/>
                </a:lnTo>
                <a:lnTo>
                  <a:pt x="111537" y="378178"/>
                </a:lnTo>
                <a:lnTo>
                  <a:pt x="74569" y="354660"/>
                </a:lnTo>
                <a:lnTo>
                  <a:pt x="43736" y="323809"/>
                </a:lnTo>
                <a:lnTo>
                  <a:pt x="20233" y="286820"/>
                </a:lnTo>
                <a:lnTo>
                  <a:pt x="5324" y="245079"/>
                </a:lnTo>
                <a:lnTo>
                  <a:pt x="5256" y="244888"/>
                </a:lnTo>
                <a:lnTo>
                  <a:pt x="0" y="199209"/>
                </a:lnTo>
                <a:lnTo>
                  <a:pt x="5260" y="153531"/>
                </a:lnTo>
                <a:lnTo>
                  <a:pt x="20240" y="111599"/>
                </a:lnTo>
                <a:lnTo>
                  <a:pt x="43744" y="74610"/>
                </a:lnTo>
                <a:lnTo>
                  <a:pt x="74578" y="43760"/>
                </a:lnTo>
                <a:lnTo>
                  <a:pt x="111547" y="20244"/>
                </a:lnTo>
                <a:lnTo>
                  <a:pt x="153456" y="5259"/>
                </a:lnTo>
                <a:lnTo>
                  <a:pt x="199109" y="0"/>
                </a:lnTo>
                <a:lnTo>
                  <a:pt x="199266" y="0"/>
                </a:lnTo>
                <a:lnTo>
                  <a:pt x="244748" y="5259"/>
                </a:lnTo>
                <a:lnTo>
                  <a:pt x="286702" y="20244"/>
                </a:lnTo>
                <a:lnTo>
                  <a:pt x="323672" y="43760"/>
                </a:lnTo>
                <a:lnTo>
                  <a:pt x="354501" y="74610"/>
                </a:lnTo>
                <a:lnTo>
                  <a:pt x="376201" y="108771"/>
                </a:lnTo>
                <a:lnTo>
                  <a:pt x="185185" y="108771"/>
                </a:lnTo>
                <a:lnTo>
                  <a:pt x="177159" y="109615"/>
                </a:lnTo>
                <a:lnTo>
                  <a:pt x="162308" y="112862"/>
                </a:lnTo>
                <a:lnTo>
                  <a:pt x="155136" y="115458"/>
                </a:lnTo>
                <a:lnTo>
                  <a:pt x="148620" y="118915"/>
                </a:lnTo>
                <a:lnTo>
                  <a:pt x="148620" y="143625"/>
                </a:lnTo>
                <a:lnTo>
                  <a:pt x="217988" y="143625"/>
                </a:lnTo>
                <a:lnTo>
                  <a:pt x="219894" y="147119"/>
                </a:lnTo>
                <a:lnTo>
                  <a:pt x="220872" y="151304"/>
                </a:lnTo>
                <a:lnTo>
                  <a:pt x="220859" y="160352"/>
                </a:lnTo>
                <a:lnTo>
                  <a:pt x="219811" y="165026"/>
                </a:lnTo>
                <a:lnTo>
                  <a:pt x="185480" y="185079"/>
                </a:lnTo>
                <a:lnTo>
                  <a:pt x="164137" y="185079"/>
                </a:lnTo>
                <a:lnTo>
                  <a:pt x="164137" y="207329"/>
                </a:lnTo>
                <a:lnTo>
                  <a:pt x="186595" y="207329"/>
                </a:lnTo>
                <a:lnTo>
                  <a:pt x="192870" y="207911"/>
                </a:lnTo>
                <a:lnTo>
                  <a:pt x="226411" y="228787"/>
                </a:lnTo>
                <a:lnTo>
                  <a:pt x="227637" y="233812"/>
                </a:lnTo>
                <a:lnTo>
                  <a:pt x="227536" y="237185"/>
                </a:lnTo>
                <a:lnTo>
                  <a:pt x="227485" y="238895"/>
                </a:lnTo>
                <a:lnTo>
                  <a:pt x="227679" y="243862"/>
                </a:lnTo>
                <a:lnTo>
                  <a:pt x="226379" y="248777"/>
                </a:lnTo>
                <a:lnTo>
                  <a:pt x="223523" y="253346"/>
                </a:lnTo>
                <a:lnTo>
                  <a:pt x="141155" y="253346"/>
                </a:lnTo>
                <a:lnTo>
                  <a:pt x="141155" y="280186"/>
                </a:lnTo>
                <a:lnTo>
                  <a:pt x="181225" y="289400"/>
                </a:lnTo>
                <a:lnTo>
                  <a:pt x="179028" y="289400"/>
                </a:lnTo>
                <a:lnTo>
                  <a:pt x="188844" y="289590"/>
                </a:lnTo>
                <a:lnTo>
                  <a:pt x="376213" y="289590"/>
                </a:lnTo>
                <a:lnTo>
                  <a:pt x="354469" y="323809"/>
                </a:lnTo>
                <a:lnTo>
                  <a:pt x="323637" y="354660"/>
                </a:lnTo>
                <a:lnTo>
                  <a:pt x="286670" y="378178"/>
                </a:lnTo>
                <a:lnTo>
                  <a:pt x="244762" y="393166"/>
                </a:lnTo>
                <a:lnTo>
                  <a:pt x="199098" y="398430"/>
                </a:lnTo>
                <a:close/>
              </a:path>
              <a:path w="398780" h="398779">
                <a:moveTo>
                  <a:pt x="376213" y="289590"/>
                </a:moveTo>
                <a:lnTo>
                  <a:pt x="188844" y="289590"/>
                </a:lnTo>
                <a:lnTo>
                  <a:pt x="195471" y="289400"/>
                </a:lnTo>
                <a:lnTo>
                  <a:pt x="202064" y="288768"/>
                </a:lnTo>
                <a:lnTo>
                  <a:pt x="243029" y="271919"/>
                </a:lnTo>
                <a:lnTo>
                  <a:pt x="257451" y="245079"/>
                </a:lnTo>
                <a:lnTo>
                  <a:pt x="257346" y="231546"/>
                </a:lnTo>
                <a:lnTo>
                  <a:pt x="224319" y="197022"/>
                </a:lnTo>
                <a:lnTo>
                  <a:pt x="213064" y="195018"/>
                </a:lnTo>
                <a:lnTo>
                  <a:pt x="220748" y="192883"/>
                </a:lnTo>
                <a:lnTo>
                  <a:pt x="250057" y="159064"/>
                </a:lnTo>
                <a:lnTo>
                  <a:pt x="250245" y="155642"/>
                </a:lnTo>
                <a:lnTo>
                  <a:pt x="250361" y="153531"/>
                </a:lnTo>
                <a:lnTo>
                  <a:pt x="250483" y="151304"/>
                </a:lnTo>
                <a:lnTo>
                  <a:pt x="250592" y="147119"/>
                </a:lnTo>
                <a:lnTo>
                  <a:pt x="250656" y="144659"/>
                </a:lnTo>
                <a:lnTo>
                  <a:pt x="249000" y="138092"/>
                </a:lnTo>
                <a:lnTo>
                  <a:pt x="207445" y="109615"/>
                </a:lnTo>
                <a:lnTo>
                  <a:pt x="207310" y="109615"/>
                </a:lnTo>
                <a:lnTo>
                  <a:pt x="200193" y="108771"/>
                </a:lnTo>
                <a:lnTo>
                  <a:pt x="376201" y="108771"/>
                </a:lnTo>
                <a:lnTo>
                  <a:pt x="377997" y="111599"/>
                </a:lnTo>
                <a:lnTo>
                  <a:pt x="392965" y="153531"/>
                </a:lnTo>
                <a:lnTo>
                  <a:pt x="398206" y="199209"/>
                </a:lnTo>
                <a:lnTo>
                  <a:pt x="393066" y="243862"/>
                </a:lnTo>
                <a:lnTo>
                  <a:pt x="392948" y="244888"/>
                </a:lnTo>
                <a:lnTo>
                  <a:pt x="377971" y="286820"/>
                </a:lnTo>
                <a:lnTo>
                  <a:pt x="376334" y="289400"/>
                </a:lnTo>
                <a:lnTo>
                  <a:pt x="376213" y="289590"/>
                </a:lnTo>
                <a:close/>
              </a:path>
              <a:path w="398780" h="398779">
                <a:moveTo>
                  <a:pt x="217988" y="143625"/>
                </a:moveTo>
                <a:lnTo>
                  <a:pt x="148620" y="143625"/>
                </a:lnTo>
                <a:lnTo>
                  <a:pt x="154905" y="139387"/>
                </a:lnTo>
                <a:lnTo>
                  <a:pt x="161846" y="136214"/>
                </a:lnTo>
                <a:lnTo>
                  <a:pt x="169159" y="134226"/>
                </a:lnTo>
                <a:lnTo>
                  <a:pt x="176452" y="132128"/>
                </a:lnTo>
                <a:lnTo>
                  <a:pt x="176718" y="132128"/>
                </a:lnTo>
                <a:lnTo>
                  <a:pt x="183804" y="131094"/>
                </a:lnTo>
                <a:lnTo>
                  <a:pt x="194139" y="131094"/>
                </a:lnTo>
                <a:lnTo>
                  <a:pt x="216052" y="140300"/>
                </a:lnTo>
                <a:lnTo>
                  <a:pt x="217988" y="143625"/>
                </a:lnTo>
                <a:close/>
              </a:path>
              <a:path w="398780" h="398779">
                <a:moveTo>
                  <a:pt x="193866" y="267424"/>
                </a:moveTo>
                <a:lnTo>
                  <a:pt x="188867" y="267424"/>
                </a:lnTo>
                <a:lnTo>
                  <a:pt x="183266" y="267216"/>
                </a:lnTo>
                <a:lnTo>
                  <a:pt x="141155" y="253346"/>
                </a:lnTo>
                <a:lnTo>
                  <a:pt x="223523" y="253346"/>
                </a:lnTo>
                <a:lnTo>
                  <a:pt x="202076" y="266233"/>
                </a:lnTo>
                <a:lnTo>
                  <a:pt x="198002" y="267015"/>
                </a:lnTo>
                <a:lnTo>
                  <a:pt x="193866" y="2674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2" name="object 12"/>
          <p:cNvSpPr/>
          <p:nvPr/>
        </p:nvSpPr>
        <p:spPr>
          <a:xfrm>
            <a:off x="4769529" y="5967431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79" h="398779">
                <a:moveTo>
                  <a:pt x="205867" y="143802"/>
                </a:moveTo>
                <a:lnTo>
                  <a:pt x="182092" y="182956"/>
                </a:lnTo>
                <a:lnTo>
                  <a:pt x="178015" y="188823"/>
                </a:lnTo>
                <a:lnTo>
                  <a:pt x="173951" y="194691"/>
                </a:lnTo>
                <a:lnTo>
                  <a:pt x="169951" y="200101"/>
                </a:lnTo>
                <a:lnTo>
                  <a:pt x="162077" y="210058"/>
                </a:lnTo>
                <a:lnTo>
                  <a:pt x="157949" y="215049"/>
                </a:lnTo>
                <a:lnTo>
                  <a:pt x="153644" y="220065"/>
                </a:lnTo>
                <a:lnTo>
                  <a:pt x="205867" y="220065"/>
                </a:lnTo>
                <a:lnTo>
                  <a:pt x="205867" y="143802"/>
                </a:lnTo>
                <a:close/>
              </a:path>
              <a:path w="398779" h="398779">
                <a:moveTo>
                  <a:pt x="398208" y="199199"/>
                </a:moveTo>
                <a:lnTo>
                  <a:pt x="392963" y="153530"/>
                </a:lnTo>
                <a:lnTo>
                  <a:pt x="378002" y="111594"/>
                </a:lnTo>
                <a:lnTo>
                  <a:pt x="354507" y="74599"/>
                </a:lnTo>
                <a:lnTo>
                  <a:pt x="323672" y="43751"/>
                </a:lnTo>
                <a:lnTo>
                  <a:pt x="286702" y="20243"/>
                </a:lnTo>
                <a:lnTo>
                  <a:pt x="259829" y="10655"/>
                </a:lnTo>
                <a:lnTo>
                  <a:pt x="259829" y="220078"/>
                </a:lnTo>
                <a:lnTo>
                  <a:pt x="259829" y="245325"/>
                </a:lnTo>
                <a:lnTo>
                  <a:pt x="235978" y="245325"/>
                </a:lnTo>
                <a:lnTo>
                  <a:pt x="235978" y="282778"/>
                </a:lnTo>
                <a:lnTo>
                  <a:pt x="205867" y="282778"/>
                </a:lnTo>
                <a:lnTo>
                  <a:pt x="205867" y="245325"/>
                </a:lnTo>
                <a:lnTo>
                  <a:pt x="123875" y="245325"/>
                </a:lnTo>
                <a:lnTo>
                  <a:pt x="123875" y="221475"/>
                </a:lnTo>
                <a:lnTo>
                  <a:pt x="153466" y="186270"/>
                </a:lnTo>
                <a:lnTo>
                  <a:pt x="179565" y="148894"/>
                </a:lnTo>
                <a:lnTo>
                  <a:pt x="200787" y="112166"/>
                </a:lnTo>
                <a:lnTo>
                  <a:pt x="204304" y="105130"/>
                </a:lnTo>
                <a:lnTo>
                  <a:pt x="235978" y="105130"/>
                </a:lnTo>
                <a:lnTo>
                  <a:pt x="235978" y="220078"/>
                </a:lnTo>
                <a:lnTo>
                  <a:pt x="259829" y="10655"/>
                </a:lnTo>
                <a:lnTo>
                  <a:pt x="199288" y="0"/>
                </a:lnTo>
                <a:lnTo>
                  <a:pt x="199110" y="0"/>
                </a:lnTo>
                <a:lnTo>
                  <a:pt x="153466" y="5257"/>
                </a:lnTo>
                <a:lnTo>
                  <a:pt x="111556" y="20243"/>
                </a:lnTo>
                <a:lnTo>
                  <a:pt x="74587" y="43751"/>
                </a:lnTo>
                <a:lnTo>
                  <a:pt x="43751" y="74599"/>
                </a:lnTo>
                <a:lnTo>
                  <a:pt x="20243" y="111594"/>
                </a:lnTo>
                <a:lnTo>
                  <a:pt x="5270" y="153530"/>
                </a:lnTo>
                <a:lnTo>
                  <a:pt x="0" y="199199"/>
                </a:lnTo>
                <a:lnTo>
                  <a:pt x="5257" y="244881"/>
                </a:lnTo>
                <a:lnTo>
                  <a:pt x="20243" y="286816"/>
                </a:lnTo>
                <a:lnTo>
                  <a:pt x="43738" y="323799"/>
                </a:lnTo>
                <a:lnTo>
                  <a:pt x="74574" y="354660"/>
                </a:lnTo>
                <a:lnTo>
                  <a:pt x="111544" y="378167"/>
                </a:lnTo>
                <a:lnTo>
                  <a:pt x="153454" y="393166"/>
                </a:lnTo>
                <a:lnTo>
                  <a:pt x="199097" y="398424"/>
                </a:lnTo>
                <a:lnTo>
                  <a:pt x="244767" y="393166"/>
                </a:lnTo>
                <a:lnTo>
                  <a:pt x="286677" y="378167"/>
                </a:lnTo>
                <a:lnTo>
                  <a:pt x="323646" y="354660"/>
                </a:lnTo>
                <a:lnTo>
                  <a:pt x="354469" y="323799"/>
                </a:lnTo>
                <a:lnTo>
                  <a:pt x="377977" y="286816"/>
                </a:lnTo>
                <a:lnTo>
                  <a:pt x="379412" y="282778"/>
                </a:lnTo>
                <a:lnTo>
                  <a:pt x="392950" y="244881"/>
                </a:lnTo>
                <a:lnTo>
                  <a:pt x="398208" y="199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3" name="object 13"/>
          <p:cNvSpPr/>
          <p:nvPr/>
        </p:nvSpPr>
        <p:spPr>
          <a:xfrm>
            <a:off x="5926496" y="7021455"/>
            <a:ext cx="597218" cy="600075"/>
          </a:xfrm>
          <a:custGeom>
            <a:avLst/>
            <a:gdLst/>
            <a:ahLst/>
            <a:cxnLst/>
            <a:rect l="l" t="t" r="r" b="b"/>
            <a:pathLst>
              <a:path w="398145" h="400050">
                <a:moveTo>
                  <a:pt x="198916" y="399612"/>
                </a:moveTo>
                <a:lnTo>
                  <a:pt x="153265" y="394335"/>
                </a:lnTo>
                <a:lnTo>
                  <a:pt x="111358" y="379303"/>
                </a:lnTo>
                <a:lnTo>
                  <a:pt x="74390" y="355716"/>
                </a:lnTo>
                <a:lnTo>
                  <a:pt x="43557" y="324774"/>
                </a:lnTo>
                <a:lnTo>
                  <a:pt x="20054" y="287675"/>
                </a:lnTo>
                <a:lnTo>
                  <a:pt x="5076" y="245619"/>
                </a:lnTo>
                <a:lnTo>
                  <a:pt x="53" y="201858"/>
                </a:lnTo>
                <a:lnTo>
                  <a:pt x="0" y="198217"/>
                </a:lnTo>
                <a:lnTo>
                  <a:pt x="5076" y="153992"/>
                </a:lnTo>
                <a:lnTo>
                  <a:pt x="20054" y="111937"/>
                </a:lnTo>
                <a:lnTo>
                  <a:pt x="43557" y="74838"/>
                </a:lnTo>
                <a:lnTo>
                  <a:pt x="74390" y="43895"/>
                </a:lnTo>
                <a:lnTo>
                  <a:pt x="111358" y="20308"/>
                </a:lnTo>
                <a:lnTo>
                  <a:pt x="153265" y="5277"/>
                </a:lnTo>
                <a:lnTo>
                  <a:pt x="198916" y="0"/>
                </a:lnTo>
                <a:lnTo>
                  <a:pt x="199104" y="0"/>
                </a:lnTo>
                <a:lnTo>
                  <a:pt x="244565" y="5277"/>
                </a:lnTo>
                <a:lnTo>
                  <a:pt x="286522" y="20308"/>
                </a:lnTo>
                <a:lnTo>
                  <a:pt x="323490" y="43895"/>
                </a:lnTo>
                <a:lnTo>
                  <a:pt x="354316" y="74838"/>
                </a:lnTo>
                <a:lnTo>
                  <a:pt x="374955" y="107428"/>
                </a:lnTo>
                <a:lnTo>
                  <a:pt x="162854" y="107428"/>
                </a:lnTo>
                <a:lnTo>
                  <a:pt x="154397" y="198217"/>
                </a:lnTo>
                <a:lnTo>
                  <a:pt x="154277" y="199506"/>
                </a:lnTo>
                <a:lnTo>
                  <a:pt x="154167" y="200690"/>
                </a:lnTo>
                <a:lnTo>
                  <a:pt x="204140" y="200690"/>
                </a:lnTo>
                <a:lnTo>
                  <a:pt x="210339" y="201858"/>
                </a:lnTo>
                <a:lnTo>
                  <a:pt x="234716" y="225342"/>
                </a:lnTo>
                <a:lnTo>
                  <a:pt x="234600" y="229183"/>
                </a:lnTo>
                <a:lnTo>
                  <a:pt x="234564" y="230377"/>
                </a:lnTo>
                <a:lnTo>
                  <a:pt x="233876" y="237617"/>
                </a:lnTo>
                <a:lnTo>
                  <a:pt x="231472" y="244364"/>
                </a:lnTo>
                <a:lnTo>
                  <a:pt x="227501" y="250319"/>
                </a:lnTo>
                <a:lnTo>
                  <a:pt x="225569" y="252063"/>
                </a:lnTo>
                <a:lnTo>
                  <a:pt x="147541" y="252063"/>
                </a:lnTo>
                <a:lnTo>
                  <a:pt x="147541" y="278436"/>
                </a:lnTo>
                <a:lnTo>
                  <a:pt x="155579" y="281644"/>
                </a:lnTo>
                <a:lnTo>
                  <a:pt x="165423" y="283936"/>
                </a:lnTo>
                <a:lnTo>
                  <a:pt x="177072" y="285311"/>
                </a:lnTo>
                <a:lnTo>
                  <a:pt x="190528" y="285770"/>
                </a:lnTo>
                <a:lnTo>
                  <a:pt x="378456" y="285770"/>
                </a:lnTo>
                <a:lnTo>
                  <a:pt x="377777" y="287675"/>
                </a:lnTo>
                <a:lnTo>
                  <a:pt x="354274" y="324774"/>
                </a:lnTo>
                <a:lnTo>
                  <a:pt x="323441" y="355716"/>
                </a:lnTo>
                <a:lnTo>
                  <a:pt x="286474" y="379303"/>
                </a:lnTo>
                <a:lnTo>
                  <a:pt x="244567" y="394335"/>
                </a:lnTo>
                <a:lnTo>
                  <a:pt x="198916" y="399612"/>
                </a:lnTo>
                <a:close/>
              </a:path>
              <a:path w="398145" h="400050">
                <a:moveTo>
                  <a:pt x="378456" y="285770"/>
                </a:moveTo>
                <a:lnTo>
                  <a:pt x="190528" y="285770"/>
                </a:lnTo>
                <a:lnTo>
                  <a:pt x="197466" y="285585"/>
                </a:lnTo>
                <a:lnTo>
                  <a:pt x="204375" y="284983"/>
                </a:lnTo>
                <a:lnTo>
                  <a:pt x="241436" y="272412"/>
                </a:lnTo>
                <a:lnTo>
                  <a:pt x="263767" y="235873"/>
                </a:lnTo>
                <a:lnTo>
                  <a:pt x="263984" y="230377"/>
                </a:lnTo>
                <a:lnTo>
                  <a:pt x="264031" y="229183"/>
                </a:lnTo>
                <a:lnTo>
                  <a:pt x="264145" y="225342"/>
                </a:lnTo>
                <a:lnTo>
                  <a:pt x="264209" y="220381"/>
                </a:lnTo>
                <a:lnTo>
                  <a:pt x="263204" y="216141"/>
                </a:lnTo>
                <a:lnTo>
                  <a:pt x="236100" y="184107"/>
                </a:lnTo>
                <a:lnTo>
                  <a:pt x="198791" y="176426"/>
                </a:lnTo>
                <a:lnTo>
                  <a:pt x="184315" y="176426"/>
                </a:lnTo>
                <a:lnTo>
                  <a:pt x="188788" y="130834"/>
                </a:lnTo>
                <a:lnTo>
                  <a:pt x="254595" y="130834"/>
                </a:lnTo>
                <a:lnTo>
                  <a:pt x="254595" y="107428"/>
                </a:lnTo>
                <a:lnTo>
                  <a:pt x="374955" y="107428"/>
                </a:lnTo>
                <a:lnTo>
                  <a:pt x="377808" y="111937"/>
                </a:lnTo>
                <a:lnTo>
                  <a:pt x="392773" y="153992"/>
                </a:lnTo>
                <a:lnTo>
                  <a:pt x="397833" y="198217"/>
                </a:lnTo>
                <a:lnTo>
                  <a:pt x="397779" y="201858"/>
                </a:lnTo>
                <a:lnTo>
                  <a:pt x="392756" y="245619"/>
                </a:lnTo>
                <a:lnTo>
                  <a:pt x="378736" y="284983"/>
                </a:lnTo>
                <a:lnTo>
                  <a:pt x="378619" y="285311"/>
                </a:lnTo>
                <a:lnTo>
                  <a:pt x="378522" y="285585"/>
                </a:lnTo>
                <a:lnTo>
                  <a:pt x="378456" y="285770"/>
                </a:lnTo>
                <a:close/>
              </a:path>
              <a:path w="398145" h="400050">
                <a:moveTo>
                  <a:pt x="184246" y="177130"/>
                </a:moveTo>
                <a:lnTo>
                  <a:pt x="182044" y="177130"/>
                </a:lnTo>
                <a:lnTo>
                  <a:pt x="191242" y="176426"/>
                </a:lnTo>
                <a:lnTo>
                  <a:pt x="184315" y="176426"/>
                </a:lnTo>
                <a:lnTo>
                  <a:pt x="184246" y="177130"/>
                </a:lnTo>
                <a:close/>
              </a:path>
              <a:path w="398145" h="400050">
                <a:moveTo>
                  <a:pt x="204140" y="200690"/>
                </a:moveTo>
                <a:lnTo>
                  <a:pt x="154167" y="200690"/>
                </a:lnTo>
                <a:lnTo>
                  <a:pt x="174144" y="199506"/>
                </a:lnTo>
                <a:lnTo>
                  <a:pt x="184273" y="199090"/>
                </a:lnTo>
                <a:lnTo>
                  <a:pt x="192850" y="199090"/>
                </a:lnTo>
                <a:lnTo>
                  <a:pt x="198973" y="199674"/>
                </a:lnTo>
                <a:lnTo>
                  <a:pt x="204140" y="200690"/>
                </a:lnTo>
                <a:close/>
              </a:path>
              <a:path w="398145" h="400050">
                <a:moveTo>
                  <a:pt x="197135" y="263600"/>
                </a:moveTo>
                <a:lnTo>
                  <a:pt x="190874" y="263600"/>
                </a:lnTo>
                <a:lnTo>
                  <a:pt x="179565" y="262779"/>
                </a:lnTo>
                <a:lnTo>
                  <a:pt x="168488" y="260560"/>
                </a:lnTo>
                <a:lnTo>
                  <a:pt x="157771" y="256977"/>
                </a:lnTo>
                <a:lnTo>
                  <a:pt x="147541" y="252063"/>
                </a:lnTo>
                <a:lnTo>
                  <a:pt x="225569" y="252063"/>
                </a:lnTo>
                <a:lnTo>
                  <a:pt x="197135" y="263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grpSp>
        <p:nvGrpSpPr>
          <p:cNvPr id="14" name="object 14"/>
          <p:cNvGrpSpPr/>
          <p:nvPr/>
        </p:nvGrpSpPr>
        <p:grpSpPr>
          <a:xfrm>
            <a:off x="7169807" y="7949376"/>
            <a:ext cx="598170" cy="598170"/>
            <a:chOff x="4779871" y="5299584"/>
            <a:chExt cx="398780" cy="398780"/>
          </a:xfrm>
        </p:grpSpPr>
        <p:sp>
          <p:nvSpPr>
            <p:cNvPr id="15" name="object 15"/>
            <p:cNvSpPr/>
            <p:nvPr/>
          </p:nvSpPr>
          <p:spPr>
            <a:xfrm>
              <a:off x="4779871" y="529958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79" h="398779">
                  <a:moveTo>
                    <a:pt x="199098" y="398419"/>
                  </a:moveTo>
                  <a:lnTo>
                    <a:pt x="153447" y="393158"/>
                  </a:lnTo>
                  <a:lnTo>
                    <a:pt x="111540" y="378171"/>
                  </a:lnTo>
                  <a:lnTo>
                    <a:pt x="74573" y="354655"/>
                  </a:lnTo>
                  <a:lnTo>
                    <a:pt x="43740" y="323804"/>
                  </a:lnTo>
                  <a:lnTo>
                    <a:pt x="20236" y="286816"/>
                  </a:lnTo>
                  <a:lnTo>
                    <a:pt x="5258" y="244886"/>
                  </a:lnTo>
                  <a:lnTo>
                    <a:pt x="0" y="199209"/>
                  </a:lnTo>
                  <a:lnTo>
                    <a:pt x="5168" y="154315"/>
                  </a:lnTo>
                  <a:lnTo>
                    <a:pt x="20236" y="111602"/>
                  </a:lnTo>
                  <a:lnTo>
                    <a:pt x="43740" y="74614"/>
                  </a:lnTo>
                  <a:lnTo>
                    <a:pt x="74573" y="43764"/>
                  </a:lnTo>
                  <a:lnTo>
                    <a:pt x="111540" y="20248"/>
                  </a:lnTo>
                  <a:lnTo>
                    <a:pt x="153447" y="5261"/>
                  </a:lnTo>
                  <a:lnTo>
                    <a:pt x="199098" y="0"/>
                  </a:lnTo>
                  <a:lnTo>
                    <a:pt x="199266" y="0"/>
                  </a:lnTo>
                  <a:lnTo>
                    <a:pt x="244765" y="5261"/>
                  </a:lnTo>
                  <a:lnTo>
                    <a:pt x="286710" y="20248"/>
                  </a:lnTo>
                  <a:lnTo>
                    <a:pt x="323676" y="43764"/>
                  </a:lnTo>
                  <a:lnTo>
                    <a:pt x="354501" y="74614"/>
                  </a:lnTo>
                  <a:lnTo>
                    <a:pt x="372981" y="103707"/>
                  </a:lnTo>
                  <a:lnTo>
                    <a:pt x="213839" y="103707"/>
                  </a:lnTo>
                  <a:lnTo>
                    <a:pt x="206671" y="104563"/>
                  </a:lnTo>
                  <a:lnTo>
                    <a:pt x="167461" y="124328"/>
                  </a:lnTo>
                  <a:lnTo>
                    <a:pt x="143791" y="165398"/>
                  </a:lnTo>
                  <a:lnTo>
                    <a:pt x="141651" y="173109"/>
                  </a:lnTo>
                  <a:lnTo>
                    <a:pt x="141605" y="173272"/>
                  </a:lnTo>
                  <a:lnTo>
                    <a:pt x="138949" y="188147"/>
                  </a:lnTo>
                  <a:lnTo>
                    <a:pt x="138854" y="188678"/>
                  </a:lnTo>
                  <a:lnTo>
                    <a:pt x="138743" y="189291"/>
                  </a:lnTo>
                  <a:lnTo>
                    <a:pt x="138229" y="195050"/>
                  </a:lnTo>
                  <a:lnTo>
                    <a:pt x="141401" y="233896"/>
                  </a:lnTo>
                  <a:lnTo>
                    <a:pt x="161251" y="269515"/>
                  </a:lnTo>
                  <a:lnTo>
                    <a:pt x="202401" y="284403"/>
                  </a:lnTo>
                  <a:lnTo>
                    <a:pt x="378822" y="284403"/>
                  </a:lnTo>
                  <a:lnTo>
                    <a:pt x="377960" y="286816"/>
                  </a:lnTo>
                  <a:lnTo>
                    <a:pt x="354457" y="323804"/>
                  </a:lnTo>
                  <a:lnTo>
                    <a:pt x="323624" y="354655"/>
                  </a:lnTo>
                  <a:lnTo>
                    <a:pt x="286656" y="378171"/>
                  </a:lnTo>
                  <a:lnTo>
                    <a:pt x="244749" y="393158"/>
                  </a:lnTo>
                  <a:lnTo>
                    <a:pt x="199098" y="398419"/>
                  </a:lnTo>
                  <a:close/>
                </a:path>
                <a:path w="398779" h="398779">
                  <a:moveTo>
                    <a:pt x="385714" y="133229"/>
                  </a:moveTo>
                  <a:lnTo>
                    <a:pt x="252680" y="133229"/>
                  </a:lnTo>
                  <a:lnTo>
                    <a:pt x="252680" y="109180"/>
                  </a:lnTo>
                  <a:lnTo>
                    <a:pt x="244670" y="106514"/>
                  </a:lnTo>
                  <a:lnTo>
                    <a:pt x="235897" y="104563"/>
                  </a:lnTo>
                  <a:lnTo>
                    <a:pt x="235398" y="104563"/>
                  </a:lnTo>
                  <a:lnTo>
                    <a:pt x="228088" y="103707"/>
                  </a:lnTo>
                  <a:lnTo>
                    <a:pt x="372981" y="103707"/>
                  </a:lnTo>
                  <a:lnTo>
                    <a:pt x="377994" y="111602"/>
                  </a:lnTo>
                  <a:lnTo>
                    <a:pt x="385714" y="133229"/>
                  </a:lnTo>
                  <a:close/>
                </a:path>
                <a:path w="398779" h="398779">
                  <a:moveTo>
                    <a:pt x="166213" y="195050"/>
                  </a:moveTo>
                  <a:lnTo>
                    <a:pt x="165689" y="195050"/>
                  </a:lnTo>
                  <a:lnTo>
                    <a:pt x="165793" y="191478"/>
                  </a:lnTo>
                  <a:lnTo>
                    <a:pt x="165828" y="190250"/>
                  </a:lnTo>
                  <a:lnTo>
                    <a:pt x="178045" y="147502"/>
                  </a:lnTo>
                  <a:lnTo>
                    <a:pt x="213572" y="125783"/>
                  </a:lnTo>
                  <a:lnTo>
                    <a:pt x="220178" y="125550"/>
                  </a:lnTo>
                  <a:lnTo>
                    <a:pt x="228596" y="126051"/>
                  </a:lnTo>
                  <a:lnTo>
                    <a:pt x="236873" y="127511"/>
                  </a:lnTo>
                  <a:lnTo>
                    <a:pt x="244928" y="129910"/>
                  </a:lnTo>
                  <a:lnTo>
                    <a:pt x="252680" y="133229"/>
                  </a:lnTo>
                  <a:lnTo>
                    <a:pt x="385714" y="133229"/>
                  </a:lnTo>
                  <a:lnTo>
                    <a:pt x="392958" y="153532"/>
                  </a:lnTo>
                  <a:lnTo>
                    <a:pt x="394823" y="169794"/>
                  </a:lnTo>
                  <a:lnTo>
                    <a:pt x="204404" y="169794"/>
                  </a:lnTo>
                  <a:lnTo>
                    <a:pt x="198930" y="170575"/>
                  </a:lnTo>
                  <a:lnTo>
                    <a:pt x="168278" y="191478"/>
                  </a:lnTo>
                  <a:lnTo>
                    <a:pt x="166213" y="195050"/>
                  </a:lnTo>
                  <a:close/>
                </a:path>
                <a:path w="398779" h="398779">
                  <a:moveTo>
                    <a:pt x="378822" y="284403"/>
                  </a:moveTo>
                  <a:lnTo>
                    <a:pt x="202401" y="284403"/>
                  </a:lnTo>
                  <a:lnTo>
                    <a:pt x="210531" y="284142"/>
                  </a:lnTo>
                  <a:lnTo>
                    <a:pt x="209303" y="284142"/>
                  </a:lnTo>
                  <a:lnTo>
                    <a:pt x="246961" y="267508"/>
                  </a:lnTo>
                  <a:lnTo>
                    <a:pt x="263406" y="232286"/>
                  </a:lnTo>
                  <a:lnTo>
                    <a:pt x="263390" y="216634"/>
                  </a:lnTo>
                  <a:lnTo>
                    <a:pt x="243008" y="180463"/>
                  </a:lnTo>
                  <a:lnTo>
                    <a:pt x="215315" y="169794"/>
                  </a:lnTo>
                  <a:lnTo>
                    <a:pt x="394823" y="169794"/>
                  </a:lnTo>
                  <a:lnTo>
                    <a:pt x="398197" y="199209"/>
                  </a:lnTo>
                  <a:lnTo>
                    <a:pt x="392938" y="244886"/>
                  </a:lnTo>
                  <a:lnTo>
                    <a:pt x="378915" y="284142"/>
                  </a:lnTo>
                  <a:lnTo>
                    <a:pt x="378822" y="284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6498" y="5491655"/>
              <a:ext cx="69880" cy="7048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1144250" y="249174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8" name="object 18"/>
          <p:cNvSpPr txBox="1"/>
          <p:nvPr/>
        </p:nvSpPr>
        <p:spPr>
          <a:xfrm>
            <a:off x="11315977" y="2631998"/>
            <a:ext cx="4765358" cy="781945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is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20" dirty="0">
                <a:latin typeface="Arial"/>
                <a:cs typeface="Arial"/>
              </a:rPr>
              <a:t>disease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interest?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latin typeface="Arial"/>
                <a:cs typeface="Arial"/>
              </a:rPr>
              <a:t>What </a:t>
            </a:r>
            <a:r>
              <a:rPr sz="1650" spc="-75" dirty="0">
                <a:latin typeface="Arial"/>
                <a:cs typeface="Arial"/>
              </a:rPr>
              <a:t>are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health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technologies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or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interventions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of 	interest,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90" dirty="0">
                <a:latin typeface="Arial"/>
                <a:cs typeface="Arial"/>
              </a:rPr>
              <a:t>and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what</a:t>
            </a:r>
            <a:r>
              <a:rPr sz="1650" spc="-75" dirty="0">
                <a:latin typeface="Arial"/>
                <a:cs typeface="Arial"/>
              </a:rPr>
              <a:t> should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68" dirty="0">
                <a:latin typeface="Arial"/>
                <a:cs typeface="Arial"/>
              </a:rPr>
              <a:t>we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compare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them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with?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144250" y="1897379"/>
            <a:ext cx="5758815" cy="499110"/>
          </a:xfrm>
          <a:custGeom>
            <a:avLst/>
            <a:gdLst/>
            <a:ahLst/>
            <a:cxnLst/>
            <a:rect l="l" t="t" r="r" b="b"/>
            <a:pathLst>
              <a:path w="3839209" h="332740">
                <a:moveTo>
                  <a:pt x="3783584" y="0"/>
                </a:moveTo>
                <a:lnTo>
                  <a:pt x="55372" y="0"/>
                </a:lnTo>
                <a:lnTo>
                  <a:pt x="33818" y="4351"/>
                </a:lnTo>
                <a:lnTo>
                  <a:pt x="16217" y="16217"/>
                </a:lnTo>
                <a:lnTo>
                  <a:pt x="4351" y="33818"/>
                </a:lnTo>
                <a:lnTo>
                  <a:pt x="0" y="55372"/>
                </a:lnTo>
                <a:lnTo>
                  <a:pt x="0" y="276860"/>
                </a:lnTo>
                <a:lnTo>
                  <a:pt x="4351" y="298413"/>
                </a:lnTo>
                <a:lnTo>
                  <a:pt x="16217" y="316014"/>
                </a:lnTo>
                <a:lnTo>
                  <a:pt x="33818" y="327880"/>
                </a:lnTo>
                <a:lnTo>
                  <a:pt x="55372" y="332232"/>
                </a:lnTo>
                <a:lnTo>
                  <a:pt x="3783584" y="332232"/>
                </a:lnTo>
                <a:lnTo>
                  <a:pt x="3805137" y="327880"/>
                </a:lnTo>
                <a:lnTo>
                  <a:pt x="3822738" y="316014"/>
                </a:lnTo>
                <a:lnTo>
                  <a:pt x="3834604" y="298413"/>
                </a:lnTo>
                <a:lnTo>
                  <a:pt x="3838955" y="276860"/>
                </a:lnTo>
                <a:lnTo>
                  <a:pt x="3838955" y="55372"/>
                </a:lnTo>
                <a:lnTo>
                  <a:pt x="3834604" y="33818"/>
                </a:lnTo>
                <a:lnTo>
                  <a:pt x="3822738" y="16217"/>
                </a:lnTo>
                <a:lnTo>
                  <a:pt x="3805137" y="4351"/>
                </a:lnTo>
                <a:lnTo>
                  <a:pt x="3783584" y="0"/>
                </a:lnTo>
                <a:close/>
              </a:path>
            </a:pathLst>
          </a:custGeom>
          <a:solidFill>
            <a:srgbClr val="C3D9F5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0" name="object 20"/>
          <p:cNvSpPr txBox="1"/>
          <p:nvPr/>
        </p:nvSpPr>
        <p:spPr>
          <a:xfrm>
            <a:off x="12034640" y="1926929"/>
            <a:ext cx="3975735" cy="387607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2400" b="1" spc="-240" dirty="0">
                <a:latin typeface="Arial"/>
                <a:cs typeface="Arial"/>
              </a:rPr>
              <a:t>Examples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of</a:t>
            </a:r>
            <a:r>
              <a:rPr sz="2400" b="1" spc="-83" dirty="0">
                <a:latin typeface="Arial"/>
                <a:cs typeface="Arial"/>
              </a:rPr>
              <a:t> </a:t>
            </a:r>
            <a:r>
              <a:rPr sz="2400" b="1" spc="-217" dirty="0">
                <a:latin typeface="Arial"/>
                <a:cs typeface="Arial"/>
              </a:rPr>
              <a:t>key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considerations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145392" y="3679327"/>
            <a:ext cx="5758815" cy="2791778"/>
          </a:xfrm>
          <a:custGeom>
            <a:avLst/>
            <a:gdLst/>
            <a:ahLst/>
            <a:cxnLst/>
            <a:rect l="l" t="t" r="r" b="b"/>
            <a:pathLst>
              <a:path w="3839209" h="1861185">
                <a:moveTo>
                  <a:pt x="0" y="310134"/>
                </a:moveTo>
                <a:lnTo>
                  <a:pt x="3362" y="264304"/>
                </a:lnTo>
                <a:lnTo>
                  <a:pt x="13130" y="220562"/>
                </a:lnTo>
                <a:lnTo>
                  <a:pt x="28824" y="179388"/>
                </a:lnTo>
                <a:lnTo>
                  <a:pt x="49963" y="141261"/>
                </a:lnTo>
                <a:lnTo>
                  <a:pt x="76069" y="106662"/>
                </a:lnTo>
                <a:lnTo>
                  <a:pt x="106662" y="76069"/>
                </a:lnTo>
                <a:lnTo>
                  <a:pt x="141261" y="49963"/>
                </a:lnTo>
                <a:lnTo>
                  <a:pt x="179388" y="28824"/>
                </a:lnTo>
                <a:lnTo>
                  <a:pt x="220562" y="13130"/>
                </a:lnTo>
                <a:lnTo>
                  <a:pt x="264304" y="3362"/>
                </a:lnTo>
                <a:lnTo>
                  <a:pt x="310134" y="0"/>
                </a:lnTo>
                <a:lnTo>
                  <a:pt x="3528822" y="0"/>
                </a:lnTo>
                <a:lnTo>
                  <a:pt x="3574651" y="3362"/>
                </a:lnTo>
                <a:lnTo>
                  <a:pt x="3618393" y="13130"/>
                </a:lnTo>
                <a:lnTo>
                  <a:pt x="3659567" y="28824"/>
                </a:lnTo>
                <a:lnTo>
                  <a:pt x="3697694" y="49963"/>
                </a:lnTo>
                <a:lnTo>
                  <a:pt x="3732293" y="76069"/>
                </a:lnTo>
                <a:lnTo>
                  <a:pt x="3762886" y="106662"/>
                </a:lnTo>
                <a:lnTo>
                  <a:pt x="3788992" y="141261"/>
                </a:lnTo>
                <a:lnTo>
                  <a:pt x="3810131" y="179388"/>
                </a:lnTo>
                <a:lnTo>
                  <a:pt x="3825825" y="220562"/>
                </a:lnTo>
                <a:lnTo>
                  <a:pt x="3835593" y="264304"/>
                </a:lnTo>
                <a:lnTo>
                  <a:pt x="3838955" y="310134"/>
                </a:lnTo>
                <a:lnTo>
                  <a:pt x="3838955" y="1550657"/>
                </a:lnTo>
                <a:lnTo>
                  <a:pt x="3835593" y="1596487"/>
                </a:lnTo>
                <a:lnTo>
                  <a:pt x="3825825" y="1640230"/>
                </a:lnTo>
                <a:lnTo>
                  <a:pt x="3810131" y="1681405"/>
                </a:lnTo>
                <a:lnTo>
                  <a:pt x="3788992" y="1719533"/>
                </a:lnTo>
                <a:lnTo>
                  <a:pt x="3762886" y="1754134"/>
                </a:lnTo>
                <a:lnTo>
                  <a:pt x="3732293" y="1784728"/>
                </a:lnTo>
                <a:lnTo>
                  <a:pt x="3697694" y="1810836"/>
                </a:lnTo>
                <a:lnTo>
                  <a:pt x="3659567" y="1831977"/>
                </a:lnTo>
                <a:lnTo>
                  <a:pt x="3618393" y="1847672"/>
                </a:lnTo>
                <a:lnTo>
                  <a:pt x="3574651" y="1857441"/>
                </a:lnTo>
                <a:lnTo>
                  <a:pt x="3528822" y="1860804"/>
                </a:lnTo>
                <a:lnTo>
                  <a:pt x="310134" y="1860804"/>
                </a:lnTo>
                <a:lnTo>
                  <a:pt x="264304" y="1857441"/>
                </a:lnTo>
                <a:lnTo>
                  <a:pt x="220562" y="1847672"/>
                </a:lnTo>
                <a:lnTo>
                  <a:pt x="179388" y="1831977"/>
                </a:lnTo>
                <a:lnTo>
                  <a:pt x="141261" y="1810836"/>
                </a:lnTo>
                <a:lnTo>
                  <a:pt x="106662" y="1784728"/>
                </a:lnTo>
                <a:lnTo>
                  <a:pt x="76069" y="1754134"/>
                </a:lnTo>
                <a:lnTo>
                  <a:pt x="49963" y="1719533"/>
                </a:lnTo>
                <a:lnTo>
                  <a:pt x="28824" y="1681405"/>
                </a:lnTo>
                <a:lnTo>
                  <a:pt x="13130" y="1640230"/>
                </a:lnTo>
                <a:lnTo>
                  <a:pt x="3362" y="1596487"/>
                </a:lnTo>
                <a:lnTo>
                  <a:pt x="0" y="1550657"/>
                </a:lnTo>
                <a:lnTo>
                  <a:pt x="0" y="310134"/>
                </a:lnTo>
                <a:close/>
              </a:path>
            </a:pathLst>
          </a:custGeom>
          <a:ln w="28575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2" name="object 22"/>
          <p:cNvSpPr txBox="1"/>
          <p:nvPr/>
        </p:nvSpPr>
        <p:spPr>
          <a:xfrm>
            <a:off x="11398667" y="4161172"/>
            <a:ext cx="3469005" cy="27411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is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objective</a:t>
            </a:r>
            <a:r>
              <a:rPr sz="1650" spc="-127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our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98667" y="4412705"/>
            <a:ext cx="4783455" cy="1543692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83" dirty="0">
                <a:latin typeface="Arial"/>
                <a:cs typeface="Arial"/>
              </a:rPr>
              <a:t>Which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type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decision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model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68" dirty="0">
                <a:latin typeface="Arial"/>
                <a:cs typeface="Arial"/>
              </a:rPr>
              <a:t>we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use?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outcomes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from</a:t>
            </a:r>
            <a:r>
              <a:rPr sz="1650" spc="-30" dirty="0">
                <a:latin typeface="Arial"/>
                <a:cs typeface="Arial"/>
              </a:rPr>
              <a:t> the</a:t>
            </a:r>
            <a:r>
              <a:rPr sz="1650" spc="-53" dirty="0">
                <a:latin typeface="Arial"/>
                <a:cs typeface="Arial"/>
              </a:rPr>
              <a:t> health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technologies</a:t>
            </a:r>
            <a:r>
              <a:rPr sz="1650" spc="-11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we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are 	</a:t>
            </a:r>
            <a:r>
              <a:rPr sz="1650" spc="-45" dirty="0">
                <a:latin typeface="Arial"/>
                <a:cs typeface="Arial"/>
              </a:rPr>
              <a:t>interested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in?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is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53" dirty="0">
                <a:latin typeface="Arial"/>
                <a:cs typeface="Arial"/>
              </a:rPr>
              <a:t> targeted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population?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83" dirty="0">
                <a:latin typeface="Arial"/>
                <a:cs typeface="Arial"/>
              </a:rPr>
              <a:t>Which</a:t>
            </a:r>
            <a:r>
              <a:rPr sz="1650" spc="-75" dirty="0">
                <a:latin typeface="Arial"/>
                <a:cs typeface="Arial"/>
              </a:rPr>
              <a:t> perspective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we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perform the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be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time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horizon?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144250" y="659739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5" name="object 25"/>
          <p:cNvSpPr txBox="1"/>
          <p:nvPr/>
        </p:nvSpPr>
        <p:spPr>
          <a:xfrm>
            <a:off x="11294282" y="6640687"/>
            <a:ext cx="5377815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13" dirty="0">
                <a:latin typeface="Arial"/>
                <a:cs typeface="Arial"/>
              </a:rPr>
              <a:t>Analysis</a:t>
            </a:r>
            <a:r>
              <a:rPr sz="1650" spc="-38" dirty="0">
                <a:latin typeface="Arial"/>
                <a:cs typeface="Arial"/>
              </a:rPr>
              <a:t> result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presentation,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255" dirty="0">
                <a:latin typeface="Arial"/>
                <a:cs typeface="Arial"/>
              </a:rPr>
              <a:t>ICER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values,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113" dirty="0">
                <a:latin typeface="Arial"/>
                <a:cs typeface="Arial"/>
              </a:rPr>
              <a:t>Cost-</a:t>
            </a:r>
            <a:r>
              <a:rPr sz="1650" spc="-45" dirty="0">
                <a:latin typeface="Arial"/>
                <a:cs typeface="Arial"/>
              </a:rPr>
              <a:t>effectiveness 	</a:t>
            </a:r>
            <a:r>
              <a:rPr sz="1650" spc="-180" dirty="0">
                <a:latin typeface="Arial"/>
                <a:cs typeface="Arial"/>
              </a:rPr>
              <a:t>(CE)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plane,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uncertainty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communication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01551" y="5984749"/>
            <a:ext cx="3399473" cy="330860"/>
          </a:xfrm>
          <a:prstGeom prst="rect">
            <a:avLst/>
          </a:prstGeom>
          <a:solidFill>
            <a:srgbClr val="E83A08"/>
          </a:solidFill>
        </p:spPr>
        <p:txBody>
          <a:bodyPr vert="horz" wrap="square" lIns="0" tIns="53340" rIns="0" bIns="0" rtlCol="0">
            <a:spAutoFit/>
          </a:bodyPr>
          <a:lstStyle/>
          <a:p>
            <a:pPr marL="396240">
              <a:spcBef>
                <a:spcPts val="420"/>
              </a:spcBef>
            </a:pPr>
            <a:r>
              <a:rPr b="1" spc="-135" dirty="0">
                <a:latin typeface="Arial"/>
                <a:cs typeface="Arial"/>
              </a:rPr>
              <a:t>Stakeholder</a:t>
            </a:r>
            <a:r>
              <a:rPr b="1" spc="-30" dirty="0">
                <a:latin typeface="Arial"/>
                <a:cs typeface="Arial"/>
              </a:rPr>
              <a:t> consultation(s)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144250" y="737920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8" name="object 28"/>
          <p:cNvSpPr txBox="1"/>
          <p:nvPr/>
        </p:nvSpPr>
        <p:spPr>
          <a:xfrm>
            <a:off x="11294281" y="7422383"/>
            <a:ext cx="5264468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53" dirty="0">
                <a:latin typeface="Arial"/>
                <a:cs typeface="Arial"/>
              </a:rPr>
              <a:t>Additional </a:t>
            </a:r>
            <a:r>
              <a:rPr sz="1650" spc="-113" dirty="0">
                <a:latin typeface="Arial"/>
                <a:cs typeface="Arial"/>
              </a:rPr>
              <a:t>analyses: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sensitivity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analysis,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subgroup</a:t>
            </a:r>
            <a:r>
              <a:rPr sz="1650" spc="-53" dirty="0">
                <a:latin typeface="Arial"/>
                <a:cs typeface="Arial"/>
              </a:rPr>
              <a:t> analysis, 	</a:t>
            </a:r>
            <a:r>
              <a:rPr sz="1650" spc="-90" dirty="0">
                <a:latin typeface="Arial"/>
                <a:cs typeface="Arial"/>
              </a:rPr>
              <a:t>scenario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analysis,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144250" y="816102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0" name="object 30"/>
          <p:cNvSpPr txBox="1"/>
          <p:nvPr/>
        </p:nvSpPr>
        <p:spPr>
          <a:xfrm>
            <a:off x="11315973" y="8174819"/>
            <a:ext cx="529209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65" dirty="0">
                <a:latin typeface="Arial"/>
                <a:cs typeface="Arial"/>
              </a:rPr>
              <a:t>Uses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in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different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time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points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health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technology</a:t>
            </a:r>
            <a:r>
              <a:rPr sz="1650" spc="-11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life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cycle 	</a:t>
            </a:r>
            <a:r>
              <a:rPr sz="1650" spc="-60" dirty="0">
                <a:latin typeface="Arial"/>
                <a:cs typeface="Arial"/>
              </a:rPr>
              <a:t>(pre-</a:t>
            </a:r>
            <a:r>
              <a:rPr sz="1650" spc="-53" dirty="0">
                <a:latin typeface="Arial"/>
                <a:cs typeface="Arial"/>
              </a:rPr>
              <a:t>market,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market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approval,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post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market),</a:t>
            </a:r>
            <a:r>
              <a:rPr sz="1650" spc="-15" dirty="0">
                <a:latin typeface="Arial"/>
                <a:cs typeface="Arial"/>
              </a:rPr>
              <a:t> pricing, 	</a:t>
            </a:r>
            <a:r>
              <a:rPr sz="1650" spc="-75" dirty="0">
                <a:latin typeface="Arial"/>
                <a:cs typeface="Arial"/>
              </a:rPr>
              <a:t>understanding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value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for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money,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price</a:t>
            </a:r>
            <a:r>
              <a:rPr sz="1650" spc="-15" dirty="0">
                <a:latin typeface="Arial"/>
                <a:cs typeface="Arial"/>
              </a:rPr>
              <a:t> negotiation, 	</a:t>
            </a:r>
            <a:r>
              <a:rPr sz="1650" spc="-83" dirty="0">
                <a:latin typeface="Arial"/>
                <a:cs typeface="Arial"/>
              </a:rPr>
              <a:t>accessibility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537828" y="7593710"/>
            <a:ext cx="2606993" cy="171450"/>
            <a:chOff x="5691885" y="5062473"/>
            <a:chExt cx="1737995" cy="114300"/>
          </a:xfrm>
        </p:grpSpPr>
        <p:sp>
          <p:nvSpPr>
            <p:cNvPr id="32" name="object 32"/>
            <p:cNvSpPr/>
            <p:nvPr/>
          </p:nvSpPr>
          <p:spPr>
            <a:xfrm>
              <a:off x="5698235" y="5068823"/>
              <a:ext cx="1668145" cy="69850"/>
            </a:xfrm>
            <a:custGeom>
              <a:avLst/>
              <a:gdLst/>
              <a:ahLst/>
              <a:cxnLst/>
              <a:rect l="l" t="t" r="r" b="b"/>
              <a:pathLst>
                <a:path w="1668145" h="69850">
                  <a:moveTo>
                    <a:pt x="0" y="0"/>
                  </a:moveTo>
                  <a:lnTo>
                    <a:pt x="0" y="69545"/>
                  </a:lnTo>
                  <a:lnTo>
                    <a:pt x="1667637" y="695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3176" y="5100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814567" y="3095240"/>
            <a:ext cx="4331018" cy="3886200"/>
            <a:chOff x="4543044" y="2063493"/>
            <a:chExt cx="2887345" cy="2590800"/>
          </a:xfrm>
        </p:grpSpPr>
        <p:sp>
          <p:nvSpPr>
            <p:cNvPr id="35" name="object 35"/>
            <p:cNvSpPr/>
            <p:nvPr/>
          </p:nvSpPr>
          <p:spPr>
            <a:xfrm>
              <a:off x="4543044" y="2101595"/>
              <a:ext cx="2822575" cy="0"/>
            </a:xfrm>
            <a:custGeom>
              <a:avLst/>
              <a:gdLst/>
              <a:ahLst/>
              <a:cxnLst/>
              <a:rect l="l" t="t" r="r" b="b"/>
              <a:pathLst>
                <a:path w="2822575">
                  <a:moveTo>
                    <a:pt x="0" y="0"/>
                  </a:moveTo>
                  <a:lnTo>
                    <a:pt x="2822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7352912" y="20634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98819" y="2772290"/>
              <a:ext cx="1567815" cy="3810"/>
            </a:xfrm>
            <a:custGeom>
              <a:avLst/>
              <a:gdLst/>
              <a:ahLst/>
              <a:cxnLst/>
              <a:rect l="l" t="t" r="r" b="b"/>
              <a:pathLst>
                <a:path w="1567815" h="3810">
                  <a:moveTo>
                    <a:pt x="0" y="3225"/>
                  </a:moveTo>
                  <a:lnTo>
                    <a:pt x="15676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7353664" y="273421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65" y="76200"/>
                  </a:lnTo>
                  <a:lnTo>
                    <a:pt x="76288" y="37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4917948" y="4364735"/>
              <a:ext cx="2449195" cy="251460"/>
            </a:xfrm>
            <a:custGeom>
              <a:avLst/>
              <a:gdLst/>
              <a:ahLst/>
              <a:cxnLst/>
              <a:rect l="l" t="t" r="r" b="b"/>
              <a:pathLst>
                <a:path w="2449195" h="251460">
                  <a:moveTo>
                    <a:pt x="0" y="0"/>
                  </a:moveTo>
                  <a:lnTo>
                    <a:pt x="0" y="251206"/>
                  </a:lnTo>
                  <a:lnTo>
                    <a:pt x="2448687" y="2512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7353940" y="45778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9280778" y="8519542"/>
            <a:ext cx="1864043" cy="248603"/>
            <a:chOff x="6187185" y="5679694"/>
            <a:chExt cx="1242695" cy="165735"/>
          </a:xfrm>
        </p:grpSpPr>
        <p:sp>
          <p:nvSpPr>
            <p:cNvPr id="42" name="object 42"/>
            <p:cNvSpPr/>
            <p:nvPr/>
          </p:nvSpPr>
          <p:spPr>
            <a:xfrm>
              <a:off x="6193535" y="5686044"/>
              <a:ext cx="1172845" cy="121285"/>
            </a:xfrm>
            <a:custGeom>
              <a:avLst/>
              <a:gdLst/>
              <a:ahLst/>
              <a:cxnLst/>
              <a:rect l="l" t="t" r="r" b="b"/>
              <a:pathLst>
                <a:path w="1172845" h="121285">
                  <a:moveTo>
                    <a:pt x="0" y="0"/>
                  </a:moveTo>
                  <a:lnTo>
                    <a:pt x="0" y="120992"/>
                  </a:lnTo>
                  <a:lnTo>
                    <a:pt x="1172337" y="12099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7353176" y="57689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5409" y="636380"/>
            <a:ext cx="13217843" cy="696344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413" dirty="0"/>
              <a:t>Overview</a:t>
            </a:r>
            <a:r>
              <a:rPr spc="-368" dirty="0"/>
              <a:t> </a:t>
            </a:r>
            <a:r>
              <a:rPr spc="-630" dirty="0"/>
              <a:t>steps</a:t>
            </a:r>
            <a:r>
              <a:rPr spc="-368" dirty="0"/>
              <a:t> </a:t>
            </a:r>
            <a:r>
              <a:rPr spc="-323" dirty="0"/>
              <a:t>for</a:t>
            </a:r>
            <a:r>
              <a:rPr spc="-338" dirty="0"/>
              <a:t> </a:t>
            </a:r>
            <a:r>
              <a:rPr spc="-450" dirty="0"/>
              <a:t>building</a:t>
            </a:r>
            <a:r>
              <a:rPr spc="-360" dirty="0"/>
              <a:t> </a:t>
            </a:r>
            <a:r>
              <a:rPr spc="-443" dirty="0"/>
              <a:t>a</a:t>
            </a:r>
            <a:r>
              <a:rPr spc="-330" dirty="0"/>
              <a:t> </a:t>
            </a:r>
            <a:r>
              <a:rPr spc="-555" dirty="0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409" y="1367345"/>
            <a:ext cx="5167313" cy="197714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6600" b="1" spc="-458" dirty="0">
                <a:solidFill>
                  <a:srgbClr val="174A8C"/>
                </a:solidFill>
                <a:latin typeface="Arial"/>
                <a:cs typeface="Arial"/>
              </a:rPr>
              <a:t>model</a:t>
            </a:r>
            <a:endParaRPr sz="6600">
              <a:latin typeface="Arial"/>
              <a:cs typeface="Arial"/>
            </a:endParaRPr>
          </a:p>
          <a:p>
            <a:pPr marL="653414" algn="ctr">
              <a:spcBef>
                <a:spcPts val="4148"/>
              </a:spcBef>
            </a:pPr>
            <a:r>
              <a:rPr sz="2700" b="1" spc="-240" dirty="0">
                <a:latin typeface="Arial"/>
                <a:cs typeface="Arial"/>
              </a:rPr>
              <a:t>Specifying</a:t>
            </a:r>
            <a:r>
              <a:rPr sz="2700" b="1" spc="-18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decision</a:t>
            </a:r>
            <a:r>
              <a:rPr sz="2700" spc="-9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problem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7791" y="3912262"/>
            <a:ext cx="5298756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95" dirty="0">
                <a:latin typeface="Arial"/>
                <a:cs typeface="Arial"/>
              </a:rPr>
              <a:t>Defining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13" dirty="0">
                <a:latin typeface="Arial"/>
                <a:cs typeface="Arial"/>
              </a:rPr>
              <a:t>boundaries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the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6402" y="4966337"/>
            <a:ext cx="405574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10" dirty="0">
                <a:latin typeface="Arial"/>
                <a:cs typeface="Arial"/>
              </a:rPr>
              <a:t>Structuring</a:t>
            </a:r>
            <a:r>
              <a:rPr sz="2700" b="1" spc="-150" dirty="0">
                <a:latin typeface="Arial"/>
                <a:cs typeface="Arial"/>
              </a:rPr>
              <a:t> </a:t>
            </a:r>
            <a:r>
              <a:rPr sz="2700" spc="-210" dirty="0">
                <a:latin typeface="Arial"/>
                <a:cs typeface="Arial"/>
              </a:rPr>
              <a:t>a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120" dirty="0">
                <a:latin typeface="Arial"/>
                <a:cs typeface="Arial"/>
              </a:rPr>
              <a:t>decision</a:t>
            </a:r>
            <a:r>
              <a:rPr sz="2700" spc="-53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3816" y="6020411"/>
            <a:ext cx="3128009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63" dirty="0">
                <a:solidFill>
                  <a:srgbClr val="DBDBDB"/>
                </a:solidFill>
                <a:latin typeface="Arial"/>
                <a:cs typeface="Arial"/>
              </a:rPr>
              <a:t>Synthesising</a:t>
            </a:r>
            <a:r>
              <a:rPr sz="2700" b="1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05" dirty="0">
                <a:solidFill>
                  <a:srgbClr val="DBDBDB"/>
                </a:solidFill>
                <a:latin typeface="Arial"/>
                <a:cs typeface="Arial"/>
              </a:rPr>
              <a:t>evidence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505" y="7074487"/>
            <a:ext cx="35013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03" dirty="0">
                <a:latin typeface="Arial"/>
                <a:cs typeface="Arial"/>
              </a:rPr>
              <a:t>Dealing</a:t>
            </a:r>
            <a:r>
              <a:rPr sz="2700" b="1" spc="-165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with</a:t>
            </a:r>
            <a:r>
              <a:rPr sz="2700" b="1" spc="-113" dirty="0">
                <a:latin typeface="Arial"/>
                <a:cs typeface="Arial"/>
              </a:rPr>
              <a:t> </a:t>
            </a:r>
            <a:r>
              <a:rPr sz="2700" spc="-53" dirty="0">
                <a:latin typeface="Arial"/>
                <a:cs typeface="Arial"/>
              </a:rPr>
              <a:t>uncertainty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8518" y="8001344"/>
            <a:ext cx="245459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60" dirty="0">
                <a:latin typeface="Arial"/>
                <a:cs typeface="Arial"/>
              </a:rPr>
              <a:t>Model</a:t>
            </a:r>
            <a:r>
              <a:rPr sz="2700" spc="-127" dirty="0">
                <a:latin typeface="Arial"/>
                <a:cs typeface="Arial"/>
              </a:rPr>
              <a:t> </a:t>
            </a:r>
            <a:r>
              <a:rPr sz="2700" b="1" spc="-135" dirty="0">
                <a:latin typeface="Arial"/>
                <a:cs typeface="Arial"/>
              </a:rPr>
              <a:t>utilisation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35989" y="285388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258" y="244886"/>
                </a:lnTo>
                <a:lnTo>
                  <a:pt x="0" y="199209"/>
                </a:lnTo>
                <a:lnTo>
                  <a:pt x="5061" y="155244"/>
                </a:lnTo>
                <a:lnTo>
                  <a:pt x="20236" y="111602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5" y="0"/>
                </a:lnTo>
                <a:lnTo>
                  <a:pt x="244773" y="5261"/>
                </a:lnTo>
                <a:lnTo>
                  <a:pt x="286712" y="20248"/>
                </a:lnTo>
                <a:lnTo>
                  <a:pt x="323676" y="43764"/>
                </a:lnTo>
                <a:lnTo>
                  <a:pt x="354500" y="74614"/>
                </a:lnTo>
                <a:lnTo>
                  <a:pt x="373713" y="104863"/>
                </a:lnTo>
                <a:lnTo>
                  <a:pt x="208408" y="104863"/>
                </a:lnTo>
                <a:lnTo>
                  <a:pt x="205955" y="106137"/>
                </a:lnTo>
                <a:lnTo>
                  <a:pt x="203544" y="107533"/>
                </a:lnTo>
                <a:lnTo>
                  <a:pt x="198815" y="110585"/>
                </a:lnTo>
                <a:lnTo>
                  <a:pt x="196409" y="111981"/>
                </a:lnTo>
                <a:lnTo>
                  <a:pt x="193961" y="113255"/>
                </a:lnTo>
                <a:lnTo>
                  <a:pt x="191748" y="114540"/>
                </a:lnTo>
                <a:lnTo>
                  <a:pt x="189510" y="115768"/>
                </a:lnTo>
                <a:lnTo>
                  <a:pt x="184991" y="118086"/>
                </a:lnTo>
                <a:lnTo>
                  <a:pt x="180556" y="120410"/>
                </a:lnTo>
                <a:lnTo>
                  <a:pt x="175916" y="122293"/>
                </a:lnTo>
                <a:lnTo>
                  <a:pt x="151660" y="131037"/>
                </a:lnTo>
                <a:lnTo>
                  <a:pt x="151660" y="155244"/>
                </a:lnTo>
                <a:lnTo>
                  <a:pt x="190653" y="155244"/>
                </a:lnTo>
                <a:lnTo>
                  <a:pt x="190653" y="283768"/>
                </a:lnTo>
                <a:lnTo>
                  <a:pt x="379049" y="283768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9049" y="283768"/>
                </a:moveTo>
                <a:lnTo>
                  <a:pt x="220938" y="283768"/>
                </a:lnTo>
                <a:lnTo>
                  <a:pt x="220938" y="104863"/>
                </a:lnTo>
                <a:lnTo>
                  <a:pt x="373713" y="104863"/>
                </a:lnTo>
                <a:lnTo>
                  <a:pt x="377992" y="111602"/>
                </a:lnTo>
                <a:lnTo>
                  <a:pt x="392956" y="153530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9049" y="283768"/>
                </a:lnTo>
                <a:close/>
              </a:path>
              <a:path w="398780" h="398780">
                <a:moveTo>
                  <a:pt x="190653" y="155244"/>
                </a:moveTo>
                <a:lnTo>
                  <a:pt x="151660" y="155244"/>
                </a:lnTo>
                <a:lnTo>
                  <a:pt x="155964" y="154200"/>
                </a:lnTo>
                <a:lnTo>
                  <a:pt x="159906" y="153124"/>
                </a:lnTo>
                <a:lnTo>
                  <a:pt x="190653" y="139046"/>
                </a:lnTo>
                <a:lnTo>
                  <a:pt x="190653" y="1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0" name="object 10"/>
          <p:cNvSpPr/>
          <p:nvPr/>
        </p:nvSpPr>
        <p:spPr>
          <a:xfrm>
            <a:off x="2307539" y="3866580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383" y="245237"/>
                </a:lnTo>
                <a:lnTo>
                  <a:pt x="99" y="200075"/>
                </a:lnTo>
                <a:lnTo>
                  <a:pt x="0" y="199209"/>
                </a:lnTo>
                <a:lnTo>
                  <a:pt x="5258" y="153533"/>
                </a:lnTo>
                <a:lnTo>
                  <a:pt x="20161" y="111814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0" y="0"/>
                </a:lnTo>
                <a:lnTo>
                  <a:pt x="244766" y="5261"/>
                </a:lnTo>
                <a:lnTo>
                  <a:pt x="286705" y="20248"/>
                </a:lnTo>
                <a:lnTo>
                  <a:pt x="323670" y="43764"/>
                </a:lnTo>
                <a:lnTo>
                  <a:pt x="354495" y="74614"/>
                </a:lnTo>
                <a:lnTo>
                  <a:pt x="376810" y="109746"/>
                </a:lnTo>
                <a:lnTo>
                  <a:pt x="200665" y="109746"/>
                </a:lnTo>
                <a:lnTo>
                  <a:pt x="192294" y="109975"/>
                </a:lnTo>
                <a:lnTo>
                  <a:pt x="151582" y="125655"/>
                </a:lnTo>
                <a:lnTo>
                  <a:pt x="151582" y="152825"/>
                </a:lnTo>
                <a:lnTo>
                  <a:pt x="223341" y="152825"/>
                </a:lnTo>
                <a:lnTo>
                  <a:pt x="223576" y="153533"/>
                </a:lnTo>
                <a:lnTo>
                  <a:pt x="224167" y="157190"/>
                </a:lnTo>
                <a:lnTo>
                  <a:pt x="224193" y="165078"/>
                </a:lnTo>
                <a:lnTo>
                  <a:pt x="223727" y="169285"/>
                </a:lnTo>
                <a:lnTo>
                  <a:pt x="196996" y="203977"/>
                </a:lnTo>
                <a:lnTo>
                  <a:pt x="191266" y="207413"/>
                </a:lnTo>
                <a:lnTo>
                  <a:pt x="184425" y="211593"/>
                </a:lnTo>
                <a:lnTo>
                  <a:pt x="152143" y="239566"/>
                </a:lnTo>
                <a:lnTo>
                  <a:pt x="142077" y="264812"/>
                </a:lnTo>
                <a:lnTo>
                  <a:pt x="142182" y="288536"/>
                </a:lnTo>
                <a:lnTo>
                  <a:pt x="376867" y="288536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6867" y="288536"/>
                </a:moveTo>
                <a:lnTo>
                  <a:pt x="256019" y="288536"/>
                </a:lnTo>
                <a:lnTo>
                  <a:pt x="255998" y="264812"/>
                </a:lnTo>
                <a:lnTo>
                  <a:pt x="171229" y="264812"/>
                </a:lnTo>
                <a:lnTo>
                  <a:pt x="194039" y="232805"/>
                </a:lnTo>
                <a:lnTo>
                  <a:pt x="198909" y="229443"/>
                </a:lnTo>
                <a:lnTo>
                  <a:pt x="204482" y="225782"/>
                </a:lnTo>
                <a:lnTo>
                  <a:pt x="217624" y="217542"/>
                </a:lnTo>
                <a:lnTo>
                  <a:pt x="224141" y="212711"/>
                </a:lnTo>
                <a:lnTo>
                  <a:pt x="248895" y="182094"/>
                </a:lnTo>
                <a:lnTo>
                  <a:pt x="252601" y="150061"/>
                </a:lnTo>
                <a:lnTo>
                  <a:pt x="251254" y="143484"/>
                </a:lnTo>
                <a:lnTo>
                  <a:pt x="226038" y="114876"/>
                </a:lnTo>
                <a:lnTo>
                  <a:pt x="206018" y="109746"/>
                </a:lnTo>
                <a:lnTo>
                  <a:pt x="376810" y="109746"/>
                </a:lnTo>
                <a:lnTo>
                  <a:pt x="377989" y="111602"/>
                </a:lnTo>
                <a:lnTo>
                  <a:pt x="392955" y="153533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7960" y="286816"/>
                </a:lnTo>
                <a:lnTo>
                  <a:pt x="376867" y="288536"/>
                </a:lnTo>
                <a:close/>
              </a:path>
              <a:path w="398780" h="398780">
                <a:moveTo>
                  <a:pt x="223341" y="152825"/>
                </a:moveTo>
                <a:lnTo>
                  <a:pt x="151582" y="152825"/>
                </a:lnTo>
                <a:lnTo>
                  <a:pt x="156418" y="148504"/>
                </a:lnTo>
                <a:lnTo>
                  <a:pt x="188317" y="132191"/>
                </a:lnTo>
                <a:lnTo>
                  <a:pt x="200524" y="132191"/>
                </a:lnTo>
                <a:lnTo>
                  <a:pt x="223341" y="152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1" name="object 11"/>
          <p:cNvSpPr/>
          <p:nvPr/>
        </p:nvSpPr>
        <p:spPr>
          <a:xfrm>
            <a:off x="3512246" y="4913568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79">
                <a:moveTo>
                  <a:pt x="199098" y="398430"/>
                </a:moveTo>
                <a:lnTo>
                  <a:pt x="153445" y="393166"/>
                </a:lnTo>
                <a:lnTo>
                  <a:pt x="111537" y="378178"/>
                </a:lnTo>
                <a:lnTo>
                  <a:pt x="74569" y="354660"/>
                </a:lnTo>
                <a:lnTo>
                  <a:pt x="43736" y="323809"/>
                </a:lnTo>
                <a:lnTo>
                  <a:pt x="20233" y="286820"/>
                </a:lnTo>
                <a:lnTo>
                  <a:pt x="5324" y="245079"/>
                </a:lnTo>
                <a:lnTo>
                  <a:pt x="5256" y="244888"/>
                </a:lnTo>
                <a:lnTo>
                  <a:pt x="0" y="199209"/>
                </a:lnTo>
                <a:lnTo>
                  <a:pt x="5260" y="153531"/>
                </a:lnTo>
                <a:lnTo>
                  <a:pt x="20240" y="111599"/>
                </a:lnTo>
                <a:lnTo>
                  <a:pt x="43744" y="74610"/>
                </a:lnTo>
                <a:lnTo>
                  <a:pt x="74578" y="43760"/>
                </a:lnTo>
                <a:lnTo>
                  <a:pt x="111547" y="20244"/>
                </a:lnTo>
                <a:lnTo>
                  <a:pt x="153456" y="5259"/>
                </a:lnTo>
                <a:lnTo>
                  <a:pt x="199109" y="0"/>
                </a:lnTo>
                <a:lnTo>
                  <a:pt x="199266" y="0"/>
                </a:lnTo>
                <a:lnTo>
                  <a:pt x="244748" y="5259"/>
                </a:lnTo>
                <a:lnTo>
                  <a:pt x="286702" y="20244"/>
                </a:lnTo>
                <a:lnTo>
                  <a:pt x="323672" y="43760"/>
                </a:lnTo>
                <a:lnTo>
                  <a:pt x="354501" y="74610"/>
                </a:lnTo>
                <a:lnTo>
                  <a:pt x="376201" y="108771"/>
                </a:lnTo>
                <a:lnTo>
                  <a:pt x="185185" y="108771"/>
                </a:lnTo>
                <a:lnTo>
                  <a:pt x="177159" y="109615"/>
                </a:lnTo>
                <a:lnTo>
                  <a:pt x="162308" y="112862"/>
                </a:lnTo>
                <a:lnTo>
                  <a:pt x="155136" y="115458"/>
                </a:lnTo>
                <a:lnTo>
                  <a:pt x="148620" y="118915"/>
                </a:lnTo>
                <a:lnTo>
                  <a:pt x="148620" y="143625"/>
                </a:lnTo>
                <a:lnTo>
                  <a:pt x="217988" y="143625"/>
                </a:lnTo>
                <a:lnTo>
                  <a:pt x="219894" y="147119"/>
                </a:lnTo>
                <a:lnTo>
                  <a:pt x="220872" y="151304"/>
                </a:lnTo>
                <a:lnTo>
                  <a:pt x="220859" y="160352"/>
                </a:lnTo>
                <a:lnTo>
                  <a:pt x="219811" y="165026"/>
                </a:lnTo>
                <a:lnTo>
                  <a:pt x="185480" y="185079"/>
                </a:lnTo>
                <a:lnTo>
                  <a:pt x="164137" y="185079"/>
                </a:lnTo>
                <a:lnTo>
                  <a:pt x="164137" y="207329"/>
                </a:lnTo>
                <a:lnTo>
                  <a:pt x="186595" y="207329"/>
                </a:lnTo>
                <a:lnTo>
                  <a:pt x="192870" y="207911"/>
                </a:lnTo>
                <a:lnTo>
                  <a:pt x="226411" y="228787"/>
                </a:lnTo>
                <a:lnTo>
                  <a:pt x="227637" y="233812"/>
                </a:lnTo>
                <a:lnTo>
                  <a:pt x="227536" y="237185"/>
                </a:lnTo>
                <a:lnTo>
                  <a:pt x="227485" y="238895"/>
                </a:lnTo>
                <a:lnTo>
                  <a:pt x="227679" y="243862"/>
                </a:lnTo>
                <a:lnTo>
                  <a:pt x="226379" y="248777"/>
                </a:lnTo>
                <a:lnTo>
                  <a:pt x="223523" y="253346"/>
                </a:lnTo>
                <a:lnTo>
                  <a:pt x="141155" y="253346"/>
                </a:lnTo>
                <a:lnTo>
                  <a:pt x="141155" y="280186"/>
                </a:lnTo>
                <a:lnTo>
                  <a:pt x="181225" y="289400"/>
                </a:lnTo>
                <a:lnTo>
                  <a:pt x="179028" y="289400"/>
                </a:lnTo>
                <a:lnTo>
                  <a:pt x="188844" y="289590"/>
                </a:lnTo>
                <a:lnTo>
                  <a:pt x="376213" y="289590"/>
                </a:lnTo>
                <a:lnTo>
                  <a:pt x="354469" y="323809"/>
                </a:lnTo>
                <a:lnTo>
                  <a:pt x="323637" y="354660"/>
                </a:lnTo>
                <a:lnTo>
                  <a:pt x="286670" y="378178"/>
                </a:lnTo>
                <a:lnTo>
                  <a:pt x="244762" y="393166"/>
                </a:lnTo>
                <a:lnTo>
                  <a:pt x="199098" y="398430"/>
                </a:lnTo>
                <a:close/>
              </a:path>
              <a:path w="398780" h="398779">
                <a:moveTo>
                  <a:pt x="376213" y="289590"/>
                </a:moveTo>
                <a:lnTo>
                  <a:pt x="188844" y="289590"/>
                </a:lnTo>
                <a:lnTo>
                  <a:pt x="195471" y="289400"/>
                </a:lnTo>
                <a:lnTo>
                  <a:pt x="202064" y="288768"/>
                </a:lnTo>
                <a:lnTo>
                  <a:pt x="243029" y="271919"/>
                </a:lnTo>
                <a:lnTo>
                  <a:pt x="257451" y="245079"/>
                </a:lnTo>
                <a:lnTo>
                  <a:pt x="257346" y="231546"/>
                </a:lnTo>
                <a:lnTo>
                  <a:pt x="224319" y="197022"/>
                </a:lnTo>
                <a:lnTo>
                  <a:pt x="213064" y="195018"/>
                </a:lnTo>
                <a:lnTo>
                  <a:pt x="220748" y="192883"/>
                </a:lnTo>
                <a:lnTo>
                  <a:pt x="250057" y="159064"/>
                </a:lnTo>
                <a:lnTo>
                  <a:pt x="250245" y="155642"/>
                </a:lnTo>
                <a:lnTo>
                  <a:pt x="250361" y="153531"/>
                </a:lnTo>
                <a:lnTo>
                  <a:pt x="250483" y="151304"/>
                </a:lnTo>
                <a:lnTo>
                  <a:pt x="250592" y="147119"/>
                </a:lnTo>
                <a:lnTo>
                  <a:pt x="250656" y="144659"/>
                </a:lnTo>
                <a:lnTo>
                  <a:pt x="249000" y="138092"/>
                </a:lnTo>
                <a:lnTo>
                  <a:pt x="207445" y="109615"/>
                </a:lnTo>
                <a:lnTo>
                  <a:pt x="207310" y="109615"/>
                </a:lnTo>
                <a:lnTo>
                  <a:pt x="200193" y="108771"/>
                </a:lnTo>
                <a:lnTo>
                  <a:pt x="376201" y="108771"/>
                </a:lnTo>
                <a:lnTo>
                  <a:pt x="377997" y="111599"/>
                </a:lnTo>
                <a:lnTo>
                  <a:pt x="392965" y="153531"/>
                </a:lnTo>
                <a:lnTo>
                  <a:pt x="398206" y="199209"/>
                </a:lnTo>
                <a:lnTo>
                  <a:pt x="393066" y="243862"/>
                </a:lnTo>
                <a:lnTo>
                  <a:pt x="392948" y="244888"/>
                </a:lnTo>
                <a:lnTo>
                  <a:pt x="377971" y="286820"/>
                </a:lnTo>
                <a:lnTo>
                  <a:pt x="376334" y="289400"/>
                </a:lnTo>
                <a:lnTo>
                  <a:pt x="376213" y="289590"/>
                </a:lnTo>
                <a:close/>
              </a:path>
              <a:path w="398780" h="398779">
                <a:moveTo>
                  <a:pt x="217988" y="143625"/>
                </a:moveTo>
                <a:lnTo>
                  <a:pt x="148620" y="143625"/>
                </a:lnTo>
                <a:lnTo>
                  <a:pt x="154905" y="139387"/>
                </a:lnTo>
                <a:lnTo>
                  <a:pt x="161846" y="136214"/>
                </a:lnTo>
                <a:lnTo>
                  <a:pt x="169159" y="134226"/>
                </a:lnTo>
                <a:lnTo>
                  <a:pt x="176452" y="132128"/>
                </a:lnTo>
                <a:lnTo>
                  <a:pt x="176718" y="132128"/>
                </a:lnTo>
                <a:lnTo>
                  <a:pt x="183804" y="131094"/>
                </a:lnTo>
                <a:lnTo>
                  <a:pt x="194139" y="131094"/>
                </a:lnTo>
                <a:lnTo>
                  <a:pt x="216052" y="140300"/>
                </a:lnTo>
                <a:lnTo>
                  <a:pt x="217988" y="143625"/>
                </a:lnTo>
                <a:close/>
              </a:path>
              <a:path w="398780" h="398779">
                <a:moveTo>
                  <a:pt x="193866" y="267424"/>
                </a:moveTo>
                <a:lnTo>
                  <a:pt x="188867" y="267424"/>
                </a:lnTo>
                <a:lnTo>
                  <a:pt x="183266" y="267216"/>
                </a:lnTo>
                <a:lnTo>
                  <a:pt x="141155" y="253346"/>
                </a:lnTo>
                <a:lnTo>
                  <a:pt x="223523" y="253346"/>
                </a:lnTo>
                <a:lnTo>
                  <a:pt x="202076" y="266233"/>
                </a:lnTo>
                <a:lnTo>
                  <a:pt x="198002" y="267015"/>
                </a:lnTo>
                <a:lnTo>
                  <a:pt x="193866" y="2674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2" name="object 12"/>
          <p:cNvSpPr/>
          <p:nvPr/>
        </p:nvSpPr>
        <p:spPr>
          <a:xfrm>
            <a:off x="4769529" y="5967431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79" h="398779">
                <a:moveTo>
                  <a:pt x="205867" y="143802"/>
                </a:moveTo>
                <a:lnTo>
                  <a:pt x="182092" y="182956"/>
                </a:lnTo>
                <a:lnTo>
                  <a:pt x="178015" y="188823"/>
                </a:lnTo>
                <a:lnTo>
                  <a:pt x="173951" y="194691"/>
                </a:lnTo>
                <a:lnTo>
                  <a:pt x="169951" y="200101"/>
                </a:lnTo>
                <a:lnTo>
                  <a:pt x="162077" y="210058"/>
                </a:lnTo>
                <a:lnTo>
                  <a:pt x="157949" y="215049"/>
                </a:lnTo>
                <a:lnTo>
                  <a:pt x="153644" y="220065"/>
                </a:lnTo>
                <a:lnTo>
                  <a:pt x="205867" y="220065"/>
                </a:lnTo>
                <a:lnTo>
                  <a:pt x="205867" y="143802"/>
                </a:lnTo>
                <a:close/>
              </a:path>
              <a:path w="398779" h="398779">
                <a:moveTo>
                  <a:pt x="398208" y="199199"/>
                </a:moveTo>
                <a:lnTo>
                  <a:pt x="392963" y="153530"/>
                </a:lnTo>
                <a:lnTo>
                  <a:pt x="378002" y="111594"/>
                </a:lnTo>
                <a:lnTo>
                  <a:pt x="354507" y="74599"/>
                </a:lnTo>
                <a:lnTo>
                  <a:pt x="323672" y="43751"/>
                </a:lnTo>
                <a:lnTo>
                  <a:pt x="286702" y="20243"/>
                </a:lnTo>
                <a:lnTo>
                  <a:pt x="259829" y="10655"/>
                </a:lnTo>
                <a:lnTo>
                  <a:pt x="259829" y="220078"/>
                </a:lnTo>
                <a:lnTo>
                  <a:pt x="259829" y="245325"/>
                </a:lnTo>
                <a:lnTo>
                  <a:pt x="235978" y="245325"/>
                </a:lnTo>
                <a:lnTo>
                  <a:pt x="235978" y="282778"/>
                </a:lnTo>
                <a:lnTo>
                  <a:pt x="205867" y="282778"/>
                </a:lnTo>
                <a:lnTo>
                  <a:pt x="205867" y="245325"/>
                </a:lnTo>
                <a:lnTo>
                  <a:pt x="123875" y="245325"/>
                </a:lnTo>
                <a:lnTo>
                  <a:pt x="123875" y="221475"/>
                </a:lnTo>
                <a:lnTo>
                  <a:pt x="153466" y="186270"/>
                </a:lnTo>
                <a:lnTo>
                  <a:pt x="179565" y="148894"/>
                </a:lnTo>
                <a:lnTo>
                  <a:pt x="200787" y="112166"/>
                </a:lnTo>
                <a:lnTo>
                  <a:pt x="204304" y="105130"/>
                </a:lnTo>
                <a:lnTo>
                  <a:pt x="235978" y="105130"/>
                </a:lnTo>
                <a:lnTo>
                  <a:pt x="235978" y="220078"/>
                </a:lnTo>
                <a:lnTo>
                  <a:pt x="259829" y="10655"/>
                </a:lnTo>
                <a:lnTo>
                  <a:pt x="199288" y="0"/>
                </a:lnTo>
                <a:lnTo>
                  <a:pt x="199110" y="0"/>
                </a:lnTo>
                <a:lnTo>
                  <a:pt x="153466" y="5257"/>
                </a:lnTo>
                <a:lnTo>
                  <a:pt x="111556" y="20243"/>
                </a:lnTo>
                <a:lnTo>
                  <a:pt x="74587" y="43751"/>
                </a:lnTo>
                <a:lnTo>
                  <a:pt x="43751" y="74599"/>
                </a:lnTo>
                <a:lnTo>
                  <a:pt x="20243" y="111594"/>
                </a:lnTo>
                <a:lnTo>
                  <a:pt x="5270" y="153530"/>
                </a:lnTo>
                <a:lnTo>
                  <a:pt x="0" y="199199"/>
                </a:lnTo>
                <a:lnTo>
                  <a:pt x="5257" y="244881"/>
                </a:lnTo>
                <a:lnTo>
                  <a:pt x="20243" y="286816"/>
                </a:lnTo>
                <a:lnTo>
                  <a:pt x="43738" y="323799"/>
                </a:lnTo>
                <a:lnTo>
                  <a:pt x="74574" y="354660"/>
                </a:lnTo>
                <a:lnTo>
                  <a:pt x="111544" y="378167"/>
                </a:lnTo>
                <a:lnTo>
                  <a:pt x="153454" y="393166"/>
                </a:lnTo>
                <a:lnTo>
                  <a:pt x="199097" y="398424"/>
                </a:lnTo>
                <a:lnTo>
                  <a:pt x="244767" y="393166"/>
                </a:lnTo>
                <a:lnTo>
                  <a:pt x="286677" y="378167"/>
                </a:lnTo>
                <a:lnTo>
                  <a:pt x="323646" y="354660"/>
                </a:lnTo>
                <a:lnTo>
                  <a:pt x="354469" y="323799"/>
                </a:lnTo>
                <a:lnTo>
                  <a:pt x="377977" y="286816"/>
                </a:lnTo>
                <a:lnTo>
                  <a:pt x="379412" y="282778"/>
                </a:lnTo>
                <a:lnTo>
                  <a:pt x="392950" y="244881"/>
                </a:lnTo>
                <a:lnTo>
                  <a:pt x="398208" y="199199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3" name="object 13"/>
          <p:cNvSpPr/>
          <p:nvPr/>
        </p:nvSpPr>
        <p:spPr>
          <a:xfrm>
            <a:off x="5926496" y="7021455"/>
            <a:ext cx="597218" cy="600075"/>
          </a:xfrm>
          <a:custGeom>
            <a:avLst/>
            <a:gdLst/>
            <a:ahLst/>
            <a:cxnLst/>
            <a:rect l="l" t="t" r="r" b="b"/>
            <a:pathLst>
              <a:path w="398145" h="400050">
                <a:moveTo>
                  <a:pt x="198916" y="399612"/>
                </a:moveTo>
                <a:lnTo>
                  <a:pt x="153265" y="394335"/>
                </a:lnTo>
                <a:lnTo>
                  <a:pt x="111358" y="379303"/>
                </a:lnTo>
                <a:lnTo>
                  <a:pt x="74390" y="355716"/>
                </a:lnTo>
                <a:lnTo>
                  <a:pt x="43557" y="324774"/>
                </a:lnTo>
                <a:lnTo>
                  <a:pt x="20054" y="287675"/>
                </a:lnTo>
                <a:lnTo>
                  <a:pt x="5076" y="245619"/>
                </a:lnTo>
                <a:lnTo>
                  <a:pt x="53" y="201858"/>
                </a:lnTo>
                <a:lnTo>
                  <a:pt x="0" y="198217"/>
                </a:lnTo>
                <a:lnTo>
                  <a:pt x="5076" y="153992"/>
                </a:lnTo>
                <a:lnTo>
                  <a:pt x="20054" y="111937"/>
                </a:lnTo>
                <a:lnTo>
                  <a:pt x="43557" y="74838"/>
                </a:lnTo>
                <a:lnTo>
                  <a:pt x="74390" y="43895"/>
                </a:lnTo>
                <a:lnTo>
                  <a:pt x="111358" y="20308"/>
                </a:lnTo>
                <a:lnTo>
                  <a:pt x="153265" y="5277"/>
                </a:lnTo>
                <a:lnTo>
                  <a:pt x="198916" y="0"/>
                </a:lnTo>
                <a:lnTo>
                  <a:pt x="199104" y="0"/>
                </a:lnTo>
                <a:lnTo>
                  <a:pt x="244565" y="5277"/>
                </a:lnTo>
                <a:lnTo>
                  <a:pt x="286522" y="20308"/>
                </a:lnTo>
                <a:lnTo>
                  <a:pt x="323490" y="43895"/>
                </a:lnTo>
                <a:lnTo>
                  <a:pt x="354316" y="74838"/>
                </a:lnTo>
                <a:lnTo>
                  <a:pt x="374955" y="107428"/>
                </a:lnTo>
                <a:lnTo>
                  <a:pt x="162854" y="107428"/>
                </a:lnTo>
                <a:lnTo>
                  <a:pt x="154397" y="198217"/>
                </a:lnTo>
                <a:lnTo>
                  <a:pt x="154277" y="199506"/>
                </a:lnTo>
                <a:lnTo>
                  <a:pt x="154167" y="200690"/>
                </a:lnTo>
                <a:lnTo>
                  <a:pt x="204140" y="200690"/>
                </a:lnTo>
                <a:lnTo>
                  <a:pt x="210339" y="201858"/>
                </a:lnTo>
                <a:lnTo>
                  <a:pt x="234716" y="225342"/>
                </a:lnTo>
                <a:lnTo>
                  <a:pt x="234600" y="229183"/>
                </a:lnTo>
                <a:lnTo>
                  <a:pt x="234564" y="230377"/>
                </a:lnTo>
                <a:lnTo>
                  <a:pt x="233876" y="237617"/>
                </a:lnTo>
                <a:lnTo>
                  <a:pt x="231472" y="244364"/>
                </a:lnTo>
                <a:lnTo>
                  <a:pt x="227501" y="250319"/>
                </a:lnTo>
                <a:lnTo>
                  <a:pt x="225569" y="252063"/>
                </a:lnTo>
                <a:lnTo>
                  <a:pt x="147541" y="252063"/>
                </a:lnTo>
                <a:lnTo>
                  <a:pt x="147541" y="278436"/>
                </a:lnTo>
                <a:lnTo>
                  <a:pt x="155579" y="281644"/>
                </a:lnTo>
                <a:lnTo>
                  <a:pt x="165423" y="283936"/>
                </a:lnTo>
                <a:lnTo>
                  <a:pt x="177072" y="285311"/>
                </a:lnTo>
                <a:lnTo>
                  <a:pt x="190528" y="285770"/>
                </a:lnTo>
                <a:lnTo>
                  <a:pt x="378456" y="285770"/>
                </a:lnTo>
                <a:lnTo>
                  <a:pt x="377777" y="287675"/>
                </a:lnTo>
                <a:lnTo>
                  <a:pt x="354274" y="324774"/>
                </a:lnTo>
                <a:lnTo>
                  <a:pt x="323441" y="355716"/>
                </a:lnTo>
                <a:lnTo>
                  <a:pt x="286474" y="379303"/>
                </a:lnTo>
                <a:lnTo>
                  <a:pt x="244567" y="394335"/>
                </a:lnTo>
                <a:lnTo>
                  <a:pt x="198916" y="399612"/>
                </a:lnTo>
                <a:close/>
              </a:path>
              <a:path w="398145" h="400050">
                <a:moveTo>
                  <a:pt x="378456" y="285770"/>
                </a:moveTo>
                <a:lnTo>
                  <a:pt x="190528" y="285770"/>
                </a:lnTo>
                <a:lnTo>
                  <a:pt x="197466" y="285585"/>
                </a:lnTo>
                <a:lnTo>
                  <a:pt x="204375" y="284983"/>
                </a:lnTo>
                <a:lnTo>
                  <a:pt x="241436" y="272412"/>
                </a:lnTo>
                <a:lnTo>
                  <a:pt x="263767" y="235873"/>
                </a:lnTo>
                <a:lnTo>
                  <a:pt x="263984" y="230377"/>
                </a:lnTo>
                <a:lnTo>
                  <a:pt x="264031" y="229183"/>
                </a:lnTo>
                <a:lnTo>
                  <a:pt x="264145" y="225342"/>
                </a:lnTo>
                <a:lnTo>
                  <a:pt x="264209" y="220381"/>
                </a:lnTo>
                <a:lnTo>
                  <a:pt x="263204" y="216141"/>
                </a:lnTo>
                <a:lnTo>
                  <a:pt x="236100" y="184107"/>
                </a:lnTo>
                <a:lnTo>
                  <a:pt x="198791" y="176426"/>
                </a:lnTo>
                <a:lnTo>
                  <a:pt x="184315" y="176426"/>
                </a:lnTo>
                <a:lnTo>
                  <a:pt x="188788" y="130834"/>
                </a:lnTo>
                <a:lnTo>
                  <a:pt x="254595" y="130834"/>
                </a:lnTo>
                <a:lnTo>
                  <a:pt x="254595" y="107428"/>
                </a:lnTo>
                <a:lnTo>
                  <a:pt x="374955" y="107428"/>
                </a:lnTo>
                <a:lnTo>
                  <a:pt x="377808" y="111937"/>
                </a:lnTo>
                <a:lnTo>
                  <a:pt x="392773" y="153992"/>
                </a:lnTo>
                <a:lnTo>
                  <a:pt x="397833" y="198217"/>
                </a:lnTo>
                <a:lnTo>
                  <a:pt x="397779" y="201858"/>
                </a:lnTo>
                <a:lnTo>
                  <a:pt x="392756" y="245619"/>
                </a:lnTo>
                <a:lnTo>
                  <a:pt x="378736" y="284983"/>
                </a:lnTo>
                <a:lnTo>
                  <a:pt x="378619" y="285311"/>
                </a:lnTo>
                <a:lnTo>
                  <a:pt x="378522" y="285585"/>
                </a:lnTo>
                <a:lnTo>
                  <a:pt x="378456" y="285770"/>
                </a:lnTo>
                <a:close/>
              </a:path>
              <a:path w="398145" h="400050">
                <a:moveTo>
                  <a:pt x="184246" y="177130"/>
                </a:moveTo>
                <a:lnTo>
                  <a:pt x="182044" y="177130"/>
                </a:lnTo>
                <a:lnTo>
                  <a:pt x="191242" y="176426"/>
                </a:lnTo>
                <a:lnTo>
                  <a:pt x="184315" y="176426"/>
                </a:lnTo>
                <a:lnTo>
                  <a:pt x="184246" y="177130"/>
                </a:lnTo>
                <a:close/>
              </a:path>
              <a:path w="398145" h="400050">
                <a:moveTo>
                  <a:pt x="204140" y="200690"/>
                </a:moveTo>
                <a:lnTo>
                  <a:pt x="154167" y="200690"/>
                </a:lnTo>
                <a:lnTo>
                  <a:pt x="174144" y="199506"/>
                </a:lnTo>
                <a:lnTo>
                  <a:pt x="184273" y="199090"/>
                </a:lnTo>
                <a:lnTo>
                  <a:pt x="192850" y="199090"/>
                </a:lnTo>
                <a:lnTo>
                  <a:pt x="198973" y="199674"/>
                </a:lnTo>
                <a:lnTo>
                  <a:pt x="204140" y="200690"/>
                </a:lnTo>
                <a:close/>
              </a:path>
              <a:path w="398145" h="400050">
                <a:moveTo>
                  <a:pt x="197135" y="263600"/>
                </a:moveTo>
                <a:lnTo>
                  <a:pt x="190874" y="263600"/>
                </a:lnTo>
                <a:lnTo>
                  <a:pt x="179565" y="262779"/>
                </a:lnTo>
                <a:lnTo>
                  <a:pt x="168488" y="260560"/>
                </a:lnTo>
                <a:lnTo>
                  <a:pt x="157771" y="256977"/>
                </a:lnTo>
                <a:lnTo>
                  <a:pt x="147541" y="252063"/>
                </a:lnTo>
                <a:lnTo>
                  <a:pt x="225569" y="252063"/>
                </a:lnTo>
                <a:lnTo>
                  <a:pt x="197135" y="263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grpSp>
        <p:nvGrpSpPr>
          <p:cNvPr id="14" name="object 14"/>
          <p:cNvGrpSpPr/>
          <p:nvPr/>
        </p:nvGrpSpPr>
        <p:grpSpPr>
          <a:xfrm>
            <a:off x="7169807" y="7949376"/>
            <a:ext cx="598170" cy="598170"/>
            <a:chOff x="4779871" y="5299584"/>
            <a:chExt cx="398780" cy="398780"/>
          </a:xfrm>
        </p:grpSpPr>
        <p:sp>
          <p:nvSpPr>
            <p:cNvPr id="15" name="object 15"/>
            <p:cNvSpPr/>
            <p:nvPr/>
          </p:nvSpPr>
          <p:spPr>
            <a:xfrm>
              <a:off x="4779871" y="529958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79" h="398779">
                  <a:moveTo>
                    <a:pt x="199098" y="398419"/>
                  </a:moveTo>
                  <a:lnTo>
                    <a:pt x="153447" y="393158"/>
                  </a:lnTo>
                  <a:lnTo>
                    <a:pt x="111540" y="378171"/>
                  </a:lnTo>
                  <a:lnTo>
                    <a:pt x="74573" y="354655"/>
                  </a:lnTo>
                  <a:lnTo>
                    <a:pt x="43740" y="323804"/>
                  </a:lnTo>
                  <a:lnTo>
                    <a:pt x="20236" y="286816"/>
                  </a:lnTo>
                  <a:lnTo>
                    <a:pt x="5258" y="244886"/>
                  </a:lnTo>
                  <a:lnTo>
                    <a:pt x="0" y="199209"/>
                  </a:lnTo>
                  <a:lnTo>
                    <a:pt x="5168" y="154315"/>
                  </a:lnTo>
                  <a:lnTo>
                    <a:pt x="20236" y="111602"/>
                  </a:lnTo>
                  <a:lnTo>
                    <a:pt x="43740" y="74614"/>
                  </a:lnTo>
                  <a:lnTo>
                    <a:pt x="74573" y="43764"/>
                  </a:lnTo>
                  <a:lnTo>
                    <a:pt x="111540" y="20248"/>
                  </a:lnTo>
                  <a:lnTo>
                    <a:pt x="153447" y="5261"/>
                  </a:lnTo>
                  <a:lnTo>
                    <a:pt x="199098" y="0"/>
                  </a:lnTo>
                  <a:lnTo>
                    <a:pt x="199266" y="0"/>
                  </a:lnTo>
                  <a:lnTo>
                    <a:pt x="244765" y="5261"/>
                  </a:lnTo>
                  <a:lnTo>
                    <a:pt x="286710" y="20248"/>
                  </a:lnTo>
                  <a:lnTo>
                    <a:pt x="323676" y="43764"/>
                  </a:lnTo>
                  <a:lnTo>
                    <a:pt x="354501" y="74614"/>
                  </a:lnTo>
                  <a:lnTo>
                    <a:pt x="372981" y="103707"/>
                  </a:lnTo>
                  <a:lnTo>
                    <a:pt x="213839" y="103707"/>
                  </a:lnTo>
                  <a:lnTo>
                    <a:pt x="206671" y="104563"/>
                  </a:lnTo>
                  <a:lnTo>
                    <a:pt x="167461" y="124328"/>
                  </a:lnTo>
                  <a:lnTo>
                    <a:pt x="143791" y="165398"/>
                  </a:lnTo>
                  <a:lnTo>
                    <a:pt x="141651" y="173109"/>
                  </a:lnTo>
                  <a:lnTo>
                    <a:pt x="141605" y="173272"/>
                  </a:lnTo>
                  <a:lnTo>
                    <a:pt x="138949" y="188147"/>
                  </a:lnTo>
                  <a:lnTo>
                    <a:pt x="138854" y="188678"/>
                  </a:lnTo>
                  <a:lnTo>
                    <a:pt x="138743" y="189291"/>
                  </a:lnTo>
                  <a:lnTo>
                    <a:pt x="138229" y="195050"/>
                  </a:lnTo>
                  <a:lnTo>
                    <a:pt x="141401" y="233896"/>
                  </a:lnTo>
                  <a:lnTo>
                    <a:pt x="161251" y="269515"/>
                  </a:lnTo>
                  <a:lnTo>
                    <a:pt x="202401" y="284403"/>
                  </a:lnTo>
                  <a:lnTo>
                    <a:pt x="378822" y="284403"/>
                  </a:lnTo>
                  <a:lnTo>
                    <a:pt x="377960" y="286816"/>
                  </a:lnTo>
                  <a:lnTo>
                    <a:pt x="354457" y="323804"/>
                  </a:lnTo>
                  <a:lnTo>
                    <a:pt x="323624" y="354655"/>
                  </a:lnTo>
                  <a:lnTo>
                    <a:pt x="286656" y="378171"/>
                  </a:lnTo>
                  <a:lnTo>
                    <a:pt x="244749" y="393158"/>
                  </a:lnTo>
                  <a:lnTo>
                    <a:pt x="199098" y="398419"/>
                  </a:lnTo>
                  <a:close/>
                </a:path>
                <a:path w="398779" h="398779">
                  <a:moveTo>
                    <a:pt x="385714" y="133229"/>
                  </a:moveTo>
                  <a:lnTo>
                    <a:pt x="252680" y="133229"/>
                  </a:lnTo>
                  <a:lnTo>
                    <a:pt x="252680" y="109180"/>
                  </a:lnTo>
                  <a:lnTo>
                    <a:pt x="244670" y="106514"/>
                  </a:lnTo>
                  <a:lnTo>
                    <a:pt x="235897" y="104563"/>
                  </a:lnTo>
                  <a:lnTo>
                    <a:pt x="235398" y="104563"/>
                  </a:lnTo>
                  <a:lnTo>
                    <a:pt x="228088" y="103707"/>
                  </a:lnTo>
                  <a:lnTo>
                    <a:pt x="372981" y="103707"/>
                  </a:lnTo>
                  <a:lnTo>
                    <a:pt x="377994" y="111602"/>
                  </a:lnTo>
                  <a:lnTo>
                    <a:pt x="385714" y="133229"/>
                  </a:lnTo>
                  <a:close/>
                </a:path>
                <a:path w="398779" h="398779">
                  <a:moveTo>
                    <a:pt x="166213" y="195050"/>
                  </a:moveTo>
                  <a:lnTo>
                    <a:pt x="165689" y="195050"/>
                  </a:lnTo>
                  <a:lnTo>
                    <a:pt x="165793" y="191478"/>
                  </a:lnTo>
                  <a:lnTo>
                    <a:pt x="165828" y="190250"/>
                  </a:lnTo>
                  <a:lnTo>
                    <a:pt x="178045" y="147502"/>
                  </a:lnTo>
                  <a:lnTo>
                    <a:pt x="213572" y="125783"/>
                  </a:lnTo>
                  <a:lnTo>
                    <a:pt x="220178" y="125550"/>
                  </a:lnTo>
                  <a:lnTo>
                    <a:pt x="228596" y="126051"/>
                  </a:lnTo>
                  <a:lnTo>
                    <a:pt x="236873" y="127511"/>
                  </a:lnTo>
                  <a:lnTo>
                    <a:pt x="244928" y="129910"/>
                  </a:lnTo>
                  <a:lnTo>
                    <a:pt x="252680" y="133229"/>
                  </a:lnTo>
                  <a:lnTo>
                    <a:pt x="385714" y="133229"/>
                  </a:lnTo>
                  <a:lnTo>
                    <a:pt x="392958" y="153532"/>
                  </a:lnTo>
                  <a:lnTo>
                    <a:pt x="394823" y="169794"/>
                  </a:lnTo>
                  <a:lnTo>
                    <a:pt x="204404" y="169794"/>
                  </a:lnTo>
                  <a:lnTo>
                    <a:pt x="198930" y="170575"/>
                  </a:lnTo>
                  <a:lnTo>
                    <a:pt x="168278" y="191478"/>
                  </a:lnTo>
                  <a:lnTo>
                    <a:pt x="166213" y="195050"/>
                  </a:lnTo>
                  <a:close/>
                </a:path>
                <a:path w="398779" h="398779">
                  <a:moveTo>
                    <a:pt x="378822" y="284403"/>
                  </a:moveTo>
                  <a:lnTo>
                    <a:pt x="202401" y="284403"/>
                  </a:lnTo>
                  <a:lnTo>
                    <a:pt x="210531" y="284142"/>
                  </a:lnTo>
                  <a:lnTo>
                    <a:pt x="209303" y="284142"/>
                  </a:lnTo>
                  <a:lnTo>
                    <a:pt x="246961" y="267508"/>
                  </a:lnTo>
                  <a:lnTo>
                    <a:pt x="263406" y="232286"/>
                  </a:lnTo>
                  <a:lnTo>
                    <a:pt x="263390" y="216634"/>
                  </a:lnTo>
                  <a:lnTo>
                    <a:pt x="243008" y="180463"/>
                  </a:lnTo>
                  <a:lnTo>
                    <a:pt x="215315" y="169794"/>
                  </a:lnTo>
                  <a:lnTo>
                    <a:pt x="394823" y="169794"/>
                  </a:lnTo>
                  <a:lnTo>
                    <a:pt x="398197" y="199209"/>
                  </a:lnTo>
                  <a:lnTo>
                    <a:pt x="392938" y="244886"/>
                  </a:lnTo>
                  <a:lnTo>
                    <a:pt x="378915" y="284142"/>
                  </a:lnTo>
                  <a:lnTo>
                    <a:pt x="378822" y="284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6498" y="5491655"/>
              <a:ext cx="69880" cy="7048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1144250" y="249174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8" name="object 18"/>
          <p:cNvSpPr txBox="1"/>
          <p:nvPr/>
        </p:nvSpPr>
        <p:spPr>
          <a:xfrm>
            <a:off x="11315977" y="2631998"/>
            <a:ext cx="4765358" cy="781945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is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20" dirty="0">
                <a:latin typeface="Arial"/>
                <a:cs typeface="Arial"/>
              </a:rPr>
              <a:t>disease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interest?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latin typeface="Arial"/>
                <a:cs typeface="Arial"/>
              </a:rPr>
              <a:t>What </a:t>
            </a:r>
            <a:r>
              <a:rPr sz="1650" spc="-75" dirty="0">
                <a:latin typeface="Arial"/>
                <a:cs typeface="Arial"/>
              </a:rPr>
              <a:t>are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health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technologies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or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interventions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of 	interest,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90" dirty="0">
                <a:latin typeface="Arial"/>
                <a:cs typeface="Arial"/>
              </a:rPr>
              <a:t>and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what</a:t>
            </a:r>
            <a:r>
              <a:rPr sz="1650" spc="-75" dirty="0">
                <a:latin typeface="Arial"/>
                <a:cs typeface="Arial"/>
              </a:rPr>
              <a:t> should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68" dirty="0">
                <a:latin typeface="Arial"/>
                <a:cs typeface="Arial"/>
              </a:rPr>
              <a:t>we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compare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them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with?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144250" y="1897379"/>
            <a:ext cx="5758815" cy="499110"/>
          </a:xfrm>
          <a:custGeom>
            <a:avLst/>
            <a:gdLst/>
            <a:ahLst/>
            <a:cxnLst/>
            <a:rect l="l" t="t" r="r" b="b"/>
            <a:pathLst>
              <a:path w="3839209" h="332740">
                <a:moveTo>
                  <a:pt x="3783584" y="0"/>
                </a:moveTo>
                <a:lnTo>
                  <a:pt x="55372" y="0"/>
                </a:lnTo>
                <a:lnTo>
                  <a:pt x="33818" y="4351"/>
                </a:lnTo>
                <a:lnTo>
                  <a:pt x="16217" y="16217"/>
                </a:lnTo>
                <a:lnTo>
                  <a:pt x="4351" y="33818"/>
                </a:lnTo>
                <a:lnTo>
                  <a:pt x="0" y="55372"/>
                </a:lnTo>
                <a:lnTo>
                  <a:pt x="0" y="276860"/>
                </a:lnTo>
                <a:lnTo>
                  <a:pt x="4351" y="298413"/>
                </a:lnTo>
                <a:lnTo>
                  <a:pt x="16217" y="316014"/>
                </a:lnTo>
                <a:lnTo>
                  <a:pt x="33818" y="327880"/>
                </a:lnTo>
                <a:lnTo>
                  <a:pt x="55372" y="332232"/>
                </a:lnTo>
                <a:lnTo>
                  <a:pt x="3783584" y="332232"/>
                </a:lnTo>
                <a:lnTo>
                  <a:pt x="3805137" y="327880"/>
                </a:lnTo>
                <a:lnTo>
                  <a:pt x="3822738" y="316014"/>
                </a:lnTo>
                <a:lnTo>
                  <a:pt x="3834604" y="298413"/>
                </a:lnTo>
                <a:lnTo>
                  <a:pt x="3838955" y="276860"/>
                </a:lnTo>
                <a:lnTo>
                  <a:pt x="3838955" y="55372"/>
                </a:lnTo>
                <a:lnTo>
                  <a:pt x="3834604" y="33818"/>
                </a:lnTo>
                <a:lnTo>
                  <a:pt x="3822738" y="16217"/>
                </a:lnTo>
                <a:lnTo>
                  <a:pt x="3805137" y="4351"/>
                </a:lnTo>
                <a:lnTo>
                  <a:pt x="3783584" y="0"/>
                </a:lnTo>
                <a:close/>
              </a:path>
            </a:pathLst>
          </a:custGeom>
          <a:solidFill>
            <a:srgbClr val="C3D9F5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0" name="object 20"/>
          <p:cNvSpPr txBox="1"/>
          <p:nvPr/>
        </p:nvSpPr>
        <p:spPr>
          <a:xfrm>
            <a:off x="12034640" y="1926929"/>
            <a:ext cx="3975735" cy="387607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2400" b="1" spc="-240" dirty="0">
                <a:latin typeface="Arial"/>
                <a:cs typeface="Arial"/>
              </a:rPr>
              <a:t>Examples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of</a:t>
            </a:r>
            <a:r>
              <a:rPr sz="2400" b="1" spc="-83" dirty="0">
                <a:latin typeface="Arial"/>
                <a:cs typeface="Arial"/>
              </a:rPr>
              <a:t> </a:t>
            </a:r>
            <a:r>
              <a:rPr sz="2400" b="1" spc="-217" dirty="0">
                <a:latin typeface="Arial"/>
                <a:cs typeface="Arial"/>
              </a:rPr>
              <a:t>key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considerations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145392" y="3679327"/>
            <a:ext cx="5758815" cy="2791778"/>
          </a:xfrm>
          <a:custGeom>
            <a:avLst/>
            <a:gdLst/>
            <a:ahLst/>
            <a:cxnLst/>
            <a:rect l="l" t="t" r="r" b="b"/>
            <a:pathLst>
              <a:path w="3839209" h="1861185">
                <a:moveTo>
                  <a:pt x="0" y="310134"/>
                </a:moveTo>
                <a:lnTo>
                  <a:pt x="3362" y="264304"/>
                </a:lnTo>
                <a:lnTo>
                  <a:pt x="13130" y="220562"/>
                </a:lnTo>
                <a:lnTo>
                  <a:pt x="28824" y="179388"/>
                </a:lnTo>
                <a:lnTo>
                  <a:pt x="49963" y="141261"/>
                </a:lnTo>
                <a:lnTo>
                  <a:pt x="76069" y="106662"/>
                </a:lnTo>
                <a:lnTo>
                  <a:pt x="106662" y="76069"/>
                </a:lnTo>
                <a:lnTo>
                  <a:pt x="141261" y="49963"/>
                </a:lnTo>
                <a:lnTo>
                  <a:pt x="179388" y="28824"/>
                </a:lnTo>
                <a:lnTo>
                  <a:pt x="220562" y="13130"/>
                </a:lnTo>
                <a:lnTo>
                  <a:pt x="264304" y="3362"/>
                </a:lnTo>
                <a:lnTo>
                  <a:pt x="310134" y="0"/>
                </a:lnTo>
                <a:lnTo>
                  <a:pt x="3528822" y="0"/>
                </a:lnTo>
                <a:lnTo>
                  <a:pt x="3574651" y="3362"/>
                </a:lnTo>
                <a:lnTo>
                  <a:pt x="3618393" y="13130"/>
                </a:lnTo>
                <a:lnTo>
                  <a:pt x="3659567" y="28824"/>
                </a:lnTo>
                <a:lnTo>
                  <a:pt x="3697694" y="49963"/>
                </a:lnTo>
                <a:lnTo>
                  <a:pt x="3732293" y="76069"/>
                </a:lnTo>
                <a:lnTo>
                  <a:pt x="3762886" y="106662"/>
                </a:lnTo>
                <a:lnTo>
                  <a:pt x="3788992" y="141261"/>
                </a:lnTo>
                <a:lnTo>
                  <a:pt x="3810131" y="179388"/>
                </a:lnTo>
                <a:lnTo>
                  <a:pt x="3825825" y="220562"/>
                </a:lnTo>
                <a:lnTo>
                  <a:pt x="3835593" y="264304"/>
                </a:lnTo>
                <a:lnTo>
                  <a:pt x="3838955" y="310134"/>
                </a:lnTo>
                <a:lnTo>
                  <a:pt x="3838955" y="1550657"/>
                </a:lnTo>
                <a:lnTo>
                  <a:pt x="3835593" y="1596487"/>
                </a:lnTo>
                <a:lnTo>
                  <a:pt x="3825825" y="1640230"/>
                </a:lnTo>
                <a:lnTo>
                  <a:pt x="3810131" y="1681405"/>
                </a:lnTo>
                <a:lnTo>
                  <a:pt x="3788992" y="1719533"/>
                </a:lnTo>
                <a:lnTo>
                  <a:pt x="3762886" y="1754134"/>
                </a:lnTo>
                <a:lnTo>
                  <a:pt x="3732293" y="1784728"/>
                </a:lnTo>
                <a:lnTo>
                  <a:pt x="3697694" y="1810836"/>
                </a:lnTo>
                <a:lnTo>
                  <a:pt x="3659567" y="1831977"/>
                </a:lnTo>
                <a:lnTo>
                  <a:pt x="3618393" y="1847672"/>
                </a:lnTo>
                <a:lnTo>
                  <a:pt x="3574651" y="1857441"/>
                </a:lnTo>
                <a:lnTo>
                  <a:pt x="3528822" y="1860804"/>
                </a:lnTo>
                <a:lnTo>
                  <a:pt x="310134" y="1860804"/>
                </a:lnTo>
                <a:lnTo>
                  <a:pt x="264304" y="1857441"/>
                </a:lnTo>
                <a:lnTo>
                  <a:pt x="220562" y="1847672"/>
                </a:lnTo>
                <a:lnTo>
                  <a:pt x="179388" y="1831977"/>
                </a:lnTo>
                <a:lnTo>
                  <a:pt x="141261" y="1810836"/>
                </a:lnTo>
                <a:lnTo>
                  <a:pt x="106662" y="1784728"/>
                </a:lnTo>
                <a:lnTo>
                  <a:pt x="76069" y="1754134"/>
                </a:lnTo>
                <a:lnTo>
                  <a:pt x="49963" y="1719533"/>
                </a:lnTo>
                <a:lnTo>
                  <a:pt x="28824" y="1681405"/>
                </a:lnTo>
                <a:lnTo>
                  <a:pt x="13130" y="1640230"/>
                </a:lnTo>
                <a:lnTo>
                  <a:pt x="3362" y="1596487"/>
                </a:lnTo>
                <a:lnTo>
                  <a:pt x="0" y="1550657"/>
                </a:lnTo>
                <a:lnTo>
                  <a:pt x="0" y="310134"/>
                </a:lnTo>
                <a:close/>
              </a:path>
            </a:pathLst>
          </a:custGeom>
          <a:ln w="28575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2" name="object 22"/>
          <p:cNvSpPr txBox="1"/>
          <p:nvPr/>
        </p:nvSpPr>
        <p:spPr>
          <a:xfrm>
            <a:off x="11398667" y="4161172"/>
            <a:ext cx="3469005" cy="27411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is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objective</a:t>
            </a:r>
            <a:r>
              <a:rPr sz="1650" spc="-127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our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98667" y="4412705"/>
            <a:ext cx="4783455" cy="1543692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83" dirty="0">
                <a:latin typeface="Arial"/>
                <a:cs typeface="Arial"/>
              </a:rPr>
              <a:t>Which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type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decision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model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68" dirty="0">
                <a:latin typeface="Arial"/>
                <a:cs typeface="Arial"/>
              </a:rPr>
              <a:t>we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use?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outcomes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from</a:t>
            </a:r>
            <a:r>
              <a:rPr sz="1650" spc="-30" dirty="0">
                <a:latin typeface="Arial"/>
                <a:cs typeface="Arial"/>
              </a:rPr>
              <a:t> the</a:t>
            </a:r>
            <a:r>
              <a:rPr sz="1650" spc="-53" dirty="0">
                <a:latin typeface="Arial"/>
                <a:cs typeface="Arial"/>
              </a:rPr>
              <a:t> health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technologies</a:t>
            </a:r>
            <a:r>
              <a:rPr sz="1650" spc="-11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we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are 	</a:t>
            </a:r>
            <a:r>
              <a:rPr sz="1650" spc="-45" dirty="0">
                <a:latin typeface="Arial"/>
                <a:cs typeface="Arial"/>
              </a:rPr>
              <a:t>interested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in?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is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53" dirty="0">
                <a:latin typeface="Arial"/>
                <a:cs typeface="Arial"/>
              </a:rPr>
              <a:t> targeted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population?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83" dirty="0">
                <a:latin typeface="Arial"/>
                <a:cs typeface="Arial"/>
              </a:rPr>
              <a:t>Which</a:t>
            </a:r>
            <a:r>
              <a:rPr sz="1650" spc="-75" dirty="0">
                <a:latin typeface="Arial"/>
                <a:cs typeface="Arial"/>
              </a:rPr>
              <a:t> perspective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we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perform the</a:t>
            </a:r>
            <a:r>
              <a:rPr sz="1650" spc="-5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latin typeface="Arial"/>
                <a:cs typeface="Arial"/>
              </a:rPr>
              <a:t>What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should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be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the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time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horizon?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144250" y="659739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5" name="object 25"/>
          <p:cNvSpPr txBox="1"/>
          <p:nvPr/>
        </p:nvSpPr>
        <p:spPr>
          <a:xfrm>
            <a:off x="11294282" y="6640687"/>
            <a:ext cx="5377815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13" dirty="0">
                <a:solidFill>
                  <a:srgbClr val="DBDBDB"/>
                </a:solidFill>
                <a:latin typeface="Arial"/>
                <a:cs typeface="Arial"/>
              </a:rPr>
              <a:t>Analysis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result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presentation,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255" dirty="0">
                <a:solidFill>
                  <a:srgbClr val="DBDBDB"/>
                </a:solidFill>
                <a:latin typeface="Arial"/>
                <a:cs typeface="Arial"/>
              </a:rPr>
              <a:t>ICER</a:t>
            </a:r>
            <a:r>
              <a:rPr sz="1650" spc="-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values,</a:t>
            </a:r>
            <a:r>
              <a:rPr sz="1650" spc="-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13" dirty="0">
                <a:solidFill>
                  <a:srgbClr val="DBDBDB"/>
                </a:solidFill>
                <a:latin typeface="Arial"/>
                <a:cs typeface="Arial"/>
              </a:rPr>
              <a:t>Cost-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effectiveness 	</a:t>
            </a:r>
            <a:r>
              <a:rPr sz="1650" spc="-180" dirty="0">
                <a:solidFill>
                  <a:srgbClr val="DBDBDB"/>
                </a:solidFill>
                <a:latin typeface="Arial"/>
                <a:cs typeface="Arial"/>
              </a:rPr>
              <a:t>(CE)</a:t>
            </a:r>
            <a:r>
              <a:rPr sz="1650" spc="-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plane,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uncertainty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communication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144250" y="737920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7" name="object 27"/>
          <p:cNvSpPr txBox="1"/>
          <p:nvPr/>
        </p:nvSpPr>
        <p:spPr>
          <a:xfrm>
            <a:off x="11294281" y="7422383"/>
            <a:ext cx="5264468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53" dirty="0">
                <a:latin typeface="Arial"/>
                <a:cs typeface="Arial"/>
              </a:rPr>
              <a:t>Additional </a:t>
            </a:r>
            <a:r>
              <a:rPr sz="1650" spc="-113" dirty="0">
                <a:latin typeface="Arial"/>
                <a:cs typeface="Arial"/>
              </a:rPr>
              <a:t>analyses: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sensitivity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analysis,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subgroup</a:t>
            </a:r>
            <a:r>
              <a:rPr sz="1650" spc="-53" dirty="0">
                <a:latin typeface="Arial"/>
                <a:cs typeface="Arial"/>
              </a:rPr>
              <a:t> analysis, 	</a:t>
            </a:r>
            <a:r>
              <a:rPr sz="1650" spc="-90" dirty="0">
                <a:latin typeface="Arial"/>
                <a:cs typeface="Arial"/>
              </a:rPr>
              <a:t>scenario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analysis,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144250" y="816102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9" name="object 29"/>
          <p:cNvSpPr txBox="1"/>
          <p:nvPr/>
        </p:nvSpPr>
        <p:spPr>
          <a:xfrm>
            <a:off x="11315973" y="8174819"/>
            <a:ext cx="529209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65" dirty="0">
                <a:latin typeface="Arial"/>
                <a:cs typeface="Arial"/>
              </a:rPr>
              <a:t>Uses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in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different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time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points</a:t>
            </a:r>
            <a:r>
              <a:rPr sz="1650" spc="-9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health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technology</a:t>
            </a:r>
            <a:r>
              <a:rPr sz="1650" spc="-113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life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cycle 	</a:t>
            </a:r>
            <a:r>
              <a:rPr sz="1650" spc="-60" dirty="0">
                <a:latin typeface="Arial"/>
                <a:cs typeface="Arial"/>
              </a:rPr>
              <a:t>(pre-</a:t>
            </a:r>
            <a:r>
              <a:rPr sz="1650" spc="-53" dirty="0">
                <a:latin typeface="Arial"/>
                <a:cs typeface="Arial"/>
              </a:rPr>
              <a:t>market,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market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approval,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post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market),</a:t>
            </a:r>
            <a:r>
              <a:rPr sz="1650" spc="-15" dirty="0">
                <a:latin typeface="Arial"/>
                <a:cs typeface="Arial"/>
              </a:rPr>
              <a:t> pricing, 	</a:t>
            </a:r>
            <a:r>
              <a:rPr sz="1650" spc="-75" dirty="0">
                <a:latin typeface="Arial"/>
                <a:cs typeface="Arial"/>
              </a:rPr>
              <a:t>understanding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83" dirty="0">
                <a:latin typeface="Arial"/>
                <a:cs typeface="Arial"/>
              </a:rPr>
              <a:t>value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for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money,</a:t>
            </a:r>
            <a:r>
              <a:rPr sz="1650" spc="-83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price</a:t>
            </a:r>
            <a:r>
              <a:rPr sz="1650" spc="-15" dirty="0">
                <a:latin typeface="Arial"/>
                <a:cs typeface="Arial"/>
              </a:rPr>
              <a:t> negotiation, 	</a:t>
            </a:r>
            <a:r>
              <a:rPr sz="1650" spc="-83" dirty="0">
                <a:latin typeface="Arial"/>
                <a:cs typeface="Arial"/>
              </a:rPr>
              <a:t>accessibility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537828" y="7593710"/>
            <a:ext cx="2606993" cy="171450"/>
            <a:chOff x="5691885" y="5062473"/>
            <a:chExt cx="1737995" cy="114300"/>
          </a:xfrm>
        </p:grpSpPr>
        <p:sp>
          <p:nvSpPr>
            <p:cNvPr id="31" name="object 31"/>
            <p:cNvSpPr/>
            <p:nvPr/>
          </p:nvSpPr>
          <p:spPr>
            <a:xfrm>
              <a:off x="5698235" y="5068823"/>
              <a:ext cx="1668145" cy="69850"/>
            </a:xfrm>
            <a:custGeom>
              <a:avLst/>
              <a:gdLst/>
              <a:ahLst/>
              <a:cxnLst/>
              <a:rect l="l" t="t" r="r" b="b"/>
              <a:pathLst>
                <a:path w="1668145" h="69850">
                  <a:moveTo>
                    <a:pt x="0" y="0"/>
                  </a:moveTo>
                  <a:lnTo>
                    <a:pt x="0" y="69545"/>
                  </a:lnTo>
                  <a:lnTo>
                    <a:pt x="1667637" y="695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3176" y="5100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6814567" y="3095240"/>
            <a:ext cx="4331018" cy="3886200"/>
            <a:chOff x="4543044" y="2063493"/>
            <a:chExt cx="2887345" cy="2590800"/>
          </a:xfrm>
        </p:grpSpPr>
        <p:sp>
          <p:nvSpPr>
            <p:cNvPr id="34" name="object 34"/>
            <p:cNvSpPr/>
            <p:nvPr/>
          </p:nvSpPr>
          <p:spPr>
            <a:xfrm>
              <a:off x="4543044" y="2101595"/>
              <a:ext cx="2822575" cy="0"/>
            </a:xfrm>
            <a:custGeom>
              <a:avLst/>
              <a:gdLst/>
              <a:ahLst/>
              <a:cxnLst/>
              <a:rect l="l" t="t" r="r" b="b"/>
              <a:pathLst>
                <a:path w="2822575">
                  <a:moveTo>
                    <a:pt x="0" y="0"/>
                  </a:moveTo>
                  <a:lnTo>
                    <a:pt x="2822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352912" y="20634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798819" y="2772290"/>
              <a:ext cx="1567815" cy="3810"/>
            </a:xfrm>
            <a:custGeom>
              <a:avLst/>
              <a:gdLst/>
              <a:ahLst/>
              <a:cxnLst/>
              <a:rect l="l" t="t" r="r" b="b"/>
              <a:pathLst>
                <a:path w="1567815" h="3810">
                  <a:moveTo>
                    <a:pt x="0" y="3225"/>
                  </a:moveTo>
                  <a:lnTo>
                    <a:pt x="15676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353664" y="273421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65" y="76200"/>
                  </a:lnTo>
                  <a:lnTo>
                    <a:pt x="76288" y="37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7948" y="4364735"/>
              <a:ext cx="2449195" cy="251460"/>
            </a:xfrm>
            <a:custGeom>
              <a:avLst/>
              <a:gdLst/>
              <a:ahLst/>
              <a:cxnLst/>
              <a:rect l="l" t="t" r="r" b="b"/>
              <a:pathLst>
                <a:path w="2449195" h="251460">
                  <a:moveTo>
                    <a:pt x="0" y="0"/>
                  </a:moveTo>
                  <a:lnTo>
                    <a:pt x="0" y="251206"/>
                  </a:lnTo>
                  <a:lnTo>
                    <a:pt x="2448687" y="251206"/>
                  </a:lnTo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7353940" y="45778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280778" y="8519542"/>
            <a:ext cx="1864043" cy="248603"/>
            <a:chOff x="6187185" y="5679694"/>
            <a:chExt cx="1242695" cy="165735"/>
          </a:xfrm>
        </p:grpSpPr>
        <p:sp>
          <p:nvSpPr>
            <p:cNvPr id="41" name="object 41"/>
            <p:cNvSpPr/>
            <p:nvPr/>
          </p:nvSpPr>
          <p:spPr>
            <a:xfrm>
              <a:off x="6193535" y="5686044"/>
              <a:ext cx="1172845" cy="121285"/>
            </a:xfrm>
            <a:custGeom>
              <a:avLst/>
              <a:gdLst/>
              <a:ahLst/>
              <a:cxnLst/>
              <a:rect l="l" t="t" r="r" b="b"/>
              <a:pathLst>
                <a:path w="1172845" h="121285">
                  <a:moveTo>
                    <a:pt x="0" y="0"/>
                  </a:moveTo>
                  <a:lnTo>
                    <a:pt x="0" y="120992"/>
                  </a:lnTo>
                  <a:lnTo>
                    <a:pt x="1172337" y="12099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353176" y="57689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43" name="object 43"/>
          <p:cNvSpPr/>
          <p:nvPr/>
        </p:nvSpPr>
        <p:spPr>
          <a:xfrm>
            <a:off x="715519" y="7870701"/>
            <a:ext cx="4108133" cy="1737360"/>
          </a:xfrm>
          <a:custGeom>
            <a:avLst/>
            <a:gdLst/>
            <a:ahLst/>
            <a:cxnLst/>
            <a:rect l="l" t="t" r="r" b="b"/>
            <a:pathLst>
              <a:path w="2738755" h="1158239">
                <a:moveTo>
                  <a:pt x="2545588" y="0"/>
                </a:moveTo>
                <a:lnTo>
                  <a:pt x="193040" y="0"/>
                </a:lnTo>
                <a:lnTo>
                  <a:pt x="148776" y="5098"/>
                </a:lnTo>
                <a:lnTo>
                  <a:pt x="108144" y="19620"/>
                </a:lnTo>
                <a:lnTo>
                  <a:pt x="72301" y="42407"/>
                </a:lnTo>
                <a:lnTo>
                  <a:pt x="42407" y="72301"/>
                </a:lnTo>
                <a:lnTo>
                  <a:pt x="19620" y="108144"/>
                </a:lnTo>
                <a:lnTo>
                  <a:pt x="5098" y="148776"/>
                </a:lnTo>
                <a:lnTo>
                  <a:pt x="0" y="193039"/>
                </a:lnTo>
                <a:lnTo>
                  <a:pt x="0" y="965199"/>
                </a:lnTo>
                <a:lnTo>
                  <a:pt x="5098" y="1009459"/>
                </a:lnTo>
                <a:lnTo>
                  <a:pt x="19620" y="1050090"/>
                </a:lnTo>
                <a:lnTo>
                  <a:pt x="42407" y="1085932"/>
                </a:lnTo>
                <a:lnTo>
                  <a:pt x="72301" y="1115828"/>
                </a:lnTo>
                <a:lnTo>
                  <a:pt x="108144" y="1138617"/>
                </a:lnTo>
                <a:lnTo>
                  <a:pt x="148776" y="1153141"/>
                </a:lnTo>
                <a:lnTo>
                  <a:pt x="193040" y="1158239"/>
                </a:lnTo>
                <a:lnTo>
                  <a:pt x="2545588" y="1158239"/>
                </a:lnTo>
                <a:lnTo>
                  <a:pt x="2589851" y="1153141"/>
                </a:lnTo>
                <a:lnTo>
                  <a:pt x="2630483" y="1138617"/>
                </a:lnTo>
                <a:lnTo>
                  <a:pt x="2666326" y="1115828"/>
                </a:lnTo>
                <a:lnTo>
                  <a:pt x="2696220" y="1085932"/>
                </a:lnTo>
                <a:lnTo>
                  <a:pt x="2719007" y="1050090"/>
                </a:lnTo>
                <a:lnTo>
                  <a:pt x="2733529" y="1009459"/>
                </a:lnTo>
                <a:lnTo>
                  <a:pt x="2738628" y="965199"/>
                </a:lnTo>
                <a:lnTo>
                  <a:pt x="2738628" y="193039"/>
                </a:lnTo>
                <a:lnTo>
                  <a:pt x="2733529" y="148776"/>
                </a:lnTo>
                <a:lnTo>
                  <a:pt x="2719007" y="108144"/>
                </a:lnTo>
                <a:lnTo>
                  <a:pt x="2696220" y="72301"/>
                </a:lnTo>
                <a:lnTo>
                  <a:pt x="2666326" y="42407"/>
                </a:lnTo>
                <a:lnTo>
                  <a:pt x="2630483" y="19620"/>
                </a:lnTo>
                <a:lnTo>
                  <a:pt x="2589851" y="5098"/>
                </a:lnTo>
                <a:lnTo>
                  <a:pt x="2545588" y="0"/>
                </a:lnTo>
                <a:close/>
              </a:path>
            </a:pathLst>
          </a:custGeom>
          <a:solidFill>
            <a:srgbClr val="608856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44" name="object 44"/>
          <p:cNvSpPr txBox="1"/>
          <p:nvPr/>
        </p:nvSpPr>
        <p:spPr>
          <a:xfrm>
            <a:off x="993127" y="8285123"/>
            <a:ext cx="3548063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46685" marR="7620" indent="-128588">
              <a:spcBef>
                <a:spcPts val="150"/>
              </a:spcBef>
            </a:pPr>
            <a:r>
              <a:rPr sz="2700" b="1" spc="-195" dirty="0">
                <a:latin typeface="Arial"/>
                <a:cs typeface="Arial"/>
              </a:rPr>
              <a:t>We</a:t>
            </a:r>
            <a:r>
              <a:rPr sz="2700" b="1" spc="-120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will</a:t>
            </a:r>
            <a:r>
              <a:rPr sz="2700" b="1" spc="-113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later</a:t>
            </a:r>
            <a:r>
              <a:rPr sz="2700" b="1" spc="-143" dirty="0">
                <a:latin typeface="Arial"/>
                <a:cs typeface="Arial"/>
              </a:rPr>
              <a:t> </a:t>
            </a:r>
            <a:r>
              <a:rPr sz="2700" b="1" spc="-233" dirty="0">
                <a:latin typeface="Arial"/>
                <a:cs typeface="Arial"/>
              </a:rPr>
              <a:t>cover</a:t>
            </a:r>
            <a:r>
              <a:rPr sz="2700" b="1" spc="-143" dirty="0">
                <a:latin typeface="Arial"/>
                <a:cs typeface="Arial"/>
              </a:rPr>
              <a:t> </a:t>
            </a:r>
            <a:r>
              <a:rPr sz="2700" b="1" spc="-158" dirty="0">
                <a:latin typeface="Arial"/>
                <a:cs typeface="Arial"/>
              </a:rPr>
              <a:t>these </a:t>
            </a:r>
            <a:r>
              <a:rPr sz="2700" b="1" spc="-225" dirty="0">
                <a:latin typeface="Arial"/>
                <a:cs typeface="Arial"/>
              </a:rPr>
              <a:t>topics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165" dirty="0">
                <a:latin typeface="Arial"/>
                <a:cs typeface="Arial"/>
              </a:rPr>
              <a:t>in</a:t>
            </a:r>
            <a:r>
              <a:rPr sz="2700" b="1" spc="-127" dirty="0">
                <a:latin typeface="Arial"/>
                <a:cs typeface="Arial"/>
              </a:rPr>
              <a:t> </a:t>
            </a:r>
            <a:r>
              <a:rPr sz="2700" b="1" spc="-135" dirty="0">
                <a:latin typeface="Arial"/>
                <a:cs typeface="Arial"/>
              </a:rPr>
              <a:t>other</a:t>
            </a:r>
            <a:r>
              <a:rPr sz="2700" b="1" spc="-165" dirty="0">
                <a:latin typeface="Arial"/>
                <a:cs typeface="Arial"/>
              </a:rPr>
              <a:t> </a:t>
            </a:r>
            <a:r>
              <a:rPr sz="2700" b="1" spc="-53" dirty="0">
                <a:latin typeface="Arial"/>
                <a:cs typeface="Arial"/>
              </a:rPr>
              <a:t>lectures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5409" y="636380"/>
            <a:ext cx="13217843" cy="696344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413" dirty="0"/>
              <a:t>Overview</a:t>
            </a:r>
            <a:r>
              <a:rPr spc="-368" dirty="0"/>
              <a:t> </a:t>
            </a:r>
            <a:r>
              <a:rPr spc="-630" dirty="0"/>
              <a:t>steps</a:t>
            </a:r>
            <a:r>
              <a:rPr spc="-368" dirty="0"/>
              <a:t> </a:t>
            </a:r>
            <a:r>
              <a:rPr spc="-323" dirty="0"/>
              <a:t>for</a:t>
            </a:r>
            <a:r>
              <a:rPr spc="-338" dirty="0"/>
              <a:t> </a:t>
            </a:r>
            <a:r>
              <a:rPr spc="-450" dirty="0"/>
              <a:t>building</a:t>
            </a:r>
            <a:r>
              <a:rPr spc="-360" dirty="0"/>
              <a:t> </a:t>
            </a:r>
            <a:r>
              <a:rPr spc="-443" dirty="0"/>
              <a:t>a</a:t>
            </a:r>
            <a:r>
              <a:rPr spc="-330" dirty="0"/>
              <a:t> </a:t>
            </a:r>
            <a:r>
              <a:rPr spc="-555" dirty="0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409" y="1367345"/>
            <a:ext cx="5172075" cy="197714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6600" b="1" spc="-458" dirty="0">
                <a:solidFill>
                  <a:srgbClr val="174A8C"/>
                </a:solidFill>
                <a:latin typeface="Arial"/>
                <a:cs typeface="Arial"/>
              </a:rPr>
              <a:t>model</a:t>
            </a:r>
            <a:endParaRPr sz="6600">
              <a:latin typeface="Arial"/>
              <a:cs typeface="Arial"/>
            </a:endParaRPr>
          </a:p>
          <a:p>
            <a:pPr marL="653414" algn="ctr">
              <a:spcBef>
                <a:spcPts val="4148"/>
              </a:spcBef>
            </a:pPr>
            <a:r>
              <a:rPr sz="2700" b="1" spc="-248" dirty="0">
                <a:solidFill>
                  <a:srgbClr val="DBDBDB"/>
                </a:solidFill>
                <a:latin typeface="Arial"/>
                <a:cs typeface="Arial"/>
              </a:rPr>
              <a:t>Specifying</a:t>
            </a:r>
            <a:r>
              <a:rPr sz="2700" b="1" spc="-11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270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35" dirty="0">
                <a:solidFill>
                  <a:srgbClr val="DBDBDB"/>
                </a:solidFill>
                <a:latin typeface="Arial"/>
                <a:cs typeface="Arial"/>
              </a:rPr>
              <a:t>decision</a:t>
            </a:r>
            <a:r>
              <a:rPr sz="2700" spc="-2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5" dirty="0">
                <a:solidFill>
                  <a:srgbClr val="DBDBDB"/>
                </a:solidFill>
                <a:latin typeface="Arial"/>
                <a:cs typeface="Arial"/>
              </a:rPr>
              <a:t>problem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7791" y="3912262"/>
            <a:ext cx="5298756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195" dirty="0">
                <a:solidFill>
                  <a:srgbClr val="DBDBDB"/>
                </a:solidFill>
                <a:latin typeface="Arial"/>
                <a:cs typeface="Arial"/>
              </a:rPr>
              <a:t>Defining</a:t>
            </a:r>
            <a:r>
              <a:rPr sz="2700" b="1" spc="-18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2700" spc="-10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13" dirty="0">
                <a:solidFill>
                  <a:srgbClr val="DBDBDB"/>
                </a:solidFill>
                <a:latin typeface="Arial"/>
                <a:cs typeface="Arial"/>
              </a:rPr>
              <a:t>boundaries </a:t>
            </a:r>
            <a:r>
              <a:rPr sz="270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2700" spc="-12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2700" spc="-10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5" dirty="0">
                <a:solidFill>
                  <a:srgbClr val="DBDBDB"/>
                </a:solidFill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6402" y="4966337"/>
            <a:ext cx="4055745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10" dirty="0">
                <a:solidFill>
                  <a:srgbClr val="DBDBDB"/>
                </a:solidFill>
                <a:latin typeface="Arial"/>
                <a:cs typeface="Arial"/>
              </a:rPr>
              <a:t>Structuring</a:t>
            </a:r>
            <a:r>
              <a:rPr sz="2700" b="1" spc="-15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210" dirty="0">
                <a:solidFill>
                  <a:srgbClr val="DBDBDB"/>
                </a:solidFill>
                <a:latin typeface="Arial"/>
                <a:cs typeface="Arial"/>
              </a:rPr>
              <a:t>a</a:t>
            </a:r>
            <a:r>
              <a:rPr sz="2700" spc="-7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120" dirty="0">
                <a:solidFill>
                  <a:srgbClr val="DBDBDB"/>
                </a:solidFill>
                <a:latin typeface="Arial"/>
                <a:cs typeface="Arial"/>
              </a:rPr>
              <a:t>decision</a:t>
            </a:r>
            <a:r>
              <a:rPr sz="2700" spc="-5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30" dirty="0">
                <a:solidFill>
                  <a:srgbClr val="DBDBDB"/>
                </a:solidFill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3816" y="6020411"/>
            <a:ext cx="3128009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63" dirty="0">
                <a:latin typeface="Arial"/>
                <a:cs typeface="Arial"/>
              </a:rPr>
              <a:t>Synthesising</a:t>
            </a:r>
            <a:r>
              <a:rPr sz="2700" b="1" spc="-38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evidence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505" y="7074487"/>
            <a:ext cx="35013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03" dirty="0">
                <a:solidFill>
                  <a:srgbClr val="DBDBDB"/>
                </a:solidFill>
                <a:latin typeface="Arial"/>
                <a:cs typeface="Arial"/>
              </a:rPr>
              <a:t>Dealing</a:t>
            </a:r>
            <a:r>
              <a:rPr sz="2700" b="1" spc="-16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b="1" spc="-98" dirty="0">
                <a:solidFill>
                  <a:srgbClr val="DBDBDB"/>
                </a:solidFill>
                <a:latin typeface="Arial"/>
                <a:cs typeface="Arial"/>
              </a:rPr>
              <a:t>with</a:t>
            </a:r>
            <a:r>
              <a:rPr sz="2700" b="1" spc="-11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spc="-53" dirty="0">
                <a:solidFill>
                  <a:srgbClr val="DBDBDB"/>
                </a:solidFill>
                <a:latin typeface="Arial"/>
                <a:cs typeface="Arial"/>
              </a:rPr>
              <a:t>uncertainty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8518" y="8001344"/>
            <a:ext cx="245459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60" dirty="0">
                <a:solidFill>
                  <a:srgbClr val="DBDBDB"/>
                </a:solidFill>
                <a:latin typeface="Arial"/>
                <a:cs typeface="Arial"/>
              </a:rPr>
              <a:t>Model</a:t>
            </a:r>
            <a:r>
              <a:rPr sz="2700" spc="-127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2700" b="1" spc="-135" dirty="0">
                <a:solidFill>
                  <a:srgbClr val="DBDBDB"/>
                </a:solidFill>
                <a:latin typeface="Arial"/>
                <a:cs typeface="Arial"/>
              </a:rPr>
              <a:t>utilisation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35989" y="285388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258" y="244886"/>
                </a:lnTo>
                <a:lnTo>
                  <a:pt x="0" y="199209"/>
                </a:lnTo>
                <a:lnTo>
                  <a:pt x="5061" y="155244"/>
                </a:lnTo>
                <a:lnTo>
                  <a:pt x="20236" y="111602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5" y="0"/>
                </a:lnTo>
                <a:lnTo>
                  <a:pt x="244773" y="5261"/>
                </a:lnTo>
                <a:lnTo>
                  <a:pt x="286712" y="20248"/>
                </a:lnTo>
                <a:lnTo>
                  <a:pt x="323676" y="43764"/>
                </a:lnTo>
                <a:lnTo>
                  <a:pt x="354500" y="74614"/>
                </a:lnTo>
                <a:lnTo>
                  <a:pt x="373713" y="104863"/>
                </a:lnTo>
                <a:lnTo>
                  <a:pt x="208408" y="104863"/>
                </a:lnTo>
                <a:lnTo>
                  <a:pt x="205955" y="106137"/>
                </a:lnTo>
                <a:lnTo>
                  <a:pt x="203544" y="107533"/>
                </a:lnTo>
                <a:lnTo>
                  <a:pt x="198815" y="110585"/>
                </a:lnTo>
                <a:lnTo>
                  <a:pt x="196409" y="111981"/>
                </a:lnTo>
                <a:lnTo>
                  <a:pt x="193961" y="113255"/>
                </a:lnTo>
                <a:lnTo>
                  <a:pt x="191748" y="114540"/>
                </a:lnTo>
                <a:lnTo>
                  <a:pt x="189510" y="115768"/>
                </a:lnTo>
                <a:lnTo>
                  <a:pt x="184991" y="118086"/>
                </a:lnTo>
                <a:lnTo>
                  <a:pt x="180556" y="120410"/>
                </a:lnTo>
                <a:lnTo>
                  <a:pt x="175916" y="122293"/>
                </a:lnTo>
                <a:lnTo>
                  <a:pt x="151660" y="131037"/>
                </a:lnTo>
                <a:lnTo>
                  <a:pt x="151660" y="155244"/>
                </a:lnTo>
                <a:lnTo>
                  <a:pt x="190653" y="155244"/>
                </a:lnTo>
                <a:lnTo>
                  <a:pt x="190653" y="283768"/>
                </a:lnTo>
                <a:lnTo>
                  <a:pt x="379049" y="283768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9049" y="283768"/>
                </a:moveTo>
                <a:lnTo>
                  <a:pt x="220938" y="283768"/>
                </a:lnTo>
                <a:lnTo>
                  <a:pt x="220938" y="104863"/>
                </a:lnTo>
                <a:lnTo>
                  <a:pt x="373713" y="104863"/>
                </a:lnTo>
                <a:lnTo>
                  <a:pt x="377992" y="111602"/>
                </a:lnTo>
                <a:lnTo>
                  <a:pt x="392956" y="153530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9049" y="283768"/>
                </a:lnTo>
                <a:close/>
              </a:path>
              <a:path w="398780" h="398780">
                <a:moveTo>
                  <a:pt x="190653" y="155244"/>
                </a:moveTo>
                <a:lnTo>
                  <a:pt x="151660" y="155244"/>
                </a:lnTo>
                <a:lnTo>
                  <a:pt x="155964" y="154200"/>
                </a:lnTo>
                <a:lnTo>
                  <a:pt x="159906" y="153124"/>
                </a:lnTo>
                <a:lnTo>
                  <a:pt x="190653" y="139046"/>
                </a:lnTo>
                <a:lnTo>
                  <a:pt x="190653" y="155244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0" name="object 10"/>
          <p:cNvSpPr/>
          <p:nvPr/>
        </p:nvSpPr>
        <p:spPr>
          <a:xfrm>
            <a:off x="2307539" y="3866580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80">
                <a:moveTo>
                  <a:pt x="199098" y="398419"/>
                </a:moveTo>
                <a:lnTo>
                  <a:pt x="153447" y="393158"/>
                </a:lnTo>
                <a:lnTo>
                  <a:pt x="111540" y="378171"/>
                </a:lnTo>
                <a:lnTo>
                  <a:pt x="74573" y="354655"/>
                </a:lnTo>
                <a:lnTo>
                  <a:pt x="43740" y="323804"/>
                </a:lnTo>
                <a:lnTo>
                  <a:pt x="20236" y="286816"/>
                </a:lnTo>
                <a:lnTo>
                  <a:pt x="5383" y="245237"/>
                </a:lnTo>
                <a:lnTo>
                  <a:pt x="99" y="200075"/>
                </a:lnTo>
                <a:lnTo>
                  <a:pt x="0" y="199209"/>
                </a:lnTo>
                <a:lnTo>
                  <a:pt x="5258" y="153533"/>
                </a:lnTo>
                <a:lnTo>
                  <a:pt x="20161" y="111814"/>
                </a:lnTo>
                <a:lnTo>
                  <a:pt x="43740" y="74614"/>
                </a:lnTo>
                <a:lnTo>
                  <a:pt x="74573" y="43764"/>
                </a:lnTo>
                <a:lnTo>
                  <a:pt x="111540" y="20248"/>
                </a:lnTo>
                <a:lnTo>
                  <a:pt x="153447" y="5261"/>
                </a:lnTo>
                <a:lnTo>
                  <a:pt x="199098" y="0"/>
                </a:lnTo>
                <a:lnTo>
                  <a:pt x="199250" y="0"/>
                </a:lnTo>
                <a:lnTo>
                  <a:pt x="244766" y="5261"/>
                </a:lnTo>
                <a:lnTo>
                  <a:pt x="286705" y="20248"/>
                </a:lnTo>
                <a:lnTo>
                  <a:pt x="323670" y="43764"/>
                </a:lnTo>
                <a:lnTo>
                  <a:pt x="354495" y="74614"/>
                </a:lnTo>
                <a:lnTo>
                  <a:pt x="376810" y="109746"/>
                </a:lnTo>
                <a:lnTo>
                  <a:pt x="200665" y="109746"/>
                </a:lnTo>
                <a:lnTo>
                  <a:pt x="192294" y="109975"/>
                </a:lnTo>
                <a:lnTo>
                  <a:pt x="151582" y="125655"/>
                </a:lnTo>
                <a:lnTo>
                  <a:pt x="151582" y="152825"/>
                </a:lnTo>
                <a:lnTo>
                  <a:pt x="223341" y="152825"/>
                </a:lnTo>
                <a:lnTo>
                  <a:pt x="223576" y="153533"/>
                </a:lnTo>
                <a:lnTo>
                  <a:pt x="224167" y="157190"/>
                </a:lnTo>
                <a:lnTo>
                  <a:pt x="224193" y="165078"/>
                </a:lnTo>
                <a:lnTo>
                  <a:pt x="223727" y="169285"/>
                </a:lnTo>
                <a:lnTo>
                  <a:pt x="196996" y="203977"/>
                </a:lnTo>
                <a:lnTo>
                  <a:pt x="191266" y="207413"/>
                </a:lnTo>
                <a:lnTo>
                  <a:pt x="184425" y="211593"/>
                </a:lnTo>
                <a:lnTo>
                  <a:pt x="152143" y="239566"/>
                </a:lnTo>
                <a:lnTo>
                  <a:pt x="142077" y="264812"/>
                </a:lnTo>
                <a:lnTo>
                  <a:pt x="142182" y="288536"/>
                </a:lnTo>
                <a:lnTo>
                  <a:pt x="376867" y="288536"/>
                </a:lnTo>
                <a:lnTo>
                  <a:pt x="354457" y="323804"/>
                </a:lnTo>
                <a:lnTo>
                  <a:pt x="323624" y="354655"/>
                </a:lnTo>
                <a:lnTo>
                  <a:pt x="286656" y="378171"/>
                </a:lnTo>
                <a:lnTo>
                  <a:pt x="244749" y="393158"/>
                </a:lnTo>
                <a:lnTo>
                  <a:pt x="199098" y="398419"/>
                </a:lnTo>
                <a:close/>
              </a:path>
              <a:path w="398780" h="398780">
                <a:moveTo>
                  <a:pt x="376867" y="288536"/>
                </a:moveTo>
                <a:lnTo>
                  <a:pt x="256019" y="288536"/>
                </a:lnTo>
                <a:lnTo>
                  <a:pt x="255998" y="264812"/>
                </a:lnTo>
                <a:lnTo>
                  <a:pt x="171229" y="264812"/>
                </a:lnTo>
                <a:lnTo>
                  <a:pt x="194039" y="232805"/>
                </a:lnTo>
                <a:lnTo>
                  <a:pt x="198909" y="229443"/>
                </a:lnTo>
                <a:lnTo>
                  <a:pt x="204482" y="225782"/>
                </a:lnTo>
                <a:lnTo>
                  <a:pt x="217624" y="217542"/>
                </a:lnTo>
                <a:lnTo>
                  <a:pt x="224141" y="212711"/>
                </a:lnTo>
                <a:lnTo>
                  <a:pt x="248895" y="182094"/>
                </a:lnTo>
                <a:lnTo>
                  <a:pt x="252601" y="150061"/>
                </a:lnTo>
                <a:lnTo>
                  <a:pt x="251254" y="143484"/>
                </a:lnTo>
                <a:lnTo>
                  <a:pt x="226038" y="114876"/>
                </a:lnTo>
                <a:lnTo>
                  <a:pt x="206018" y="109746"/>
                </a:lnTo>
                <a:lnTo>
                  <a:pt x="376810" y="109746"/>
                </a:lnTo>
                <a:lnTo>
                  <a:pt x="377989" y="111602"/>
                </a:lnTo>
                <a:lnTo>
                  <a:pt x="392955" y="153533"/>
                </a:lnTo>
                <a:lnTo>
                  <a:pt x="398197" y="199209"/>
                </a:lnTo>
                <a:lnTo>
                  <a:pt x="392938" y="244886"/>
                </a:lnTo>
                <a:lnTo>
                  <a:pt x="377960" y="286816"/>
                </a:lnTo>
                <a:lnTo>
                  <a:pt x="376867" y="288536"/>
                </a:lnTo>
                <a:close/>
              </a:path>
              <a:path w="398780" h="398780">
                <a:moveTo>
                  <a:pt x="223341" y="152825"/>
                </a:moveTo>
                <a:lnTo>
                  <a:pt x="151582" y="152825"/>
                </a:lnTo>
                <a:lnTo>
                  <a:pt x="156418" y="148504"/>
                </a:lnTo>
                <a:lnTo>
                  <a:pt x="188317" y="132191"/>
                </a:lnTo>
                <a:lnTo>
                  <a:pt x="200524" y="132191"/>
                </a:lnTo>
                <a:lnTo>
                  <a:pt x="223341" y="152825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1" name="object 11"/>
          <p:cNvSpPr/>
          <p:nvPr/>
        </p:nvSpPr>
        <p:spPr>
          <a:xfrm>
            <a:off x="3512246" y="4913568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80" h="398779">
                <a:moveTo>
                  <a:pt x="199098" y="398430"/>
                </a:moveTo>
                <a:lnTo>
                  <a:pt x="153445" y="393166"/>
                </a:lnTo>
                <a:lnTo>
                  <a:pt x="111537" y="378178"/>
                </a:lnTo>
                <a:lnTo>
                  <a:pt x="74569" y="354660"/>
                </a:lnTo>
                <a:lnTo>
                  <a:pt x="43736" y="323809"/>
                </a:lnTo>
                <a:lnTo>
                  <a:pt x="20233" y="286820"/>
                </a:lnTo>
                <a:lnTo>
                  <a:pt x="5324" y="245079"/>
                </a:lnTo>
                <a:lnTo>
                  <a:pt x="5256" y="244888"/>
                </a:lnTo>
                <a:lnTo>
                  <a:pt x="0" y="199209"/>
                </a:lnTo>
                <a:lnTo>
                  <a:pt x="5260" y="153531"/>
                </a:lnTo>
                <a:lnTo>
                  <a:pt x="20240" y="111599"/>
                </a:lnTo>
                <a:lnTo>
                  <a:pt x="43744" y="74610"/>
                </a:lnTo>
                <a:lnTo>
                  <a:pt x="74578" y="43760"/>
                </a:lnTo>
                <a:lnTo>
                  <a:pt x="111547" y="20244"/>
                </a:lnTo>
                <a:lnTo>
                  <a:pt x="153456" y="5259"/>
                </a:lnTo>
                <a:lnTo>
                  <a:pt x="199109" y="0"/>
                </a:lnTo>
                <a:lnTo>
                  <a:pt x="199266" y="0"/>
                </a:lnTo>
                <a:lnTo>
                  <a:pt x="244748" y="5259"/>
                </a:lnTo>
                <a:lnTo>
                  <a:pt x="286702" y="20244"/>
                </a:lnTo>
                <a:lnTo>
                  <a:pt x="323672" y="43760"/>
                </a:lnTo>
                <a:lnTo>
                  <a:pt x="354501" y="74610"/>
                </a:lnTo>
                <a:lnTo>
                  <a:pt x="376201" y="108771"/>
                </a:lnTo>
                <a:lnTo>
                  <a:pt x="185185" y="108771"/>
                </a:lnTo>
                <a:lnTo>
                  <a:pt x="177159" y="109615"/>
                </a:lnTo>
                <a:lnTo>
                  <a:pt x="162308" y="112862"/>
                </a:lnTo>
                <a:lnTo>
                  <a:pt x="155136" y="115458"/>
                </a:lnTo>
                <a:lnTo>
                  <a:pt x="148620" y="118915"/>
                </a:lnTo>
                <a:lnTo>
                  <a:pt x="148620" y="143625"/>
                </a:lnTo>
                <a:lnTo>
                  <a:pt x="217988" y="143625"/>
                </a:lnTo>
                <a:lnTo>
                  <a:pt x="219894" y="147119"/>
                </a:lnTo>
                <a:lnTo>
                  <a:pt x="220872" y="151304"/>
                </a:lnTo>
                <a:lnTo>
                  <a:pt x="220859" y="160352"/>
                </a:lnTo>
                <a:lnTo>
                  <a:pt x="219811" y="165026"/>
                </a:lnTo>
                <a:lnTo>
                  <a:pt x="185480" y="185079"/>
                </a:lnTo>
                <a:lnTo>
                  <a:pt x="164137" y="185079"/>
                </a:lnTo>
                <a:lnTo>
                  <a:pt x="164137" y="207329"/>
                </a:lnTo>
                <a:lnTo>
                  <a:pt x="186595" y="207329"/>
                </a:lnTo>
                <a:lnTo>
                  <a:pt x="192870" y="207911"/>
                </a:lnTo>
                <a:lnTo>
                  <a:pt x="226411" y="228787"/>
                </a:lnTo>
                <a:lnTo>
                  <a:pt x="227637" y="233812"/>
                </a:lnTo>
                <a:lnTo>
                  <a:pt x="227536" y="237185"/>
                </a:lnTo>
                <a:lnTo>
                  <a:pt x="227485" y="238895"/>
                </a:lnTo>
                <a:lnTo>
                  <a:pt x="227679" y="243862"/>
                </a:lnTo>
                <a:lnTo>
                  <a:pt x="226379" y="248777"/>
                </a:lnTo>
                <a:lnTo>
                  <a:pt x="223523" y="253346"/>
                </a:lnTo>
                <a:lnTo>
                  <a:pt x="141155" y="253346"/>
                </a:lnTo>
                <a:lnTo>
                  <a:pt x="141155" y="280186"/>
                </a:lnTo>
                <a:lnTo>
                  <a:pt x="181225" y="289400"/>
                </a:lnTo>
                <a:lnTo>
                  <a:pt x="179028" y="289400"/>
                </a:lnTo>
                <a:lnTo>
                  <a:pt x="188844" y="289590"/>
                </a:lnTo>
                <a:lnTo>
                  <a:pt x="376213" y="289590"/>
                </a:lnTo>
                <a:lnTo>
                  <a:pt x="354469" y="323809"/>
                </a:lnTo>
                <a:lnTo>
                  <a:pt x="323637" y="354660"/>
                </a:lnTo>
                <a:lnTo>
                  <a:pt x="286670" y="378178"/>
                </a:lnTo>
                <a:lnTo>
                  <a:pt x="244762" y="393166"/>
                </a:lnTo>
                <a:lnTo>
                  <a:pt x="199098" y="398430"/>
                </a:lnTo>
                <a:close/>
              </a:path>
              <a:path w="398780" h="398779">
                <a:moveTo>
                  <a:pt x="376213" y="289590"/>
                </a:moveTo>
                <a:lnTo>
                  <a:pt x="188844" y="289590"/>
                </a:lnTo>
                <a:lnTo>
                  <a:pt x="195471" y="289400"/>
                </a:lnTo>
                <a:lnTo>
                  <a:pt x="202064" y="288768"/>
                </a:lnTo>
                <a:lnTo>
                  <a:pt x="243029" y="271919"/>
                </a:lnTo>
                <a:lnTo>
                  <a:pt x="257451" y="245079"/>
                </a:lnTo>
                <a:lnTo>
                  <a:pt x="257346" y="231546"/>
                </a:lnTo>
                <a:lnTo>
                  <a:pt x="224319" y="197022"/>
                </a:lnTo>
                <a:lnTo>
                  <a:pt x="213064" y="195018"/>
                </a:lnTo>
                <a:lnTo>
                  <a:pt x="220748" y="192883"/>
                </a:lnTo>
                <a:lnTo>
                  <a:pt x="250057" y="159064"/>
                </a:lnTo>
                <a:lnTo>
                  <a:pt x="250245" y="155642"/>
                </a:lnTo>
                <a:lnTo>
                  <a:pt x="250361" y="153531"/>
                </a:lnTo>
                <a:lnTo>
                  <a:pt x="250483" y="151304"/>
                </a:lnTo>
                <a:lnTo>
                  <a:pt x="250592" y="147119"/>
                </a:lnTo>
                <a:lnTo>
                  <a:pt x="250656" y="144659"/>
                </a:lnTo>
                <a:lnTo>
                  <a:pt x="249000" y="138092"/>
                </a:lnTo>
                <a:lnTo>
                  <a:pt x="207445" y="109615"/>
                </a:lnTo>
                <a:lnTo>
                  <a:pt x="207310" y="109615"/>
                </a:lnTo>
                <a:lnTo>
                  <a:pt x="200193" y="108771"/>
                </a:lnTo>
                <a:lnTo>
                  <a:pt x="376201" y="108771"/>
                </a:lnTo>
                <a:lnTo>
                  <a:pt x="377997" y="111599"/>
                </a:lnTo>
                <a:lnTo>
                  <a:pt x="392965" y="153531"/>
                </a:lnTo>
                <a:lnTo>
                  <a:pt x="398206" y="199209"/>
                </a:lnTo>
                <a:lnTo>
                  <a:pt x="393066" y="243862"/>
                </a:lnTo>
                <a:lnTo>
                  <a:pt x="392948" y="244888"/>
                </a:lnTo>
                <a:lnTo>
                  <a:pt x="377971" y="286820"/>
                </a:lnTo>
                <a:lnTo>
                  <a:pt x="376334" y="289400"/>
                </a:lnTo>
                <a:lnTo>
                  <a:pt x="376213" y="289590"/>
                </a:lnTo>
                <a:close/>
              </a:path>
              <a:path w="398780" h="398779">
                <a:moveTo>
                  <a:pt x="217988" y="143625"/>
                </a:moveTo>
                <a:lnTo>
                  <a:pt x="148620" y="143625"/>
                </a:lnTo>
                <a:lnTo>
                  <a:pt x="154905" y="139387"/>
                </a:lnTo>
                <a:lnTo>
                  <a:pt x="161846" y="136214"/>
                </a:lnTo>
                <a:lnTo>
                  <a:pt x="169159" y="134226"/>
                </a:lnTo>
                <a:lnTo>
                  <a:pt x="176452" y="132128"/>
                </a:lnTo>
                <a:lnTo>
                  <a:pt x="176718" y="132128"/>
                </a:lnTo>
                <a:lnTo>
                  <a:pt x="183804" y="131094"/>
                </a:lnTo>
                <a:lnTo>
                  <a:pt x="194139" y="131094"/>
                </a:lnTo>
                <a:lnTo>
                  <a:pt x="216052" y="140300"/>
                </a:lnTo>
                <a:lnTo>
                  <a:pt x="217988" y="143625"/>
                </a:lnTo>
                <a:close/>
              </a:path>
              <a:path w="398780" h="398779">
                <a:moveTo>
                  <a:pt x="193866" y="267424"/>
                </a:moveTo>
                <a:lnTo>
                  <a:pt x="188867" y="267424"/>
                </a:lnTo>
                <a:lnTo>
                  <a:pt x="183266" y="267216"/>
                </a:lnTo>
                <a:lnTo>
                  <a:pt x="141155" y="253346"/>
                </a:lnTo>
                <a:lnTo>
                  <a:pt x="223523" y="253346"/>
                </a:lnTo>
                <a:lnTo>
                  <a:pt x="202076" y="266233"/>
                </a:lnTo>
                <a:lnTo>
                  <a:pt x="198002" y="267015"/>
                </a:lnTo>
                <a:lnTo>
                  <a:pt x="193866" y="267424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2" name="object 12"/>
          <p:cNvSpPr/>
          <p:nvPr/>
        </p:nvSpPr>
        <p:spPr>
          <a:xfrm>
            <a:off x="4769529" y="5967431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398779" h="398779">
                <a:moveTo>
                  <a:pt x="205867" y="143802"/>
                </a:moveTo>
                <a:lnTo>
                  <a:pt x="182092" y="182956"/>
                </a:lnTo>
                <a:lnTo>
                  <a:pt x="178015" y="188823"/>
                </a:lnTo>
                <a:lnTo>
                  <a:pt x="173951" y="194691"/>
                </a:lnTo>
                <a:lnTo>
                  <a:pt x="169951" y="200101"/>
                </a:lnTo>
                <a:lnTo>
                  <a:pt x="162077" y="210058"/>
                </a:lnTo>
                <a:lnTo>
                  <a:pt x="157949" y="215049"/>
                </a:lnTo>
                <a:lnTo>
                  <a:pt x="153644" y="220065"/>
                </a:lnTo>
                <a:lnTo>
                  <a:pt x="205867" y="220065"/>
                </a:lnTo>
                <a:lnTo>
                  <a:pt x="205867" y="143802"/>
                </a:lnTo>
                <a:close/>
              </a:path>
              <a:path w="398779" h="398779">
                <a:moveTo>
                  <a:pt x="398208" y="199199"/>
                </a:moveTo>
                <a:lnTo>
                  <a:pt x="392963" y="153530"/>
                </a:lnTo>
                <a:lnTo>
                  <a:pt x="378002" y="111594"/>
                </a:lnTo>
                <a:lnTo>
                  <a:pt x="354507" y="74599"/>
                </a:lnTo>
                <a:lnTo>
                  <a:pt x="323672" y="43751"/>
                </a:lnTo>
                <a:lnTo>
                  <a:pt x="286702" y="20243"/>
                </a:lnTo>
                <a:lnTo>
                  <a:pt x="259829" y="10655"/>
                </a:lnTo>
                <a:lnTo>
                  <a:pt x="259829" y="220078"/>
                </a:lnTo>
                <a:lnTo>
                  <a:pt x="259829" y="245325"/>
                </a:lnTo>
                <a:lnTo>
                  <a:pt x="235978" y="245325"/>
                </a:lnTo>
                <a:lnTo>
                  <a:pt x="235978" y="282778"/>
                </a:lnTo>
                <a:lnTo>
                  <a:pt x="205867" y="282778"/>
                </a:lnTo>
                <a:lnTo>
                  <a:pt x="205867" y="245325"/>
                </a:lnTo>
                <a:lnTo>
                  <a:pt x="123875" y="245325"/>
                </a:lnTo>
                <a:lnTo>
                  <a:pt x="123875" y="221475"/>
                </a:lnTo>
                <a:lnTo>
                  <a:pt x="153466" y="186270"/>
                </a:lnTo>
                <a:lnTo>
                  <a:pt x="179565" y="148894"/>
                </a:lnTo>
                <a:lnTo>
                  <a:pt x="200787" y="112166"/>
                </a:lnTo>
                <a:lnTo>
                  <a:pt x="204304" y="105130"/>
                </a:lnTo>
                <a:lnTo>
                  <a:pt x="235978" y="105130"/>
                </a:lnTo>
                <a:lnTo>
                  <a:pt x="235978" y="220078"/>
                </a:lnTo>
                <a:lnTo>
                  <a:pt x="259829" y="10655"/>
                </a:lnTo>
                <a:lnTo>
                  <a:pt x="199288" y="0"/>
                </a:lnTo>
                <a:lnTo>
                  <a:pt x="199110" y="0"/>
                </a:lnTo>
                <a:lnTo>
                  <a:pt x="153466" y="5257"/>
                </a:lnTo>
                <a:lnTo>
                  <a:pt x="111556" y="20243"/>
                </a:lnTo>
                <a:lnTo>
                  <a:pt x="74587" y="43751"/>
                </a:lnTo>
                <a:lnTo>
                  <a:pt x="43751" y="74599"/>
                </a:lnTo>
                <a:lnTo>
                  <a:pt x="20243" y="111594"/>
                </a:lnTo>
                <a:lnTo>
                  <a:pt x="5270" y="153530"/>
                </a:lnTo>
                <a:lnTo>
                  <a:pt x="0" y="199199"/>
                </a:lnTo>
                <a:lnTo>
                  <a:pt x="5257" y="244881"/>
                </a:lnTo>
                <a:lnTo>
                  <a:pt x="20243" y="286816"/>
                </a:lnTo>
                <a:lnTo>
                  <a:pt x="43738" y="323799"/>
                </a:lnTo>
                <a:lnTo>
                  <a:pt x="74574" y="354660"/>
                </a:lnTo>
                <a:lnTo>
                  <a:pt x="111544" y="378167"/>
                </a:lnTo>
                <a:lnTo>
                  <a:pt x="153454" y="393166"/>
                </a:lnTo>
                <a:lnTo>
                  <a:pt x="199097" y="398424"/>
                </a:lnTo>
                <a:lnTo>
                  <a:pt x="244767" y="393166"/>
                </a:lnTo>
                <a:lnTo>
                  <a:pt x="286677" y="378167"/>
                </a:lnTo>
                <a:lnTo>
                  <a:pt x="323646" y="354660"/>
                </a:lnTo>
                <a:lnTo>
                  <a:pt x="354469" y="323799"/>
                </a:lnTo>
                <a:lnTo>
                  <a:pt x="377977" y="286816"/>
                </a:lnTo>
                <a:lnTo>
                  <a:pt x="379412" y="282778"/>
                </a:lnTo>
                <a:lnTo>
                  <a:pt x="392950" y="244881"/>
                </a:lnTo>
                <a:lnTo>
                  <a:pt x="398208" y="199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3" name="object 13"/>
          <p:cNvSpPr/>
          <p:nvPr/>
        </p:nvSpPr>
        <p:spPr>
          <a:xfrm>
            <a:off x="5926496" y="7021455"/>
            <a:ext cx="597218" cy="600075"/>
          </a:xfrm>
          <a:custGeom>
            <a:avLst/>
            <a:gdLst/>
            <a:ahLst/>
            <a:cxnLst/>
            <a:rect l="l" t="t" r="r" b="b"/>
            <a:pathLst>
              <a:path w="398145" h="400050">
                <a:moveTo>
                  <a:pt x="198916" y="399612"/>
                </a:moveTo>
                <a:lnTo>
                  <a:pt x="153265" y="394335"/>
                </a:lnTo>
                <a:lnTo>
                  <a:pt x="111358" y="379303"/>
                </a:lnTo>
                <a:lnTo>
                  <a:pt x="74390" y="355716"/>
                </a:lnTo>
                <a:lnTo>
                  <a:pt x="43557" y="324774"/>
                </a:lnTo>
                <a:lnTo>
                  <a:pt x="20054" y="287675"/>
                </a:lnTo>
                <a:lnTo>
                  <a:pt x="5076" y="245619"/>
                </a:lnTo>
                <a:lnTo>
                  <a:pt x="53" y="201858"/>
                </a:lnTo>
                <a:lnTo>
                  <a:pt x="0" y="198217"/>
                </a:lnTo>
                <a:lnTo>
                  <a:pt x="5076" y="153992"/>
                </a:lnTo>
                <a:lnTo>
                  <a:pt x="20054" y="111937"/>
                </a:lnTo>
                <a:lnTo>
                  <a:pt x="43557" y="74838"/>
                </a:lnTo>
                <a:lnTo>
                  <a:pt x="74390" y="43895"/>
                </a:lnTo>
                <a:lnTo>
                  <a:pt x="111358" y="20308"/>
                </a:lnTo>
                <a:lnTo>
                  <a:pt x="153265" y="5277"/>
                </a:lnTo>
                <a:lnTo>
                  <a:pt x="198916" y="0"/>
                </a:lnTo>
                <a:lnTo>
                  <a:pt x="199104" y="0"/>
                </a:lnTo>
                <a:lnTo>
                  <a:pt x="244565" y="5277"/>
                </a:lnTo>
                <a:lnTo>
                  <a:pt x="286522" y="20308"/>
                </a:lnTo>
                <a:lnTo>
                  <a:pt x="323490" y="43895"/>
                </a:lnTo>
                <a:lnTo>
                  <a:pt x="354316" y="74838"/>
                </a:lnTo>
                <a:lnTo>
                  <a:pt x="374955" y="107428"/>
                </a:lnTo>
                <a:lnTo>
                  <a:pt x="162854" y="107428"/>
                </a:lnTo>
                <a:lnTo>
                  <a:pt x="154397" y="198217"/>
                </a:lnTo>
                <a:lnTo>
                  <a:pt x="154277" y="199506"/>
                </a:lnTo>
                <a:lnTo>
                  <a:pt x="154167" y="200690"/>
                </a:lnTo>
                <a:lnTo>
                  <a:pt x="204140" y="200690"/>
                </a:lnTo>
                <a:lnTo>
                  <a:pt x="210339" y="201858"/>
                </a:lnTo>
                <a:lnTo>
                  <a:pt x="234716" y="225342"/>
                </a:lnTo>
                <a:lnTo>
                  <a:pt x="234600" y="229183"/>
                </a:lnTo>
                <a:lnTo>
                  <a:pt x="234564" y="230377"/>
                </a:lnTo>
                <a:lnTo>
                  <a:pt x="233876" y="237617"/>
                </a:lnTo>
                <a:lnTo>
                  <a:pt x="231472" y="244364"/>
                </a:lnTo>
                <a:lnTo>
                  <a:pt x="227501" y="250319"/>
                </a:lnTo>
                <a:lnTo>
                  <a:pt x="225569" y="252063"/>
                </a:lnTo>
                <a:lnTo>
                  <a:pt x="147541" y="252063"/>
                </a:lnTo>
                <a:lnTo>
                  <a:pt x="147541" y="278436"/>
                </a:lnTo>
                <a:lnTo>
                  <a:pt x="155579" y="281644"/>
                </a:lnTo>
                <a:lnTo>
                  <a:pt x="165423" y="283936"/>
                </a:lnTo>
                <a:lnTo>
                  <a:pt x="177072" y="285311"/>
                </a:lnTo>
                <a:lnTo>
                  <a:pt x="190528" y="285770"/>
                </a:lnTo>
                <a:lnTo>
                  <a:pt x="378456" y="285770"/>
                </a:lnTo>
                <a:lnTo>
                  <a:pt x="377777" y="287675"/>
                </a:lnTo>
                <a:lnTo>
                  <a:pt x="354274" y="324774"/>
                </a:lnTo>
                <a:lnTo>
                  <a:pt x="323441" y="355716"/>
                </a:lnTo>
                <a:lnTo>
                  <a:pt x="286474" y="379303"/>
                </a:lnTo>
                <a:lnTo>
                  <a:pt x="244567" y="394335"/>
                </a:lnTo>
                <a:lnTo>
                  <a:pt x="198916" y="399612"/>
                </a:lnTo>
                <a:close/>
              </a:path>
              <a:path w="398145" h="400050">
                <a:moveTo>
                  <a:pt x="378456" y="285770"/>
                </a:moveTo>
                <a:lnTo>
                  <a:pt x="190528" y="285770"/>
                </a:lnTo>
                <a:lnTo>
                  <a:pt x="197466" y="285585"/>
                </a:lnTo>
                <a:lnTo>
                  <a:pt x="204375" y="284983"/>
                </a:lnTo>
                <a:lnTo>
                  <a:pt x="241436" y="272412"/>
                </a:lnTo>
                <a:lnTo>
                  <a:pt x="263767" y="235873"/>
                </a:lnTo>
                <a:lnTo>
                  <a:pt x="263984" y="230377"/>
                </a:lnTo>
                <a:lnTo>
                  <a:pt x="264031" y="229183"/>
                </a:lnTo>
                <a:lnTo>
                  <a:pt x="264145" y="225342"/>
                </a:lnTo>
                <a:lnTo>
                  <a:pt x="264209" y="220381"/>
                </a:lnTo>
                <a:lnTo>
                  <a:pt x="263204" y="216141"/>
                </a:lnTo>
                <a:lnTo>
                  <a:pt x="236100" y="184107"/>
                </a:lnTo>
                <a:lnTo>
                  <a:pt x="198791" y="176426"/>
                </a:lnTo>
                <a:lnTo>
                  <a:pt x="184315" y="176426"/>
                </a:lnTo>
                <a:lnTo>
                  <a:pt x="188788" y="130834"/>
                </a:lnTo>
                <a:lnTo>
                  <a:pt x="254595" y="130834"/>
                </a:lnTo>
                <a:lnTo>
                  <a:pt x="254595" y="107428"/>
                </a:lnTo>
                <a:lnTo>
                  <a:pt x="374955" y="107428"/>
                </a:lnTo>
                <a:lnTo>
                  <a:pt x="377808" y="111937"/>
                </a:lnTo>
                <a:lnTo>
                  <a:pt x="392773" y="153992"/>
                </a:lnTo>
                <a:lnTo>
                  <a:pt x="397833" y="198217"/>
                </a:lnTo>
                <a:lnTo>
                  <a:pt x="397779" y="201858"/>
                </a:lnTo>
                <a:lnTo>
                  <a:pt x="392756" y="245619"/>
                </a:lnTo>
                <a:lnTo>
                  <a:pt x="378736" y="284983"/>
                </a:lnTo>
                <a:lnTo>
                  <a:pt x="378619" y="285311"/>
                </a:lnTo>
                <a:lnTo>
                  <a:pt x="378522" y="285585"/>
                </a:lnTo>
                <a:lnTo>
                  <a:pt x="378456" y="285770"/>
                </a:lnTo>
                <a:close/>
              </a:path>
              <a:path w="398145" h="400050">
                <a:moveTo>
                  <a:pt x="184246" y="177130"/>
                </a:moveTo>
                <a:lnTo>
                  <a:pt x="182044" y="177130"/>
                </a:lnTo>
                <a:lnTo>
                  <a:pt x="191242" y="176426"/>
                </a:lnTo>
                <a:lnTo>
                  <a:pt x="184315" y="176426"/>
                </a:lnTo>
                <a:lnTo>
                  <a:pt x="184246" y="177130"/>
                </a:lnTo>
                <a:close/>
              </a:path>
              <a:path w="398145" h="400050">
                <a:moveTo>
                  <a:pt x="204140" y="200690"/>
                </a:moveTo>
                <a:lnTo>
                  <a:pt x="154167" y="200690"/>
                </a:lnTo>
                <a:lnTo>
                  <a:pt x="174144" y="199506"/>
                </a:lnTo>
                <a:lnTo>
                  <a:pt x="184273" y="199090"/>
                </a:lnTo>
                <a:lnTo>
                  <a:pt x="192850" y="199090"/>
                </a:lnTo>
                <a:lnTo>
                  <a:pt x="198973" y="199674"/>
                </a:lnTo>
                <a:lnTo>
                  <a:pt x="204140" y="200690"/>
                </a:lnTo>
                <a:close/>
              </a:path>
              <a:path w="398145" h="400050">
                <a:moveTo>
                  <a:pt x="197135" y="263600"/>
                </a:moveTo>
                <a:lnTo>
                  <a:pt x="190874" y="263600"/>
                </a:lnTo>
                <a:lnTo>
                  <a:pt x="179565" y="262779"/>
                </a:lnTo>
                <a:lnTo>
                  <a:pt x="168488" y="260560"/>
                </a:lnTo>
                <a:lnTo>
                  <a:pt x="157771" y="256977"/>
                </a:lnTo>
                <a:lnTo>
                  <a:pt x="147541" y="252063"/>
                </a:lnTo>
                <a:lnTo>
                  <a:pt x="225569" y="252063"/>
                </a:lnTo>
                <a:lnTo>
                  <a:pt x="197135" y="26360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grpSp>
        <p:nvGrpSpPr>
          <p:cNvPr id="14" name="object 14"/>
          <p:cNvGrpSpPr/>
          <p:nvPr/>
        </p:nvGrpSpPr>
        <p:grpSpPr>
          <a:xfrm>
            <a:off x="7169807" y="7949376"/>
            <a:ext cx="598170" cy="598170"/>
            <a:chOff x="4779871" y="5299584"/>
            <a:chExt cx="398780" cy="398780"/>
          </a:xfrm>
        </p:grpSpPr>
        <p:sp>
          <p:nvSpPr>
            <p:cNvPr id="15" name="object 15"/>
            <p:cNvSpPr/>
            <p:nvPr/>
          </p:nvSpPr>
          <p:spPr>
            <a:xfrm>
              <a:off x="4779871" y="529958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79" h="398779">
                  <a:moveTo>
                    <a:pt x="199098" y="398419"/>
                  </a:moveTo>
                  <a:lnTo>
                    <a:pt x="153447" y="393158"/>
                  </a:lnTo>
                  <a:lnTo>
                    <a:pt x="111540" y="378171"/>
                  </a:lnTo>
                  <a:lnTo>
                    <a:pt x="74573" y="354655"/>
                  </a:lnTo>
                  <a:lnTo>
                    <a:pt x="43740" y="323804"/>
                  </a:lnTo>
                  <a:lnTo>
                    <a:pt x="20236" y="286816"/>
                  </a:lnTo>
                  <a:lnTo>
                    <a:pt x="5258" y="244886"/>
                  </a:lnTo>
                  <a:lnTo>
                    <a:pt x="0" y="199209"/>
                  </a:lnTo>
                  <a:lnTo>
                    <a:pt x="5168" y="154315"/>
                  </a:lnTo>
                  <a:lnTo>
                    <a:pt x="20236" y="111602"/>
                  </a:lnTo>
                  <a:lnTo>
                    <a:pt x="43740" y="74614"/>
                  </a:lnTo>
                  <a:lnTo>
                    <a:pt x="74573" y="43764"/>
                  </a:lnTo>
                  <a:lnTo>
                    <a:pt x="111540" y="20248"/>
                  </a:lnTo>
                  <a:lnTo>
                    <a:pt x="153447" y="5261"/>
                  </a:lnTo>
                  <a:lnTo>
                    <a:pt x="199098" y="0"/>
                  </a:lnTo>
                  <a:lnTo>
                    <a:pt x="199266" y="0"/>
                  </a:lnTo>
                  <a:lnTo>
                    <a:pt x="244765" y="5261"/>
                  </a:lnTo>
                  <a:lnTo>
                    <a:pt x="286710" y="20248"/>
                  </a:lnTo>
                  <a:lnTo>
                    <a:pt x="323676" y="43764"/>
                  </a:lnTo>
                  <a:lnTo>
                    <a:pt x="354501" y="74614"/>
                  </a:lnTo>
                  <a:lnTo>
                    <a:pt x="372981" y="103707"/>
                  </a:lnTo>
                  <a:lnTo>
                    <a:pt x="213839" y="103707"/>
                  </a:lnTo>
                  <a:lnTo>
                    <a:pt x="206671" y="104563"/>
                  </a:lnTo>
                  <a:lnTo>
                    <a:pt x="167461" y="124328"/>
                  </a:lnTo>
                  <a:lnTo>
                    <a:pt x="143791" y="165398"/>
                  </a:lnTo>
                  <a:lnTo>
                    <a:pt x="141651" y="173109"/>
                  </a:lnTo>
                  <a:lnTo>
                    <a:pt x="141605" y="173272"/>
                  </a:lnTo>
                  <a:lnTo>
                    <a:pt x="138949" y="188147"/>
                  </a:lnTo>
                  <a:lnTo>
                    <a:pt x="138854" y="188678"/>
                  </a:lnTo>
                  <a:lnTo>
                    <a:pt x="138743" y="189291"/>
                  </a:lnTo>
                  <a:lnTo>
                    <a:pt x="138229" y="195050"/>
                  </a:lnTo>
                  <a:lnTo>
                    <a:pt x="141401" y="233896"/>
                  </a:lnTo>
                  <a:lnTo>
                    <a:pt x="161251" y="269515"/>
                  </a:lnTo>
                  <a:lnTo>
                    <a:pt x="202401" y="284403"/>
                  </a:lnTo>
                  <a:lnTo>
                    <a:pt x="378822" y="284403"/>
                  </a:lnTo>
                  <a:lnTo>
                    <a:pt x="377960" y="286816"/>
                  </a:lnTo>
                  <a:lnTo>
                    <a:pt x="354457" y="323804"/>
                  </a:lnTo>
                  <a:lnTo>
                    <a:pt x="323624" y="354655"/>
                  </a:lnTo>
                  <a:lnTo>
                    <a:pt x="286656" y="378171"/>
                  </a:lnTo>
                  <a:lnTo>
                    <a:pt x="244749" y="393158"/>
                  </a:lnTo>
                  <a:lnTo>
                    <a:pt x="199098" y="398419"/>
                  </a:lnTo>
                  <a:close/>
                </a:path>
                <a:path w="398779" h="398779">
                  <a:moveTo>
                    <a:pt x="385714" y="133229"/>
                  </a:moveTo>
                  <a:lnTo>
                    <a:pt x="252680" y="133229"/>
                  </a:lnTo>
                  <a:lnTo>
                    <a:pt x="252680" y="109180"/>
                  </a:lnTo>
                  <a:lnTo>
                    <a:pt x="244670" y="106514"/>
                  </a:lnTo>
                  <a:lnTo>
                    <a:pt x="235897" y="104563"/>
                  </a:lnTo>
                  <a:lnTo>
                    <a:pt x="235398" y="104563"/>
                  </a:lnTo>
                  <a:lnTo>
                    <a:pt x="228088" y="103707"/>
                  </a:lnTo>
                  <a:lnTo>
                    <a:pt x="372981" y="103707"/>
                  </a:lnTo>
                  <a:lnTo>
                    <a:pt x="377994" y="111602"/>
                  </a:lnTo>
                  <a:lnTo>
                    <a:pt x="385714" y="133229"/>
                  </a:lnTo>
                  <a:close/>
                </a:path>
                <a:path w="398779" h="398779">
                  <a:moveTo>
                    <a:pt x="166213" y="195050"/>
                  </a:moveTo>
                  <a:lnTo>
                    <a:pt x="165689" y="195050"/>
                  </a:lnTo>
                  <a:lnTo>
                    <a:pt x="165793" y="191478"/>
                  </a:lnTo>
                  <a:lnTo>
                    <a:pt x="165828" y="190250"/>
                  </a:lnTo>
                  <a:lnTo>
                    <a:pt x="178045" y="147502"/>
                  </a:lnTo>
                  <a:lnTo>
                    <a:pt x="213572" y="125783"/>
                  </a:lnTo>
                  <a:lnTo>
                    <a:pt x="220178" y="125550"/>
                  </a:lnTo>
                  <a:lnTo>
                    <a:pt x="228596" y="126051"/>
                  </a:lnTo>
                  <a:lnTo>
                    <a:pt x="236873" y="127511"/>
                  </a:lnTo>
                  <a:lnTo>
                    <a:pt x="244928" y="129910"/>
                  </a:lnTo>
                  <a:lnTo>
                    <a:pt x="252680" y="133229"/>
                  </a:lnTo>
                  <a:lnTo>
                    <a:pt x="385714" y="133229"/>
                  </a:lnTo>
                  <a:lnTo>
                    <a:pt x="392958" y="153532"/>
                  </a:lnTo>
                  <a:lnTo>
                    <a:pt x="394823" y="169794"/>
                  </a:lnTo>
                  <a:lnTo>
                    <a:pt x="204404" y="169794"/>
                  </a:lnTo>
                  <a:lnTo>
                    <a:pt x="198930" y="170575"/>
                  </a:lnTo>
                  <a:lnTo>
                    <a:pt x="168278" y="191478"/>
                  </a:lnTo>
                  <a:lnTo>
                    <a:pt x="166213" y="195050"/>
                  </a:lnTo>
                  <a:close/>
                </a:path>
                <a:path w="398779" h="398779">
                  <a:moveTo>
                    <a:pt x="378822" y="284403"/>
                  </a:moveTo>
                  <a:lnTo>
                    <a:pt x="202401" y="284403"/>
                  </a:lnTo>
                  <a:lnTo>
                    <a:pt x="210531" y="284142"/>
                  </a:lnTo>
                  <a:lnTo>
                    <a:pt x="209303" y="284142"/>
                  </a:lnTo>
                  <a:lnTo>
                    <a:pt x="246961" y="267508"/>
                  </a:lnTo>
                  <a:lnTo>
                    <a:pt x="263406" y="232286"/>
                  </a:lnTo>
                  <a:lnTo>
                    <a:pt x="263390" y="216634"/>
                  </a:lnTo>
                  <a:lnTo>
                    <a:pt x="243008" y="180463"/>
                  </a:lnTo>
                  <a:lnTo>
                    <a:pt x="215315" y="169794"/>
                  </a:lnTo>
                  <a:lnTo>
                    <a:pt x="394823" y="169794"/>
                  </a:lnTo>
                  <a:lnTo>
                    <a:pt x="398197" y="199209"/>
                  </a:lnTo>
                  <a:lnTo>
                    <a:pt x="392938" y="244886"/>
                  </a:lnTo>
                  <a:lnTo>
                    <a:pt x="378915" y="284142"/>
                  </a:lnTo>
                  <a:lnTo>
                    <a:pt x="378822" y="284403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6498" y="5491655"/>
              <a:ext cx="69880" cy="7048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1144250" y="249174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8" name="object 18"/>
          <p:cNvSpPr txBox="1"/>
          <p:nvPr/>
        </p:nvSpPr>
        <p:spPr>
          <a:xfrm>
            <a:off x="11315977" y="2631998"/>
            <a:ext cx="4765358" cy="781945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is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20" dirty="0">
                <a:solidFill>
                  <a:srgbClr val="DBDBDB"/>
                </a:solidFill>
                <a:latin typeface="Arial"/>
                <a:cs typeface="Arial"/>
              </a:rPr>
              <a:t>disease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interest?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are</a:t>
            </a:r>
            <a:r>
              <a:rPr sz="1650" spc="-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health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technologies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or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interventions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of 	interest,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and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should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we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compare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them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with?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144250" y="1897379"/>
            <a:ext cx="5758815" cy="499110"/>
          </a:xfrm>
          <a:custGeom>
            <a:avLst/>
            <a:gdLst/>
            <a:ahLst/>
            <a:cxnLst/>
            <a:rect l="l" t="t" r="r" b="b"/>
            <a:pathLst>
              <a:path w="3839209" h="332740">
                <a:moveTo>
                  <a:pt x="3783584" y="0"/>
                </a:moveTo>
                <a:lnTo>
                  <a:pt x="55372" y="0"/>
                </a:lnTo>
                <a:lnTo>
                  <a:pt x="33818" y="4351"/>
                </a:lnTo>
                <a:lnTo>
                  <a:pt x="16217" y="16217"/>
                </a:lnTo>
                <a:lnTo>
                  <a:pt x="4351" y="33818"/>
                </a:lnTo>
                <a:lnTo>
                  <a:pt x="0" y="55372"/>
                </a:lnTo>
                <a:lnTo>
                  <a:pt x="0" y="276860"/>
                </a:lnTo>
                <a:lnTo>
                  <a:pt x="4351" y="298413"/>
                </a:lnTo>
                <a:lnTo>
                  <a:pt x="16217" y="316014"/>
                </a:lnTo>
                <a:lnTo>
                  <a:pt x="33818" y="327880"/>
                </a:lnTo>
                <a:lnTo>
                  <a:pt x="55372" y="332232"/>
                </a:lnTo>
                <a:lnTo>
                  <a:pt x="3783584" y="332232"/>
                </a:lnTo>
                <a:lnTo>
                  <a:pt x="3805137" y="327880"/>
                </a:lnTo>
                <a:lnTo>
                  <a:pt x="3822738" y="316014"/>
                </a:lnTo>
                <a:lnTo>
                  <a:pt x="3834604" y="298413"/>
                </a:lnTo>
                <a:lnTo>
                  <a:pt x="3838955" y="276860"/>
                </a:lnTo>
                <a:lnTo>
                  <a:pt x="3838955" y="55372"/>
                </a:lnTo>
                <a:lnTo>
                  <a:pt x="3834604" y="33818"/>
                </a:lnTo>
                <a:lnTo>
                  <a:pt x="3822738" y="16217"/>
                </a:lnTo>
                <a:lnTo>
                  <a:pt x="3805137" y="4351"/>
                </a:lnTo>
                <a:lnTo>
                  <a:pt x="3783584" y="0"/>
                </a:lnTo>
                <a:close/>
              </a:path>
            </a:pathLst>
          </a:custGeom>
          <a:solidFill>
            <a:srgbClr val="C3D9F5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0" name="object 20"/>
          <p:cNvSpPr txBox="1"/>
          <p:nvPr/>
        </p:nvSpPr>
        <p:spPr>
          <a:xfrm>
            <a:off x="12034640" y="1926929"/>
            <a:ext cx="3975735" cy="387607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2400" b="1" spc="-240" dirty="0">
                <a:latin typeface="Arial"/>
                <a:cs typeface="Arial"/>
              </a:rPr>
              <a:t>Examples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of</a:t>
            </a:r>
            <a:r>
              <a:rPr sz="2400" b="1" spc="-83" dirty="0">
                <a:latin typeface="Arial"/>
                <a:cs typeface="Arial"/>
              </a:rPr>
              <a:t> </a:t>
            </a:r>
            <a:r>
              <a:rPr sz="2400" b="1" spc="-217" dirty="0">
                <a:latin typeface="Arial"/>
                <a:cs typeface="Arial"/>
              </a:rPr>
              <a:t>key</a:t>
            </a:r>
            <a:r>
              <a:rPr sz="2400" b="1" spc="-98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considerations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145392" y="3679327"/>
            <a:ext cx="5758815" cy="2791778"/>
          </a:xfrm>
          <a:custGeom>
            <a:avLst/>
            <a:gdLst/>
            <a:ahLst/>
            <a:cxnLst/>
            <a:rect l="l" t="t" r="r" b="b"/>
            <a:pathLst>
              <a:path w="3839209" h="1861185">
                <a:moveTo>
                  <a:pt x="0" y="310134"/>
                </a:moveTo>
                <a:lnTo>
                  <a:pt x="3362" y="264304"/>
                </a:lnTo>
                <a:lnTo>
                  <a:pt x="13130" y="220562"/>
                </a:lnTo>
                <a:lnTo>
                  <a:pt x="28824" y="179388"/>
                </a:lnTo>
                <a:lnTo>
                  <a:pt x="49963" y="141261"/>
                </a:lnTo>
                <a:lnTo>
                  <a:pt x="76069" y="106662"/>
                </a:lnTo>
                <a:lnTo>
                  <a:pt x="106662" y="76069"/>
                </a:lnTo>
                <a:lnTo>
                  <a:pt x="141261" y="49963"/>
                </a:lnTo>
                <a:lnTo>
                  <a:pt x="179388" y="28824"/>
                </a:lnTo>
                <a:lnTo>
                  <a:pt x="220562" y="13130"/>
                </a:lnTo>
                <a:lnTo>
                  <a:pt x="264304" y="3362"/>
                </a:lnTo>
                <a:lnTo>
                  <a:pt x="310134" y="0"/>
                </a:lnTo>
                <a:lnTo>
                  <a:pt x="3528822" y="0"/>
                </a:lnTo>
                <a:lnTo>
                  <a:pt x="3574651" y="3362"/>
                </a:lnTo>
                <a:lnTo>
                  <a:pt x="3618393" y="13130"/>
                </a:lnTo>
                <a:lnTo>
                  <a:pt x="3659567" y="28824"/>
                </a:lnTo>
                <a:lnTo>
                  <a:pt x="3697694" y="49963"/>
                </a:lnTo>
                <a:lnTo>
                  <a:pt x="3732293" y="76069"/>
                </a:lnTo>
                <a:lnTo>
                  <a:pt x="3762886" y="106662"/>
                </a:lnTo>
                <a:lnTo>
                  <a:pt x="3788992" y="141261"/>
                </a:lnTo>
                <a:lnTo>
                  <a:pt x="3810131" y="179388"/>
                </a:lnTo>
                <a:lnTo>
                  <a:pt x="3825825" y="220562"/>
                </a:lnTo>
                <a:lnTo>
                  <a:pt x="3835593" y="264304"/>
                </a:lnTo>
                <a:lnTo>
                  <a:pt x="3838955" y="310134"/>
                </a:lnTo>
                <a:lnTo>
                  <a:pt x="3838955" y="1550657"/>
                </a:lnTo>
                <a:lnTo>
                  <a:pt x="3835593" y="1596487"/>
                </a:lnTo>
                <a:lnTo>
                  <a:pt x="3825825" y="1640230"/>
                </a:lnTo>
                <a:lnTo>
                  <a:pt x="3810131" y="1681405"/>
                </a:lnTo>
                <a:lnTo>
                  <a:pt x="3788992" y="1719533"/>
                </a:lnTo>
                <a:lnTo>
                  <a:pt x="3762886" y="1754134"/>
                </a:lnTo>
                <a:lnTo>
                  <a:pt x="3732293" y="1784728"/>
                </a:lnTo>
                <a:lnTo>
                  <a:pt x="3697694" y="1810836"/>
                </a:lnTo>
                <a:lnTo>
                  <a:pt x="3659567" y="1831977"/>
                </a:lnTo>
                <a:lnTo>
                  <a:pt x="3618393" y="1847672"/>
                </a:lnTo>
                <a:lnTo>
                  <a:pt x="3574651" y="1857441"/>
                </a:lnTo>
                <a:lnTo>
                  <a:pt x="3528822" y="1860804"/>
                </a:lnTo>
                <a:lnTo>
                  <a:pt x="310134" y="1860804"/>
                </a:lnTo>
                <a:lnTo>
                  <a:pt x="264304" y="1857441"/>
                </a:lnTo>
                <a:lnTo>
                  <a:pt x="220562" y="1847672"/>
                </a:lnTo>
                <a:lnTo>
                  <a:pt x="179388" y="1831977"/>
                </a:lnTo>
                <a:lnTo>
                  <a:pt x="141261" y="1810836"/>
                </a:lnTo>
                <a:lnTo>
                  <a:pt x="106662" y="1784728"/>
                </a:lnTo>
                <a:lnTo>
                  <a:pt x="76069" y="1754134"/>
                </a:lnTo>
                <a:lnTo>
                  <a:pt x="49963" y="1719533"/>
                </a:lnTo>
                <a:lnTo>
                  <a:pt x="28824" y="1681405"/>
                </a:lnTo>
                <a:lnTo>
                  <a:pt x="13130" y="1640230"/>
                </a:lnTo>
                <a:lnTo>
                  <a:pt x="3362" y="1596487"/>
                </a:lnTo>
                <a:lnTo>
                  <a:pt x="0" y="1550657"/>
                </a:lnTo>
                <a:lnTo>
                  <a:pt x="0" y="310134"/>
                </a:lnTo>
                <a:close/>
              </a:path>
            </a:pathLst>
          </a:custGeom>
          <a:ln w="28575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2" name="object 22"/>
          <p:cNvSpPr txBox="1"/>
          <p:nvPr/>
        </p:nvSpPr>
        <p:spPr>
          <a:xfrm>
            <a:off x="11398667" y="4161172"/>
            <a:ext cx="3469005" cy="27411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05" dirty="0">
                <a:solidFill>
                  <a:srgbClr val="DBDBDB"/>
                </a:solidFill>
                <a:latin typeface="Arial"/>
                <a:cs typeface="Arial"/>
              </a:rPr>
              <a:t>is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objective</a:t>
            </a:r>
            <a:r>
              <a:rPr sz="1650" spc="-127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our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98667" y="4412705"/>
            <a:ext cx="4783455" cy="1543692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73368" indent="-254318">
              <a:spcBef>
                <a:spcPts val="158"/>
              </a:spcBef>
              <a:buChar char="•"/>
              <a:tabLst>
                <a:tab pos="273368" algn="l"/>
              </a:tabLst>
            </a:pP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Which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type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decision</a:t>
            </a:r>
            <a:r>
              <a:rPr sz="1650" spc="-10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model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we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should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use?</a:t>
            </a:r>
            <a:endParaRPr sz="1650">
              <a:latin typeface="Arial"/>
              <a:cs typeface="Arial"/>
            </a:endParaRPr>
          </a:p>
          <a:p>
            <a:pPr marL="272415" marR="7620" indent="-254318">
              <a:buChar char="•"/>
              <a:tabLst>
                <a:tab pos="27717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outcomes</a:t>
            </a:r>
            <a:r>
              <a:rPr sz="1650" spc="-10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from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 the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health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technologies</a:t>
            </a:r>
            <a:r>
              <a:rPr sz="1650" spc="-11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we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are 	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interested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in?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is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targeted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population?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Which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perspective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we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should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perform the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analysis?</a:t>
            </a:r>
            <a:endParaRPr sz="1650">
              <a:latin typeface="Arial"/>
              <a:cs typeface="Arial"/>
            </a:endParaRPr>
          </a:p>
          <a:p>
            <a:pPr marL="273368" indent="-254318">
              <a:buChar char="•"/>
              <a:tabLst>
                <a:tab pos="273368" algn="l"/>
              </a:tabLst>
            </a:pP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What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should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be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the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time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horizon?</a:t>
            </a:r>
            <a:endParaRPr sz="1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144250" y="659739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5" name="object 25"/>
          <p:cNvSpPr txBox="1"/>
          <p:nvPr/>
        </p:nvSpPr>
        <p:spPr>
          <a:xfrm>
            <a:off x="11294282" y="6640687"/>
            <a:ext cx="5377815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13" dirty="0">
                <a:latin typeface="Arial"/>
                <a:cs typeface="Arial"/>
              </a:rPr>
              <a:t>Analysis</a:t>
            </a:r>
            <a:r>
              <a:rPr sz="1650" spc="-38" dirty="0">
                <a:latin typeface="Arial"/>
                <a:cs typeface="Arial"/>
              </a:rPr>
              <a:t> result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presentation,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255" dirty="0">
                <a:latin typeface="Arial"/>
                <a:cs typeface="Arial"/>
              </a:rPr>
              <a:t>ICER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values,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113" dirty="0">
                <a:latin typeface="Arial"/>
                <a:cs typeface="Arial"/>
              </a:rPr>
              <a:t>Cost-</a:t>
            </a:r>
            <a:r>
              <a:rPr sz="1650" spc="-45" dirty="0">
                <a:latin typeface="Arial"/>
                <a:cs typeface="Arial"/>
              </a:rPr>
              <a:t>effectiveness 	</a:t>
            </a:r>
            <a:r>
              <a:rPr sz="1650" spc="-180" dirty="0">
                <a:latin typeface="Arial"/>
                <a:cs typeface="Arial"/>
              </a:rPr>
              <a:t>(CE)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75" dirty="0">
                <a:latin typeface="Arial"/>
                <a:cs typeface="Arial"/>
              </a:rPr>
              <a:t>plane,</a:t>
            </a:r>
            <a:r>
              <a:rPr sz="1650" spc="-38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uncertainty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15" dirty="0">
                <a:latin typeface="Arial"/>
                <a:cs typeface="Arial"/>
              </a:rPr>
              <a:t>communication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144250" y="7379207"/>
            <a:ext cx="5758815" cy="654368"/>
          </a:xfrm>
          <a:custGeom>
            <a:avLst/>
            <a:gdLst/>
            <a:ahLst/>
            <a:cxnLst/>
            <a:rect l="l" t="t" r="r" b="b"/>
            <a:pathLst>
              <a:path w="3839209" h="436245">
                <a:moveTo>
                  <a:pt x="0" y="72643"/>
                </a:moveTo>
                <a:lnTo>
                  <a:pt x="5708" y="44368"/>
                </a:lnTo>
                <a:lnTo>
                  <a:pt x="21277" y="21277"/>
                </a:lnTo>
                <a:lnTo>
                  <a:pt x="44368" y="5708"/>
                </a:lnTo>
                <a:lnTo>
                  <a:pt x="72644" y="0"/>
                </a:lnTo>
                <a:lnTo>
                  <a:pt x="3766312" y="0"/>
                </a:lnTo>
                <a:lnTo>
                  <a:pt x="3794587" y="5708"/>
                </a:lnTo>
                <a:lnTo>
                  <a:pt x="3817678" y="21277"/>
                </a:lnTo>
                <a:lnTo>
                  <a:pt x="3833247" y="44368"/>
                </a:lnTo>
                <a:lnTo>
                  <a:pt x="3838955" y="72643"/>
                </a:lnTo>
                <a:lnTo>
                  <a:pt x="3838955" y="363220"/>
                </a:lnTo>
                <a:lnTo>
                  <a:pt x="3833247" y="391495"/>
                </a:lnTo>
                <a:lnTo>
                  <a:pt x="3817678" y="414586"/>
                </a:lnTo>
                <a:lnTo>
                  <a:pt x="3794587" y="430155"/>
                </a:lnTo>
                <a:lnTo>
                  <a:pt x="3766312" y="435864"/>
                </a:lnTo>
                <a:lnTo>
                  <a:pt x="72644" y="435864"/>
                </a:lnTo>
                <a:lnTo>
                  <a:pt x="44368" y="430155"/>
                </a:lnTo>
                <a:lnTo>
                  <a:pt x="21277" y="414586"/>
                </a:lnTo>
                <a:lnTo>
                  <a:pt x="5708" y="391495"/>
                </a:lnTo>
                <a:lnTo>
                  <a:pt x="0" y="363220"/>
                </a:lnTo>
                <a:lnTo>
                  <a:pt x="0" y="72643"/>
                </a:lnTo>
                <a:close/>
              </a:path>
            </a:pathLst>
          </a:custGeom>
          <a:ln w="1270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7" name="object 27"/>
          <p:cNvSpPr txBox="1"/>
          <p:nvPr/>
        </p:nvSpPr>
        <p:spPr>
          <a:xfrm>
            <a:off x="11294281" y="7422383"/>
            <a:ext cx="5264468" cy="5270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Additional </a:t>
            </a:r>
            <a:r>
              <a:rPr sz="1650" spc="-113" dirty="0">
                <a:solidFill>
                  <a:srgbClr val="DBDBDB"/>
                </a:solidFill>
                <a:latin typeface="Arial"/>
                <a:cs typeface="Arial"/>
              </a:rPr>
              <a:t>analyses: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sensitivity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05" dirty="0">
                <a:solidFill>
                  <a:srgbClr val="DBDBDB"/>
                </a:solidFill>
                <a:latin typeface="Arial"/>
                <a:cs typeface="Arial"/>
              </a:rPr>
              <a:t>analysis,</a:t>
            </a:r>
            <a:r>
              <a:rPr sz="1650" spc="-2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subgroup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 analysis, 	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scenario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05" dirty="0">
                <a:solidFill>
                  <a:srgbClr val="DBDBDB"/>
                </a:solidFill>
                <a:latin typeface="Arial"/>
                <a:cs typeface="Arial"/>
              </a:rPr>
              <a:t>analysis,</a:t>
            </a:r>
            <a:r>
              <a:rPr sz="1650" spc="-2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144250" y="8161024"/>
            <a:ext cx="5758815" cy="1100138"/>
          </a:xfrm>
          <a:custGeom>
            <a:avLst/>
            <a:gdLst/>
            <a:ahLst/>
            <a:cxnLst/>
            <a:rect l="l" t="t" r="r" b="b"/>
            <a:pathLst>
              <a:path w="3839209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3716782" y="0"/>
                </a:lnTo>
                <a:lnTo>
                  <a:pt x="3764337" y="9601"/>
                </a:lnTo>
                <a:lnTo>
                  <a:pt x="3803172" y="35783"/>
                </a:lnTo>
                <a:lnTo>
                  <a:pt x="3829354" y="74618"/>
                </a:lnTo>
                <a:lnTo>
                  <a:pt x="3838955" y="122174"/>
                </a:lnTo>
                <a:lnTo>
                  <a:pt x="3838955" y="610870"/>
                </a:lnTo>
                <a:lnTo>
                  <a:pt x="3829354" y="658425"/>
                </a:lnTo>
                <a:lnTo>
                  <a:pt x="3803172" y="697260"/>
                </a:lnTo>
                <a:lnTo>
                  <a:pt x="3764337" y="723442"/>
                </a:lnTo>
                <a:lnTo>
                  <a:pt x="3716782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12699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9" name="object 29"/>
          <p:cNvSpPr txBox="1"/>
          <p:nvPr/>
        </p:nvSpPr>
        <p:spPr>
          <a:xfrm>
            <a:off x="11315973" y="8174819"/>
            <a:ext cx="529209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2415" marR="7620" indent="-254318">
              <a:spcBef>
                <a:spcPts val="150"/>
              </a:spcBef>
              <a:buChar char="•"/>
              <a:tabLst>
                <a:tab pos="277178" algn="l"/>
              </a:tabLst>
            </a:pPr>
            <a:r>
              <a:rPr sz="1650" spc="-165" dirty="0">
                <a:solidFill>
                  <a:srgbClr val="DBDBDB"/>
                </a:solidFill>
                <a:latin typeface="Arial"/>
                <a:cs typeface="Arial"/>
              </a:rPr>
              <a:t>Uses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in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different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time</a:t>
            </a:r>
            <a:r>
              <a:rPr sz="1650" spc="-6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points</a:t>
            </a:r>
            <a:r>
              <a:rPr sz="1650" spc="-9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health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technology</a:t>
            </a:r>
            <a:r>
              <a:rPr sz="1650" spc="-11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life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cycle 	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(pre-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market,</a:t>
            </a:r>
            <a:r>
              <a:rPr sz="1650" spc="-2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market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approval,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post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53" dirty="0">
                <a:solidFill>
                  <a:srgbClr val="DBDBDB"/>
                </a:solidFill>
                <a:latin typeface="Arial"/>
                <a:cs typeface="Arial"/>
              </a:rPr>
              <a:t>market),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pricing, 	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understanding</a:t>
            </a:r>
            <a:r>
              <a:rPr sz="1650" spc="-90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of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value</a:t>
            </a:r>
            <a:r>
              <a:rPr sz="1650" spc="-38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BDBDB"/>
                </a:solidFill>
                <a:latin typeface="Arial"/>
                <a:cs typeface="Arial"/>
              </a:rPr>
              <a:t>for</a:t>
            </a:r>
            <a:r>
              <a:rPr sz="1650" spc="-45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75" dirty="0">
                <a:solidFill>
                  <a:srgbClr val="DBDBDB"/>
                </a:solidFill>
                <a:latin typeface="Arial"/>
                <a:cs typeface="Arial"/>
              </a:rPr>
              <a:t>money,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60" dirty="0">
                <a:solidFill>
                  <a:srgbClr val="DBDBDB"/>
                </a:solidFill>
                <a:latin typeface="Arial"/>
                <a:cs typeface="Arial"/>
              </a:rPr>
              <a:t>price</a:t>
            </a:r>
            <a:r>
              <a:rPr sz="1650" spc="-15" dirty="0">
                <a:solidFill>
                  <a:srgbClr val="DBDBDB"/>
                </a:solidFill>
                <a:latin typeface="Arial"/>
                <a:cs typeface="Arial"/>
              </a:rPr>
              <a:t> negotiation, 	</a:t>
            </a:r>
            <a:r>
              <a:rPr sz="1650" spc="-83" dirty="0">
                <a:solidFill>
                  <a:srgbClr val="DBDBDB"/>
                </a:solidFill>
                <a:latin typeface="Arial"/>
                <a:cs typeface="Arial"/>
              </a:rPr>
              <a:t>accessibility</a:t>
            </a:r>
            <a:r>
              <a:rPr sz="1650" spc="-23" dirty="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sz="1650" spc="-30" dirty="0">
                <a:solidFill>
                  <a:srgbClr val="DBDBDB"/>
                </a:solidFill>
                <a:latin typeface="Arial"/>
                <a:cs typeface="Arial"/>
              </a:rPr>
              <a:t>etc.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537828" y="7593710"/>
            <a:ext cx="2606993" cy="171450"/>
            <a:chOff x="5691885" y="5062473"/>
            <a:chExt cx="1737995" cy="114300"/>
          </a:xfrm>
        </p:grpSpPr>
        <p:sp>
          <p:nvSpPr>
            <p:cNvPr id="31" name="object 31"/>
            <p:cNvSpPr/>
            <p:nvPr/>
          </p:nvSpPr>
          <p:spPr>
            <a:xfrm>
              <a:off x="5698235" y="5068823"/>
              <a:ext cx="1668145" cy="69850"/>
            </a:xfrm>
            <a:custGeom>
              <a:avLst/>
              <a:gdLst/>
              <a:ahLst/>
              <a:cxnLst/>
              <a:rect l="l" t="t" r="r" b="b"/>
              <a:pathLst>
                <a:path w="1668145" h="69850">
                  <a:moveTo>
                    <a:pt x="0" y="0"/>
                  </a:moveTo>
                  <a:lnTo>
                    <a:pt x="0" y="69545"/>
                  </a:lnTo>
                  <a:lnTo>
                    <a:pt x="1667637" y="69545"/>
                  </a:lnTo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3176" y="5100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6814567" y="3095240"/>
            <a:ext cx="4331018" cy="3886200"/>
            <a:chOff x="4543044" y="2063493"/>
            <a:chExt cx="2887345" cy="2590800"/>
          </a:xfrm>
        </p:grpSpPr>
        <p:sp>
          <p:nvSpPr>
            <p:cNvPr id="34" name="object 34"/>
            <p:cNvSpPr/>
            <p:nvPr/>
          </p:nvSpPr>
          <p:spPr>
            <a:xfrm>
              <a:off x="4543044" y="2101595"/>
              <a:ext cx="2822575" cy="0"/>
            </a:xfrm>
            <a:custGeom>
              <a:avLst/>
              <a:gdLst/>
              <a:ahLst/>
              <a:cxnLst/>
              <a:rect l="l" t="t" r="r" b="b"/>
              <a:pathLst>
                <a:path w="2822575">
                  <a:moveTo>
                    <a:pt x="0" y="0"/>
                  </a:moveTo>
                  <a:lnTo>
                    <a:pt x="2822562" y="0"/>
                  </a:lnTo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352912" y="20634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798819" y="2772290"/>
              <a:ext cx="1567815" cy="3810"/>
            </a:xfrm>
            <a:custGeom>
              <a:avLst/>
              <a:gdLst/>
              <a:ahLst/>
              <a:cxnLst/>
              <a:rect l="l" t="t" r="r" b="b"/>
              <a:pathLst>
                <a:path w="1567815" h="3810">
                  <a:moveTo>
                    <a:pt x="0" y="3225"/>
                  </a:moveTo>
                  <a:lnTo>
                    <a:pt x="1567624" y="0"/>
                  </a:lnTo>
                </a:path>
              </a:pathLst>
            </a:custGeom>
            <a:ln w="127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353664" y="273421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65" y="76200"/>
                  </a:lnTo>
                  <a:lnTo>
                    <a:pt x="76288" y="37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7948" y="4364735"/>
              <a:ext cx="2449195" cy="251460"/>
            </a:xfrm>
            <a:custGeom>
              <a:avLst/>
              <a:gdLst/>
              <a:ahLst/>
              <a:cxnLst/>
              <a:rect l="l" t="t" r="r" b="b"/>
              <a:pathLst>
                <a:path w="2449195" h="251460">
                  <a:moveTo>
                    <a:pt x="0" y="0"/>
                  </a:moveTo>
                  <a:lnTo>
                    <a:pt x="0" y="251206"/>
                  </a:lnTo>
                  <a:lnTo>
                    <a:pt x="2448687" y="2512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7353940" y="45778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280778" y="8519542"/>
            <a:ext cx="1864043" cy="248603"/>
            <a:chOff x="6187185" y="5679694"/>
            <a:chExt cx="1242695" cy="165735"/>
          </a:xfrm>
        </p:grpSpPr>
        <p:sp>
          <p:nvSpPr>
            <p:cNvPr id="41" name="object 41"/>
            <p:cNvSpPr/>
            <p:nvPr/>
          </p:nvSpPr>
          <p:spPr>
            <a:xfrm>
              <a:off x="6193535" y="5686044"/>
              <a:ext cx="1172845" cy="121285"/>
            </a:xfrm>
            <a:custGeom>
              <a:avLst/>
              <a:gdLst/>
              <a:ahLst/>
              <a:cxnLst/>
              <a:rect l="l" t="t" r="r" b="b"/>
              <a:pathLst>
                <a:path w="1172845" h="121285">
                  <a:moveTo>
                    <a:pt x="0" y="0"/>
                  </a:moveTo>
                  <a:lnTo>
                    <a:pt x="0" y="120992"/>
                  </a:lnTo>
                  <a:lnTo>
                    <a:pt x="1172337" y="120992"/>
                  </a:lnTo>
                </a:path>
              </a:pathLst>
            </a:custGeom>
            <a:ln w="12699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353176" y="57689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627058"/>
            <a:ext cx="6512243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600" dirty="0"/>
              <a:t>Evidence</a:t>
            </a:r>
            <a:r>
              <a:rPr spc="-360" dirty="0"/>
              <a:t> </a:t>
            </a:r>
            <a:r>
              <a:rPr spc="-623" dirty="0"/>
              <a:t>synthesis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06934" y="2228661"/>
            <a:ext cx="4330065" cy="819150"/>
            <a:chOff x="4471289" y="1485774"/>
            <a:chExt cx="2886710" cy="546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4464" y="1488947"/>
              <a:ext cx="2880360" cy="5394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74464" y="1488949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59" h="539750">
                  <a:moveTo>
                    <a:pt x="0" y="89915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6" y="0"/>
                  </a:lnTo>
                  <a:lnTo>
                    <a:pt x="2790444" y="0"/>
                  </a:lnTo>
                  <a:lnTo>
                    <a:pt x="2825442" y="7066"/>
                  </a:lnTo>
                  <a:lnTo>
                    <a:pt x="2854023" y="26336"/>
                  </a:lnTo>
                  <a:lnTo>
                    <a:pt x="2873293" y="54917"/>
                  </a:lnTo>
                  <a:lnTo>
                    <a:pt x="2880360" y="89915"/>
                  </a:lnTo>
                  <a:lnTo>
                    <a:pt x="2880360" y="449579"/>
                  </a:lnTo>
                  <a:lnTo>
                    <a:pt x="2873293" y="484578"/>
                  </a:lnTo>
                  <a:lnTo>
                    <a:pt x="2854023" y="513159"/>
                  </a:lnTo>
                  <a:lnTo>
                    <a:pt x="2825442" y="532429"/>
                  </a:lnTo>
                  <a:lnTo>
                    <a:pt x="2790444" y="539495"/>
                  </a:lnTo>
                  <a:lnTo>
                    <a:pt x="89916" y="539495"/>
                  </a:lnTo>
                  <a:lnTo>
                    <a:pt x="54917" y="532429"/>
                  </a:lnTo>
                  <a:lnTo>
                    <a:pt x="26336" y="513159"/>
                  </a:lnTo>
                  <a:lnTo>
                    <a:pt x="7066" y="484578"/>
                  </a:lnTo>
                  <a:lnTo>
                    <a:pt x="0" y="449579"/>
                  </a:lnTo>
                  <a:lnTo>
                    <a:pt x="0" y="89915"/>
                  </a:lnTo>
                  <a:close/>
                </a:path>
              </a:pathLst>
            </a:custGeom>
            <a:ln w="6350">
              <a:solidFill>
                <a:srgbClr val="D9E5D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09625" y="2390561"/>
            <a:ext cx="2523171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spc="-240" dirty="0">
                <a:latin typeface="Arial"/>
                <a:cs typeface="Arial"/>
              </a:rPr>
              <a:t>Decision</a:t>
            </a:r>
            <a:r>
              <a:rPr sz="2700" b="1" spc="-127" dirty="0">
                <a:latin typeface="Arial"/>
                <a:cs typeface="Arial"/>
              </a:rPr>
              <a:t> </a:t>
            </a:r>
            <a:r>
              <a:rPr sz="2700" b="1" spc="-171" dirty="0">
                <a:latin typeface="Arial"/>
                <a:cs typeface="Arial"/>
              </a:rPr>
              <a:t>Problem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27940" y="4032312"/>
            <a:ext cx="2169795" cy="2169795"/>
            <a:chOff x="3751960" y="2688208"/>
            <a:chExt cx="1446530" cy="14465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5135" y="2691383"/>
              <a:ext cx="1440179" cy="14401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55135" y="26913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79" h="1440179">
                  <a:moveTo>
                    <a:pt x="0" y="720089"/>
                  </a:moveTo>
                  <a:lnTo>
                    <a:pt x="1531" y="672743"/>
                  </a:lnTo>
                  <a:lnTo>
                    <a:pt x="6063" y="626214"/>
                  </a:lnTo>
                  <a:lnTo>
                    <a:pt x="13500" y="580598"/>
                  </a:lnTo>
                  <a:lnTo>
                    <a:pt x="23747" y="535989"/>
                  </a:lnTo>
                  <a:lnTo>
                    <a:pt x="36710" y="492483"/>
                  </a:lnTo>
                  <a:lnTo>
                    <a:pt x="52293" y="450174"/>
                  </a:lnTo>
                  <a:lnTo>
                    <a:pt x="70402" y="409158"/>
                  </a:lnTo>
                  <a:lnTo>
                    <a:pt x="90941" y="369529"/>
                  </a:lnTo>
                  <a:lnTo>
                    <a:pt x="113817" y="331382"/>
                  </a:lnTo>
                  <a:lnTo>
                    <a:pt x="138933" y="294811"/>
                  </a:lnTo>
                  <a:lnTo>
                    <a:pt x="166196" y="259913"/>
                  </a:lnTo>
                  <a:lnTo>
                    <a:pt x="195510" y="226781"/>
                  </a:lnTo>
                  <a:lnTo>
                    <a:pt x="226781" y="195510"/>
                  </a:lnTo>
                  <a:lnTo>
                    <a:pt x="259913" y="166196"/>
                  </a:lnTo>
                  <a:lnTo>
                    <a:pt x="294811" y="138933"/>
                  </a:lnTo>
                  <a:lnTo>
                    <a:pt x="331382" y="113817"/>
                  </a:lnTo>
                  <a:lnTo>
                    <a:pt x="369529" y="90941"/>
                  </a:lnTo>
                  <a:lnTo>
                    <a:pt x="409158" y="70402"/>
                  </a:lnTo>
                  <a:lnTo>
                    <a:pt x="450174" y="52293"/>
                  </a:lnTo>
                  <a:lnTo>
                    <a:pt x="492483" y="36710"/>
                  </a:lnTo>
                  <a:lnTo>
                    <a:pt x="535989" y="23747"/>
                  </a:lnTo>
                  <a:lnTo>
                    <a:pt x="580598" y="13500"/>
                  </a:lnTo>
                  <a:lnTo>
                    <a:pt x="626214" y="6063"/>
                  </a:lnTo>
                  <a:lnTo>
                    <a:pt x="672743" y="1531"/>
                  </a:lnTo>
                  <a:lnTo>
                    <a:pt x="720090" y="0"/>
                  </a:lnTo>
                  <a:lnTo>
                    <a:pt x="767436" y="1531"/>
                  </a:lnTo>
                  <a:lnTo>
                    <a:pt x="813965" y="6063"/>
                  </a:lnTo>
                  <a:lnTo>
                    <a:pt x="859581" y="13500"/>
                  </a:lnTo>
                  <a:lnTo>
                    <a:pt x="904190" y="23747"/>
                  </a:lnTo>
                  <a:lnTo>
                    <a:pt x="947696" y="36710"/>
                  </a:lnTo>
                  <a:lnTo>
                    <a:pt x="990005" y="52293"/>
                  </a:lnTo>
                  <a:lnTo>
                    <a:pt x="1031021" y="70402"/>
                  </a:lnTo>
                  <a:lnTo>
                    <a:pt x="1070650" y="90941"/>
                  </a:lnTo>
                  <a:lnTo>
                    <a:pt x="1108797" y="113817"/>
                  </a:lnTo>
                  <a:lnTo>
                    <a:pt x="1145368" y="138933"/>
                  </a:lnTo>
                  <a:lnTo>
                    <a:pt x="1180266" y="166196"/>
                  </a:lnTo>
                  <a:lnTo>
                    <a:pt x="1213398" y="195510"/>
                  </a:lnTo>
                  <a:lnTo>
                    <a:pt x="1244669" y="226781"/>
                  </a:lnTo>
                  <a:lnTo>
                    <a:pt x="1273983" y="259913"/>
                  </a:lnTo>
                  <a:lnTo>
                    <a:pt x="1301246" y="294811"/>
                  </a:lnTo>
                  <a:lnTo>
                    <a:pt x="1326362" y="331382"/>
                  </a:lnTo>
                  <a:lnTo>
                    <a:pt x="1349238" y="369529"/>
                  </a:lnTo>
                  <a:lnTo>
                    <a:pt x="1369777" y="409158"/>
                  </a:lnTo>
                  <a:lnTo>
                    <a:pt x="1387886" y="450174"/>
                  </a:lnTo>
                  <a:lnTo>
                    <a:pt x="1403469" y="492483"/>
                  </a:lnTo>
                  <a:lnTo>
                    <a:pt x="1416432" y="535989"/>
                  </a:lnTo>
                  <a:lnTo>
                    <a:pt x="1426679" y="580598"/>
                  </a:lnTo>
                  <a:lnTo>
                    <a:pt x="1434116" y="626214"/>
                  </a:lnTo>
                  <a:lnTo>
                    <a:pt x="1438648" y="672743"/>
                  </a:lnTo>
                  <a:lnTo>
                    <a:pt x="1440180" y="720089"/>
                  </a:lnTo>
                  <a:lnTo>
                    <a:pt x="1438648" y="767436"/>
                  </a:lnTo>
                  <a:lnTo>
                    <a:pt x="1434116" y="813965"/>
                  </a:lnTo>
                  <a:lnTo>
                    <a:pt x="1426679" y="859581"/>
                  </a:lnTo>
                  <a:lnTo>
                    <a:pt x="1416432" y="904190"/>
                  </a:lnTo>
                  <a:lnTo>
                    <a:pt x="1403469" y="947696"/>
                  </a:lnTo>
                  <a:lnTo>
                    <a:pt x="1387886" y="990005"/>
                  </a:lnTo>
                  <a:lnTo>
                    <a:pt x="1369777" y="1031021"/>
                  </a:lnTo>
                  <a:lnTo>
                    <a:pt x="1349238" y="1070650"/>
                  </a:lnTo>
                  <a:lnTo>
                    <a:pt x="1326362" y="1108797"/>
                  </a:lnTo>
                  <a:lnTo>
                    <a:pt x="1301246" y="1145368"/>
                  </a:lnTo>
                  <a:lnTo>
                    <a:pt x="1273983" y="1180266"/>
                  </a:lnTo>
                  <a:lnTo>
                    <a:pt x="1244669" y="1213398"/>
                  </a:lnTo>
                  <a:lnTo>
                    <a:pt x="1213398" y="1244669"/>
                  </a:lnTo>
                  <a:lnTo>
                    <a:pt x="1180266" y="1273983"/>
                  </a:lnTo>
                  <a:lnTo>
                    <a:pt x="1145368" y="1301246"/>
                  </a:lnTo>
                  <a:lnTo>
                    <a:pt x="1108797" y="1326362"/>
                  </a:lnTo>
                  <a:lnTo>
                    <a:pt x="1070650" y="1349238"/>
                  </a:lnTo>
                  <a:lnTo>
                    <a:pt x="1031021" y="1369777"/>
                  </a:lnTo>
                  <a:lnTo>
                    <a:pt x="990005" y="1387886"/>
                  </a:lnTo>
                  <a:lnTo>
                    <a:pt x="947696" y="1403469"/>
                  </a:lnTo>
                  <a:lnTo>
                    <a:pt x="904190" y="1416432"/>
                  </a:lnTo>
                  <a:lnTo>
                    <a:pt x="859581" y="1426679"/>
                  </a:lnTo>
                  <a:lnTo>
                    <a:pt x="813965" y="1434116"/>
                  </a:lnTo>
                  <a:lnTo>
                    <a:pt x="767436" y="1438648"/>
                  </a:lnTo>
                  <a:lnTo>
                    <a:pt x="720090" y="1440180"/>
                  </a:lnTo>
                  <a:lnTo>
                    <a:pt x="672743" y="1438648"/>
                  </a:lnTo>
                  <a:lnTo>
                    <a:pt x="626214" y="1434116"/>
                  </a:lnTo>
                  <a:lnTo>
                    <a:pt x="580598" y="1426679"/>
                  </a:lnTo>
                  <a:lnTo>
                    <a:pt x="535989" y="1416432"/>
                  </a:lnTo>
                  <a:lnTo>
                    <a:pt x="492483" y="1403469"/>
                  </a:lnTo>
                  <a:lnTo>
                    <a:pt x="450174" y="1387886"/>
                  </a:lnTo>
                  <a:lnTo>
                    <a:pt x="409158" y="1369777"/>
                  </a:lnTo>
                  <a:lnTo>
                    <a:pt x="369529" y="1349238"/>
                  </a:lnTo>
                  <a:lnTo>
                    <a:pt x="331382" y="1326362"/>
                  </a:lnTo>
                  <a:lnTo>
                    <a:pt x="294811" y="1301246"/>
                  </a:lnTo>
                  <a:lnTo>
                    <a:pt x="259913" y="1273983"/>
                  </a:lnTo>
                  <a:lnTo>
                    <a:pt x="226781" y="1244669"/>
                  </a:lnTo>
                  <a:lnTo>
                    <a:pt x="195510" y="1213398"/>
                  </a:lnTo>
                  <a:lnTo>
                    <a:pt x="166196" y="1180266"/>
                  </a:lnTo>
                  <a:lnTo>
                    <a:pt x="138933" y="1145368"/>
                  </a:lnTo>
                  <a:lnTo>
                    <a:pt x="113817" y="1108797"/>
                  </a:lnTo>
                  <a:lnTo>
                    <a:pt x="90941" y="1070650"/>
                  </a:lnTo>
                  <a:lnTo>
                    <a:pt x="70402" y="1031021"/>
                  </a:lnTo>
                  <a:lnTo>
                    <a:pt x="52293" y="990005"/>
                  </a:lnTo>
                  <a:lnTo>
                    <a:pt x="36710" y="947696"/>
                  </a:lnTo>
                  <a:lnTo>
                    <a:pt x="23747" y="904190"/>
                  </a:lnTo>
                  <a:lnTo>
                    <a:pt x="13500" y="859581"/>
                  </a:lnTo>
                  <a:lnTo>
                    <a:pt x="6063" y="813965"/>
                  </a:lnTo>
                  <a:lnTo>
                    <a:pt x="1531" y="767436"/>
                  </a:lnTo>
                  <a:lnTo>
                    <a:pt x="0" y="720089"/>
                  </a:lnTo>
                  <a:close/>
                </a:path>
              </a:pathLst>
            </a:custGeom>
            <a:ln w="6350">
              <a:solidFill>
                <a:srgbClr val="F96E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5279" y="2869692"/>
              <a:ext cx="684275" cy="78943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31485" y="4389515"/>
            <a:ext cx="1161098" cy="1357423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algn="ctr">
              <a:spcBef>
                <a:spcPts val="405"/>
              </a:spcBef>
            </a:pPr>
            <a:r>
              <a:rPr sz="4200" b="1" spc="-593" dirty="0">
                <a:latin typeface="Arial"/>
                <a:cs typeface="Arial"/>
              </a:rPr>
              <a:t>A</a:t>
            </a:r>
            <a:endParaRPr sz="4200">
              <a:latin typeface="Arial"/>
              <a:cs typeface="Arial"/>
            </a:endParaRPr>
          </a:p>
          <a:p>
            <a:pPr marL="2858" algn="ctr">
              <a:spcBef>
                <a:spcPts val="143"/>
              </a:spcBef>
            </a:pPr>
            <a:r>
              <a:rPr sz="2100" b="1" spc="-15" dirty="0">
                <a:latin typeface="Arial"/>
                <a:cs typeface="Arial"/>
              </a:rPr>
              <a:t>Standard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00" spc="-60" dirty="0">
                <a:latin typeface="Arial"/>
                <a:cs typeface="Arial"/>
              </a:rPr>
              <a:t>Treatment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948480" y="4032312"/>
            <a:ext cx="2169795" cy="2169795"/>
            <a:chOff x="6632320" y="2688208"/>
            <a:chExt cx="1446530" cy="1446530"/>
          </a:xfrm>
        </p:grpSpPr>
        <p:sp>
          <p:nvSpPr>
            <p:cNvPr id="13" name="object 13"/>
            <p:cNvSpPr/>
            <p:nvPr/>
          </p:nvSpPr>
          <p:spPr>
            <a:xfrm>
              <a:off x="6635495" y="26913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79" h="1440179">
                  <a:moveTo>
                    <a:pt x="0" y="720089"/>
                  </a:moveTo>
                  <a:lnTo>
                    <a:pt x="1531" y="672743"/>
                  </a:lnTo>
                  <a:lnTo>
                    <a:pt x="6063" y="626214"/>
                  </a:lnTo>
                  <a:lnTo>
                    <a:pt x="13500" y="580598"/>
                  </a:lnTo>
                  <a:lnTo>
                    <a:pt x="23747" y="535989"/>
                  </a:lnTo>
                  <a:lnTo>
                    <a:pt x="36710" y="492483"/>
                  </a:lnTo>
                  <a:lnTo>
                    <a:pt x="52293" y="450174"/>
                  </a:lnTo>
                  <a:lnTo>
                    <a:pt x="70402" y="409158"/>
                  </a:lnTo>
                  <a:lnTo>
                    <a:pt x="90941" y="369529"/>
                  </a:lnTo>
                  <a:lnTo>
                    <a:pt x="113817" y="331382"/>
                  </a:lnTo>
                  <a:lnTo>
                    <a:pt x="138933" y="294811"/>
                  </a:lnTo>
                  <a:lnTo>
                    <a:pt x="166196" y="259913"/>
                  </a:lnTo>
                  <a:lnTo>
                    <a:pt x="195510" y="226781"/>
                  </a:lnTo>
                  <a:lnTo>
                    <a:pt x="226781" y="195510"/>
                  </a:lnTo>
                  <a:lnTo>
                    <a:pt x="259913" y="166196"/>
                  </a:lnTo>
                  <a:lnTo>
                    <a:pt x="294811" y="138933"/>
                  </a:lnTo>
                  <a:lnTo>
                    <a:pt x="331382" y="113817"/>
                  </a:lnTo>
                  <a:lnTo>
                    <a:pt x="369529" y="90941"/>
                  </a:lnTo>
                  <a:lnTo>
                    <a:pt x="409158" y="70402"/>
                  </a:lnTo>
                  <a:lnTo>
                    <a:pt x="450174" y="52293"/>
                  </a:lnTo>
                  <a:lnTo>
                    <a:pt x="492483" y="36710"/>
                  </a:lnTo>
                  <a:lnTo>
                    <a:pt x="535989" y="23747"/>
                  </a:lnTo>
                  <a:lnTo>
                    <a:pt x="580598" y="13500"/>
                  </a:lnTo>
                  <a:lnTo>
                    <a:pt x="626214" y="6063"/>
                  </a:lnTo>
                  <a:lnTo>
                    <a:pt x="672743" y="1531"/>
                  </a:lnTo>
                  <a:lnTo>
                    <a:pt x="720090" y="0"/>
                  </a:lnTo>
                  <a:lnTo>
                    <a:pt x="767436" y="1531"/>
                  </a:lnTo>
                  <a:lnTo>
                    <a:pt x="813965" y="6063"/>
                  </a:lnTo>
                  <a:lnTo>
                    <a:pt x="859581" y="13500"/>
                  </a:lnTo>
                  <a:lnTo>
                    <a:pt x="904190" y="23747"/>
                  </a:lnTo>
                  <a:lnTo>
                    <a:pt x="947696" y="36710"/>
                  </a:lnTo>
                  <a:lnTo>
                    <a:pt x="990005" y="52293"/>
                  </a:lnTo>
                  <a:lnTo>
                    <a:pt x="1031021" y="70402"/>
                  </a:lnTo>
                  <a:lnTo>
                    <a:pt x="1070650" y="90941"/>
                  </a:lnTo>
                  <a:lnTo>
                    <a:pt x="1108797" y="113817"/>
                  </a:lnTo>
                  <a:lnTo>
                    <a:pt x="1145368" y="138933"/>
                  </a:lnTo>
                  <a:lnTo>
                    <a:pt x="1180266" y="166196"/>
                  </a:lnTo>
                  <a:lnTo>
                    <a:pt x="1213398" y="195510"/>
                  </a:lnTo>
                  <a:lnTo>
                    <a:pt x="1244669" y="226781"/>
                  </a:lnTo>
                  <a:lnTo>
                    <a:pt x="1273983" y="259913"/>
                  </a:lnTo>
                  <a:lnTo>
                    <a:pt x="1301246" y="294811"/>
                  </a:lnTo>
                  <a:lnTo>
                    <a:pt x="1326362" y="331382"/>
                  </a:lnTo>
                  <a:lnTo>
                    <a:pt x="1349238" y="369529"/>
                  </a:lnTo>
                  <a:lnTo>
                    <a:pt x="1369777" y="409158"/>
                  </a:lnTo>
                  <a:lnTo>
                    <a:pt x="1387886" y="450174"/>
                  </a:lnTo>
                  <a:lnTo>
                    <a:pt x="1403469" y="492483"/>
                  </a:lnTo>
                  <a:lnTo>
                    <a:pt x="1416432" y="535989"/>
                  </a:lnTo>
                  <a:lnTo>
                    <a:pt x="1426679" y="580598"/>
                  </a:lnTo>
                  <a:lnTo>
                    <a:pt x="1434116" y="626214"/>
                  </a:lnTo>
                  <a:lnTo>
                    <a:pt x="1438648" y="672743"/>
                  </a:lnTo>
                  <a:lnTo>
                    <a:pt x="1440180" y="720089"/>
                  </a:lnTo>
                  <a:lnTo>
                    <a:pt x="1438648" y="767436"/>
                  </a:lnTo>
                  <a:lnTo>
                    <a:pt x="1434116" y="813965"/>
                  </a:lnTo>
                  <a:lnTo>
                    <a:pt x="1426679" y="859581"/>
                  </a:lnTo>
                  <a:lnTo>
                    <a:pt x="1416432" y="904190"/>
                  </a:lnTo>
                  <a:lnTo>
                    <a:pt x="1403469" y="947696"/>
                  </a:lnTo>
                  <a:lnTo>
                    <a:pt x="1387886" y="990005"/>
                  </a:lnTo>
                  <a:lnTo>
                    <a:pt x="1369777" y="1031021"/>
                  </a:lnTo>
                  <a:lnTo>
                    <a:pt x="1349238" y="1070650"/>
                  </a:lnTo>
                  <a:lnTo>
                    <a:pt x="1326362" y="1108797"/>
                  </a:lnTo>
                  <a:lnTo>
                    <a:pt x="1301246" y="1145368"/>
                  </a:lnTo>
                  <a:lnTo>
                    <a:pt x="1273983" y="1180266"/>
                  </a:lnTo>
                  <a:lnTo>
                    <a:pt x="1244669" y="1213398"/>
                  </a:lnTo>
                  <a:lnTo>
                    <a:pt x="1213398" y="1244669"/>
                  </a:lnTo>
                  <a:lnTo>
                    <a:pt x="1180266" y="1273983"/>
                  </a:lnTo>
                  <a:lnTo>
                    <a:pt x="1145368" y="1301246"/>
                  </a:lnTo>
                  <a:lnTo>
                    <a:pt x="1108797" y="1326362"/>
                  </a:lnTo>
                  <a:lnTo>
                    <a:pt x="1070650" y="1349238"/>
                  </a:lnTo>
                  <a:lnTo>
                    <a:pt x="1031021" y="1369777"/>
                  </a:lnTo>
                  <a:lnTo>
                    <a:pt x="990005" y="1387886"/>
                  </a:lnTo>
                  <a:lnTo>
                    <a:pt x="947696" y="1403469"/>
                  </a:lnTo>
                  <a:lnTo>
                    <a:pt x="904190" y="1416432"/>
                  </a:lnTo>
                  <a:lnTo>
                    <a:pt x="859581" y="1426679"/>
                  </a:lnTo>
                  <a:lnTo>
                    <a:pt x="813965" y="1434116"/>
                  </a:lnTo>
                  <a:lnTo>
                    <a:pt x="767436" y="1438648"/>
                  </a:lnTo>
                  <a:lnTo>
                    <a:pt x="720090" y="1440180"/>
                  </a:lnTo>
                  <a:lnTo>
                    <a:pt x="672743" y="1438648"/>
                  </a:lnTo>
                  <a:lnTo>
                    <a:pt x="626214" y="1434116"/>
                  </a:lnTo>
                  <a:lnTo>
                    <a:pt x="580598" y="1426679"/>
                  </a:lnTo>
                  <a:lnTo>
                    <a:pt x="535989" y="1416432"/>
                  </a:lnTo>
                  <a:lnTo>
                    <a:pt x="492483" y="1403469"/>
                  </a:lnTo>
                  <a:lnTo>
                    <a:pt x="450174" y="1387886"/>
                  </a:lnTo>
                  <a:lnTo>
                    <a:pt x="409158" y="1369777"/>
                  </a:lnTo>
                  <a:lnTo>
                    <a:pt x="369529" y="1349238"/>
                  </a:lnTo>
                  <a:lnTo>
                    <a:pt x="331382" y="1326362"/>
                  </a:lnTo>
                  <a:lnTo>
                    <a:pt x="294811" y="1301246"/>
                  </a:lnTo>
                  <a:lnTo>
                    <a:pt x="259913" y="1273983"/>
                  </a:lnTo>
                  <a:lnTo>
                    <a:pt x="226781" y="1244669"/>
                  </a:lnTo>
                  <a:lnTo>
                    <a:pt x="195510" y="1213398"/>
                  </a:lnTo>
                  <a:lnTo>
                    <a:pt x="166196" y="1180266"/>
                  </a:lnTo>
                  <a:lnTo>
                    <a:pt x="138933" y="1145368"/>
                  </a:lnTo>
                  <a:lnTo>
                    <a:pt x="113817" y="1108797"/>
                  </a:lnTo>
                  <a:lnTo>
                    <a:pt x="90941" y="1070650"/>
                  </a:lnTo>
                  <a:lnTo>
                    <a:pt x="70402" y="1031021"/>
                  </a:lnTo>
                  <a:lnTo>
                    <a:pt x="52293" y="990005"/>
                  </a:lnTo>
                  <a:lnTo>
                    <a:pt x="36710" y="947696"/>
                  </a:lnTo>
                  <a:lnTo>
                    <a:pt x="23747" y="904190"/>
                  </a:lnTo>
                  <a:lnTo>
                    <a:pt x="13500" y="859581"/>
                  </a:lnTo>
                  <a:lnTo>
                    <a:pt x="6063" y="813965"/>
                  </a:lnTo>
                  <a:lnTo>
                    <a:pt x="1531" y="767436"/>
                  </a:lnTo>
                  <a:lnTo>
                    <a:pt x="0" y="720089"/>
                  </a:lnTo>
                  <a:close/>
                </a:path>
              </a:pathLst>
            </a:custGeom>
            <a:ln w="6350">
              <a:solidFill>
                <a:srgbClr val="F96E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5495" y="2691383"/>
              <a:ext cx="1440179" cy="14401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3260" y="2869691"/>
              <a:ext cx="669035" cy="7894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51386" y="4389515"/>
            <a:ext cx="1161098" cy="1357423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algn="ctr">
              <a:spcBef>
                <a:spcPts val="405"/>
              </a:spcBef>
            </a:pPr>
            <a:r>
              <a:rPr sz="4200" b="1" spc="-780" dirty="0">
                <a:latin typeface="Arial"/>
                <a:cs typeface="Arial"/>
              </a:rPr>
              <a:t>B</a:t>
            </a:r>
            <a:endParaRPr sz="4200">
              <a:latin typeface="Arial"/>
              <a:cs typeface="Arial"/>
            </a:endParaRPr>
          </a:p>
          <a:p>
            <a:pPr marL="1905" algn="ctr">
              <a:spcBef>
                <a:spcPts val="143"/>
              </a:spcBef>
            </a:pPr>
            <a:r>
              <a:rPr sz="2100" b="1" spc="-38" dirty="0">
                <a:latin typeface="Arial"/>
                <a:cs typeface="Arial"/>
              </a:rPr>
              <a:t>New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00" spc="-60" dirty="0">
                <a:latin typeface="Arial"/>
                <a:cs typeface="Arial"/>
              </a:rPr>
              <a:t>Treatment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5078" y="6332879"/>
            <a:ext cx="2616518" cy="6655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 marR="45720" indent="660083">
              <a:spcBef>
                <a:spcPts val="150"/>
              </a:spcBef>
            </a:pPr>
            <a:r>
              <a:rPr sz="2100" b="1" spc="-225" dirty="0">
                <a:solidFill>
                  <a:srgbClr val="E83A08"/>
                </a:solidFill>
                <a:latin typeface="Arial"/>
                <a:cs typeface="Arial"/>
              </a:rPr>
              <a:t>Cost</a:t>
            </a:r>
            <a:r>
              <a:rPr sz="2100" b="1" spc="-120" dirty="0">
                <a:solidFill>
                  <a:srgbClr val="E83A08"/>
                </a:solidFill>
                <a:latin typeface="Arial"/>
                <a:cs typeface="Arial"/>
              </a:rPr>
              <a:t> </a:t>
            </a:r>
            <a:r>
              <a:rPr sz="2100" b="1" spc="-255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r>
              <a:rPr sz="2100" b="1" spc="-90" dirty="0">
                <a:solidFill>
                  <a:srgbClr val="E83A08"/>
                </a:solidFill>
                <a:latin typeface="Arial"/>
                <a:cs typeface="Arial"/>
              </a:rPr>
              <a:t> </a:t>
            </a:r>
            <a:r>
              <a:rPr sz="2100" b="1" spc="-30" dirty="0">
                <a:solidFill>
                  <a:srgbClr val="E83A08"/>
                </a:solidFill>
                <a:latin typeface="Arial"/>
                <a:cs typeface="Arial"/>
              </a:rPr>
              <a:t>(C</a:t>
            </a:r>
            <a:r>
              <a:rPr sz="2025" b="1" spc="-45" baseline="-21604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r>
              <a:rPr sz="2100" b="1" spc="-30" dirty="0">
                <a:solidFill>
                  <a:srgbClr val="E83A08"/>
                </a:solidFill>
                <a:latin typeface="Arial"/>
                <a:cs typeface="Arial"/>
              </a:rPr>
              <a:t>) </a:t>
            </a:r>
            <a:r>
              <a:rPr sz="2100" b="1" spc="-113" dirty="0">
                <a:solidFill>
                  <a:srgbClr val="E83A08"/>
                </a:solidFill>
                <a:latin typeface="Arial"/>
                <a:cs typeface="Arial"/>
              </a:rPr>
              <a:t>Health</a:t>
            </a:r>
            <a:r>
              <a:rPr sz="2100" b="1" spc="-98" dirty="0">
                <a:solidFill>
                  <a:srgbClr val="E83A08"/>
                </a:solidFill>
                <a:latin typeface="Arial"/>
                <a:cs typeface="Arial"/>
              </a:rPr>
              <a:t> </a:t>
            </a:r>
            <a:r>
              <a:rPr sz="2100" b="1" spc="-165" dirty="0">
                <a:solidFill>
                  <a:srgbClr val="E83A08"/>
                </a:solidFill>
                <a:latin typeface="Arial"/>
                <a:cs typeface="Arial"/>
              </a:rPr>
              <a:t>Outcome</a:t>
            </a:r>
            <a:r>
              <a:rPr sz="2100" b="1" spc="-98" dirty="0">
                <a:solidFill>
                  <a:srgbClr val="E83A08"/>
                </a:solidFill>
                <a:latin typeface="Arial"/>
                <a:cs typeface="Arial"/>
              </a:rPr>
              <a:t> </a:t>
            </a:r>
            <a:r>
              <a:rPr sz="2100" b="1" spc="-255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r>
              <a:rPr sz="2100" b="1" spc="-60" dirty="0">
                <a:solidFill>
                  <a:srgbClr val="E83A08"/>
                </a:solidFill>
                <a:latin typeface="Arial"/>
                <a:cs typeface="Arial"/>
              </a:rPr>
              <a:t> </a:t>
            </a:r>
            <a:r>
              <a:rPr sz="2100" b="1" spc="-143" dirty="0">
                <a:solidFill>
                  <a:srgbClr val="E83A08"/>
                </a:solidFill>
                <a:latin typeface="Arial"/>
                <a:cs typeface="Arial"/>
              </a:rPr>
              <a:t>(E</a:t>
            </a:r>
            <a:r>
              <a:rPr sz="2025" b="1" spc="-213" baseline="-21604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r>
              <a:rPr sz="2100" b="1" spc="-143" dirty="0">
                <a:solidFill>
                  <a:srgbClr val="E83A08"/>
                </a:solidFill>
                <a:latin typeface="Arial"/>
                <a:cs typeface="Arial"/>
              </a:rPr>
              <a:t>)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8646" y="3022377"/>
            <a:ext cx="2790825" cy="4465320"/>
            <a:chOff x="4985764" y="2014918"/>
            <a:chExt cx="1860550" cy="2976880"/>
          </a:xfrm>
        </p:grpSpPr>
        <p:sp>
          <p:nvSpPr>
            <p:cNvPr id="19" name="object 19"/>
            <p:cNvSpPr/>
            <p:nvPr/>
          </p:nvSpPr>
          <p:spPr>
            <a:xfrm>
              <a:off x="5915405" y="2029205"/>
              <a:ext cx="878840" cy="824865"/>
            </a:xfrm>
            <a:custGeom>
              <a:avLst/>
              <a:gdLst/>
              <a:ahLst/>
              <a:cxnLst/>
              <a:rect l="l" t="t" r="r" b="b"/>
              <a:pathLst>
                <a:path w="878840" h="824864">
                  <a:moveTo>
                    <a:pt x="0" y="0"/>
                  </a:moveTo>
                  <a:lnTo>
                    <a:pt x="878776" y="82428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754444" y="2812451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648" y="0"/>
                  </a:moveTo>
                  <a:lnTo>
                    <a:pt x="0" y="62522"/>
                  </a:lnTo>
                  <a:lnTo>
                    <a:pt x="91846" y="89916"/>
                  </a:lnTo>
                  <a:lnTo>
                    <a:pt x="586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5037872" y="2029205"/>
              <a:ext cx="878840" cy="824865"/>
            </a:xfrm>
            <a:custGeom>
              <a:avLst/>
              <a:gdLst/>
              <a:ahLst/>
              <a:cxnLst/>
              <a:rect l="l" t="t" r="r" b="b"/>
              <a:pathLst>
                <a:path w="878839" h="824864">
                  <a:moveTo>
                    <a:pt x="878776" y="0"/>
                  </a:moveTo>
                  <a:lnTo>
                    <a:pt x="0" y="82428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985764" y="2812451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3197" y="0"/>
                  </a:moveTo>
                  <a:lnTo>
                    <a:pt x="0" y="89916"/>
                  </a:lnTo>
                  <a:lnTo>
                    <a:pt x="91846" y="62522"/>
                  </a:lnTo>
                  <a:lnTo>
                    <a:pt x="33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267515" y="3411473"/>
              <a:ext cx="1297305" cy="0"/>
            </a:xfrm>
            <a:custGeom>
              <a:avLst/>
              <a:gdLst/>
              <a:ahLst/>
              <a:cxnLst/>
              <a:rect l="l" t="t" r="r" b="b"/>
              <a:pathLst>
                <a:path w="1297304">
                  <a:moveTo>
                    <a:pt x="0" y="0"/>
                  </a:moveTo>
                  <a:lnTo>
                    <a:pt x="129712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6078" y="3368611"/>
              <a:ext cx="1440180" cy="1616710"/>
            </a:xfrm>
            <a:custGeom>
              <a:avLst/>
              <a:gdLst/>
              <a:ahLst/>
              <a:cxnLst/>
              <a:rect l="l" t="t" r="r" b="b"/>
              <a:pathLst>
                <a:path w="1440179" h="1616710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  <a:path w="1440179" h="1616710">
                  <a:moveTo>
                    <a:pt x="1037082" y="1374076"/>
                  </a:moveTo>
                  <a:lnTo>
                    <a:pt x="915924" y="1374076"/>
                  </a:lnTo>
                  <a:lnTo>
                    <a:pt x="915924" y="177736"/>
                  </a:lnTo>
                  <a:lnTo>
                    <a:pt x="673608" y="177736"/>
                  </a:lnTo>
                  <a:lnTo>
                    <a:pt x="673608" y="1374076"/>
                  </a:lnTo>
                  <a:lnTo>
                    <a:pt x="552450" y="1374076"/>
                  </a:lnTo>
                  <a:lnTo>
                    <a:pt x="794766" y="1616392"/>
                  </a:lnTo>
                  <a:lnTo>
                    <a:pt x="1037082" y="1374076"/>
                  </a:lnTo>
                  <a:close/>
                </a:path>
                <a:path w="1440179" h="1616710">
                  <a:moveTo>
                    <a:pt x="1439989" y="42862"/>
                  </a:moveTo>
                  <a:lnTo>
                    <a:pt x="1354264" y="0"/>
                  </a:lnTo>
                  <a:lnTo>
                    <a:pt x="1354264" y="85725"/>
                  </a:lnTo>
                  <a:lnTo>
                    <a:pt x="1439989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748527" y="3546347"/>
              <a:ext cx="485140" cy="1438910"/>
            </a:xfrm>
            <a:custGeom>
              <a:avLst/>
              <a:gdLst/>
              <a:ahLst/>
              <a:cxnLst/>
              <a:rect l="l" t="t" r="r" b="b"/>
              <a:pathLst>
                <a:path w="485139" h="1438910">
                  <a:moveTo>
                    <a:pt x="0" y="1196339"/>
                  </a:moveTo>
                  <a:lnTo>
                    <a:pt x="121157" y="1196339"/>
                  </a:lnTo>
                  <a:lnTo>
                    <a:pt x="121157" y="0"/>
                  </a:lnTo>
                  <a:lnTo>
                    <a:pt x="363474" y="0"/>
                  </a:lnTo>
                  <a:lnTo>
                    <a:pt x="363474" y="1196339"/>
                  </a:lnTo>
                  <a:lnTo>
                    <a:pt x="484631" y="1196339"/>
                  </a:lnTo>
                  <a:lnTo>
                    <a:pt x="242315" y="1438655"/>
                  </a:lnTo>
                  <a:lnTo>
                    <a:pt x="0" y="11963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991269" y="6355563"/>
            <a:ext cx="2383155" cy="66556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7150" marR="45720" indent="660083">
              <a:spcBef>
                <a:spcPts val="150"/>
              </a:spcBef>
            </a:pPr>
            <a:r>
              <a:rPr sz="2100" b="1" spc="-225" dirty="0">
                <a:solidFill>
                  <a:srgbClr val="F96E46"/>
                </a:solidFill>
                <a:latin typeface="Arial"/>
                <a:cs typeface="Arial"/>
              </a:rPr>
              <a:t>Cost</a:t>
            </a:r>
            <a:r>
              <a:rPr sz="2100" b="1" spc="-120" dirty="0">
                <a:solidFill>
                  <a:srgbClr val="F96E46"/>
                </a:solidFill>
                <a:latin typeface="Arial"/>
                <a:cs typeface="Arial"/>
              </a:rPr>
              <a:t> </a:t>
            </a:r>
            <a:r>
              <a:rPr sz="2100" b="1" spc="-30" dirty="0">
                <a:solidFill>
                  <a:srgbClr val="F96E46"/>
                </a:solidFill>
                <a:latin typeface="Arial"/>
                <a:cs typeface="Arial"/>
              </a:rPr>
              <a:t>(C</a:t>
            </a:r>
            <a:r>
              <a:rPr sz="2025" b="1" spc="-45" baseline="-21604" dirty="0">
                <a:solidFill>
                  <a:srgbClr val="F96E46"/>
                </a:solidFill>
                <a:latin typeface="Arial"/>
                <a:cs typeface="Arial"/>
              </a:rPr>
              <a:t>B</a:t>
            </a:r>
            <a:r>
              <a:rPr sz="2100" b="1" spc="-30" dirty="0">
                <a:solidFill>
                  <a:srgbClr val="F96E46"/>
                </a:solidFill>
                <a:latin typeface="Arial"/>
                <a:cs typeface="Arial"/>
              </a:rPr>
              <a:t>) </a:t>
            </a:r>
            <a:r>
              <a:rPr sz="2100" b="1" spc="-113" dirty="0">
                <a:solidFill>
                  <a:srgbClr val="F96E46"/>
                </a:solidFill>
                <a:latin typeface="Arial"/>
                <a:cs typeface="Arial"/>
              </a:rPr>
              <a:t>Health</a:t>
            </a:r>
            <a:r>
              <a:rPr sz="2100" b="1" spc="-83" dirty="0">
                <a:solidFill>
                  <a:srgbClr val="F96E46"/>
                </a:solidFill>
                <a:latin typeface="Arial"/>
                <a:cs typeface="Arial"/>
              </a:rPr>
              <a:t> </a:t>
            </a:r>
            <a:r>
              <a:rPr sz="2100" b="1" spc="-171" dirty="0">
                <a:solidFill>
                  <a:srgbClr val="F96E46"/>
                </a:solidFill>
                <a:latin typeface="Arial"/>
                <a:cs typeface="Arial"/>
              </a:rPr>
              <a:t>Outcome</a:t>
            </a:r>
            <a:r>
              <a:rPr sz="2100" b="1" spc="-60" dirty="0">
                <a:solidFill>
                  <a:srgbClr val="F96E46"/>
                </a:solidFill>
                <a:latin typeface="Arial"/>
                <a:cs typeface="Arial"/>
              </a:rPr>
              <a:t> </a:t>
            </a:r>
            <a:r>
              <a:rPr sz="2100" b="1" spc="-158" dirty="0">
                <a:solidFill>
                  <a:srgbClr val="F96E46"/>
                </a:solidFill>
                <a:latin typeface="Arial"/>
                <a:cs typeface="Arial"/>
              </a:rPr>
              <a:t>(E</a:t>
            </a:r>
            <a:r>
              <a:rPr sz="2025" b="1" spc="-236" baseline="-21604" dirty="0">
                <a:solidFill>
                  <a:srgbClr val="F96E46"/>
                </a:solidFill>
                <a:latin typeface="Arial"/>
                <a:cs typeface="Arial"/>
              </a:rPr>
              <a:t>B</a:t>
            </a:r>
            <a:r>
              <a:rPr sz="2100" b="1" spc="-158" dirty="0">
                <a:solidFill>
                  <a:srgbClr val="F96E46"/>
                </a:solidFill>
                <a:latin typeface="Arial"/>
                <a:cs typeface="Arial"/>
              </a:rPr>
              <a:t>)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81891" y="7613040"/>
            <a:ext cx="1604010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57150">
              <a:spcBef>
                <a:spcPts val="143"/>
              </a:spcBef>
            </a:pPr>
            <a:r>
              <a:rPr sz="4200" b="1" spc="-638" dirty="0">
                <a:solidFill>
                  <a:srgbClr val="F96E46"/>
                </a:solidFill>
                <a:latin typeface="Arial"/>
                <a:cs typeface="Arial"/>
              </a:rPr>
              <a:t>C</a:t>
            </a:r>
            <a:r>
              <a:rPr sz="4163" b="1" spc="-956" baseline="-21021" dirty="0">
                <a:solidFill>
                  <a:srgbClr val="F96E46"/>
                </a:solidFill>
                <a:latin typeface="Arial"/>
                <a:cs typeface="Arial"/>
              </a:rPr>
              <a:t>B</a:t>
            </a:r>
            <a:r>
              <a:rPr sz="4163" b="1" spc="326" baseline="-21021" dirty="0">
                <a:solidFill>
                  <a:srgbClr val="F96E46"/>
                </a:solidFill>
                <a:latin typeface="Arial"/>
                <a:cs typeface="Arial"/>
              </a:rPr>
              <a:t> </a:t>
            </a:r>
            <a:r>
              <a:rPr sz="4200" b="1" spc="-270" dirty="0">
                <a:latin typeface="Arial"/>
                <a:cs typeface="Arial"/>
              </a:rPr>
              <a:t>–</a:t>
            </a:r>
            <a:r>
              <a:rPr sz="4200" b="1" spc="-210" dirty="0">
                <a:latin typeface="Arial"/>
                <a:cs typeface="Arial"/>
              </a:rPr>
              <a:t> </a:t>
            </a:r>
            <a:r>
              <a:rPr sz="4200" b="1" spc="-614" dirty="0">
                <a:solidFill>
                  <a:srgbClr val="E83A08"/>
                </a:solidFill>
                <a:latin typeface="Arial"/>
                <a:cs typeface="Arial"/>
              </a:rPr>
              <a:t>C</a:t>
            </a:r>
            <a:r>
              <a:rPr sz="4163" b="1" spc="-923" baseline="-21021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endParaRPr sz="4163" baseline="-21021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05741" y="8559445"/>
            <a:ext cx="238125" cy="45012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>
              <a:spcBef>
                <a:spcPts val="180"/>
              </a:spcBef>
            </a:pPr>
            <a:r>
              <a:rPr sz="2775" b="1" spc="-518" dirty="0">
                <a:solidFill>
                  <a:srgbClr val="F96E46"/>
                </a:solidFill>
                <a:latin typeface="Arial"/>
                <a:cs typeface="Arial"/>
              </a:rPr>
              <a:t>B</a:t>
            </a:r>
            <a:endParaRPr sz="2775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45138" y="8253121"/>
            <a:ext cx="1267778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  <a:tabLst>
                <a:tab pos="599123" algn="l"/>
              </a:tabLst>
            </a:pPr>
            <a:r>
              <a:rPr sz="4200" b="1" spc="-832" dirty="0">
                <a:solidFill>
                  <a:srgbClr val="F96E46"/>
                </a:solidFill>
                <a:latin typeface="Arial"/>
                <a:cs typeface="Arial"/>
              </a:rPr>
              <a:t>E</a:t>
            </a:r>
            <a:r>
              <a:rPr sz="4200" b="1" dirty="0">
                <a:solidFill>
                  <a:srgbClr val="F96E46"/>
                </a:solidFill>
                <a:latin typeface="Arial"/>
                <a:cs typeface="Arial"/>
              </a:rPr>
              <a:t>	</a:t>
            </a:r>
            <a:r>
              <a:rPr sz="4200" b="1" spc="-270" dirty="0">
                <a:latin typeface="Arial"/>
                <a:cs typeface="Arial"/>
              </a:rPr>
              <a:t>–</a:t>
            </a:r>
            <a:r>
              <a:rPr sz="4200" b="1" spc="-188" dirty="0">
                <a:latin typeface="Arial"/>
                <a:cs typeface="Arial"/>
              </a:rPr>
              <a:t> </a:t>
            </a:r>
            <a:r>
              <a:rPr sz="4200" b="1" spc="-848" dirty="0">
                <a:solidFill>
                  <a:srgbClr val="E83A08"/>
                </a:solidFill>
                <a:latin typeface="Arial"/>
                <a:cs typeface="Arial"/>
              </a:rPr>
              <a:t>E</a:t>
            </a:r>
            <a:endParaRPr sz="4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68148" y="8559445"/>
            <a:ext cx="254318" cy="45012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>
              <a:spcBef>
                <a:spcPts val="180"/>
              </a:spcBef>
            </a:pPr>
            <a:r>
              <a:rPr sz="2775" b="1" spc="-240" dirty="0">
                <a:solidFill>
                  <a:srgbClr val="E83A08"/>
                </a:solidFill>
                <a:latin typeface="Arial"/>
                <a:cs typeface="Arial"/>
              </a:rPr>
              <a:t>A</a:t>
            </a:r>
            <a:endParaRPr sz="2775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94726" y="8314182"/>
            <a:ext cx="1783080" cy="0"/>
          </a:xfrm>
          <a:custGeom>
            <a:avLst/>
            <a:gdLst/>
            <a:ahLst/>
            <a:cxnLst/>
            <a:rect l="l" t="t" r="r" b="b"/>
            <a:pathLst>
              <a:path w="1188720">
                <a:moveTo>
                  <a:pt x="0" y="0"/>
                </a:moveTo>
                <a:lnTo>
                  <a:pt x="11881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2" name="object 32"/>
          <p:cNvSpPr txBox="1"/>
          <p:nvPr/>
        </p:nvSpPr>
        <p:spPr>
          <a:xfrm>
            <a:off x="8123882" y="4216910"/>
            <a:ext cx="1524000" cy="756938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 marR="7620" indent="1905">
              <a:spcBef>
                <a:spcPts val="143"/>
              </a:spcBef>
            </a:pPr>
            <a:r>
              <a:rPr sz="2400" spc="-98" dirty="0">
                <a:latin typeface="Arial"/>
                <a:cs typeface="Arial"/>
              </a:rPr>
              <a:t>Incremental </a:t>
            </a:r>
            <a:r>
              <a:rPr sz="2400" spc="-143" dirty="0">
                <a:latin typeface="Arial"/>
                <a:cs typeface="Arial"/>
              </a:rPr>
              <a:t>Comparison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42093" y="7986941"/>
            <a:ext cx="1214438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b="1" spc="-503" dirty="0">
                <a:latin typeface="Arial"/>
                <a:cs typeface="Arial"/>
              </a:rPr>
              <a:t>ICER</a:t>
            </a:r>
            <a:r>
              <a:rPr sz="3600" b="1" spc="-180" dirty="0">
                <a:latin typeface="Arial"/>
                <a:cs typeface="Arial"/>
              </a:rPr>
              <a:t> </a:t>
            </a:r>
            <a:r>
              <a:rPr sz="3600" b="1" spc="-171" dirty="0">
                <a:latin typeface="Arial"/>
                <a:cs typeface="Arial"/>
              </a:rPr>
              <a:t>=</a:t>
            </a:r>
            <a:endParaRPr sz="3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35538" y="7911836"/>
            <a:ext cx="981075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4800" spc="758" dirty="0">
                <a:latin typeface="Arial"/>
                <a:cs typeface="Arial"/>
              </a:rPr>
              <a:t>&lt;</a:t>
            </a:r>
            <a:r>
              <a:rPr sz="4800" spc="-8" dirty="0">
                <a:latin typeface="Arial"/>
                <a:cs typeface="Arial"/>
              </a:rPr>
              <a:t> </a:t>
            </a:r>
            <a:r>
              <a:rPr sz="4800" spc="-2415" dirty="0">
                <a:latin typeface="Arial"/>
                <a:cs typeface="Arial"/>
              </a:rPr>
              <a:t>𝜆𝜆</a:t>
            </a:r>
            <a:endParaRPr sz="4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042182" y="7630670"/>
            <a:ext cx="3989070" cy="809625"/>
          </a:xfrm>
          <a:custGeom>
            <a:avLst/>
            <a:gdLst/>
            <a:ahLst/>
            <a:cxnLst/>
            <a:rect l="l" t="t" r="r" b="b"/>
            <a:pathLst>
              <a:path w="2659379" h="539750">
                <a:moveTo>
                  <a:pt x="2659011" y="449580"/>
                </a:moveTo>
                <a:lnTo>
                  <a:pt x="235851" y="449580"/>
                </a:lnTo>
                <a:lnTo>
                  <a:pt x="242918" y="484578"/>
                </a:lnTo>
                <a:lnTo>
                  <a:pt x="262188" y="513159"/>
                </a:lnTo>
                <a:lnTo>
                  <a:pt x="290769" y="532429"/>
                </a:lnTo>
                <a:lnTo>
                  <a:pt x="325767" y="539496"/>
                </a:lnTo>
                <a:lnTo>
                  <a:pt x="2569095" y="539496"/>
                </a:lnTo>
                <a:lnTo>
                  <a:pt x="2604094" y="532429"/>
                </a:lnTo>
                <a:lnTo>
                  <a:pt x="2632675" y="513159"/>
                </a:lnTo>
                <a:lnTo>
                  <a:pt x="2651945" y="484578"/>
                </a:lnTo>
                <a:lnTo>
                  <a:pt x="2659011" y="449580"/>
                </a:lnTo>
                <a:close/>
              </a:path>
              <a:path w="2659379" h="539750">
                <a:moveTo>
                  <a:pt x="2569095" y="0"/>
                </a:moveTo>
                <a:lnTo>
                  <a:pt x="325767" y="0"/>
                </a:lnTo>
                <a:lnTo>
                  <a:pt x="290769" y="7066"/>
                </a:lnTo>
                <a:lnTo>
                  <a:pt x="262188" y="26336"/>
                </a:lnTo>
                <a:lnTo>
                  <a:pt x="242918" y="54917"/>
                </a:lnTo>
                <a:lnTo>
                  <a:pt x="235851" y="89916"/>
                </a:lnTo>
                <a:lnTo>
                  <a:pt x="235851" y="314706"/>
                </a:lnTo>
                <a:lnTo>
                  <a:pt x="0" y="460146"/>
                </a:lnTo>
                <a:lnTo>
                  <a:pt x="235851" y="449580"/>
                </a:lnTo>
                <a:lnTo>
                  <a:pt x="2659011" y="449580"/>
                </a:lnTo>
                <a:lnTo>
                  <a:pt x="2659011" y="89916"/>
                </a:lnTo>
                <a:lnTo>
                  <a:pt x="2651945" y="54917"/>
                </a:lnTo>
                <a:lnTo>
                  <a:pt x="2632675" y="26336"/>
                </a:lnTo>
                <a:lnTo>
                  <a:pt x="2604094" y="7066"/>
                </a:lnTo>
                <a:lnTo>
                  <a:pt x="2569095" y="0"/>
                </a:lnTo>
                <a:close/>
              </a:path>
            </a:pathLst>
          </a:custGeom>
          <a:solidFill>
            <a:srgbClr val="FFC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6" name="object 36"/>
          <p:cNvSpPr txBox="1"/>
          <p:nvPr/>
        </p:nvSpPr>
        <p:spPr>
          <a:xfrm>
            <a:off x="13802012" y="7582151"/>
            <a:ext cx="2824163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56209" marR="7620" indent="-137160">
              <a:spcBef>
                <a:spcPts val="150"/>
              </a:spcBef>
            </a:pPr>
            <a:r>
              <a:rPr sz="2700" b="1" spc="-255" dirty="0">
                <a:latin typeface="Arial"/>
                <a:cs typeface="Arial"/>
              </a:rPr>
              <a:t>Comparison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143" dirty="0">
                <a:latin typeface="Arial"/>
                <a:cs typeface="Arial"/>
              </a:rPr>
              <a:t>of</a:t>
            </a:r>
            <a:r>
              <a:rPr sz="2700" b="1" spc="-60" dirty="0">
                <a:latin typeface="Arial"/>
                <a:cs typeface="Arial"/>
              </a:rPr>
              <a:t> </a:t>
            </a:r>
            <a:r>
              <a:rPr sz="2700" b="1" spc="-413" dirty="0">
                <a:latin typeface="Arial"/>
                <a:cs typeface="Arial"/>
              </a:rPr>
              <a:t>ICER </a:t>
            </a:r>
            <a:r>
              <a:rPr sz="2700" b="1" spc="-225" dirty="0">
                <a:latin typeface="Arial"/>
                <a:cs typeface="Arial"/>
              </a:rPr>
              <a:t>against</a:t>
            </a:r>
            <a:r>
              <a:rPr sz="2700" b="1" spc="-113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Threshold</a:t>
            </a:r>
            <a:endParaRPr sz="27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994584" y="8338464"/>
            <a:ext cx="672464" cy="34290"/>
          </a:xfrm>
          <a:custGeom>
            <a:avLst/>
            <a:gdLst/>
            <a:ahLst/>
            <a:cxnLst/>
            <a:rect l="l" t="t" r="r" b="b"/>
            <a:pathLst>
              <a:path w="448309" h="22860">
                <a:moveTo>
                  <a:pt x="448056" y="0"/>
                </a:moveTo>
                <a:lnTo>
                  <a:pt x="0" y="0"/>
                </a:lnTo>
                <a:lnTo>
                  <a:pt x="0" y="22860"/>
                </a:lnTo>
                <a:lnTo>
                  <a:pt x="448056" y="22860"/>
                </a:lnTo>
                <a:lnTo>
                  <a:pt x="448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8" name="object 38"/>
          <p:cNvSpPr txBox="1"/>
          <p:nvPr/>
        </p:nvSpPr>
        <p:spPr>
          <a:xfrm>
            <a:off x="10982392" y="7553604"/>
            <a:ext cx="675323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4200" spc="-1440" dirty="0">
                <a:latin typeface="Arial"/>
                <a:cs typeface="Arial"/>
              </a:rPr>
              <a:t>Δ𝐶𝐶</a:t>
            </a:r>
            <a:endParaRPr sz="4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975468" y="8312613"/>
            <a:ext cx="688658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4200" spc="-1395" dirty="0">
                <a:latin typeface="Arial"/>
                <a:cs typeface="Arial"/>
              </a:rPr>
              <a:t>Δ𝐸𝐸</a:t>
            </a:r>
            <a:endParaRPr sz="4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453388" y="7986939"/>
            <a:ext cx="266700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b="1" spc="-225" dirty="0">
                <a:latin typeface="Arial"/>
                <a:cs typeface="Arial"/>
              </a:rPr>
              <a:t>=</a:t>
            </a:r>
            <a:endParaRPr sz="3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38377" y="7776974"/>
            <a:ext cx="5049203" cy="882968"/>
          </a:xfrm>
          <a:custGeom>
            <a:avLst/>
            <a:gdLst/>
            <a:ahLst/>
            <a:cxnLst/>
            <a:rect l="l" t="t" r="r" b="b"/>
            <a:pathLst>
              <a:path w="3366135" h="588645">
                <a:moveTo>
                  <a:pt x="2879852" y="0"/>
                </a:moveTo>
                <a:lnTo>
                  <a:pt x="98044" y="0"/>
                </a:lnTo>
                <a:lnTo>
                  <a:pt x="59878" y="7704"/>
                </a:lnTo>
                <a:lnTo>
                  <a:pt x="28714" y="28714"/>
                </a:lnTo>
                <a:lnTo>
                  <a:pt x="7704" y="59878"/>
                </a:lnTo>
                <a:lnTo>
                  <a:pt x="0" y="98044"/>
                </a:lnTo>
                <a:lnTo>
                  <a:pt x="0" y="490220"/>
                </a:lnTo>
                <a:lnTo>
                  <a:pt x="7704" y="528379"/>
                </a:lnTo>
                <a:lnTo>
                  <a:pt x="28714" y="559544"/>
                </a:lnTo>
                <a:lnTo>
                  <a:pt x="59878" y="580558"/>
                </a:lnTo>
                <a:lnTo>
                  <a:pt x="98044" y="588264"/>
                </a:lnTo>
                <a:lnTo>
                  <a:pt x="2879852" y="588264"/>
                </a:lnTo>
                <a:lnTo>
                  <a:pt x="2918017" y="580558"/>
                </a:lnTo>
                <a:lnTo>
                  <a:pt x="2949181" y="559544"/>
                </a:lnTo>
                <a:lnTo>
                  <a:pt x="2970191" y="528379"/>
                </a:lnTo>
                <a:lnTo>
                  <a:pt x="2977896" y="490220"/>
                </a:lnTo>
                <a:lnTo>
                  <a:pt x="3365588" y="400697"/>
                </a:lnTo>
                <a:lnTo>
                  <a:pt x="2977896" y="343154"/>
                </a:lnTo>
                <a:lnTo>
                  <a:pt x="2977896" y="98044"/>
                </a:lnTo>
                <a:lnTo>
                  <a:pt x="2970191" y="59878"/>
                </a:lnTo>
                <a:lnTo>
                  <a:pt x="2949181" y="28714"/>
                </a:lnTo>
                <a:lnTo>
                  <a:pt x="2918017" y="7704"/>
                </a:lnTo>
                <a:lnTo>
                  <a:pt x="2879852" y="0"/>
                </a:lnTo>
                <a:close/>
              </a:path>
            </a:pathLst>
          </a:custGeom>
          <a:solidFill>
            <a:srgbClr val="FFC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42" name="object 42"/>
          <p:cNvSpPr txBox="1"/>
          <p:nvPr/>
        </p:nvSpPr>
        <p:spPr>
          <a:xfrm>
            <a:off x="1617961" y="7764356"/>
            <a:ext cx="2707958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indent="79058">
              <a:spcBef>
                <a:spcPts val="150"/>
              </a:spcBef>
            </a:pPr>
            <a:r>
              <a:rPr sz="2700" b="1" spc="-171" dirty="0">
                <a:latin typeface="Arial"/>
                <a:cs typeface="Arial"/>
              </a:rPr>
              <a:t>Incremental</a:t>
            </a:r>
            <a:r>
              <a:rPr sz="2700" b="1" spc="-38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Cost- </a:t>
            </a:r>
            <a:r>
              <a:rPr sz="2700" b="1" spc="-240" dirty="0">
                <a:latin typeface="Arial"/>
                <a:cs typeface="Arial"/>
              </a:rPr>
              <a:t>Effectiveness</a:t>
            </a:r>
            <a:r>
              <a:rPr sz="2700" b="1" spc="-23" dirty="0">
                <a:latin typeface="Arial"/>
                <a:cs typeface="Arial"/>
              </a:rPr>
              <a:t> </a:t>
            </a:r>
            <a:r>
              <a:rPr sz="2700" b="1" spc="-171" dirty="0">
                <a:latin typeface="Arial"/>
                <a:cs typeface="Arial"/>
              </a:rPr>
              <a:t>Ratio</a:t>
            </a:r>
            <a:endParaRPr sz="2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395960" y="4693159"/>
            <a:ext cx="3634740" cy="2223686"/>
          </a:xfrm>
          <a:prstGeom prst="rect">
            <a:avLst/>
          </a:prstGeom>
          <a:solidFill>
            <a:srgbClr val="EDDEA4">
              <a:alpha val="50195"/>
            </a:srgbClr>
          </a:solidFill>
        </p:spPr>
        <p:txBody>
          <a:bodyPr vert="horz" wrap="square" lIns="0" tIns="144780" rIns="0" bIns="0" rtlCol="0">
            <a:spAutoFit/>
          </a:bodyPr>
          <a:lstStyle/>
          <a:p>
            <a:pPr marL="137160">
              <a:spcBef>
                <a:spcPts val="1140"/>
              </a:spcBef>
            </a:pPr>
            <a:r>
              <a:rPr sz="2700" spc="-113" dirty="0">
                <a:latin typeface="Arial"/>
                <a:cs typeface="Arial"/>
              </a:rPr>
              <a:t>Health</a:t>
            </a:r>
            <a:r>
              <a:rPr sz="2700" spc="-38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Outcomes:</a:t>
            </a:r>
            <a:endParaRPr sz="2700">
              <a:latin typeface="Arial"/>
              <a:cs typeface="Arial"/>
            </a:endParaRPr>
          </a:p>
          <a:p>
            <a:pPr marL="566738" indent="-429578">
              <a:buChar char="•"/>
              <a:tabLst>
                <a:tab pos="566738" algn="l"/>
              </a:tabLst>
            </a:pPr>
            <a:r>
              <a:rPr sz="2700" spc="-135" dirty="0">
                <a:latin typeface="Arial"/>
                <a:cs typeface="Arial"/>
              </a:rPr>
              <a:t>Clinical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success</a:t>
            </a:r>
            <a:endParaRPr sz="2700">
              <a:latin typeface="Arial"/>
              <a:cs typeface="Arial"/>
            </a:endParaRPr>
          </a:p>
          <a:p>
            <a:pPr marL="566738" indent="-429578">
              <a:buChar char="•"/>
              <a:tabLst>
                <a:tab pos="566738" algn="l"/>
              </a:tabLst>
            </a:pPr>
            <a:r>
              <a:rPr sz="2700" spc="-150" dirty="0">
                <a:latin typeface="Arial"/>
                <a:cs typeface="Arial"/>
              </a:rPr>
              <a:t>Life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year</a:t>
            </a:r>
            <a:endParaRPr sz="2700">
              <a:latin typeface="Arial"/>
              <a:cs typeface="Arial"/>
            </a:endParaRPr>
          </a:p>
          <a:p>
            <a:pPr marL="566738" indent="-429578">
              <a:buChar char="•"/>
              <a:tabLst>
                <a:tab pos="566738" algn="l"/>
              </a:tabLst>
            </a:pPr>
            <a:r>
              <a:rPr sz="2700" spc="-443" dirty="0">
                <a:latin typeface="Arial"/>
                <a:cs typeface="Arial"/>
              </a:rPr>
              <a:t>QALY</a:t>
            </a:r>
            <a:endParaRPr sz="2700">
              <a:latin typeface="Arial"/>
              <a:cs typeface="Arial"/>
            </a:endParaRPr>
          </a:p>
          <a:p>
            <a:pPr marL="566738" indent="-429578">
              <a:buChar char="•"/>
              <a:tabLst>
                <a:tab pos="566738" algn="l"/>
              </a:tabLst>
            </a:pPr>
            <a:r>
              <a:rPr sz="2700" spc="-30" dirty="0">
                <a:latin typeface="Arial"/>
                <a:cs typeface="Arial"/>
              </a:rPr>
              <a:t>etc.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44" name="Group 3">
            <a:extLst>
              <a:ext uri="{FF2B5EF4-FFF2-40B4-BE49-F238E27FC236}">
                <a16:creationId xmlns:a16="http://schemas.microsoft.com/office/drawing/2014/main" id="{648EA7E7-3D40-12E4-BF65-6D3C8329BCAF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D58BA3DC-1851-87E2-B565-D286B5947DC7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A64088B5-186E-302C-3355-B05AE908F4A6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AE1C1A4D-2BAB-41F7-D72E-23E9293B7ABD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15">
            <a:extLst>
              <a:ext uri="{FF2B5EF4-FFF2-40B4-BE49-F238E27FC236}">
                <a16:creationId xmlns:a16="http://schemas.microsoft.com/office/drawing/2014/main" id="{84AB7C37-0027-4395-A6E3-646AC8AE37A1}"/>
              </a:ext>
            </a:extLst>
          </p:cNvPr>
          <p:cNvSpPr/>
          <p:nvPr/>
        </p:nvSpPr>
        <p:spPr>
          <a:xfrm flipH="1" flipV="1">
            <a:off x="22617" y="43367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9" name="Freeform 16">
            <a:extLst>
              <a:ext uri="{FF2B5EF4-FFF2-40B4-BE49-F238E27FC236}">
                <a16:creationId xmlns:a16="http://schemas.microsoft.com/office/drawing/2014/main" id="{C2B9D256-7F65-AEED-1761-C504282DD721}"/>
              </a:ext>
            </a:extLst>
          </p:cNvPr>
          <p:cNvSpPr/>
          <p:nvPr/>
        </p:nvSpPr>
        <p:spPr>
          <a:xfrm flipH="1" flipV="1">
            <a:off x="-7591" y="-3570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18">
            <a:extLst>
              <a:ext uri="{FF2B5EF4-FFF2-40B4-BE49-F238E27FC236}">
                <a16:creationId xmlns:a16="http://schemas.microsoft.com/office/drawing/2014/main" id="{FE3EB376-CDCF-4CF7-A7A6-B5EB8D9F320E}"/>
              </a:ext>
            </a:extLst>
          </p:cNvPr>
          <p:cNvSpPr/>
          <p:nvPr/>
        </p:nvSpPr>
        <p:spPr>
          <a:xfrm flipH="1" flipV="1">
            <a:off x="10284725" y="2599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8608" y="3162300"/>
            <a:ext cx="10070783" cy="6985635"/>
            <a:chOff x="2790049" y="1639891"/>
            <a:chExt cx="6713855" cy="46570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0049" y="1639891"/>
              <a:ext cx="6713323" cy="46565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72306" y="2254808"/>
              <a:ext cx="4575810" cy="3195320"/>
            </a:xfrm>
            <a:custGeom>
              <a:avLst/>
              <a:gdLst/>
              <a:ahLst/>
              <a:cxnLst/>
              <a:rect l="l" t="t" r="r" b="b"/>
              <a:pathLst>
                <a:path w="4575809" h="3195320">
                  <a:moveTo>
                    <a:pt x="364832" y="3011817"/>
                  </a:moveTo>
                  <a:lnTo>
                    <a:pt x="358330" y="2963138"/>
                  </a:lnTo>
                  <a:lnTo>
                    <a:pt x="339953" y="2919387"/>
                  </a:lnTo>
                  <a:lnTo>
                    <a:pt x="311442" y="2882328"/>
                  </a:lnTo>
                  <a:lnTo>
                    <a:pt x="274523" y="2853702"/>
                  </a:lnTo>
                  <a:lnTo>
                    <a:pt x="249809" y="2843250"/>
                  </a:lnTo>
                  <a:lnTo>
                    <a:pt x="249809" y="2968650"/>
                  </a:lnTo>
                  <a:lnTo>
                    <a:pt x="247650" y="2985681"/>
                  </a:lnTo>
                  <a:lnTo>
                    <a:pt x="241401" y="3001391"/>
                  </a:lnTo>
                  <a:lnTo>
                    <a:pt x="231470" y="3015056"/>
                  </a:lnTo>
                  <a:lnTo>
                    <a:pt x="217919" y="3026232"/>
                  </a:lnTo>
                  <a:lnTo>
                    <a:pt x="209397" y="3033014"/>
                  </a:lnTo>
                  <a:lnTo>
                    <a:pt x="202895" y="3041688"/>
                  </a:lnTo>
                  <a:lnTo>
                    <a:pt x="202895" y="3100171"/>
                  </a:lnTo>
                  <a:lnTo>
                    <a:pt x="202895" y="3105518"/>
                  </a:lnTo>
                  <a:lnTo>
                    <a:pt x="202361" y="3108160"/>
                  </a:lnTo>
                  <a:lnTo>
                    <a:pt x="199263" y="3115399"/>
                  </a:lnTo>
                  <a:lnTo>
                    <a:pt x="195478" y="3119196"/>
                  </a:lnTo>
                  <a:lnTo>
                    <a:pt x="188290" y="3122282"/>
                  </a:lnTo>
                  <a:lnTo>
                    <a:pt x="185686" y="3122815"/>
                  </a:lnTo>
                  <a:lnTo>
                    <a:pt x="177698" y="3122815"/>
                  </a:lnTo>
                  <a:lnTo>
                    <a:pt x="163017" y="3105518"/>
                  </a:lnTo>
                  <a:lnTo>
                    <a:pt x="163017" y="3097504"/>
                  </a:lnTo>
                  <a:lnTo>
                    <a:pt x="165112" y="3092412"/>
                  </a:lnTo>
                  <a:lnTo>
                    <a:pt x="168922" y="3088602"/>
                  </a:lnTo>
                  <a:lnTo>
                    <a:pt x="175552" y="3084220"/>
                  </a:lnTo>
                  <a:lnTo>
                    <a:pt x="182930" y="3082772"/>
                  </a:lnTo>
                  <a:lnTo>
                    <a:pt x="190423" y="3084220"/>
                  </a:lnTo>
                  <a:lnTo>
                    <a:pt x="202895" y="3100171"/>
                  </a:lnTo>
                  <a:lnTo>
                    <a:pt x="202895" y="3041688"/>
                  </a:lnTo>
                  <a:lnTo>
                    <a:pt x="202704" y="3041929"/>
                  </a:lnTo>
                  <a:lnTo>
                    <a:pt x="198424" y="3052241"/>
                  </a:lnTo>
                  <a:lnTo>
                    <a:pt x="196837" y="3063468"/>
                  </a:lnTo>
                  <a:lnTo>
                    <a:pt x="168008" y="3063468"/>
                  </a:lnTo>
                  <a:lnTo>
                    <a:pt x="170510" y="3044952"/>
                  </a:lnTo>
                  <a:lnTo>
                    <a:pt x="177457" y="3027934"/>
                  </a:lnTo>
                  <a:lnTo>
                    <a:pt x="188404" y="3013189"/>
                  </a:lnTo>
                  <a:lnTo>
                    <a:pt x="203009" y="3001391"/>
                  </a:lnTo>
                  <a:lnTo>
                    <a:pt x="214020" y="2990900"/>
                  </a:lnTo>
                  <a:lnTo>
                    <a:pt x="220014" y="2977337"/>
                  </a:lnTo>
                  <a:lnTo>
                    <a:pt x="220306" y="2968650"/>
                  </a:lnTo>
                  <a:lnTo>
                    <a:pt x="220510" y="2962503"/>
                  </a:lnTo>
                  <a:lnTo>
                    <a:pt x="215112" y="2948114"/>
                  </a:lnTo>
                  <a:lnTo>
                    <a:pt x="204558" y="2936964"/>
                  </a:lnTo>
                  <a:lnTo>
                    <a:pt x="191046" y="2930944"/>
                  </a:lnTo>
                  <a:lnTo>
                    <a:pt x="176276" y="2930448"/>
                  </a:lnTo>
                  <a:lnTo>
                    <a:pt x="161937" y="2935884"/>
                  </a:lnTo>
                  <a:lnTo>
                    <a:pt x="154368" y="2942120"/>
                  </a:lnTo>
                  <a:lnTo>
                    <a:pt x="148678" y="2949943"/>
                  </a:lnTo>
                  <a:lnTo>
                    <a:pt x="145097" y="2958947"/>
                  </a:lnTo>
                  <a:lnTo>
                    <a:pt x="143865" y="2968650"/>
                  </a:lnTo>
                  <a:lnTo>
                    <a:pt x="115049" y="2968650"/>
                  </a:lnTo>
                  <a:lnTo>
                    <a:pt x="134810" y="2920822"/>
                  </a:lnTo>
                  <a:lnTo>
                    <a:pt x="182397" y="2901035"/>
                  </a:lnTo>
                  <a:lnTo>
                    <a:pt x="208635" y="2906344"/>
                  </a:lnTo>
                  <a:lnTo>
                    <a:pt x="230060" y="2920822"/>
                  </a:lnTo>
                  <a:lnTo>
                    <a:pt x="244500" y="2942323"/>
                  </a:lnTo>
                  <a:lnTo>
                    <a:pt x="249809" y="2968650"/>
                  </a:lnTo>
                  <a:lnTo>
                    <a:pt x="249809" y="2843250"/>
                  </a:lnTo>
                  <a:lnTo>
                    <a:pt x="230911" y="2835249"/>
                  </a:lnTo>
                  <a:lnTo>
                    <a:pt x="182575" y="2828709"/>
                  </a:lnTo>
                  <a:lnTo>
                    <a:pt x="182422" y="2828709"/>
                  </a:lnTo>
                  <a:lnTo>
                    <a:pt x="133934" y="2835249"/>
                  </a:lnTo>
                  <a:lnTo>
                    <a:pt x="90360" y="2853702"/>
                  </a:lnTo>
                  <a:lnTo>
                    <a:pt x="53441" y="2882328"/>
                  </a:lnTo>
                  <a:lnTo>
                    <a:pt x="24917" y="2919387"/>
                  </a:lnTo>
                  <a:lnTo>
                    <a:pt x="6527" y="2963138"/>
                  </a:lnTo>
                  <a:lnTo>
                    <a:pt x="0" y="3011817"/>
                  </a:lnTo>
                  <a:lnTo>
                    <a:pt x="6515" y="3060496"/>
                  </a:lnTo>
                  <a:lnTo>
                    <a:pt x="24904" y="3104235"/>
                  </a:lnTo>
                  <a:lnTo>
                    <a:pt x="53428" y="3141294"/>
                  </a:lnTo>
                  <a:lnTo>
                    <a:pt x="90347" y="3169920"/>
                  </a:lnTo>
                  <a:lnTo>
                    <a:pt x="133921" y="3188385"/>
                  </a:lnTo>
                  <a:lnTo>
                    <a:pt x="182410" y="3194926"/>
                  </a:lnTo>
                  <a:lnTo>
                    <a:pt x="230911" y="3188385"/>
                  </a:lnTo>
                  <a:lnTo>
                    <a:pt x="274485" y="3169920"/>
                  </a:lnTo>
                  <a:lnTo>
                    <a:pt x="311404" y="3141294"/>
                  </a:lnTo>
                  <a:lnTo>
                    <a:pt x="339928" y="3104235"/>
                  </a:lnTo>
                  <a:lnTo>
                    <a:pt x="357060" y="3063468"/>
                  </a:lnTo>
                  <a:lnTo>
                    <a:pt x="358317" y="3060496"/>
                  </a:lnTo>
                  <a:lnTo>
                    <a:pt x="364832" y="3011817"/>
                  </a:lnTo>
                  <a:close/>
                </a:path>
                <a:path w="4575809" h="3195320">
                  <a:moveTo>
                    <a:pt x="4575645" y="182511"/>
                  </a:moveTo>
                  <a:lnTo>
                    <a:pt x="4569142" y="133997"/>
                  </a:lnTo>
                  <a:lnTo>
                    <a:pt x="4550765" y="90398"/>
                  </a:lnTo>
                  <a:lnTo>
                    <a:pt x="4522254" y="53454"/>
                  </a:lnTo>
                  <a:lnTo>
                    <a:pt x="4485335" y="24917"/>
                  </a:lnTo>
                  <a:lnTo>
                    <a:pt x="4460621" y="14503"/>
                  </a:lnTo>
                  <a:lnTo>
                    <a:pt x="4460621" y="139496"/>
                  </a:lnTo>
                  <a:lnTo>
                    <a:pt x="4458462" y="156476"/>
                  </a:lnTo>
                  <a:lnTo>
                    <a:pt x="4452213" y="172135"/>
                  </a:lnTo>
                  <a:lnTo>
                    <a:pt x="4442282" y="185750"/>
                  </a:lnTo>
                  <a:lnTo>
                    <a:pt x="4428731" y="196888"/>
                  </a:lnTo>
                  <a:lnTo>
                    <a:pt x="4420209" y="203657"/>
                  </a:lnTo>
                  <a:lnTo>
                    <a:pt x="4413707" y="212293"/>
                  </a:lnTo>
                  <a:lnTo>
                    <a:pt x="4413707" y="270586"/>
                  </a:lnTo>
                  <a:lnTo>
                    <a:pt x="4413707" y="275920"/>
                  </a:lnTo>
                  <a:lnTo>
                    <a:pt x="4413174" y="278549"/>
                  </a:lnTo>
                  <a:lnTo>
                    <a:pt x="4410075" y="285762"/>
                  </a:lnTo>
                  <a:lnTo>
                    <a:pt x="4406290" y="289547"/>
                  </a:lnTo>
                  <a:lnTo>
                    <a:pt x="4399102" y="292620"/>
                  </a:lnTo>
                  <a:lnTo>
                    <a:pt x="4396498" y="293154"/>
                  </a:lnTo>
                  <a:lnTo>
                    <a:pt x="4388510" y="293154"/>
                  </a:lnTo>
                  <a:lnTo>
                    <a:pt x="4373829" y="275920"/>
                  </a:lnTo>
                  <a:lnTo>
                    <a:pt x="4373829" y="267931"/>
                  </a:lnTo>
                  <a:lnTo>
                    <a:pt x="4375924" y="262851"/>
                  </a:lnTo>
                  <a:lnTo>
                    <a:pt x="4379734" y="259054"/>
                  </a:lnTo>
                  <a:lnTo>
                    <a:pt x="4386364" y="254685"/>
                  </a:lnTo>
                  <a:lnTo>
                    <a:pt x="4393743" y="253238"/>
                  </a:lnTo>
                  <a:lnTo>
                    <a:pt x="4401236" y="254685"/>
                  </a:lnTo>
                  <a:lnTo>
                    <a:pt x="4413707" y="270586"/>
                  </a:lnTo>
                  <a:lnTo>
                    <a:pt x="4413707" y="212293"/>
                  </a:lnTo>
                  <a:lnTo>
                    <a:pt x="4413516" y="212534"/>
                  </a:lnTo>
                  <a:lnTo>
                    <a:pt x="4409224" y="222808"/>
                  </a:lnTo>
                  <a:lnTo>
                    <a:pt x="4407636" y="234010"/>
                  </a:lnTo>
                  <a:lnTo>
                    <a:pt x="4378820" y="234010"/>
                  </a:lnTo>
                  <a:lnTo>
                    <a:pt x="4381322" y="215557"/>
                  </a:lnTo>
                  <a:lnTo>
                    <a:pt x="4388269" y="198589"/>
                  </a:lnTo>
                  <a:lnTo>
                    <a:pt x="4399216" y="183883"/>
                  </a:lnTo>
                  <a:lnTo>
                    <a:pt x="4413821" y="172135"/>
                  </a:lnTo>
                  <a:lnTo>
                    <a:pt x="4424832" y="161671"/>
                  </a:lnTo>
                  <a:lnTo>
                    <a:pt x="4430827" y="148158"/>
                  </a:lnTo>
                  <a:lnTo>
                    <a:pt x="4431119" y="139496"/>
                  </a:lnTo>
                  <a:lnTo>
                    <a:pt x="4431322" y="133362"/>
                  </a:lnTo>
                  <a:lnTo>
                    <a:pt x="4425912" y="119024"/>
                  </a:lnTo>
                  <a:lnTo>
                    <a:pt x="4415371" y="107911"/>
                  </a:lnTo>
                  <a:lnTo>
                    <a:pt x="4401858" y="101917"/>
                  </a:lnTo>
                  <a:lnTo>
                    <a:pt x="4387088" y="101422"/>
                  </a:lnTo>
                  <a:lnTo>
                    <a:pt x="4372749" y="106832"/>
                  </a:lnTo>
                  <a:lnTo>
                    <a:pt x="4365180" y="113055"/>
                  </a:lnTo>
                  <a:lnTo>
                    <a:pt x="4359491" y="120853"/>
                  </a:lnTo>
                  <a:lnTo>
                    <a:pt x="4355909" y="129819"/>
                  </a:lnTo>
                  <a:lnTo>
                    <a:pt x="4354677" y="139496"/>
                  </a:lnTo>
                  <a:lnTo>
                    <a:pt x="4325861" y="139496"/>
                  </a:lnTo>
                  <a:lnTo>
                    <a:pt x="4345622" y="91821"/>
                  </a:lnTo>
                  <a:lnTo>
                    <a:pt x="4393209" y="72097"/>
                  </a:lnTo>
                  <a:lnTo>
                    <a:pt x="4419447" y="77381"/>
                  </a:lnTo>
                  <a:lnTo>
                    <a:pt x="4440872" y="91821"/>
                  </a:lnTo>
                  <a:lnTo>
                    <a:pt x="4455312" y="113245"/>
                  </a:lnTo>
                  <a:lnTo>
                    <a:pt x="4460621" y="139496"/>
                  </a:lnTo>
                  <a:lnTo>
                    <a:pt x="4460621" y="14503"/>
                  </a:lnTo>
                  <a:lnTo>
                    <a:pt x="4441723" y="6527"/>
                  </a:lnTo>
                  <a:lnTo>
                    <a:pt x="4393387" y="0"/>
                  </a:lnTo>
                  <a:lnTo>
                    <a:pt x="4393235" y="0"/>
                  </a:lnTo>
                  <a:lnTo>
                    <a:pt x="4344746" y="6527"/>
                  </a:lnTo>
                  <a:lnTo>
                    <a:pt x="4301172" y="24917"/>
                  </a:lnTo>
                  <a:lnTo>
                    <a:pt x="4264253" y="53454"/>
                  </a:lnTo>
                  <a:lnTo>
                    <a:pt x="4235729" y="90398"/>
                  </a:lnTo>
                  <a:lnTo>
                    <a:pt x="4217340" y="133997"/>
                  </a:lnTo>
                  <a:lnTo>
                    <a:pt x="4210812" y="182511"/>
                  </a:lnTo>
                  <a:lnTo>
                    <a:pt x="4217327" y="231038"/>
                  </a:lnTo>
                  <a:lnTo>
                    <a:pt x="4235716" y="274637"/>
                  </a:lnTo>
                  <a:lnTo>
                    <a:pt x="4264241" y="311569"/>
                  </a:lnTo>
                  <a:lnTo>
                    <a:pt x="4301160" y="340106"/>
                  </a:lnTo>
                  <a:lnTo>
                    <a:pt x="4344733" y="358508"/>
                  </a:lnTo>
                  <a:lnTo>
                    <a:pt x="4393222" y="365036"/>
                  </a:lnTo>
                  <a:lnTo>
                    <a:pt x="4441723" y="358508"/>
                  </a:lnTo>
                  <a:lnTo>
                    <a:pt x="4485297" y="340106"/>
                  </a:lnTo>
                  <a:lnTo>
                    <a:pt x="4522216" y="311569"/>
                  </a:lnTo>
                  <a:lnTo>
                    <a:pt x="4550740" y="274637"/>
                  </a:lnTo>
                  <a:lnTo>
                    <a:pt x="4559757" y="253238"/>
                  </a:lnTo>
                  <a:lnTo>
                    <a:pt x="4567872" y="234010"/>
                  </a:lnTo>
                  <a:lnTo>
                    <a:pt x="4569130" y="231038"/>
                  </a:lnTo>
                  <a:lnTo>
                    <a:pt x="4575645" y="182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5" name="object 5"/>
            <p:cNvSpPr/>
            <p:nvPr/>
          </p:nvSpPr>
          <p:spPr>
            <a:xfrm>
              <a:off x="8314786" y="5218044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78929" y="358059"/>
                  </a:moveTo>
                  <a:lnTo>
                    <a:pt x="131341" y="351669"/>
                  </a:lnTo>
                  <a:lnTo>
                    <a:pt x="88592" y="333630"/>
                  </a:lnTo>
                  <a:lnTo>
                    <a:pt x="52384" y="305646"/>
                  </a:lnTo>
                  <a:lnTo>
                    <a:pt x="24415" y="269417"/>
                  </a:lnTo>
                  <a:lnTo>
                    <a:pt x="6387" y="226644"/>
                  </a:lnTo>
                  <a:lnTo>
                    <a:pt x="0" y="179029"/>
                  </a:lnTo>
                  <a:lnTo>
                    <a:pt x="6387" y="131415"/>
                  </a:lnTo>
                  <a:lnTo>
                    <a:pt x="24415" y="88642"/>
                  </a:lnTo>
                  <a:lnTo>
                    <a:pt x="52384" y="52413"/>
                  </a:lnTo>
                  <a:lnTo>
                    <a:pt x="88592" y="24429"/>
                  </a:lnTo>
                  <a:lnTo>
                    <a:pt x="131341" y="6390"/>
                  </a:lnTo>
                  <a:lnTo>
                    <a:pt x="178929" y="0"/>
                  </a:lnTo>
                  <a:lnTo>
                    <a:pt x="226518" y="6390"/>
                  </a:lnTo>
                  <a:lnTo>
                    <a:pt x="269266" y="24429"/>
                  </a:lnTo>
                  <a:lnTo>
                    <a:pt x="305475" y="52413"/>
                  </a:lnTo>
                  <a:lnTo>
                    <a:pt x="333444" y="88642"/>
                  </a:lnTo>
                  <a:lnTo>
                    <a:pt x="347712" y="122494"/>
                  </a:lnTo>
                  <a:lnTo>
                    <a:pt x="103591" y="122494"/>
                  </a:lnTo>
                  <a:lnTo>
                    <a:pt x="92621" y="124724"/>
                  </a:lnTo>
                  <a:lnTo>
                    <a:pt x="83637" y="130797"/>
                  </a:lnTo>
                  <a:lnTo>
                    <a:pt x="77568" y="139786"/>
                  </a:lnTo>
                  <a:lnTo>
                    <a:pt x="75338" y="150762"/>
                  </a:lnTo>
                  <a:lnTo>
                    <a:pt x="77568" y="161737"/>
                  </a:lnTo>
                  <a:lnTo>
                    <a:pt x="83637" y="170726"/>
                  </a:lnTo>
                  <a:lnTo>
                    <a:pt x="92621" y="176799"/>
                  </a:lnTo>
                  <a:lnTo>
                    <a:pt x="103591" y="179029"/>
                  </a:lnTo>
                  <a:lnTo>
                    <a:pt x="357859" y="179029"/>
                  </a:lnTo>
                  <a:lnTo>
                    <a:pt x="351472" y="226644"/>
                  </a:lnTo>
                  <a:lnTo>
                    <a:pt x="345726" y="240277"/>
                  </a:lnTo>
                  <a:lnTo>
                    <a:pt x="88052" y="240277"/>
                  </a:lnTo>
                  <a:lnTo>
                    <a:pt x="83814" y="244517"/>
                  </a:lnTo>
                  <a:lnTo>
                    <a:pt x="83814" y="252055"/>
                  </a:lnTo>
                  <a:lnTo>
                    <a:pt x="84756" y="253939"/>
                  </a:lnTo>
                  <a:lnTo>
                    <a:pt x="126133" y="289039"/>
                  </a:lnTo>
                  <a:lnTo>
                    <a:pt x="178929" y="301524"/>
                  </a:lnTo>
                  <a:lnTo>
                    <a:pt x="308658" y="301524"/>
                  </a:lnTo>
                  <a:lnTo>
                    <a:pt x="305475" y="305646"/>
                  </a:lnTo>
                  <a:lnTo>
                    <a:pt x="269266" y="333630"/>
                  </a:lnTo>
                  <a:lnTo>
                    <a:pt x="226518" y="351669"/>
                  </a:lnTo>
                  <a:lnTo>
                    <a:pt x="178929" y="358059"/>
                  </a:lnTo>
                  <a:close/>
                </a:path>
                <a:path w="358140" h="358139">
                  <a:moveTo>
                    <a:pt x="254268" y="179029"/>
                  </a:moveTo>
                  <a:lnTo>
                    <a:pt x="103591" y="179029"/>
                  </a:lnTo>
                  <a:lnTo>
                    <a:pt x="114560" y="176799"/>
                  </a:lnTo>
                  <a:lnTo>
                    <a:pt x="123544" y="170726"/>
                  </a:lnTo>
                  <a:lnTo>
                    <a:pt x="129613" y="161737"/>
                  </a:lnTo>
                  <a:lnTo>
                    <a:pt x="131843" y="150762"/>
                  </a:lnTo>
                  <a:lnTo>
                    <a:pt x="129613" y="139786"/>
                  </a:lnTo>
                  <a:lnTo>
                    <a:pt x="123544" y="130797"/>
                  </a:lnTo>
                  <a:lnTo>
                    <a:pt x="114560" y="124724"/>
                  </a:lnTo>
                  <a:lnTo>
                    <a:pt x="103591" y="122494"/>
                  </a:lnTo>
                  <a:lnTo>
                    <a:pt x="254268" y="122494"/>
                  </a:lnTo>
                  <a:lnTo>
                    <a:pt x="243299" y="124724"/>
                  </a:lnTo>
                  <a:lnTo>
                    <a:pt x="234315" y="130797"/>
                  </a:lnTo>
                  <a:lnTo>
                    <a:pt x="228246" y="139786"/>
                  </a:lnTo>
                  <a:lnTo>
                    <a:pt x="226016" y="150762"/>
                  </a:lnTo>
                  <a:lnTo>
                    <a:pt x="228246" y="161737"/>
                  </a:lnTo>
                  <a:lnTo>
                    <a:pt x="234315" y="170726"/>
                  </a:lnTo>
                  <a:lnTo>
                    <a:pt x="243299" y="176799"/>
                  </a:lnTo>
                  <a:lnTo>
                    <a:pt x="254268" y="179029"/>
                  </a:lnTo>
                  <a:close/>
                </a:path>
                <a:path w="358140" h="358139">
                  <a:moveTo>
                    <a:pt x="357859" y="179029"/>
                  </a:moveTo>
                  <a:lnTo>
                    <a:pt x="254268" y="179029"/>
                  </a:lnTo>
                  <a:lnTo>
                    <a:pt x="265238" y="176799"/>
                  </a:lnTo>
                  <a:lnTo>
                    <a:pt x="274221" y="170726"/>
                  </a:lnTo>
                  <a:lnTo>
                    <a:pt x="280291" y="161737"/>
                  </a:lnTo>
                  <a:lnTo>
                    <a:pt x="282520" y="150762"/>
                  </a:lnTo>
                  <a:lnTo>
                    <a:pt x="280291" y="139786"/>
                  </a:lnTo>
                  <a:lnTo>
                    <a:pt x="274221" y="130797"/>
                  </a:lnTo>
                  <a:lnTo>
                    <a:pt x="265238" y="124724"/>
                  </a:lnTo>
                  <a:lnTo>
                    <a:pt x="254268" y="122494"/>
                  </a:lnTo>
                  <a:lnTo>
                    <a:pt x="347712" y="122494"/>
                  </a:lnTo>
                  <a:lnTo>
                    <a:pt x="351472" y="131415"/>
                  </a:lnTo>
                  <a:lnTo>
                    <a:pt x="357859" y="179029"/>
                  </a:lnTo>
                  <a:close/>
                </a:path>
                <a:path w="358140" h="358139">
                  <a:moveTo>
                    <a:pt x="178929" y="282207"/>
                  </a:moveTo>
                  <a:lnTo>
                    <a:pt x="134550" y="271960"/>
                  </a:lnTo>
                  <a:lnTo>
                    <a:pt x="100765" y="244046"/>
                  </a:lnTo>
                  <a:lnTo>
                    <a:pt x="99353" y="241690"/>
                  </a:lnTo>
                  <a:lnTo>
                    <a:pt x="96527" y="240277"/>
                  </a:lnTo>
                  <a:lnTo>
                    <a:pt x="261802" y="240277"/>
                  </a:lnTo>
                  <a:lnTo>
                    <a:pt x="258977" y="241690"/>
                  </a:lnTo>
                  <a:lnTo>
                    <a:pt x="257094" y="244046"/>
                  </a:lnTo>
                  <a:lnTo>
                    <a:pt x="241636" y="259946"/>
                  </a:lnTo>
                  <a:lnTo>
                    <a:pt x="223132" y="271960"/>
                  </a:lnTo>
                  <a:lnTo>
                    <a:pt x="202068" y="279557"/>
                  </a:lnTo>
                  <a:lnTo>
                    <a:pt x="178929" y="282207"/>
                  </a:lnTo>
                  <a:close/>
                </a:path>
                <a:path w="358140" h="358139">
                  <a:moveTo>
                    <a:pt x="308658" y="301524"/>
                  </a:moveTo>
                  <a:lnTo>
                    <a:pt x="178929" y="301524"/>
                  </a:lnTo>
                  <a:lnTo>
                    <a:pt x="206541" y="298285"/>
                  </a:lnTo>
                  <a:lnTo>
                    <a:pt x="231726" y="289039"/>
                  </a:lnTo>
                  <a:lnTo>
                    <a:pt x="253820" y="274492"/>
                  </a:lnTo>
                  <a:lnTo>
                    <a:pt x="272161" y="255353"/>
                  </a:lnTo>
                  <a:lnTo>
                    <a:pt x="273103" y="253939"/>
                  </a:lnTo>
                  <a:lnTo>
                    <a:pt x="274045" y="252055"/>
                  </a:lnTo>
                  <a:lnTo>
                    <a:pt x="274045" y="244517"/>
                  </a:lnTo>
                  <a:lnTo>
                    <a:pt x="269807" y="240277"/>
                  </a:lnTo>
                  <a:lnTo>
                    <a:pt x="345726" y="240277"/>
                  </a:lnTo>
                  <a:lnTo>
                    <a:pt x="333444" y="269417"/>
                  </a:lnTo>
                  <a:lnTo>
                    <a:pt x="308658" y="3015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3563471" y="2217806"/>
              <a:ext cx="373380" cy="374015"/>
            </a:xfrm>
            <a:custGeom>
              <a:avLst/>
              <a:gdLst/>
              <a:ahLst/>
              <a:cxnLst/>
              <a:rect l="l" t="t" r="r" b="b"/>
              <a:pathLst>
                <a:path w="373379" h="374014">
                  <a:moveTo>
                    <a:pt x="186683" y="373575"/>
                  </a:moveTo>
                  <a:lnTo>
                    <a:pt x="137033" y="366907"/>
                  </a:lnTo>
                  <a:lnTo>
                    <a:pt x="92432" y="348088"/>
                  </a:lnTo>
                  <a:lnTo>
                    <a:pt x="54654" y="318891"/>
                  </a:lnTo>
                  <a:lnTo>
                    <a:pt x="25473" y="281092"/>
                  </a:lnTo>
                  <a:lnTo>
                    <a:pt x="6664" y="236465"/>
                  </a:lnTo>
                  <a:lnTo>
                    <a:pt x="0" y="186787"/>
                  </a:lnTo>
                  <a:lnTo>
                    <a:pt x="6664" y="137109"/>
                  </a:lnTo>
                  <a:lnTo>
                    <a:pt x="25473" y="92483"/>
                  </a:lnTo>
                  <a:lnTo>
                    <a:pt x="54654" y="54684"/>
                  </a:lnTo>
                  <a:lnTo>
                    <a:pt x="92432" y="25487"/>
                  </a:lnTo>
                  <a:lnTo>
                    <a:pt x="137033" y="6667"/>
                  </a:lnTo>
                  <a:lnTo>
                    <a:pt x="186683" y="0"/>
                  </a:lnTo>
                  <a:lnTo>
                    <a:pt x="236334" y="6667"/>
                  </a:lnTo>
                  <a:lnTo>
                    <a:pt x="280935" y="25487"/>
                  </a:lnTo>
                  <a:lnTo>
                    <a:pt x="318713" y="54684"/>
                  </a:lnTo>
                  <a:lnTo>
                    <a:pt x="337591" y="79139"/>
                  </a:lnTo>
                  <a:lnTo>
                    <a:pt x="106974" y="79139"/>
                  </a:lnTo>
                  <a:lnTo>
                    <a:pt x="88705" y="79523"/>
                  </a:lnTo>
                  <a:lnTo>
                    <a:pt x="80568" y="81105"/>
                  </a:lnTo>
                  <a:lnTo>
                    <a:pt x="75655" y="82579"/>
                  </a:lnTo>
                  <a:lnTo>
                    <a:pt x="72708" y="87986"/>
                  </a:lnTo>
                  <a:lnTo>
                    <a:pt x="74182" y="93393"/>
                  </a:lnTo>
                  <a:lnTo>
                    <a:pt x="75655" y="98309"/>
                  </a:lnTo>
                  <a:lnTo>
                    <a:pt x="81059" y="101258"/>
                  </a:lnTo>
                  <a:lnTo>
                    <a:pt x="115934" y="101258"/>
                  </a:lnTo>
                  <a:lnTo>
                    <a:pt x="122457" y="103032"/>
                  </a:lnTo>
                  <a:lnTo>
                    <a:pt x="140012" y="116496"/>
                  </a:lnTo>
                  <a:lnTo>
                    <a:pt x="141977" y="118954"/>
                  </a:lnTo>
                  <a:lnTo>
                    <a:pt x="144434" y="119937"/>
                  </a:lnTo>
                  <a:lnTo>
                    <a:pt x="222546" y="119937"/>
                  </a:lnTo>
                  <a:lnTo>
                    <a:pt x="223529" y="120429"/>
                  </a:lnTo>
                  <a:lnTo>
                    <a:pt x="359672" y="120429"/>
                  </a:lnTo>
                  <a:lnTo>
                    <a:pt x="362780" y="127802"/>
                  </a:lnTo>
                  <a:lnTo>
                    <a:pt x="108079" y="127802"/>
                  </a:lnTo>
                  <a:lnTo>
                    <a:pt x="96634" y="130129"/>
                  </a:lnTo>
                  <a:lnTo>
                    <a:pt x="87262" y="136465"/>
                  </a:lnTo>
                  <a:lnTo>
                    <a:pt x="80929" y="145843"/>
                  </a:lnTo>
                  <a:lnTo>
                    <a:pt x="78603" y="157295"/>
                  </a:lnTo>
                  <a:lnTo>
                    <a:pt x="80929" y="168746"/>
                  </a:lnTo>
                  <a:lnTo>
                    <a:pt x="87262" y="178124"/>
                  </a:lnTo>
                  <a:lnTo>
                    <a:pt x="96634" y="184460"/>
                  </a:lnTo>
                  <a:lnTo>
                    <a:pt x="108079" y="186787"/>
                  </a:lnTo>
                  <a:lnTo>
                    <a:pt x="373367" y="186787"/>
                  </a:lnTo>
                  <a:lnTo>
                    <a:pt x="366703" y="236465"/>
                  </a:lnTo>
                  <a:lnTo>
                    <a:pt x="360708" y="250688"/>
                  </a:lnTo>
                  <a:lnTo>
                    <a:pt x="186683" y="250688"/>
                  </a:lnTo>
                  <a:lnTo>
                    <a:pt x="165390" y="254675"/>
                  </a:lnTo>
                  <a:lnTo>
                    <a:pt x="147504" y="265619"/>
                  </a:lnTo>
                  <a:lnTo>
                    <a:pt x="134593" y="282002"/>
                  </a:lnTo>
                  <a:lnTo>
                    <a:pt x="128222" y="302301"/>
                  </a:lnTo>
                  <a:lnTo>
                    <a:pt x="331520" y="302301"/>
                  </a:lnTo>
                  <a:lnTo>
                    <a:pt x="318713" y="318891"/>
                  </a:lnTo>
                  <a:lnTo>
                    <a:pt x="280935" y="348088"/>
                  </a:lnTo>
                  <a:lnTo>
                    <a:pt x="236334" y="366907"/>
                  </a:lnTo>
                  <a:lnTo>
                    <a:pt x="186683" y="373575"/>
                  </a:lnTo>
                  <a:close/>
                </a:path>
                <a:path w="373379" h="374014">
                  <a:moveTo>
                    <a:pt x="222546" y="119937"/>
                  </a:moveTo>
                  <a:lnTo>
                    <a:pt x="149838" y="119937"/>
                  </a:lnTo>
                  <a:lnTo>
                    <a:pt x="151803" y="118954"/>
                  </a:lnTo>
                  <a:lnTo>
                    <a:pt x="153768" y="117479"/>
                  </a:lnTo>
                  <a:lnTo>
                    <a:pt x="157698" y="114038"/>
                  </a:lnTo>
                  <a:lnTo>
                    <a:pt x="158152" y="108140"/>
                  </a:lnTo>
                  <a:lnTo>
                    <a:pt x="158189" y="107648"/>
                  </a:lnTo>
                  <a:lnTo>
                    <a:pt x="154750" y="103716"/>
                  </a:lnTo>
                  <a:lnTo>
                    <a:pt x="130586" y="85390"/>
                  </a:lnTo>
                  <a:lnTo>
                    <a:pt x="106974" y="79139"/>
                  </a:lnTo>
                  <a:lnTo>
                    <a:pt x="337591" y="79139"/>
                  </a:lnTo>
                  <a:lnTo>
                    <a:pt x="337888" y="79523"/>
                  </a:lnTo>
                  <a:lnTo>
                    <a:pt x="266798" y="79523"/>
                  </a:lnTo>
                  <a:lnTo>
                    <a:pt x="242780" y="85882"/>
                  </a:lnTo>
                  <a:lnTo>
                    <a:pt x="218616" y="104207"/>
                  </a:lnTo>
                  <a:lnTo>
                    <a:pt x="215177" y="108140"/>
                  </a:lnTo>
                  <a:lnTo>
                    <a:pt x="215630" y="114038"/>
                  </a:lnTo>
                  <a:lnTo>
                    <a:pt x="215668" y="114530"/>
                  </a:lnTo>
                  <a:lnTo>
                    <a:pt x="219598" y="117971"/>
                  </a:lnTo>
                  <a:lnTo>
                    <a:pt x="221563" y="119445"/>
                  </a:lnTo>
                  <a:lnTo>
                    <a:pt x="222546" y="119937"/>
                  </a:lnTo>
                  <a:close/>
                </a:path>
                <a:path w="373379" h="374014">
                  <a:moveTo>
                    <a:pt x="351799" y="101750"/>
                  </a:moveTo>
                  <a:lnTo>
                    <a:pt x="292307" y="101750"/>
                  </a:lnTo>
                  <a:lnTo>
                    <a:pt x="297711" y="98800"/>
                  </a:lnTo>
                  <a:lnTo>
                    <a:pt x="300658" y="87986"/>
                  </a:lnTo>
                  <a:lnTo>
                    <a:pt x="297711" y="82579"/>
                  </a:lnTo>
                  <a:lnTo>
                    <a:pt x="284661" y="80014"/>
                  </a:lnTo>
                  <a:lnTo>
                    <a:pt x="261277" y="79523"/>
                  </a:lnTo>
                  <a:lnTo>
                    <a:pt x="337888" y="79523"/>
                  </a:lnTo>
                  <a:lnTo>
                    <a:pt x="347893" y="92483"/>
                  </a:lnTo>
                  <a:lnTo>
                    <a:pt x="351799" y="101750"/>
                  </a:lnTo>
                  <a:close/>
                </a:path>
                <a:path w="373379" h="374014">
                  <a:moveTo>
                    <a:pt x="115934" y="101258"/>
                  </a:moveTo>
                  <a:lnTo>
                    <a:pt x="81059" y="101258"/>
                  </a:lnTo>
                  <a:lnTo>
                    <a:pt x="86463" y="99784"/>
                  </a:lnTo>
                  <a:lnTo>
                    <a:pt x="92136" y="98593"/>
                  </a:lnTo>
                  <a:lnTo>
                    <a:pt x="108952" y="98309"/>
                  </a:lnTo>
                  <a:lnTo>
                    <a:pt x="105090" y="98309"/>
                  </a:lnTo>
                  <a:lnTo>
                    <a:pt x="115934" y="101258"/>
                  </a:lnTo>
                  <a:close/>
                </a:path>
                <a:path w="373379" h="374014">
                  <a:moveTo>
                    <a:pt x="359672" y="120429"/>
                  </a:moveTo>
                  <a:lnTo>
                    <a:pt x="228441" y="120429"/>
                  </a:lnTo>
                  <a:lnTo>
                    <a:pt x="231389" y="119445"/>
                  </a:lnTo>
                  <a:lnTo>
                    <a:pt x="233354" y="116988"/>
                  </a:lnTo>
                  <a:lnTo>
                    <a:pt x="250633" y="103524"/>
                  </a:lnTo>
                  <a:lnTo>
                    <a:pt x="267906" y="98800"/>
                  </a:lnTo>
                  <a:lnTo>
                    <a:pt x="264020" y="98800"/>
                  </a:lnTo>
                  <a:lnTo>
                    <a:pt x="280954" y="99085"/>
                  </a:lnTo>
                  <a:lnTo>
                    <a:pt x="286903" y="100275"/>
                  </a:lnTo>
                  <a:lnTo>
                    <a:pt x="292307" y="101750"/>
                  </a:lnTo>
                  <a:lnTo>
                    <a:pt x="351799" y="101750"/>
                  </a:lnTo>
                  <a:lnTo>
                    <a:pt x="359672" y="120429"/>
                  </a:lnTo>
                  <a:close/>
                </a:path>
                <a:path w="373379" h="374014">
                  <a:moveTo>
                    <a:pt x="265287" y="186787"/>
                  </a:moveTo>
                  <a:lnTo>
                    <a:pt x="108079" y="186787"/>
                  </a:lnTo>
                  <a:lnTo>
                    <a:pt x="119525" y="184460"/>
                  </a:lnTo>
                  <a:lnTo>
                    <a:pt x="128897" y="178124"/>
                  </a:lnTo>
                  <a:lnTo>
                    <a:pt x="135230" y="168746"/>
                  </a:lnTo>
                  <a:lnTo>
                    <a:pt x="137556" y="157295"/>
                  </a:lnTo>
                  <a:lnTo>
                    <a:pt x="135230" y="145843"/>
                  </a:lnTo>
                  <a:lnTo>
                    <a:pt x="128897" y="136465"/>
                  </a:lnTo>
                  <a:lnTo>
                    <a:pt x="119525" y="130129"/>
                  </a:lnTo>
                  <a:lnTo>
                    <a:pt x="108079" y="127802"/>
                  </a:lnTo>
                  <a:lnTo>
                    <a:pt x="265287" y="127802"/>
                  </a:lnTo>
                  <a:lnTo>
                    <a:pt x="253842" y="130129"/>
                  </a:lnTo>
                  <a:lnTo>
                    <a:pt x="244469" y="136465"/>
                  </a:lnTo>
                  <a:lnTo>
                    <a:pt x="238136" y="145843"/>
                  </a:lnTo>
                  <a:lnTo>
                    <a:pt x="235810" y="157295"/>
                  </a:lnTo>
                  <a:lnTo>
                    <a:pt x="238136" y="168746"/>
                  </a:lnTo>
                  <a:lnTo>
                    <a:pt x="244469" y="178124"/>
                  </a:lnTo>
                  <a:lnTo>
                    <a:pt x="253842" y="184460"/>
                  </a:lnTo>
                  <a:lnTo>
                    <a:pt x="265287" y="186787"/>
                  </a:lnTo>
                  <a:close/>
                </a:path>
                <a:path w="373379" h="374014">
                  <a:moveTo>
                    <a:pt x="373367" y="186787"/>
                  </a:moveTo>
                  <a:lnTo>
                    <a:pt x="265287" y="186787"/>
                  </a:lnTo>
                  <a:lnTo>
                    <a:pt x="276732" y="184460"/>
                  </a:lnTo>
                  <a:lnTo>
                    <a:pt x="286104" y="178124"/>
                  </a:lnTo>
                  <a:lnTo>
                    <a:pt x="292437" y="168746"/>
                  </a:lnTo>
                  <a:lnTo>
                    <a:pt x="294763" y="157295"/>
                  </a:lnTo>
                  <a:lnTo>
                    <a:pt x="292437" y="145843"/>
                  </a:lnTo>
                  <a:lnTo>
                    <a:pt x="286104" y="136465"/>
                  </a:lnTo>
                  <a:lnTo>
                    <a:pt x="276732" y="130129"/>
                  </a:lnTo>
                  <a:lnTo>
                    <a:pt x="265287" y="127802"/>
                  </a:lnTo>
                  <a:lnTo>
                    <a:pt x="362780" y="127802"/>
                  </a:lnTo>
                  <a:lnTo>
                    <a:pt x="366703" y="137109"/>
                  </a:lnTo>
                  <a:lnTo>
                    <a:pt x="373367" y="186787"/>
                  </a:lnTo>
                  <a:close/>
                </a:path>
                <a:path w="373379" h="374014">
                  <a:moveTo>
                    <a:pt x="331520" y="302301"/>
                  </a:moveTo>
                  <a:lnTo>
                    <a:pt x="245145" y="302301"/>
                  </a:lnTo>
                  <a:lnTo>
                    <a:pt x="238773" y="282002"/>
                  </a:lnTo>
                  <a:lnTo>
                    <a:pt x="225862" y="265619"/>
                  </a:lnTo>
                  <a:lnTo>
                    <a:pt x="207977" y="254675"/>
                  </a:lnTo>
                  <a:lnTo>
                    <a:pt x="186683" y="250688"/>
                  </a:lnTo>
                  <a:lnTo>
                    <a:pt x="360708" y="250688"/>
                  </a:lnTo>
                  <a:lnTo>
                    <a:pt x="347893" y="281092"/>
                  </a:lnTo>
                  <a:lnTo>
                    <a:pt x="331520" y="302301"/>
                  </a:lnTo>
                  <a:close/>
                </a:path>
                <a:path w="373379" h="374014">
                  <a:moveTo>
                    <a:pt x="245145" y="302301"/>
                  </a:moveTo>
                  <a:lnTo>
                    <a:pt x="128222" y="302301"/>
                  </a:lnTo>
                  <a:lnTo>
                    <a:pt x="140811" y="293038"/>
                  </a:lnTo>
                  <a:lnTo>
                    <a:pt x="154873" y="286080"/>
                  </a:lnTo>
                  <a:lnTo>
                    <a:pt x="170225" y="281702"/>
                  </a:lnTo>
                  <a:lnTo>
                    <a:pt x="186683" y="280181"/>
                  </a:lnTo>
                  <a:lnTo>
                    <a:pt x="203141" y="281702"/>
                  </a:lnTo>
                  <a:lnTo>
                    <a:pt x="218493" y="286080"/>
                  </a:lnTo>
                  <a:lnTo>
                    <a:pt x="232556" y="293038"/>
                  </a:lnTo>
                  <a:lnTo>
                    <a:pt x="245145" y="302301"/>
                  </a:lnTo>
                  <a:close/>
                </a:path>
              </a:pathLst>
            </a:custGeom>
            <a:solidFill>
              <a:srgbClr val="E83A08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2486" y="1562100"/>
            <a:ext cx="6512243" cy="1764266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lnSpc>
                <a:spcPts val="7613"/>
              </a:lnSpc>
              <a:spcBef>
                <a:spcPts val="158"/>
              </a:spcBef>
            </a:pPr>
            <a:r>
              <a:rPr spc="-600" dirty="0"/>
              <a:t>Evidence</a:t>
            </a:r>
            <a:r>
              <a:rPr spc="-360" dirty="0"/>
              <a:t> </a:t>
            </a:r>
            <a:r>
              <a:rPr spc="-623" dirty="0"/>
              <a:t>synthesis</a:t>
            </a:r>
          </a:p>
          <a:p>
            <a:pPr marL="19050">
              <a:lnSpc>
                <a:spcPts val="5993"/>
              </a:lnSpc>
            </a:pPr>
            <a:r>
              <a:rPr sz="5250" spc="-750" dirty="0">
                <a:solidFill>
                  <a:srgbClr val="153553"/>
                </a:solidFill>
              </a:rPr>
              <a:t>Cost-</a:t>
            </a:r>
            <a:r>
              <a:rPr sz="5250" spc="-555" dirty="0">
                <a:solidFill>
                  <a:srgbClr val="153553"/>
                </a:solidFill>
              </a:rPr>
              <a:t>effectiveness</a:t>
            </a:r>
            <a:r>
              <a:rPr sz="5250" spc="-563" dirty="0">
                <a:solidFill>
                  <a:srgbClr val="153553"/>
                </a:solidFill>
              </a:rPr>
              <a:t> </a:t>
            </a:r>
            <a:r>
              <a:rPr sz="5250" spc="-495" dirty="0">
                <a:solidFill>
                  <a:srgbClr val="153553"/>
                </a:solidFill>
              </a:rPr>
              <a:t>plane</a:t>
            </a:r>
            <a:endParaRPr sz="5250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9832E6E-FB3F-27B0-8CCD-42A85065DC7C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6389E20-CC23-78D0-25F9-044449224548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E35F317-2659-9F25-2FB7-3370D8B549D1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26CF20B-0B19-94FD-796C-D0FEEA637571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5">
            <a:extLst>
              <a:ext uri="{FF2B5EF4-FFF2-40B4-BE49-F238E27FC236}">
                <a16:creationId xmlns:a16="http://schemas.microsoft.com/office/drawing/2014/main" id="{93BACC1F-FCB2-EF2F-E288-EF6F1D031CB7}"/>
              </a:ext>
            </a:extLst>
          </p:cNvPr>
          <p:cNvSpPr/>
          <p:nvPr/>
        </p:nvSpPr>
        <p:spPr>
          <a:xfrm flipH="1" flipV="1">
            <a:off x="-50467" y="-51137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94E37A85-22A8-2259-A2FE-B44A42F3F94B}"/>
              </a:ext>
            </a:extLst>
          </p:cNvPr>
          <p:cNvSpPr/>
          <p:nvPr/>
        </p:nvSpPr>
        <p:spPr>
          <a:xfrm flipH="1" flipV="1">
            <a:off x="-29400" y="-126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31BFA717-5776-8AD9-FE42-590EC3BF3377}"/>
              </a:ext>
            </a:extLst>
          </p:cNvPr>
          <p:cNvSpPr/>
          <p:nvPr/>
        </p:nvSpPr>
        <p:spPr>
          <a:xfrm flipH="1" flipV="1">
            <a:off x="10232010" y="18073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7435" y="1527940"/>
            <a:ext cx="8431970" cy="1828386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lnSpc>
                <a:spcPts val="7860"/>
              </a:lnSpc>
              <a:spcBef>
                <a:spcPts val="158"/>
              </a:spcBef>
            </a:pPr>
            <a:r>
              <a:rPr spc="-600" dirty="0"/>
              <a:t>Evidence</a:t>
            </a:r>
            <a:r>
              <a:rPr spc="-360" dirty="0"/>
              <a:t> </a:t>
            </a:r>
            <a:r>
              <a:rPr spc="-623" dirty="0"/>
              <a:t>synthesis</a:t>
            </a:r>
          </a:p>
          <a:p>
            <a:pPr marL="300038">
              <a:lnSpc>
                <a:spcPts val="6240"/>
              </a:lnSpc>
            </a:pPr>
            <a:r>
              <a:rPr sz="5250" spc="-750" dirty="0">
                <a:solidFill>
                  <a:srgbClr val="153553"/>
                </a:solidFill>
              </a:rPr>
              <a:t>Cost-</a:t>
            </a:r>
            <a:r>
              <a:rPr sz="5250" spc="-555" dirty="0">
                <a:solidFill>
                  <a:srgbClr val="153553"/>
                </a:solidFill>
              </a:rPr>
              <a:t>effectiveness</a:t>
            </a:r>
            <a:r>
              <a:rPr sz="5250" spc="-563" dirty="0">
                <a:solidFill>
                  <a:srgbClr val="153553"/>
                </a:solidFill>
              </a:rPr>
              <a:t> </a:t>
            </a:r>
            <a:r>
              <a:rPr sz="5250" spc="-495" dirty="0">
                <a:solidFill>
                  <a:srgbClr val="153553"/>
                </a:solidFill>
              </a:rPr>
              <a:t>plane</a:t>
            </a:r>
            <a:endParaRPr sz="52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53845" y="1844801"/>
            <a:ext cx="9306878" cy="8126730"/>
            <a:chOff x="702563" y="1229867"/>
            <a:chExt cx="6204585" cy="5417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563" y="1229867"/>
              <a:ext cx="6204203" cy="54178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79975" y="3581400"/>
              <a:ext cx="373380" cy="295910"/>
            </a:xfrm>
            <a:custGeom>
              <a:avLst/>
              <a:gdLst/>
              <a:ahLst/>
              <a:cxnLst/>
              <a:rect l="l" t="t" r="r" b="b"/>
              <a:pathLst>
                <a:path w="373379" h="295910">
                  <a:moveTo>
                    <a:pt x="373379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373379" y="295656"/>
                  </a:lnTo>
                  <a:lnTo>
                    <a:pt x="373379" y="0"/>
                  </a:lnTo>
                  <a:close/>
                </a:path>
              </a:pathLst>
            </a:custGeom>
            <a:solidFill>
              <a:srgbClr val="F96E4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5" y="3581400"/>
              <a:ext cx="373380" cy="295910"/>
            </a:xfrm>
            <a:custGeom>
              <a:avLst/>
              <a:gdLst/>
              <a:ahLst/>
              <a:cxnLst/>
              <a:rect l="l" t="t" r="r" b="b"/>
              <a:pathLst>
                <a:path w="373379" h="295910">
                  <a:moveTo>
                    <a:pt x="0" y="0"/>
                  </a:moveTo>
                  <a:lnTo>
                    <a:pt x="373379" y="0"/>
                  </a:lnTo>
                  <a:lnTo>
                    <a:pt x="373379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DC5B5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69964" y="5372100"/>
            <a:ext cx="560070" cy="34817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spcBef>
                <a:spcPts val="555"/>
              </a:spcBef>
            </a:pPr>
            <a:r>
              <a:rPr b="1" spc="-75"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9880" y="7186898"/>
            <a:ext cx="570548" cy="487680"/>
            <a:chOff x="3933253" y="4791265"/>
            <a:chExt cx="380365" cy="325120"/>
          </a:xfrm>
        </p:grpSpPr>
        <p:sp>
          <p:nvSpPr>
            <p:cNvPr id="9" name="object 9"/>
            <p:cNvSpPr/>
            <p:nvPr/>
          </p:nvSpPr>
          <p:spPr>
            <a:xfrm>
              <a:off x="3938015" y="4796028"/>
              <a:ext cx="370840" cy="315595"/>
            </a:xfrm>
            <a:custGeom>
              <a:avLst/>
              <a:gdLst/>
              <a:ahLst/>
              <a:cxnLst/>
              <a:rect l="l" t="t" r="r" b="b"/>
              <a:pathLst>
                <a:path w="370839" h="315595">
                  <a:moveTo>
                    <a:pt x="185166" y="0"/>
                  </a:moveTo>
                  <a:lnTo>
                    <a:pt x="135942" y="5634"/>
                  </a:lnTo>
                  <a:lnTo>
                    <a:pt x="91710" y="21536"/>
                  </a:lnTo>
                  <a:lnTo>
                    <a:pt x="54235" y="46201"/>
                  </a:lnTo>
                  <a:lnTo>
                    <a:pt x="25281" y="78124"/>
                  </a:lnTo>
                  <a:lnTo>
                    <a:pt x="6614" y="115803"/>
                  </a:lnTo>
                  <a:lnTo>
                    <a:pt x="0" y="157734"/>
                  </a:lnTo>
                  <a:lnTo>
                    <a:pt x="6614" y="199664"/>
                  </a:lnTo>
                  <a:lnTo>
                    <a:pt x="25281" y="237343"/>
                  </a:lnTo>
                  <a:lnTo>
                    <a:pt x="54235" y="269266"/>
                  </a:lnTo>
                  <a:lnTo>
                    <a:pt x="91710" y="293931"/>
                  </a:lnTo>
                  <a:lnTo>
                    <a:pt x="135942" y="309833"/>
                  </a:lnTo>
                  <a:lnTo>
                    <a:pt x="185166" y="315468"/>
                  </a:lnTo>
                  <a:lnTo>
                    <a:pt x="234389" y="309833"/>
                  </a:lnTo>
                  <a:lnTo>
                    <a:pt x="278621" y="293931"/>
                  </a:lnTo>
                  <a:lnTo>
                    <a:pt x="316096" y="269266"/>
                  </a:lnTo>
                  <a:lnTo>
                    <a:pt x="345050" y="237343"/>
                  </a:lnTo>
                  <a:lnTo>
                    <a:pt x="363717" y="199664"/>
                  </a:lnTo>
                  <a:lnTo>
                    <a:pt x="370332" y="157734"/>
                  </a:lnTo>
                  <a:lnTo>
                    <a:pt x="363717" y="115803"/>
                  </a:lnTo>
                  <a:lnTo>
                    <a:pt x="345050" y="78124"/>
                  </a:lnTo>
                  <a:lnTo>
                    <a:pt x="316096" y="46201"/>
                  </a:lnTo>
                  <a:lnTo>
                    <a:pt x="278621" y="21536"/>
                  </a:lnTo>
                  <a:lnTo>
                    <a:pt x="234389" y="5634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015" y="4796028"/>
              <a:ext cx="370840" cy="315595"/>
            </a:xfrm>
            <a:custGeom>
              <a:avLst/>
              <a:gdLst/>
              <a:ahLst/>
              <a:cxnLst/>
              <a:rect l="l" t="t" r="r" b="b"/>
              <a:pathLst>
                <a:path w="370839" h="315595">
                  <a:moveTo>
                    <a:pt x="0" y="157734"/>
                  </a:moveTo>
                  <a:lnTo>
                    <a:pt x="6614" y="115803"/>
                  </a:lnTo>
                  <a:lnTo>
                    <a:pt x="25281" y="78124"/>
                  </a:lnTo>
                  <a:lnTo>
                    <a:pt x="54235" y="46201"/>
                  </a:lnTo>
                  <a:lnTo>
                    <a:pt x="91710" y="21536"/>
                  </a:lnTo>
                  <a:lnTo>
                    <a:pt x="135942" y="5634"/>
                  </a:lnTo>
                  <a:lnTo>
                    <a:pt x="185166" y="0"/>
                  </a:lnTo>
                  <a:lnTo>
                    <a:pt x="234389" y="5634"/>
                  </a:lnTo>
                  <a:lnTo>
                    <a:pt x="278621" y="21536"/>
                  </a:lnTo>
                  <a:lnTo>
                    <a:pt x="316096" y="46201"/>
                  </a:lnTo>
                  <a:lnTo>
                    <a:pt x="345050" y="78124"/>
                  </a:lnTo>
                  <a:lnTo>
                    <a:pt x="363717" y="115803"/>
                  </a:lnTo>
                  <a:lnTo>
                    <a:pt x="370332" y="157734"/>
                  </a:lnTo>
                  <a:lnTo>
                    <a:pt x="363717" y="199664"/>
                  </a:lnTo>
                  <a:lnTo>
                    <a:pt x="345050" y="237343"/>
                  </a:lnTo>
                  <a:lnTo>
                    <a:pt x="316096" y="269266"/>
                  </a:lnTo>
                  <a:lnTo>
                    <a:pt x="278621" y="293931"/>
                  </a:lnTo>
                  <a:lnTo>
                    <a:pt x="234389" y="309833"/>
                  </a:lnTo>
                  <a:lnTo>
                    <a:pt x="185166" y="315468"/>
                  </a:lnTo>
                  <a:lnTo>
                    <a:pt x="135942" y="309833"/>
                  </a:lnTo>
                  <a:lnTo>
                    <a:pt x="91710" y="293931"/>
                  </a:lnTo>
                  <a:lnTo>
                    <a:pt x="54235" y="269266"/>
                  </a:lnTo>
                  <a:lnTo>
                    <a:pt x="25281" y="237343"/>
                  </a:lnTo>
                  <a:lnTo>
                    <a:pt x="6614" y="199664"/>
                  </a:lnTo>
                  <a:lnTo>
                    <a:pt x="0" y="157734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73123" y="5323622"/>
            <a:ext cx="1158240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b="1" spc="-248" dirty="0">
                <a:latin typeface="Arial"/>
                <a:cs typeface="Arial"/>
              </a:rPr>
              <a:t>ICER</a:t>
            </a:r>
            <a:r>
              <a:rPr b="1" spc="-83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25,000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4154" y="7261124"/>
            <a:ext cx="1343978" cy="87588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00990">
              <a:spcBef>
                <a:spcPts val="150"/>
              </a:spcBef>
            </a:pPr>
            <a:r>
              <a:rPr b="1" spc="-75" dirty="0">
                <a:latin typeface="Arial"/>
                <a:cs typeface="Arial"/>
              </a:rPr>
              <a:t>4</a:t>
            </a:r>
            <a:endParaRPr>
              <a:latin typeface="Arial"/>
              <a:cs typeface="Arial"/>
            </a:endParaRPr>
          </a:p>
          <a:p>
            <a:pPr>
              <a:spcBef>
                <a:spcPts val="217"/>
              </a:spcBef>
            </a:pPr>
            <a:endParaRPr>
              <a:latin typeface="Arial"/>
              <a:cs typeface="Arial"/>
            </a:endParaRPr>
          </a:p>
          <a:p>
            <a:pPr marL="19050"/>
            <a:r>
              <a:rPr b="1" spc="-263" dirty="0">
                <a:latin typeface="Arial"/>
                <a:cs typeface="Arial"/>
              </a:rPr>
              <a:t>ICER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68" dirty="0">
                <a:latin typeface="Arial"/>
                <a:cs typeface="Arial"/>
              </a:rPr>
              <a:t>-200,000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37960" y="3250691"/>
            <a:ext cx="592455" cy="576263"/>
          </a:xfrm>
          <a:custGeom>
            <a:avLst/>
            <a:gdLst/>
            <a:ahLst/>
            <a:cxnLst/>
            <a:rect l="l" t="t" r="r" b="b"/>
            <a:pathLst>
              <a:path w="394970" h="384175">
                <a:moveTo>
                  <a:pt x="197358" y="0"/>
                </a:moveTo>
                <a:lnTo>
                  <a:pt x="0" y="384048"/>
                </a:lnTo>
                <a:lnTo>
                  <a:pt x="394716" y="384048"/>
                </a:lnTo>
                <a:lnTo>
                  <a:pt x="197358" y="0"/>
                </a:lnTo>
                <a:close/>
              </a:path>
            </a:pathLst>
          </a:custGeom>
          <a:solidFill>
            <a:srgbClr val="174A8C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4" name="object 14"/>
          <p:cNvSpPr txBox="1"/>
          <p:nvPr/>
        </p:nvSpPr>
        <p:spPr>
          <a:xfrm>
            <a:off x="6756945" y="3513238"/>
            <a:ext cx="154305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b="1" spc="-75" dirty="0">
                <a:solidFill>
                  <a:srgbClr val="F2F2F2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21222" y="4610576"/>
            <a:ext cx="456248" cy="458153"/>
            <a:chOff x="1947481" y="3073717"/>
            <a:chExt cx="304165" cy="305435"/>
          </a:xfrm>
        </p:grpSpPr>
        <p:sp>
          <p:nvSpPr>
            <p:cNvPr id="16" name="object 16"/>
            <p:cNvSpPr/>
            <p:nvPr/>
          </p:nvSpPr>
          <p:spPr>
            <a:xfrm>
              <a:off x="1952244" y="3152012"/>
              <a:ext cx="220979" cy="222250"/>
            </a:xfrm>
            <a:custGeom>
              <a:avLst/>
              <a:gdLst/>
              <a:ahLst/>
              <a:cxnLst/>
              <a:rect l="l" t="t" r="r" b="b"/>
              <a:pathLst>
                <a:path w="220980" h="222250">
                  <a:moveTo>
                    <a:pt x="220599" y="0"/>
                  </a:moveTo>
                  <a:lnTo>
                    <a:pt x="0" y="0"/>
                  </a:lnTo>
                  <a:lnTo>
                    <a:pt x="0" y="222123"/>
                  </a:lnTo>
                  <a:lnTo>
                    <a:pt x="220599" y="222123"/>
                  </a:lnTo>
                  <a:lnTo>
                    <a:pt x="220599" y="0"/>
                  </a:lnTo>
                  <a:close/>
                </a:path>
              </a:pathLst>
            </a:custGeom>
            <a:solidFill>
              <a:srgbClr val="E5EEEA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172843" y="3078479"/>
              <a:ext cx="73660" cy="295910"/>
            </a:xfrm>
            <a:custGeom>
              <a:avLst/>
              <a:gdLst/>
              <a:ahLst/>
              <a:cxnLst/>
              <a:rect l="l" t="t" r="r" b="b"/>
              <a:pathLst>
                <a:path w="73660" h="295910">
                  <a:moveTo>
                    <a:pt x="73533" y="0"/>
                  </a:moveTo>
                  <a:lnTo>
                    <a:pt x="0" y="73533"/>
                  </a:lnTo>
                  <a:lnTo>
                    <a:pt x="0" y="295656"/>
                  </a:lnTo>
                  <a:lnTo>
                    <a:pt x="73533" y="222123"/>
                  </a:lnTo>
                  <a:lnTo>
                    <a:pt x="73533" y="0"/>
                  </a:lnTo>
                  <a:close/>
                </a:path>
              </a:pathLst>
            </a:custGeom>
            <a:solidFill>
              <a:srgbClr val="B8BFBC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952244" y="3078479"/>
              <a:ext cx="294640" cy="73660"/>
            </a:xfrm>
            <a:custGeom>
              <a:avLst/>
              <a:gdLst/>
              <a:ahLst/>
              <a:cxnLst/>
              <a:rect l="l" t="t" r="r" b="b"/>
              <a:pathLst>
                <a:path w="294639" h="73660">
                  <a:moveTo>
                    <a:pt x="294132" y="0"/>
                  </a:moveTo>
                  <a:lnTo>
                    <a:pt x="73533" y="0"/>
                  </a:lnTo>
                  <a:lnTo>
                    <a:pt x="0" y="73533"/>
                  </a:lnTo>
                  <a:lnTo>
                    <a:pt x="220599" y="73533"/>
                  </a:lnTo>
                  <a:lnTo>
                    <a:pt x="294132" y="0"/>
                  </a:lnTo>
                  <a:close/>
                </a:path>
              </a:pathLst>
            </a:custGeom>
            <a:solidFill>
              <a:srgbClr val="EAF1EE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952244" y="3078479"/>
              <a:ext cx="294640" cy="295910"/>
            </a:xfrm>
            <a:custGeom>
              <a:avLst/>
              <a:gdLst/>
              <a:ahLst/>
              <a:cxnLst/>
              <a:rect l="l" t="t" r="r" b="b"/>
              <a:pathLst>
                <a:path w="294639" h="295910">
                  <a:moveTo>
                    <a:pt x="0" y="73533"/>
                  </a:moveTo>
                  <a:lnTo>
                    <a:pt x="73533" y="0"/>
                  </a:lnTo>
                  <a:lnTo>
                    <a:pt x="294132" y="0"/>
                  </a:lnTo>
                  <a:lnTo>
                    <a:pt x="294132" y="222123"/>
                  </a:lnTo>
                  <a:lnTo>
                    <a:pt x="220599" y="295656"/>
                  </a:lnTo>
                  <a:lnTo>
                    <a:pt x="0" y="295656"/>
                  </a:lnTo>
                  <a:lnTo>
                    <a:pt x="0" y="73533"/>
                  </a:lnTo>
                  <a:close/>
                </a:path>
                <a:path w="294639" h="295910">
                  <a:moveTo>
                    <a:pt x="0" y="73533"/>
                  </a:moveTo>
                  <a:lnTo>
                    <a:pt x="220599" y="73533"/>
                  </a:lnTo>
                  <a:lnTo>
                    <a:pt x="294132" y="0"/>
                  </a:lnTo>
                </a:path>
                <a:path w="294639" h="295910">
                  <a:moveTo>
                    <a:pt x="220599" y="73533"/>
                  </a:moveTo>
                  <a:lnTo>
                    <a:pt x="220599" y="295656"/>
                  </a:lnTo>
                </a:path>
              </a:pathLst>
            </a:custGeom>
            <a:ln w="952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21080" y="4736423"/>
            <a:ext cx="144780" cy="27411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1650" b="1" spc="-75" dirty="0"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87036" y="6027801"/>
            <a:ext cx="446723" cy="449580"/>
            <a:chOff x="2991357" y="4018534"/>
            <a:chExt cx="297815" cy="299720"/>
          </a:xfrm>
        </p:grpSpPr>
        <p:sp>
          <p:nvSpPr>
            <p:cNvPr id="22" name="object 22"/>
            <p:cNvSpPr/>
            <p:nvPr/>
          </p:nvSpPr>
          <p:spPr>
            <a:xfrm>
              <a:off x="2997707" y="4024884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53" y="7303"/>
                  </a:lnTo>
                  <a:lnTo>
                    <a:pt x="58336" y="27639"/>
                  </a:lnTo>
                  <a:lnTo>
                    <a:pt x="27491" y="58649"/>
                  </a:lnTo>
                  <a:lnTo>
                    <a:pt x="7263" y="97974"/>
                  </a:lnTo>
                  <a:lnTo>
                    <a:pt x="0" y="143256"/>
                  </a:lnTo>
                  <a:lnTo>
                    <a:pt x="7263" y="188537"/>
                  </a:lnTo>
                  <a:lnTo>
                    <a:pt x="27491" y="227862"/>
                  </a:lnTo>
                  <a:lnTo>
                    <a:pt x="58336" y="258872"/>
                  </a:lnTo>
                  <a:lnTo>
                    <a:pt x="97453" y="279208"/>
                  </a:lnTo>
                  <a:lnTo>
                    <a:pt x="142494" y="286512"/>
                  </a:lnTo>
                  <a:lnTo>
                    <a:pt x="187534" y="279208"/>
                  </a:lnTo>
                  <a:lnTo>
                    <a:pt x="226651" y="258872"/>
                  </a:lnTo>
                  <a:lnTo>
                    <a:pt x="257496" y="227862"/>
                  </a:lnTo>
                  <a:lnTo>
                    <a:pt x="277724" y="188537"/>
                  </a:lnTo>
                  <a:lnTo>
                    <a:pt x="284988" y="143256"/>
                  </a:lnTo>
                  <a:lnTo>
                    <a:pt x="277724" y="97974"/>
                  </a:lnTo>
                  <a:lnTo>
                    <a:pt x="257496" y="58649"/>
                  </a:lnTo>
                  <a:lnTo>
                    <a:pt x="226651" y="27639"/>
                  </a:lnTo>
                  <a:lnTo>
                    <a:pt x="187534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2997707" y="4024884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6"/>
                  </a:moveTo>
                  <a:lnTo>
                    <a:pt x="7263" y="97974"/>
                  </a:lnTo>
                  <a:lnTo>
                    <a:pt x="27491" y="58649"/>
                  </a:lnTo>
                  <a:lnTo>
                    <a:pt x="58336" y="27639"/>
                  </a:lnTo>
                  <a:lnTo>
                    <a:pt x="97453" y="7303"/>
                  </a:lnTo>
                  <a:lnTo>
                    <a:pt x="142494" y="0"/>
                  </a:lnTo>
                  <a:lnTo>
                    <a:pt x="187534" y="7303"/>
                  </a:lnTo>
                  <a:lnTo>
                    <a:pt x="226651" y="27639"/>
                  </a:lnTo>
                  <a:lnTo>
                    <a:pt x="257496" y="58649"/>
                  </a:lnTo>
                  <a:lnTo>
                    <a:pt x="277724" y="97974"/>
                  </a:lnTo>
                  <a:lnTo>
                    <a:pt x="284988" y="143256"/>
                  </a:lnTo>
                  <a:lnTo>
                    <a:pt x="277724" y="188537"/>
                  </a:lnTo>
                  <a:lnTo>
                    <a:pt x="257496" y="227862"/>
                  </a:lnTo>
                  <a:lnTo>
                    <a:pt x="226651" y="258872"/>
                  </a:lnTo>
                  <a:lnTo>
                    <a:pt x="187534" y="279208"/>
                  </a:lnTo>
                  <a:lnTo>
                    <a:pt x="142494" y="286512"/>
                  </a:lnTo>
                  <a:lnTo>
                    <a:pt x="97453" y="279208"/>
                  </a:lnTo>
                  <a:lnTo>
                    <a:pt x="58336" y="258872"/>
                  </a:lnTo>
                  <a:lnTo>
                    <a:pt x="27491" y="227862"/>
                  </a:lnTo>
                  <a:lnTo>
                    <a:pt x="7263" y="188537"/>
                  </a:lnTo>
                  <a:lnTo>
                    <a:pt x="0" y="143256"/>
                  </a:lnTo>
                  <a:close/>
                </a:path>
              </a:pathLst>
            </a:custGeom>
            <a:ln w="12699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61587" y="4876472"/>
            <a:ext cx="1156335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b="1" spc="-263" dirty="0">
                <a:latin typeface="Arial"/>
                <a:cs typeface="Arial"/>
              </a:rPr>
              <a:t>ICER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68" dirty="0">
                <a:latin typeface="Arial"/>
                <a:cs typeface="Arial"/>
              </a:rPr>
              <a:t>60,000</a:t>
            </a:r>
            <a:endParaRPr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04074" y="4871084"/>
            <a:ext cx="538163" cy="469583"/>
            <a:chOff x="5469382" y="3247389"/>
            <a:chExt cx="358775" cy="313055"/>
          </a:xfrm>
        </p:grpSpPr>
        <p:sp>
          <p:nvSpPr>
            <p:cNvPr id="26" name="object 26"/>
            <p:cNvSpPr/>
            <p:nvPr/>
          </p:nvSpPr>
          <p:spPr>
            <a:xfrm>
              <a:off x="5475732" y="3253739"/>
              <a:ext cx="346075" cy="300355"/>
            </a:xfrm>
            <a:custGeom>
              <a:avLst/>
              <a:gdLst/>
              <a:ahLst/>
              <a:cxnLst/>
              <a:rect l="l" t="t" r="r" b="b"/>
              <a:pathLst>
                <a:path w="346075" h="300354">
                  <a:moveTo>
                    <a:pt x="172974" y="0"/>
                  </a:moveTo>
                  <a:lnTo>
                    <a:pt x="126991" y="5362"/>
                  </a:lnTo>
                  <a:lnTo>
                    <a:pt x="85671" y="20494"/>
                  </a:lnTo>
                  <a:lnTo>
                    <a:pt x="50663" y="43967"/>
                  </a:lnTo>
                  <a:lnTo>
                    <a:pt x="23616" y="74348"/>
                  </a:lnTo>
                  <a:lnTo>
                    <a:pt x="6178" y="110207"/>
                  </a:lnTo>
                  <a:lnTo>
                    <a:pt x="0" y="150113"/>
                  </a:lnTo>
                  <a:lnTo>
                    <a:pt x="6178" y="190020"/>
                  </a:lnTo>
                  <a:lnTo>
                    <a:pt x="23616" y="225879"/>
                  </a:lnTo>
                  <a:lnTo>
                    <a:pt x="50663" y="256260"/>
                  </a:lnTo>
                  <a:lnTo>
                    <a:pt x="85671" y="279733"/>
                  </a:lnTo>
                  <a:lnTo>
                    <a:pt x="126991" y="294865"/>
                  </a:lnTo>
                  <a:lnTo>
                    <a:pt x="172974" y="300227"/>
                  </a:lnTo>
                  <a:lnTo>
                    <a:pt x="218956" y="294865"/>
                  </a:lnTo>
                  <a:lnTo>
                    <a:pt x="260276" y="279733"/>
                  </a:lnTo>
                  <a:lnTo>
                    <a:pt x="295284" y="256260"/>
                  </a:lnTo>
                  <a:lnTo>
                    <a:pt x="322331" y="225879"/>
                  </a:lnTo>
                  <a:lnTo>
                    <a:pt x="339769" y="190020"/>
                  </a:lnTo>
                  <a:lnTo>
                    <a:pt x="345948" y="150113"/>
                  </a:lnTo>
                  <a:lnTo>
                    <a:pt x="339769" y="110207"/>
                  </a:lnTo>
                  <a:lnTo>
                    <a:pt x="322331" y="74348"/>
                  </a:lnTo>
                  <a:lnTo>
                    <a:pt x="295284" y="43967"/>
                  </a:lnTo>
                  <a:lnTo>
                    <a:pt x="260276" y="20494"/>
                  </a:lnTo>
                  <a:lnTo>
                    <a:pt x="218956" y="5362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E5EEEA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475732" y="3253739"/>
              <a:ext cx="346075" cy="300355"/>
            </a:xfrm>
            <a:custGeom>
              <a:avLst/>
              <a:gdLst/>
              <a:ahLst/>
              <a:cxnLst/>
              <a:rect l="l" t="t" r="r" b="b"/>
              <a:pathLst>
                <a:path w="346075" h="300354">
                  <a:moveTo>
                    <a:pt x="0" y="150113"/>
                  </a:moveTo>
                  <a:lnTo>
                    <a:pt x="6178" y="110207"/>
                  </a:lnTo>
                  <a:lnTo>
                    <a:pt x="23616" y="74348"/>
                  </a:lnTo>
                  <a:lnTo>
                    <a:pt x="50663" y="43967"/>
                  </a:lnTo>
                  <a:lnTo>
                    <a:pt x="85671" y="20494"/>
                  </a:lnTo>
                  <a:lnTo>
                    <a:pt x="126991" y="5362"/>
                  </a:lnTo>
                  <a:lnTo>
                    <a:pt x="172974" y="0"/>
                  </a:lnTo>
                  <a:lnTo>
                    <a:pt x="218956" y="5362"/>
                  </a:lnTo>
                  <a:lnTo>
                    <a:pt x="260276" y="20494"/>
                  </a:lnTo>
                  <a:lnTo>
                    <a:pt x="295284" y="43967"/>
                  </a:lnTo>
                  <a:lnTo>
                    <a:pt x="322331" y="74348"/>
                  </a:lnTo>
                  <a:lnTo>
                    <a:pt x="339769" y="110207"/>
                  </a:lnTo>
                  <a:lnTo>
                    <a:pt x="345948" y="150113"/>
                  </a:lnTo>
                  <a:lnTo>
                    <a:pt x="339769" y="190020"/>
                  </a:lnTo>
                  <a:lnTo>
                    <a:pt x="322331" y="225879"/>
                  </a:lnTo>
                  <a:lnTo>
                    <a:pt x="295284" y="256260"/>
                  </a:lnTo>
                  <a:lnTo>
                    <a:pt x="260276" y="279733"/>
                  </a:lnTo>
                  <a:lnTo>
                    <a:pt x="218956" y="294865"/>
                  </a:lnTo>
                  <a:lnTo>
                    <a:pt x="172974" y="300227"/>
                  </a:lnTo>
                  <a:lnTo>
                    <a:pt x="126991" y="294865"/>
                  </a:lnTo>
                  <a:lnTo>
                    <a:pt x="85671" y="279733"/>
                  </a:lnTo>
                  <a:lnTo>
                    <a:pt x="50663" y="256260"/>
                  </a:lnTo>
                  <a:lnTo>
                    <a:pt x="23616" y="225879"/>
                  </a:lnTo>
                  <a:lnTo>
                    <a:pt x="6178" y="190020"/>
                  </a:lnTo>
                  <a:lnTo>
                    <a:pt x="0" y="150113"/>
                  </a:lnTo>
                  <a:close/>
                </a:path>
              </a:pathLst>
            </a:custGeom>
            <a:ln w="12700">
              <a:solidFill>
                <a:srgbClr val="F96E46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00596" y="4947374"/>
            <a:ext cx="144780" cy="27411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1650" b="1" spc="-75" dirty="0"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83613" y="2592332"/>
            <a:ext cx="7098030" cy="6741795"/>
          </a:xfrm>
          <a:custGeom>
            <a:avLst/>
            <a:gdLst/>
            <a:ahLst/>
            <a:cxnLst/>
            <a:rect l="l" t="t" r="r" b="b"/>
            <a:pathLst>
              <a:path w="4732020" h="4494530">
                <a:moveTo>
                  <a:pt x="0" y="4494047"/>
                </a:moveTo>
                <a:lnTo>
                  <a:pt x="4731512" y="0"/>
                </a:lnTo>
              </a:path>
            </a:pathLst>
          </a:custGeom>
          <a:ln w="57149">
            <a:solidFill>
              <a:srgbClr val="CC3300"/>
            </a:solidFill>
            <a:prstDash val="dot"/>
          </a:ln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30" name="object 30"/>
          <p:cNvSpPr txBox="1"/>
          <p:nvPr/>
        </p:nvSpPr>
        <p:spPr>
          <a:xfrm>
            <a:off x="3843072" y="5943863"/>
            <a:ext cx="2078355" cy="877163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R="333375" algn="ctr">
              <a:spcBef>
                <a:spcPts val="840"/>
              </a:spcBef>
            </a:pPr>
            <a:r>
              <a:rPr sz="2400" b="1" spc="-548" dirty="0">
                <a:solidFill>
                  <a:srgbClr val="0070C0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9050">
              <a:spcBef>
                <a:spcPts val="614"/>
              </a:spcBef>
            </a:pPr>
            <a:r>
              <a:rPr sz="2100" b="1" spc="-150" dirty="0">
                <a:solidFill>
                  <a:srgbClr val="3D5A4F"/>
                </a:solidFill>
                <a:latin typeface="Arial"/>
                <a:cs typeface="Arial"/>
              </a:rPr>
              <a:t>Current</a:t>
            </a:r>
            <a:r>
              <a:rPr sz="2100" b="1" spc="-113" dirty="0">
                <a:solidFill>
                  <a:srgbClr val="3D5A4F"/>
                </a:solidFill>
                <a:latin typeface="Arial"/>
                <a:cs typeface="Arial"/>
              </a:rPr>
              <a:t> </a:t>
            </a:r>
            <a:r>
              <a:rPr sz="2100" b="1" spc="-53" dirty="0">
                <a:solidFill>
                  <a:srgbClr val="3D5A4F"/>
                </a:solidFill>
                <a:latin typeface="Arial"/>
                <a:cs typeface="Arial"/>
              </a:rPr>
              <a:t>treatment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45159" y="5121365"/>
            <a:ext cx="1734503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  <a:tabLst>
                <a:tab pos="408623" algn="l"/>
              </a:tabLst>
            </a:pP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b="1" spc="-263" dirty="0">
                <a:latin typeface="Arial"/>
                <a:cs typeface="Arial"/>
              </a:rPr>
              <a:t>ICER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68" dirty="0">
                <a:latin typeface="Arial"/>
                <a:cs typeface="Arial"/>
              </a:rPr>
              <a:t>-200,000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52365" y="2884286"/>
            <a:ext cx="1635443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  <a:tabLst>
                <a:tab pos="379094" algn="l"/>
              </a:tabLst>
            </a:pP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b="1" spc="-248" dirty="0">
                <a:latin typeface="Arial"/>
                <a:cs typeface="Arial"/>
              </a:rPr>
              <a:t>ICER</a:t>
            </a:r>
            <a:r>
              <a:rPr b="1" spc="-83" dirty="0">
                <a:latin typeface="Arial"/>
                <a:cs typeface="Arial"/>
              </a:rPr>
              <a:t> </a:t>
            </a:r>
            <a:r>
              <a:rPr b="1" spc="-68" dirty="0">
                <a:latin typeface="Arial"/>
                <a:cs typeface="Arial"/>
              </a:rPr>
              <a:t>180,000</a:t>
            </a:r>
            <a:endParaRPr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51625" y="4325111"/>
            <a:ext cx="6085523" cy="4011930"/>
            <a:chOff x="4101083" y="2883407"/>
            <a:chExt cx="4057015" cy="2674620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9932" y="3314700"/>
              <a:ext cx="569963" cy="5974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423" y="2883407"/>
              <a:ext cx="569975" cy="59588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1083" y="4962144"/>
              <a:ext cx="569975" cy="5958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54039" y="3998975"/>
              <a:ext cx="2504440" cy="338455"/>
            </a:xfrm>
            <a:custGeom>
              <a:avLst/>
              <a:gdLst/>
              <a:ahLst/>
              <a:cxnLst/>
              <a:rect l="l" t="t" r="r" b="b"/>
              <a:pathLst>
                <a:path w="2504440" h="338454">
                  <a:moveTo>
                    <a:pt x="2503932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503932" y="338327"/>
                  </a:lnTo>
                  <a:lnTo>
                    <a:pt x="25039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770632" y="1869948"/>
            <a:ext cx="3756660" cy="418382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48576" rIns="0" bIns="0" rtlCol="0">
            <a:spAutoFit/>
          </a:bodyPr>
          <a:lstStyle/>
          <a:p>
            <a:pPr marL="819150">
              <a:spcBef>
                <a:spcPts val="381"/>
              </a:spcBef>
            </a:pPr>
            <a:r>
              <a:rPr sz="2400" b="1" spc="-150" dirty="0">
                <a:latin typeface="Arial"/>
                <a:cs typeface="Arial"/>
              </a:rPr>
              <a:t>Incremental</a:t>
            </a:r>
            <a:r>
              <a:rPr sz="2400" b="1" spc="-38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cost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218963" y="6030049"/>
            <a:ext cx="2279333" cy="387607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2400" b="1" spc="-158" dirty="0">
                <a:latin typeface="Arial"/>
                <a:cs typeface="Arial"/>
              </a:rPr>
              <a:t>Incremental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420" dirty="0">
                <a:latin typeface="Arial"/>
                <a:cs typeface="Arial"/>
              </a:rPr>
              <a:t>QALY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577340" y="2537459"/>
            <a:ext cx="7084695" cy="6741795"/>
          </a:xfrm>
          <a:custGeom>
            <a:avLst/>
            <a:gdLst/>
            <a:ahLst/>
            <a:cxnLst/>
            <a:rect l="l" t="t" r="r" b="b"/>
            <a:pathLst>
              <a:path w="4723130" h="4494530">
                <a:moveTo>
                  <a:pt x="4722876" y="0"/>
                </a:moveTo>
                <a:lnTo>
                  <a:pt x="0" y="4494276"/>
                </a:lnTo>
                <a:lnTo>
                  <a:pt x="4722876" y="4494276"/>
                </a:lnTo>
                <a:lnTo>
                  <a:pt x="4722876" y="0"/>
                </a:lnTo>
                <a:close/>
              </a:path>
            </a:pathLst>
          </a:custGeom>
          <a:solidFill>
            <a:srgbClr val="C1C1C1">
              <a:alpha val="58824"/>
            </a:srgbClr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41" name="object 41"/>
          <p:cNvSpPr txBox="1"/>
          <p:nvPr/>
        </p:nvSpPr>
        <p:spPr>
          <a:xfrm>
            <a:off x="10632896" y="3592487"/>
            <a:ext cx="6368415" cy="136088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04850" marR="7620" indent="-685800">
              <a:lnSpc>
                <a:spcPct val="102099"/>
              </a:lnSpc>
              <a:spcBef>
                <a:spcPts val="15"/>
              </a:spcBef>
            </a:pPr>
            <a:r>
              <a:rPr sz="5850" spc="-306" dirty="0">
                <a:solidFill>
                  <a:srgbClr val="C00000"/>
                </a:solidFill>
                <a:latin typeface="Arial Unicode MS"/>
                <a:cs typeface="Arial Unicode MS"/>
              </a:rPr>
              <a:t>✔</a:t>
            </a:r>
            <a:r>
              <a:rPr sz="5850" spc="-863" dirty="0">
                <a:solidFill>
                  <a:srgbClr val="C00000"/>
                </a:solidFill>
                <a:latin typeface="Arial Unicode MS"/>
                <a:cs typeface="Arial Unicode MS"/>
              </a:rPr>
              <a:t> </a:t>
            </a:r>
            <a:r>
              <a:rPr sz="3000" b="1" spc="-263" dirty="0">
                <a:solidFill>
                  <a:srgbClr val="C00000"/>
                </a:solidFill>
                <a:latin typeface="Arial"/>
                <a:cs typeface="Arial"/>
              </a:rPr>
              <a:t>Decision</a:t>
            </a:r>
            <a:r>
              <a:rPr sz="3000" b="1" spc="-11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17" dirty="0">
                <a:solidFill>
                  <a:srgbClr val="C00000"/>
                </a:solidFill>
                <a:latin typeface="Arial"/>
                <a:cs typeface="Arial"/>
              </a:rPr>
              <a:t>rules</a:t>
            </a:r>
            <a:r>
              <a:rPr sz="3000" b="1" spc="-217" dirty="0">
                <a:solidFill>
                  <a:srgbClr val="00B050"/>
                </a:solidFill>
                <a:latin typeface="Arial"/>
                <a:cs typeface="Arial"/>
              </a:rPr>
              <a:t>:</a:t>
            </a:r>
            <a:r>
              <a:rPr sz="3000" b="1" spc="-10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248" dirty="0">
                <a:solidFill>
                  <a:srgbClr val="00B050"/>
                </a:solidFill>
                <a:latin typeface="Arial"/>
                <a:cs typeface="Arial"/>
              </a:rPr>
              <a:t>accept</a:t>
            </a:r>
            <a:r>
              <a:rPr sz="3000" b="1" spc="-98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248" dirty="0">
                <a:solidFill>
                  <a:srgbClr val="00B050"/>
                </a:solidFill>
                <a:latin typeface="Arial"/>
                <a:cs typeface="Arial"/>
              </a:rPr>
              <a:t>technology,</a:t>
            </a:r>
            <a:r>
              <a:rPr sz="3000" b="1" spc="-14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38" dirty="0">
                <a:solidFill>
                  <a:srgbClr val="00B050"/>
                </a:solidFill>
                <a:latin typeface="Arial"/>
                <a:cs typeface="Arial"/>
              </a:rPr>
              <a:t>if </a:t>
            </a:r>
            <a:r>
              <a:rPr sz="3000" b="1" spc="-420" dirty="0">
                <a:solidFill>
                  <a:srgbClr val="00B050"/>
                </a:solidFill>
                <a:latin typeface="Arial"/>
                <a:cs typeface="Arial"/>
              </a:rPr>
              <a:t>ICER</a:t>
            </a:r>
            <a:r>
              <a:rPr sz="3000" b="1" spc="-68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270" dirty="0">
                <a:solidFill>
                  <a:srgbClr val="00B050"/>
                </a:solidFill>
                <a:latin typeface="Arial"/>
                <a:cs typeface="Arial"/>
              </a:rPr>
              <a:t>&lt;</a:t>
            </a:r>
            <a:r>
              <a:rPr sz="3000" b="1" spc="-68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233" dirty="0">
                <a:solidFill>
                  <a:srgbClr val="00B050"/>
                </a:solidFill>
                <a:latin typeface="Arial"/>
                <a:cs typeface="Arial"/>
              </a:rPr>
              <a:t>Willingness-</a:t>
            </a:r>
            <a:r>
              <a:rPr sz="3000" b="1" spc="-120" dirty="0">
                <a:solidFill>
                  <a:srgbClr val="00B050"/>
                </a:solidFill>
                <a:latin typeface="Arial"/>
                <a:cs typeface="Arial"/>
              </a:rPr>
              <a:t>to-</a:t>
            </a:r>
            <a:r>
              <a:rPr sz="3000" b="1" spc="-270" dirty="0">
                <a:solidFill>
                  <a:srgbClr val="00B050"/>
                </a:solidFill>
                <a:latin typeface="Arial"/>
                <a:cs typeface="Arial"/>
              </a:rPr>
              <a:t>pay</a:t>
            </a:r>
            <a:r>
              <a:rPr sz="3000" b="1" spc="-127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b="1" spc="-143" dirty="0">
                <a:solidFill>
                  <a:srgbClr val="00B050"/>
                </a:solidFill>
                <a:latin typeface="Arial"/>
                <a:cs typeface="Arial"/>
              </a:rPr>
              <a:t>threshold</a:t>
            </a:r>
            <a:endParaRPr sz="3000" dirty="0">
              <a:latin typeface="Arial"/>
              <a:cs typeface="Arial"/>
            </a:endParaRP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EDEE3E46-84FE-4297-707B-EF32A050304F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B9E6EDE-2470-B999-5AF3-D36F4EED5D79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FFB5A00F-1A8D-6D65-DFE6-050728C690B5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423DB2EA-F933-509B-3594-F690A8142E7A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Freeform 15">
            <a:extLst>
              <a:ext uri="{FF2B5EF4-FFF2-40B4-BE49-F238E27FC236}">
                <a16:creationId xmlns:a16="http://schemas.microsoft.com/office/drawing/2014/main" id="{C04E7B29-4C0A-4A82-DF0A-69B01023A6AB}"/>
              </a:ext>
            </a:extLst>
          </p:cNvPr>
          <p:cNvSpPr/>
          <p:nvPr/>
        </p:nvSpPr>
        <p:spPr>
          <a:xfrm flipH="1" flipV="1">
            <a:off x="10236" y="-9761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16">
            <a:extLst>
              <a:ext uri="{FF2B5EF4-FFF2-40B4-BE49-F238E27FC236}">
                <a16:creationId xmlns:a16="http://schemas.microsoft.com/office/drawing/2014/main" id="{9F95D087-314E-C0CE-633C-59045939DDE0}"/>
              </a:ext>
            </a:extLst>
          </p:cNvPr>
          <p:cNvSpPr/>
          <p:nvPr/>
        </p:nvSpPr>
        <p:spPr>
          <a:xfrm flipH="1" flipV="1">
            <a:off x="10236" y="52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18">
            <a:extLst>
              <a:ext uri="{FF2B5EF4-FFF2-40B4-BE49-F238E27FC236}">
                <a16:creationId xmlns:a16="http://schemas.microsoft.com/office/drawing/2014/main" id="{D30FAF5C-D55E-1328-BEF1-674E060FE590}"/>
              </a:ext>
            </a:extLst>
          </p:cNvPr>
          <p:cNvSpPr/>
          <p:nvPr/>
        </p:nvSpPr>
        <p:spPr>
          <a:xfrm flipH="1" flipV="1">
            <a:off x="10232010" y="-1421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5D3DE7-7C26-EFED-E28D-8AE81A10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76968"/>
            <a:ext cx="15759684" cy="1515396"/>
          </a:xfr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we make the decision?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71E5B0-CD96-1AE9-902E-D80502CC5161}"/>
              </a:ext>
            </a:extLst>
          </p:cNvPr>
          <p:cNvSpPr>
            <a:spLocks/>
          </p:cNvSpPr>
          <p:nvPr/>
        </p:nvSpPr>
        <p:spPr>
          <a:xfrm>
            <a:off x="1508720" y="2480237"/>
            <a:ext cx="7374305" cy="1177982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1303020">
              <a:spcAft>
                <a:spcPts val="900"/>
              </a:spcAft>
            </a:pPr>
            <a:r>
              <a:rPr lang="en-US" sz="3990" b="1">
                <a:solidFill>
                  <a:srgbClr val="005D00"/>
                </a:solidFill>
              </a:rPr>
              <a:t>Cost-effectiveness Analysis (CEA)</a:t>
            </a:r>
            <a:endParaRPr lang="en-US" sz="4200" b="1">
              <a:solidFill>
                <a:srgbClr val="1EE068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85517C-D44A-C15E-94D3-AE8B8BFD4E82}"/>
              </a:ext>
            </a:extLst>
          </p:cNvPr>
          <p:cNvSpPr>
            <a:spLocks/>
          </p:cNvSpPr>
          <p:nvPr/>
        </p:nvSpPr>
        <p:spPr>
          <a:xfrm>
            <a:off x="1730971" y="4084742"/>
            <a:ext cx="7374305" cy="526801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1303020">
              <a:spcAft>
                <a:spcPts val="900"/>
              </a:spcAft>
            </a:pPr>
            <a:r>
              <a:rPr lang="en-GB" sz="4560" b="1" i="1"/>
              <a:t>Is it good “value for money”?</a:t>
            </a:r>
          </a:p>
          <a:p>
            <a:pPr defTabSz="1303020">
              <a:spcAft>
                <a:spcPts val="900"/>
              </a:spcAft>
            </a:pPr>
            <a:endParaRPr lang="en-US" sz="4560" b="1" i="1"/>
          </a:p>
          <a:p>
            <a:pPr marL="488633" indent="-488633" defTabSz="130302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4560"/>
              <a:t>Useful for resource allocation decisions among different</a:t>
            </a:r>
            <a:br>
              <a:rPr lang="en-US" sz="4560"/>
            </a:br>
            <a:r>
              <a:rPr lang="en-US" sz="4560"/>
              <a:t>interventions</a:t>
            </a:r>
            <a:endParaRPr lang="en-GB" sz="4560" b="1" i="1"/>
          </a:p>
          <a:p>
            <a:pPr>
              <a:spcAft>
                <a:spcPts val="900"/>
              </a:spcAft>
            </a:pPr>
            <a:endParaRPr lang="en-US" sz="4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55E7EE-EB0B-7270-B33A-6181AD11861D}"/>
              </a:ext>
            </a:extLst>
          </p:cNvPr>
          <p:cNvSpPr>
            <a:spLocks/>
          </p:cNvSpPr>
          <p:nvPr/>
        </p:nvSpPr>
        <p:spPr>
          <a:xfrm>
            <a:off x="9354944" y="2475334"/>
            <a:ext cx="7410621" cy="1177982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1303020">
              <a:spcAft>
                <a:spcPts val="900"/>
              </a:spcAft>
            </a:pPr>
            <a:r>
              <a:rPr lang="en-US" sz="3990" b="1">
                <a:solidFill>
                  <a:srgbClr val="A40000"/>
                </a:solidFill>
              </a:rPr>
              <a:t>Budget Impact Analysis (BIA)</a:t>
            </a:r>
            <a:endParaRPr lang="en-US" sz="4200" b="1">
              <a:solidFill>
                <a:srgbClr val="FF0000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987B49-8C5E-175E-E5DA-8527456461F8}"/>
              </a:ext>
            </a:extLst>
          </p:cNvPr>
          <p:cNvSpPr>
            <a:spLocks/>
          </p:cNvSpPr>
          <p:nvPr/>
        </p:nvSpPr>
        <p:spPr>
          <a:xfrm>
            <a:off x="9354944" y="4084742"/>
            <a:ext cx="7410621" cy="526801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1303020">
              <a:spcAft>
                <a:spcPts val="900"/>
              </a:spcAft>
            </a:pPr>
            <a:r>
              <a:rPr lang="en-US" sz="4560" b="1" i="1"/>
              <a:t>Is it affordable?</a:t>
            </a:r>
          </a:p>
          <a:p>
            <a:pPr defTabSz="1303020">
              <a:spcAft>
                <a:spcPts val="900"/>
              </a:spcAft>
            </a:pPr>
            <a:endParaRPr lang="en-US" sz="4560" b="1" i="1"/>
          </a:p>
          <a:p>
            <a:pPr marL="488633" indent="-488633" defTabSz="130302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4560"/>
              <a:t>Useful for budget planning and forecasting, and estimating </a:t>
            </a:r>
            <a:r>
              <a:rPr lang="en-US" sz="4560">
                <a:cs typeface="Browallia New" panose="020B0604020202020204" pitchFamily="34" charset="-34"/>
              </a:rPr>
              <a:t>budget holder's affordability</a:t>
            </a:r>
            <a:endParaRPr lang="en-US" sz="4560"/>
          </a:p>
          <a:p>
            <a:pPr>
              <a:spcAft>
                <a:spcPts val="900"/>
              </a:spcAft>
            </a:pP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1322043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50A220-FFCB-BD8A-3FE8-47FAB176A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" y="547688"/>
            <a:ext cx="5051585" cy="7072313"/>
          </a:xfrm>
        </p:spPr>
        <p:txBody>
          <a:bodyPr>
            <a:normAutofit/>
          </a:bodyPr>
          <a:lstStyle/>
          <a:p>
            <a:r>
              <a:rPr lang="en-US" sz="4800" dirty="0"/>
              <a:t>What trade-offs do we have to make between cost-effectiveness and budget impact?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AC469D-BE6B-DB50-E6CD-26EFEAFC93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897881" y="1"/>
            <a:ext cx="12275345" cy="9196388"/>
          </a:xfrm>
        </p:spPr>
      </p:pic>
    </p:spTree>
    <p:extLst>
      <p:ext uri="{BB962C8B-B14F-4D97-AF65-F5344CB8AC3E}">
        <p14:creationId xmlns:p14="http://schemas.microsoft.com/office/powerpoint/2010/main" val="4137480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CE73-2324-79DD-0E60-45F770C0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406900"/>
            <a:ext cx="15965487" cy="1362075"/>
          </a:xfrm>
        </p:spPr>
        <p:txBody>
          <a:bodyPr>
            <a:normAutofit fontScale="90000"/>
          </a:bodyPr>
          <a:lstStyle/>
          <a:p>
            <a:r>
              <a:rPr lang="en-US" sz="9000" dirty="0">
                <a:solidFill>
                  <a:srgbClr val="0070C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How to conduct Budget Impact Analysis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15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1499-2472-F58F-500B-AE9E23DB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53912"/>
            <a:ext cx="15773400" cy="1988345"/>
          </a:xfrm>
        </p:spPr>
        <p:txBody>
          <a:bodyPr/>
          <a:lstStyle/>
          <a:p>
            <a:r>
              <a:rPr lang="en-US" dirty="0"/>
              <a:t>Key elements in BIA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ECA948D-60D6-3607-335B-06B4CE1AA182}"/>
              </a:ext>
            </a:extLst>
          </p:cNvPr>
          <p:cNvSpPr txBox="1"/>
          <p:nvPr/>
        </p:nvSpPr>
        <p:spPr>
          <a:xfrm>
            <a:off x="918972" y="1838036"/>
            <a:ext cx="15869412" cy="8238774"/>
          </a:xfrm>
          <a:prstGeom prst="rect">
            <a:avLst/>
          </a:prstGeom>
        </p:spPr>
        <p:txBody>
          <a:bodyPr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0350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99795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29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15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1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3420" indent="-693420">
              <a:buFont typeface="+mj-lt"/>
              <a:buAutoNum type="arabicParenR"/>
            </a:pPr>
            <a:r>
              <a:rPr lang="en-US" sz="4200" b="1" dirty="0"/>
              <a:t>Analytic model structure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Framework (alongside CEA disease model and stand-alone BIAs) 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Perspective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Timeframe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Target population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Scenarios to compare (technology and comparator)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Cost</a:t>
            </a:r>
          </a:p>
          <a:p>
            <a:pPr lvl="1"/>
            <a:r>
              <a:rPr lang="en-US" sz="3600" dirty="0">
                <a:cs typeface="Browallia New" panose="020B0604020202020204" pitchFamily="34" charset="-34"/>
              </a:rPr>
              <a:t>Modeling/Calculation</a:t>
            </a:r>
          </a:p>
          <a:p>
            <a:pPr marL="693420" indent="-693420">
              <a:buFont typeface="+mj-lt"/>
              <a:buAutoNum type="arabicParenR"/>
            </a:pPr>
            <a:r>
              <a:rPr lang="en-US" sz="4200" b="1" dirty="0"/>
              <a:t>Input and data sources</a:t>
            </a:r>
          </a:p>
          <a:p>
            <a:pPr marL="693420" indent="-693420">
              <a:buFont typeface="+mj-lt"/>
              <a:buAutoNum type="arabicParenR"/>
            </a:pPr>
            <a:r>
              <a:rPr lang="en-US" sz="4200" b="1" dirty="0"/>
              <a:t>Handling uncertainty </a:t>
            </a:r>
          </a:p>
          <a:p>
            <a:pPr marL="693420" indent="-693420">
              <a:buFont typeface="+mj-lt"/>
              <a:buAutoNum type="arabicParenR"/>
            </a:pPr>
            <a:r>
              <a:rPr lang="en-US" sz="4200" b="1" dirty="0"/>
              <a:t>Reporting format</a:t>
            </a:r>
          </a:p>
          <a:p>
            <a:endParaRPr lang="en-US" sz="4200" dirty="0"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37027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5F7-3F3F-8DC9-0842-D8677696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714185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6600" b="1" dirty="0"/>
            </a:br>
            <a:r>
              <a:rPr lang="en-GB" sz="6600" b="1" dirty="0"/>
              <a:t>ISPOR Framework </a:t>
            </a:r>
            <a:br>
              <a:rPr lang="en-GB" sz="6600" b="1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593" y="1504490"/>
            <a:ext cx="11790246" cy="80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89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5"/>
          <p:cNvSpPr txBox="1"/>
          <p:nvPr/>
        </p:nvSpPr>
        <p:spPr>
          <a:xfrm>
            <a:off x="1056133" y="1838036"/>
            <a:ext cx="14594123" cy="8238774"/>
          </a:xfrm>
          <a:prstGeom prst="rect">
            <a:avLst/>
          </a:prstGeom>
        </p:spPr>
        <p:txBody>
          <a:bodyPr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0350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99795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29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15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1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5400" dirty="0">
                <a:cs typeface="Browallia New" panose="020B0604020202020204" pitchFamily="34" charset="-34"/>
              </a:rPr>
              <a:t>Perspective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3600" i="0" dirty="0"/>
              <a:t>BIA usually takes the perspective of the </a:t>
            </a:r>
            <a:r>
              <a:rPr lang="en-GB" sz="3600" i="0" dirty="0">
                <a:solidFill>
                  <a:srgbClr val="BC14EA"/>
                </a:solidFill>
              </a:rPr>
              <a:t>budget holder.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3600" i="0" dirty="0"/>
              <a:t>The impact of the new intervention on productivity, social services, and other costs outside the health care system (e.g. indirect costs) should not be included routinely in a BIA, since these aspects are not generally relevant to the budget holder.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5400" dirty="0">
                <a:cs typeface="Browallia New" panose="020B0604020202020204" pitchFamily="34" charset="-34"/>
              </a:rPr>
              <a:t>Timeframe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BC14EA"/>
                </a:solidFill>
                <a:cs typeface="Browallia New" panose="020B0604020202020204" pitchFamily="34" charset="-34"/>
              </a:rPr>
              <a:t>Short time frame </a:t>
            </a:r>
            <a:r>
              <a:rPr lang="en-US" sz="3600" i="0" dirty="0">
                <a:solidFill>
                  <a:schemeClr val="tx1"/>
                </a:solidFill>
                <a:cs typeface="Browallia New" panose="020B0604020202020204" pitchFamily="34" charset="-34"/>
              </a:rPr>
              <a:t>(1-5 </a:t>
            </a:r>
            <a:r>
              <a:rPr lang="en-US" sz="3600" i="0" dirty="0">
                <a:cs typeface="Browallia New" panose="020B0604020202020204" pitchFamily="34" charset="-34"/>
              </a:rPr>
              <a:t>years)</a:t>
            </a:r>
            <a:endParaRPr lang="en-GB" sz="3600" i="0" dirty="0">
              <a:cs typeface="Browallia New" panose="020B0604020202020204" pitchFamily="34" charset="-34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3600" i="0" dirty="0">
                <a:cs typeface="Browallia New" panose="020B0604020202020204" pitchFamily="34" charset="-34"/>
              </a:rPr>
              <a:t>BIA should incorporate a time horizon that is relevant to the budget holder e.g. reflecting their budgetary timelines (quarterly? Annually?)</a:t>
            </a:r>
            <a:endParaRPr lang="en-GB" sz="3600" i="0" dirty="0">
              <a:solidFill>
                <a:srgbClr val="BC14EA"/>
              </a:solidFill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3600" i="0" dirty="0">
                <a:solidFill>
                  <a:srgbClr val="BC14EA"/>
                </a:solidFill>
              </a:rPr>
              <a:t>Discounting is not recommended </a:t>
            </a:r>
            <a:r>
              <a:rPr lang="en-GB" sz="3600" i="0" dirty="0"/>
              <a:t>for a BIA because discounted costs do not reflect the actual budget in given year.</a:t>
            </a:r>
            <a:endParaRPr lang="en-US" sz="3600" i="0" dirty="0">
              <a:cs typeface="Browallia New" panose="020B0604020202020204" pitchFamily="34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655FE-DE3A-978B-BE36-E432DFC29F50}"/>
              </a:ext>
            </a:extLst>
          </p:cNvPr>
          <p:cNvSpPr/>
          <p:nvPr/>
        </p:nvSpPr>
        <p:spPr>
          <a:xfrm>
            <a:off x="3269116" y="482760"/>
            <a:ext cx="105819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1"/>
                </a:solidFill>
                <a:ea typeface="+mj-ea"/>
                <a:cs typeface="+mj-cs"/>
              </a:rPr>
              <a:t>Analytic model structure</a:t>
            </a:r>
            <a:endParaRPr lang="en-GB" sz="6600" dirty="0">
              <a:solidFill>
                <a:schemeClr val="accent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2797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9C09-E293-633E-08AC-36432695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290257"/>
          </a:xfrm>
        </p:spPr>
        <p:txBody>
          <a:bodyPr/>
          <a:lstStyle/>
          <a:p>
            <a:r>
              <a:rPr lang="en-US" dirty="0"/>
              <a:t>Time dependency and Budgetary silos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7CAE1-92BA-06C2-AC1E-1ACEB0B43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071117"/>
            <a:ext cx="15773400" cy="7194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Time dependency</a:t>
            </a:r>
          </a:p>
          <a:p>
            <a:r>
              <a:rPr lang="en-US" dirty="0">
                <a:solidFill>
                  <a:schemeClr val="tx1"/>
                </a:solidFill>
              </a:rPr>
              <a:t>BIA will be affected by many factors over time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New market entrants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End of patient protection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Exchange rate variation</a:t>
            </a:r>
          </a:p>
          <a:p>
            <a:r>
              <a:rPr lang="en-US" dirty="0">
                <a:solidFill>
                  <a:schemeClr val="tx1"/>
                </a:solidFill>
              </a:rPr>
              <a:t>All these need to be captured in the BIA model</a:t>
            </a:r>
          </a:p>
          <a:p>
            <a:r>
              <a:rPr lang="en-US" dirty="0">
                <a:solidFill>
                  <a:schemeClr val="tx1"/>
                </a:solidFill>
              </a:rPr>
              <a:t>Budgetary silos</a:t>
            </a:r>
          </a:p>
          <a:p>
            <a:r>
              <a:rPr lang="en-US" dirty="0">
                <a:solidFill>
                  <a:schemeClr val="tx1"/>
                </a:solidFill>
              </a:rPr>
              <a:t>CEAs draw on many budgets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Hospital, pharmacy, laboratory, community health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Investments in one budget can drive savings elsewhere</a:t>
            </a:r>
          </a:p>
          <a:p>
            <a:r>
              <a:rPr lang="en-US" dirty="0">
                <a:solidFill>
                  <a:schemeClr val="tx1"/>
                </a:solidFill>
              </a:rPr>
              <a:t>Consider providing silo specific BIAs while balancing the transferability of budget savings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970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1EEF-83D6-20B4-9BFC-944CDA82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36208"/>
            <a:ext cx="15773400" cy="1029653"/>
          </a:xfrm>
        </p:spPr>
        <p:txBody>
          <a:bodyPr>
            <a:normAutofit/>
          </a:bodyPr>
          <a:lstStyle/>
          <a:p>
            <a:r>
              <a:rPr lang="en-US" dirty="0"/>
              <a:t>Handling Uncertainty</a:t>
            </a:r>
          </a:p>
        </p:txBody>
      </p:sp>
      <p:sp>
        <p:nvSpPr>
          <p:cNvPr id="4" name="Content Placeholder 5"/>
          <p:cNvSpPr txBox="1"/>
          <p:nvPr/>
        </p:nvSpPr>
        <p:spPr>
          <a:xfrm>
            <a:off x="987552" y="1357886"/>
            <a:ext cx="14895576" cy="7269480"/>
          </a:xfrm>
          <a:prstGeom prst="rect">
            <a:avLst/>
          </a:prstGeom>
        </p:spPr>
        <p:txBody>
          <a:bodyPr>
            <a:no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0350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99795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29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15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1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anose="020B0604020202020204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63" lvl="1" indent="0">
              <a:buNone/>
            </a:pPr>
            <a:r>
              <a:rPr lang="en-US" sz="3600" dirty="0">
                <a:solidFill>
                  <a:schemeClr val="tx1"/>
                </a:solidFill>
                <a:cs typeface="Browallia New" panose="020B0604020202020204" pitchFamily="34" charset="-34"/>
              </a:rPr>
              <a:t>Parameter uncertainty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cs typeface="Browallia New" panose="020B0604020202020204" pitchFamily="34" charset="-34"/>
              </a:rPr>
              <a:t>Utilization trends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cs typeface="Browallia New" panose="020B0604020202020204" pitchFamily="34" charset="-34"/>
              </a:rPr>
              <a:t>Health outcome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cs typeface="Browallia New" panose="020B0604020202020204" pitchFamily="34" charset="-34"/>
              </a:rPr>
              <a:t>Effectiveness and adverse effects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cs typeface="Browallia New" panose="020B0604020202020204" pitchFamily="34" charset="-34"/>
              </a:rPr>
              <a:t>Utilization of comparative intervention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cs typeface="Browallia New" panose="020B0604020202020204" pitchFamily="34" charset="-34"/>
              </a:rPr>
              <a:t>Utilization of unrelated health/social care</a:t>
            </a:r>
          </a:p>
          <a:p>
            <a:pPr marL="0" lvl="2" indent="0">
              <a:buNone/>
            </a:pPr>
            <a:endParaRPr lang="en-US" sz="3000" i="0" dirty="0">
              <a:solidFill>
                <a:schemeClr val="tx1"/>
              </a:solidFill>
              <a:cs typeface="Browallia New" panose="020B0604020202020204" pitchFamily="34" charset="-34"/>
            </a:endParaRPr>
          </a:p>
          <a:p>
            <a:pPr marL="4763" lvl="1" indent="0">
              <a:buNone/>
            </a:pPr>
            <a:r>
              <a:rPr lang="en-US" sz="3600" dirty="0">
                <a:solidFill>
                  <a:schemeClr val="tx1"/>
                </a:solidFill>
                <a:cs typeface="Browallia New" panose="020B0604020202020204" pitchFamily="34" charset="-34"/>
              </a:rPr>
              <a:t>Scenario Analysis </a:t>
            </a:r>
          </a:p>
          <a:p>
            <a:pPr marL="4763" lvl="1" indent="0">
              <a:buNone/>
            </a:pPr>
            <a:r>
              <a:rPr lang="en-US" sz="3000" dirty="0">
                <a:solidFill>
                  <a:schemeClr val="tx1"/>
                </a:solidFill>
                <a:cs typeface="Browallia New" panose="020B0604020202020204" pitchFamily="34" charset="-34"/>
              </a:rPr>
              <a:t>Just like CEA, BIA comes with a </a:t>
            </a:r>
            <a:r>
              <a:rPr lang="en-US" sz="3000" dirty="0">
                <a:solidFill>
                  <a:schemeClr val="tx1"/>
                </a:solidFill>
              </a:rPr>
              <a:t>considerable level of uncertainty.  The BIA </a:t>
            </a:r>
            <a:r>
              <a:rPr lang="en-GB" sz="3000" dirty="0">
                <a:solidFill>
                  <a:schemeClr val="tx1"/>
                </a:solidFill>
              </a:rPr>
              <a:t>should reflect the plausible array of circumstances the budget holder may face.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</a:rPr>
              <a:t>E.g. Coverage/drug uptake,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</a:rPr>
              <a:t>E.g. Proportion of patients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</a:rPr>
              <a:t>E.g. Risk sharing agreements with the manufacturers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3000" i="0" dirty="0">
              <a:solidFill>
                <a:schemeClr val="tx1"/>
              </a:solidFill>
            </a:endParaRPr>
          </a:p>
          <a:p>
            <a:pPr marL="0" lvl="2" indent="0">
              <a:buNone/>
            </a:pPr>
            <a:r>
              <a:rPr lang="en-US" sz="3600" i="0" dirty="0">
                <a:solidFill>
                  <a:schemeClr val="tx1"/>
                </a:solidFill>
                <a:cs typeface="Browallia New" panose="020B0604020202020204" pitchFamily="34" charset="-34"/>
              </a:rPr>
              <a:t>Sensitivity Analysis</a:t>
            </a:r>
          </a:p>
          <a:p>
            <a:pPr marL="0" lvl="2" indent="0">
              <a:buNone/>
            </a:pPr>
            <a:r>
              <a:rPr lang="en-US" sz="3000" i="0" dirty="0">
                <a:solidFill>
                  <a:schemeClr val="tx1"/>
                </a:solidFill>
              </a:rPr>
              <a:t> data obtained from data sources by the extension of the range or the confidence interval of the input variables</a:t>
            </a:r>
          </a:p>
          <a:p>
            <a:pPr marL="0" lvl="2" indent="0">
              <a:buNone/>
            </a:pPr>
            <a:endParaRPr lang="en-US" sz="3000" i="0" dirty="0">
              <a:solidFill>
                <a:schemeClr val="tx1"/>
              </a:solidFill>
            </a:endParaRPr>
          </a:p>
          <a:p>
            <a:pPr marL="0" lvl="2" indent="0">
              <a:buNone/>
            </a:pPr>
            <a:endParaRPr lang="en-US" sz="3000" i="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tx1"/>
              </a:solidFill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68388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10B-EAF0-3550-0AE2-785FF388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331405"/>
          </a:xfrm>
        </p:spPr>
        <p:txBody>
          <a:bodyPr/>
          <a:lstStyle/>
          <a:p>
            <a:r>
              <a:rPr lang="en-US" dirty="0"/>
              <a:t>Health system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F7FF-A089-FA14-FA85-DC4AAB856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139697"/>
            <a:ext cx="15773400" cy="712574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Is there a single health care funder? </a:t>
            </a:r>
            <a:r>
              <a:rPr lang="en-US" sz="4000" dirty="0" err="1">
                <a:solidFill>
                  <a:schemeClr val="tx1"/>
                </a:solidFill>
              </a:rPr>
              <a:t>Eg</a:t>
            </a:r>
            <a:r>
              <a:rPr lang="en-US" sz="4000" dirty="0">
                <a:solidFill>
                  <a:schemeClr val="tx1"/>
                </a:solidFill>
              </a:rPr>
              <a:t> NHIF funds in-patient treatment but not out-patient treatment 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How does this affect uptake for this treatment?</a:t>
            </a: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Do all patients have equal coverage/access?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How does this affect treatment mix?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Does this have implications for indirect budget impact effects?</a:t>
            </a:r>
          </a:p>
          <a:p>
            <a:pPr marL="685800" lvl="1" indent="0"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409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279099"/>
            <a:ext cx="6890385" cy="1010854"/>
          </a:xfrm>
          <a:prstGeom prst="rect">
            <a:avLst/>
          </a:prstGeom>
        </p:spPr>
        <p:txBody>
          <a:bodyPr vert="horz" wrap="square" lIns="0" tIns="18098" rIns="0" bIns="0" rtlCol="0" anchor="ctr">
            <a:spAutoFit/>
          </a:bodyPr>
          <a:lstStyle/>
          <a:p>
            <a:pPr marL="19050">
              <a:spcBef>
                <a:spcPts val="143"/>
              </a:spcBef>
            </a:pPr>
            <a:r>
              <a:rPr sz="6450" spc="-593" dirty="0"/>
              <a:t>Take-</a:t>
            </a:r>
            <a:r>
              <a:rPr sz="6450" spc="-488" dirty="0"/>
              <a:t>home</a:t>
            </a:r>
            <a:r>
              <a:rPr sz="6450" spc="-255" dirty="0"/>
              <a:t> </a:t>
            </a:r>
            <a:r>
              <a:rPr sz="6450" spc="-698" dirty="0"/>
              <a:t>message</a:t>
            </a:r>
            <a:endParaRPr sz="6450" dirty="0"/>
          </a:p>
        </p:txBody>
      </p:sp>
      <p:sp>
        <p:nvSpPr>
          <p:cNvPr id="3" name="object 3"/>
          <p:cNvSpPr txBox="1"/>
          <p:nvPr/>
        </p:nvSpPr>
        <p:spPr>
          <a:xfrm>
            <a:off x="1524000" y="4229100"/>
            <a:ext cx="11743373" cy="4802597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703898" indent="-684848">
              <a:spcBef>
                <a:spcPts val="1080"/>
              </a:spcBef>
              <a:buChar char="•"/>
              <a:tabLst>
                <a:tab pos="703898" algn="l"/>
              </a:tabLst>
            </a:pPr>
            <a:r>
              <a:rPr sz="3600" spc="-203" dirty="0">
                <a:solidFill>
                  <a:srgbClr val="4C8DE2"/>
                </a:solidFill>
                <a:latin typeface="Arial"/>
                <a:cs typeface="Arial"/>
              </a:rPr>
              <a:t>Decision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80" dirty="0">
                <a:solidFill>
                  <a:srgbClr val="4C8DE2"/>
                </a:solidFill>
                <a:latin typeface="Arial"/>
                <a:cs typeface="Arial"/>
              </a:rPr>
              <a:t>models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27" dirty="0">
                <a:solidFill>
                  <a:srgbClr val="4C8DE2"/>
                </a:solidFill>
                <a:latin typeface="Arial"/>
                <a:cs typeface="Arial"/>
              </a:rPr>
              <a:t>represent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13" dirty="0">
                <a:solidFill>
                  <a:srgbClr val="4C8DE2"/>
                </a:solidFill>
                <a:latin typeface="Arial"/>
                <a:cs typeface="Arial"/>
              </a:rPr>
              <a:t>simplifications</a:t>
            </a:r>
            <a:r>
              <a:rPr sz="3600" spc="-18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3600" spc="-13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5" dirty="0">
                <a:solidFill>
                  <a:srgbClr val="4C8DE2"/>
                </a:solidFill>
                <a:latin typeface="Arial"/>
                <a:cs typeface="Arial"/>
              </a:rPr>
              <a:t>reality</a:t>
            </a:r>
            <a:endParaRPr sz="3600" dirty="0">
              <a:latin typeface="Arial"/>
              <a:cs typeface="Arial"/>
            </a:endParaRPr>
          </a:p>
          <a:p>
            <a:pPr marL="704850" marR="1119188" indent="-685800">
              <a:lnSpc>
                <a:spcPts val="3885"/>
              </a:lnSpc>
              <a:spcBef>
                <a:spcPts val="1553"/>
              </a:spcBef>
              <a:buChar char="•"/>
              <a:tabLst>
                <a:tab pos="704850" algn="l"/>
              </a:tabLst>
            </a:pPr>
            <a:r>
              <a:rPr sz="3600" spc="-270" dirty="0">
                <a:solidFill>
                  <a:srgbClr val="4C8DE2"/>
                </a:solidFill>
                <a:latin typeface="Arial"/>
                <a:cs typeface="Arial"/>
              </a:rPr>
              <a:t>They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255" dirty="0">
                <a:solidFill>
                  <a:srgbClr val="4C8DE2"/>
                </a:solidFill>
                <a:latin typeface="Arial"/>
                <a:cs typeface="Arial"/>
              </a:rPr>
              <a:t>can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95" dirty="0">
                <a:solidFill>
                  <a:srgbClr val="4C8DE2"/>
                </a:solidFill>
                <a:latin typeface="Arial"/>
                <a:cs typeface="Arial"/>
              </a:rPr>
              <a:t>be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233" dirty="0">
                <a:solidFill>
                  <a:srgbClr val="4C8DE2"/>
                </a:solidFill>
                <a:latin typeface="Arial"/>
                <a:cs typeface="Arial"/>
              </a:rPr>
              <a:t>used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to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83" dirty="0">
                <a:solidFill>
                  <a:srgbClr val="4C8DE2"/>
                </a:solidFill>
                <a:latin typeface="Arial"/>
                <a:cs typeface="Arial"/>
              </a:rPr>
              <a:t>perform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472" dirty="0">
                <a:solidFill>
                  <a:srgbClr val="4C8DE2"/>
                </a:solidFill>
                <a:latin typeface="Arial"/>
                <a:cs typeface="Arial"/>
              </a:rPr>
              <a:t>EE,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comparing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225" dirty="0">
                <a:solidFill>
                  <a:srgbClr val="4C8DE2"/>
                </a:solidFill>
                <a:latin typeface="Arial"/>
                <a:cs typeface="Arial"/>
              </a:rPr>
              <a:t>costs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38" dirty="0">
                <a:solidFill>
                  <a:srgbClr val="4C8DE2"/>
                </a:solidFill>
                <a:latin typeface="Arial"/>
                <a:cs typeface="Arial"/>
              </a:rPr>
              <a:t>and 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outcomes</a:t>
            </a:r>
            <a:r>
              <a:rPr sz="3600" spc="-21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3600" spc="-18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68" dirty="0">
                <a:solidFill>
                  <a:srgbClr val="4C8DE2"/>
                </a:solidFill>
                <a:latin typeface="Arial"/>
                <a:cs typeface="Arial"/>
              </a:rPr>
              <a:t>at</a:t>
            </a:r>
            <a:r>
              <a:rPr sz="3600" spc="-18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least</a:t>
            </a:r>
            <a:r>
              <a:rPr sz="3600" spc="-19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two</a:t>
            </a:r>
            <a:r>
              <a:rPr sz="3600" spc="-20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20" dirty="0">
                <a:solidFill>
                  <a:srgbClr val="4C8DE2"/>
                </a:solidFill>
                <a:latin typeface="Arial"/>
                <a:cs typeface="Arial"/>
              </a:rPr>
              <a:t>policy</a:t>
            </a:r>
            <a:r>
              <a:rPr sz="3600" spc="-18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5" dirty="0">
                <a:solidFill>
                  <a:srgbClr val="4C8DE2"/>
                </a:solidFill>
                <a:latin typeface="Arial"/>
                <a:cs typeface="Arial"/>
              </a:rPr>
              <a:t>options</a:t>
            </a:r>
            <a:endParaRPr sz="3600" dirty="0">
              <a:latin typeface="Arial"/>
              <a:cs typeface="Arial"/>
            </a:endParaRPr>
          </a:p>
          <a:p>
            <a:pPr marL="704850" marR="343853" indent="-685800">
              <a:lnSpc>
                <a:spcPts val="3885"/>
              </a:lnSpc>
              <a:spcBef>
                <a:spcPts val="1500"/>
              </a:spcBef>
              <a:buChar char="•"/>
              <a:tabLst>
                <a:tab pos="704850" algn="l"/>
              </a:tabLst>
            </a:pPr>
            <a:r>
              <a:rPr sz="3600" spc="-323" dirty="0">
                <a:solidFill>
                  <a:srgbClr val="4C8DE2"/>
                </a:solidFill>
                <a:latin typeface="Arial"/>
                <a:cs typeface="Arial"/>
              </a:rPr>
              <a:t>Types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651" dirty="0">
                <a:solidFill>
                  <a:srgbClr val="4C8DE2"/>
                </a:solidFill>
                <a:latin typeface="Arial"/>
                <a:cs typeface="Arial"/>
              </a:rPr>
              <a:t>EE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95" dirty="0">
                <a:solidFill>
                  <a:srgbClr val="4C8DE2"/>
                </a:solidFill>
                <a:latin typeface="Arial"/>
                <a:cs typeface="Arial"/>
              </a:rPr>
              <a:t>and</a:t>
            </a:r>
            <a:r>
              <a:rPr sz="3600" spc="-15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decision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models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to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270" dirty="0">
                <a:solidFill>
                  <a:srgbClr val="4C8DE2"/>
                </a:solidFill>
                <a:latin typeface="Arial"/>
                <a:cs typeface="Arial"/>
              </a:rPr>
              <a:t>use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should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depend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38" dirty="0">
                <a:solidFill>
                  <a:srgbClr val="4C8DE2"/>
                </a:solidFill>
                <a:latin typeface="Arial"/>
                <a:cs typeface="Arial"/>
              </a:rPr>
              <a:t>on </a:t>
            </a:r>
            <a:r>
              <a:rPr sz="3600" spc="-113" dirty="0">
                <a:solidFill>
                  <a:srgbClr val="4C8DE2"/>
                </a:solidFill>
                <a:latin typeface="Arial"/>
                <a:cs typeface="Arial"/>
              </a:rPr>
              <a:t>context</a:t>
            </a:r>
            <a:r>
              <a:rPr sz="3600" spc="-21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decision</a:t>
            </a:r>
            <a:r>
              <a:rPr sz="3600" spc="-18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5" dirty="0">
                <a:solidFill>
                  <a:srgbClr val="4C8DE2"/>
                </a:solidFill>
                <a:latin typeface="Arial"/>
                <a:cs typeface="Arial"/>
              </a:rPr>
              <a:t>problems</a:t>
            </a:r>
            <a:endParaRPr sz="3600" dirty="0">
              <a:latin typeface="Arial"/>
              <a:cs typeface="Arial"/>
            </a:endParaRPr>
          </a:p>
          <a:p>
            <a:pPr marL="704850" marR="7620" indent="-685800">
              <a:lnSpc>
                <a:spcPts val="3885"/>
              </a:lnSpc>
              <a:spcBef>
                <a:spcPts val="1515"/>
              </a:spcBef>
              <a:buChar char="•"/>
              <a:tabLst>
                <a:tab pos="704850" algn="l"/>
              </a:tabLst>
            </a:pPr>
            <a:r>
              <a:rPr sz="3600" spc="-240" dirty="0">
                <a:solidFill>
                  <a:srgbClr val="4C8DE2"/>
                </a:solidFill>
                <a:latin typeface="Arial"/>
                <a:cs typeface="Arial"/>
              </a:rPr>
              <a:t>Results</a:t>
            </a:r>
            <a:r>
              <a:rPr sz="3600" spc="-18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27" dirty="0">
                <a:solidFill>
                  <a:srgbClr val="4C8DE2"/>
                </a:solidFill>
                <a:latin typeface="Arial"/>
                <a:cs typeface="Arial"/>
              </a:rPr>
              <a:t>derived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45" dirty="0">
                <a:solidFill>
                  <a:srgbClr val="4C8DE2"/>
                </a:solidFill>
                <a:latin typeface="Arial"/>
                <a:cs typeface="Arial"/>
              </a:rPr>
              <a:t>from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651" dirty="0">
                <a:solidFill>
                  <a:srgbClr val="4C8DE2"/>
                </a:solidFill>
                <a:latin typeface="Arial"/>
                <a:cs typeface="Arial"/>
              </a:rPr>
              <a:t>EE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98" dirty="0">
                <a:solidFill>
                  <a:srgbClr val="4C8DE2"/>
                </a:solidFill>
                <a:latin typeface="Arial"/>
                <a:cs typeface="Arial"/>
              </a:rPr>
              <a:t>allow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285" dirty="0">
                <a:solidFill>
                  <a:srgbClr val="4C8DE2"/>
                </a:solidFill>
                <a:latin typeface="Arial"/>
                <a:cs typeface="Arial"/>
              </a:rPr>
              <a:t>us</a:t>
            </a:r>
            <a:r>
              <a:rPr sz="3600" spc="-16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to</a:t>
            </a:r>
            <a:r>
              <a:rPr sz="3600" spc="-18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43" dirty="0">
                <a:solidFill>
                  <a:srgbClr val="4C8DE2"/>
                </a:solidFill>
                <a:latin typeface="Arial"/>
                <a:cs typeface="Arial"/>
              </a:rPr>
              <a:t>understand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60" dirty="0">
                <a:solidFill>
                  <a:srgbClr val="4C8DE2"/>
                </a:solidFill>
                <a:latin typeface="Arial"/>
                <a:cs typeface="Arial"/>
              </a:rPr>
              <a:t>the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88" dirty="0">
                <a:solidFill>
                  <a:srgbClr val="4C8DE2"/>
                </a:solidFill>
                <a:latin typeface="Arial"/>
                <a:cs typeface="Arial"/>
              </a:rPr>
              <a:t>value</a:t>
            </a:r>
            <a:r>
              <a:rPr sz="3600" spc="-135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38" dirty="0">
                <a:solidFill>
                  <a:srgbClr val="4C8DE2"/>
                </a:solidFill>
                <a:latin typeface="Arial"/>
                <a:cs typeface="Arial"/>
              </a:rPr>
              <a:t>of </a:t>
            </a:r>
            <a:r>
              <a:rPr sz="3600" spc="-171" dirty="0">
                <a:solidFill>
                  <a:srgbClr val="4C8DE2"/>
                </a:solidFill>
                <a:latin typeface="Arial"/>
                <a:cs typeface="Arial"/>
              </a:rPr>
              <a:t>money </a:t>
            </a:r>
            <a:r>
              <a:rPr sz="3600" dirty="0">
                <a:solidFill>
                  <a:srgbClr val="4C8DE2"/>
                </a:solidFill>
                <a:latin typeface="Arial"/>
                <a:cs typeface="Arial"/>
              </a:rPr>
              <a:t>of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98" dirty="0">
                <a:solidFill>
                  <a:srgbClr val="4C8DE2"/>
                </a:solidFill>
                <a:latin typeface="Arial"/>
                <a:cs typeface="Arial"/>
              </a:rPr>
              <a:t>health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05" dirty="0">
                <a:solidFill>
                  <a:srgbClr val="4C8DE2"/>
                </a:solidFill>
                <a:latin typeface="Arial"/>
                <a:cs typeface="Arial"/>
              </a:rPr>
              <a:t>technologies/interventions</a:t>
            </a:r>
            <a:r>
              <a:rPr sz="3600" spc="-18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53" dirty="0">
                <a:solidFill>
                  <a:srgbClr val="4C8DE2"/>
                </a:solidFill>
                <a:latin typeface="Arial"/>
                <a:cs typeface="Arial"/>
              </a:rPr>
              <a:t>in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75" dirty="0">
                <a:solidFill>
                  <a:srgbClr val="4C8DE2"/>
                </a:solidFill>
                <a:latin typeface="Arial"/>
                <a:cs typeface="Arial"/>
              </a:rPr>
              <a:t>relation</a:t>
            </a:r>
            <a:r>
              <a:rPr sz="3600" spc="-158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38" dirty="0">
                <a:solidFill>
                  <a:srgbClr val="4C8DE2"/>
                </a:solidFill>
                <a:latin typeface="Arial"/>
                <a:cs typeface="Arial"/>
              </a:rPr>
              <a:t>to </a:t>
            </a:r>
            <a:r>
              <a:rPr sz="3600" spc="-15" dirty="0">
                <a:solidFill>
                  <a:srgbClr val="4C8DE2"/>
                </a:solidFill>
                <a:latin typeface="Arial"/>
                <a:cs typeface="Arial"/>
              </a:rPr>
              <a:t>their</a:t>
            </a:r>
            <a:r>
              <a:rPr sz="3600" spc="-210" dirty="0">
                <a:solidFill>
                  <a:srgbClr val="4C8DE2"/>
                </a:solidFill>
                <a:latin typeface="Arial"/>
                <a:cs typeface="Arial"/>
              </a:rPr>
              <a:t> </a:t>
            </a:r>
            <a:r>
              <a:rPr sz="3600" spc="-15" dirty="0">
                <a:solidFill>
                  <a:srgbClr val="4C8DE2"/>
                </a:solidFill>
                <a:latin typeface="Arial"/>
                <a:cs typeface="Arial"/>
              </a:rPr>
              <a:t>comparator</a:t>
            </a:r>
            <a:endParaRPr sz="3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9726" y="3255265"/>
            <a:ext cx="3371829" cy="3058667"/>
          </a:xfrm>
          <a:prstGeom prst="rect">
            <a:avLst/>
          </a:prstGeom>
        </p:spPr>
      </p:pic>
      <p:grpSp>
        <p:nvGrpSpPr>
          <p:cNvPr id="5" name="Group 3">
            <a:extLst>
              <a:ext uri="{FF2B5EF4-FFF2-40B4-BE49-F238E27FC236}">
                <a16:creationId xmlns:a16="http://schemas.microsoft.com/office/drawing/2014/main" id="{DEB55600-4587-319F-7BAC-3590D1EB324B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BA5DADAB-E050-6FD6-6E4D-927E7C40CF5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1A4EBAF-7FB3-518B-363F-8C8AC2E4A3CF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F3D8119-4ADA-F9CB-6CE5-403345EF972E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15">
            <a:extLst>
              <a:ext uri="{FF2B5EF4-FFF2-40B4-BE49-F238E27FC236}">
                <a16:creationId xmlns:a16="http://schemas.microsoft.com/office/drawing/2014/main" id="{D5647E6F-B69B-8B4B-584E-FE199CED343D}"/>
              </a:ext>
            </a:extLst>
          </p:cNvPr>
          <p:cNvSpPr/>
          <p:nvPr/>
        </p:nvSpPr>
        <p:spPr>
          <a:xfrm flipH="1" flipV="1">
            <a:off x="22617" y="26516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F3F662FA-1733-07A0-ECD0-A14655E4F58E}"/>
              </a:ext>
            </a:extLst>
          </p:cNvPr>
          <p:cNvSpPr/>
          <p:nvPr/>
        </p:nvSpPr>
        <p:spPr>
          <a:xfrm flipH="1" flipV="1">
            <a:off x="-50467" y="-2646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8">
            <a:extLst>
              <a:ext uri="{FF2B5EF4-FFF2-40B4-BE49-F238E27FC236}">
                <a16:creationId xmlns:a16="http://schemas.microsoft.com/office/drawing/2014/main" id="{0AB887C1-30D6-480F-81EA-560B13ADB1F9}"/>
              </a:ext>
            </a:extLst>
          </p:cNvPr>
          <p:cNvSpPr/>
          <p:nvPr/>
        </p:nvSpPr>
        <p:spPr>
          <a:xfrm flipH="1" flipV="1">
            <a:off x="10264383" y="-26468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8991" y="2797683"/>
            <a:ext cx="12742923" cy="53660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28663" y="4945526"/>
            <a:ext cx="1531620" cy="756938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265748" marR="7620" indent="-247650">
              <a:spcBef>
                <a:spcPts val="143"/>
              </a:spcBef>
            </a:pPr>
            <a:r>
              <a:rPr sz="2400" b="1" spc="-150" dirty="0">
                <a:latin typeface="Arial"/>
                <a:cs typeface="Arial"/>
              </a:rPr>
              <a:t>Uncertainty </a:t>
            </a:r>
            <a:r>
              <a:rPr sz="2400" b="1" spc="-38" dirty="0">
                <a:latin typeface="Arial"/>
                <a:cs typeface="Arial"/>
              </a:rPr>
              <a:t>analysis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81273" y="1600922"/>
            <a:ext cx="5654993" cy="697307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spc="-405" dirty="0">
                <a:latin typeface="Arial"/>
                <a:cs typeface="Arial"/>
              </a:rPr>
              <a:t>Coming</a:t>
            </a:r>
            <a:r>
              <a:rPr spc="-323" dirty="0">
                <a:latin typeface="Arial"/>
                <a:cs typeface="Arial"/>
              </a:rPr>
              <a:t> </a:t>
            </a:r>
            <a:r>
              <a:rPr spc="-233" dirty="0">
                <a:latin typeface="Arial"/>
                <a:cs typeface="Arial"/>
              </a:rPr>
              <a:t>up</a:t>
            </a:r>
            <a:r>
              <a:rPr spc="-344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next!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34008" y="2799968"/>
            <a:ext cx="2072640" cy="2072640"/>
            <a:chOff x="556005" y="1866645"/>
            <a:chExt cx="1381760" cy="1381760"/>
          </a:xfrm>
        </p:grpSpPr>
        <p:sp>
          <p:nvSpPr>
            <p:cNvPr id="6" name="object 6"/>
            <p:cNvSpPr/>
            <p:nvPr/>
          </p:nvSpPr>
          <p:spPr>
            <a:xfrm>
              <a:off x="562355" y="1872995"/>
              <a:ext cx="1369060" cy="1369060"/>
            </a:xfrm>
            <a:custGeom>
              <a:avLst/>
              <a:gdLst/>
              <a:ahLst/>
              <a:cxnLst/>
              <a:rect l="l" t="t" r="r" b="b"/>
              <a:pathLst>
                <a:path w="1369060" h="1369060">
                  <a:moveTo>
                    <a:pt x="684276" y="0"/>
                  </a:moveTo>
                  <a:lnTo>
                    <a:pt x="635407" y="1718"/>
                  </a:lnTo>
                  <a:lnTo>
                    <a:pt x="587467" y="6795"/>
                  </a:lnTo>
                  <a:lnTo>
                    <a:pt x="540569" y="15115"/>
                  </a:lnTo>
                  <a:lnTo>
                    <a:pt x="494831" y="26563"/>
                  </a:lnTo>
                  <a:lnTo>
                    <a:pt x="450367" y="41022"/>
                  </a:lnTo>
                  <a:lnTo>
                    <a:pt x="407293" y="58377"/>
                  </a:lnTo>
                  <a:lnTo>
                    <a:pt x="365726" y="78513"/>
                  </a:lnTo>
                  <a:lnTo>
                    <a:pt x="325781" y="101312"/>
                  </a:lnTo>
                  <a:lnTo>
                    <a:pt x="287574" y="126660"/>
                  </a:lnTo>
                  <a:lnTo>
                    <a:pt x="251221" y="154441"/>
                  </a:lnTo>
                  <a:lnTo>
                    <a:pt x="216837" y="184538"/>
                  </a:lnTo>
                  <a:lnTo>
                    <a:pt x="184538" y="216837"/>
                  </a:lnTo>
                  <a:lnTo>
                    <a:pt x="154441" y="251221"/>
                  </a:lnTo>
                  <a:lnTo>
                    <a:pt x="126660" y="287574"/>
                  </a:lnTo>
                  <a:lnTo>
                    <a:pt x="101312" y="325781"/>
                  </a:lnTo>
                  <a:lnTo>
                    <a:pt x="78513" y="365726"/>
                  </a:lnTo>
                  <a:lnTo>
                    <a:pt x="58377" y="407293"/>
                  </a:lnTo>
                  <a:lnTo>
                    <a:pt x="41022" y="450367"/>
                  </a:lnTo>
                  <a:lnTo>
                    <a:pt x="26563" y="494831"/>
                  </a:lnTo>
                  <a:lnTo>
                    <a:pt x="15115" y="540569"/>
                  </a:lnTo>
                  <a:lnTo>
                    <a:pt x="6795" y="587467"/>
                  </a:lnTo>
                  <a:lnTo>
                    <a:pt x="1718" y="635407"/>
                  </a:lnTo>
                  <a:lnTo>
                    <a:pt x="0" y="684276"/>
                  </a:lnTo>
                  <a:lnTo>
                    <a:pt x="1718" y="733144"/>
                  </a:lnTo>
                  <a:lnTo>
                    <a:pt x="6795" y="781084"/>
                  </a:lnTo>
                  <a:lnTo>
                    <a:pt x="15115" y="827982"/>
                  </a:lnTo>
                  <a:lnTo>
                    <a:pt x="26563" y="873720"/>
                  </a:lnTo>
                  <a:lnTo>
                    <a:pt x="41022" y="918184"/>
                  </a:lnTo>
                  <a:lnTo>
                    <a:pt x="58377" y="961258"/>
                  </a:lnTo>
                  <a:lnTo>
                    <a:pt x="78513" y="1002825"/>
                  </a:lnTo>
                  <a:lnTo>
                    <a:pt x="101312" y="1042770"/>
                  </a:lnTo>
                  <a:lnTo>
                    <a:pt x="126660" y="1080977"/>
                  </a:lnTo>
                  <a:lnTo>
                    <a:pt x="154441" y="1117330"/>
                  </a:lnTo>
                  <a:lnTo>
                    <a:pt x="184538" y="1151714"/>
                  </a:lnTo>
                  <a:lnTo>
                    <a:pt x="216837" y="1184013"/>
                  </a:lnTo>
                  <a:lnTo>
                    <a:pt x="251221" y="1214110"/>
                  </a:lnTo>
                  <a:lnTo>
                    <a:pt x="287574" y="1241891"/>
                  </a:lnTo>
                  <a:lnTo>
                    <a:pt x="325781" y="1267239"/>
                  </a:lnTo>
                  <a:lnTo>
                    <a:pt x="365726" y="1290038"/>
                  </a:lnTo>
                  <a:lnTo>
                    <a:pt x="407293" y="1310174"/>
                  </a:lnTo>
                  <a:lnTo>
                    <a:pt x="450367" y="1327529"/>
                  </a:lnTo>
                  <a:lnTo>
                    <a:pt x="494831" y="1341988"/>
                  </a:lnTo>
                  <a:lnTo>
                    <a:pt x="540569" y="1353436"/>
                  </a:lnTo>
                  <a:lnTo>
                    <a:pt x="587467" y="1361756"/>
                  </a:lnTo>
                  <a:lnTo>
                    <a:pt x="635407" y="1366833"/>
                  </a:lnTo>
                  <a:lnTo>
                    <a:pt x="684276" y="1368552"/>
                  </a:lnTo>
                  <a:lnTo>
                    <a:pt x="733144" y="1366833"/>
                  </a:lnTo>
                  <a:lnTo>
                    <a:pt x="781084" y="1361756"/>
                  </a:lnTo>
                  <a:lnTo>
                    <a:pt x="827982" y="1353436"/>
                  </a:lnTo>
                  <a:lnTo>
                    <a:pt x="873720" y="1341988"/>
                  </a:lnTo>
                  <a:lnTo>
                    <a:pt x="918184" y="1327529"/>
                  </a:lnTo>
                  <a:lnTo>
                    <a:pt x="961258" y="1310174"/>
                  </a:lnTo>
                  <a:lnTo>
                    <a:pt x="1002825" y="1290038"/>
                  </a:lnTo>
                  <a:lnTo>
                    <a:pt x="1042770" y="1267239"/>
                  </a:lnTo>
                  <a:lnTo>
                    <a:pt x="1080977" y="1241891"/>
                  </a:lnTo>
                  <a:lnTo>
                    <a:pt x="1117330" y="1214110"/>
                  </a:lnTo>
                  <a:lnTo>
                    <a:pt x="1151714" y="1184013"/>
                  </a:lnTo>
                  <a:lnTo>
                    <a:pt x="1184013" y="1151714"/>
                  </a:lnTo>
                  <a:lnTo>
                    <a:pt x="1214110" y="1117330"/>
                  </a:lnTo>
                  <a:lnTo>
                    <a:pt x="1241891" y="1080977"/>
                  </a:lnTo>
                  <a:lnTo>
                    <a:pt x="1267239" y="1042770"/>
                  </a:lnTo>
                  <a:lnTo>
                    <a:pt x="1290038" y="1002825"/>
                  </a:lnTo>
                  <a:lnTo>
                    <a:pt x="1310174" y="961258"/>
                  </a:lnTo>
                  <a:lnTo>
                    <a:pt x="1327529" y="918184"/>
                  </a:lnTo>
                  <a:lnTo>
                    <a:pt x="1341988" y="873720"/>
                  </a:lnTo>
                  <a:lnTo>
                    <a:pt x="1353436" y="827982"/>
                  </a:lnTo>
                  <a:lnTo>
                    <a:pt x="1361756" y="781084"/>
                  </a:lnTo>
                  <a:lnTo>
                    <a:pt x="1366833" y="733144"/>
                  </a:lnTo>
                  <a:lnTo>
                    <a:pt x="1368552" y="684276"/>
                  </a:lnTo>
                  <a:lnTo>
                    <a:pt x="1366833" y="635407"/>
                  </a:lnTo>
                  <a:lnTo>
                    <a:pt x="1361756" y="587467"/>
                  </a:lnTo>
                  <a:lnTo>
                    <a:pt x="1353436" y="540569"/>
                  </a:lnTo>
                  <a:lnTo>
                    <a:pt x="1341988" y="494831"/>
                  </a:lnTo>
                  <a:lnTo>
                    <a:pt x="1327529" y="450367"/>
                  </a:lnTo>
                  <a:lnTo>
                    <a:pt x="1310174" y="407293"/>
                  </a:lnTo>
                  <a:lnTo>
                    <a:pt x="1290038" y="365726"/>
                  </a:lnTo>
                  <a:lnTo>
                    <a:pt x="1267239" y="325781"/>
                  </a:lnTo>
                  <a:lnTo>
                    <a:pt x="1241891" y="287574"/>
                  </a:lnTo>
                  <a:lnTo>
                    <a:pt x="1214110" y="251221"/>
                  </a:lnTo>
                  <a:lnTo>
                    <a:pt x="1184013" y="216837"/>
                  </a:lnTo>
                  <a:lnTo>
                    <a:pt x="1151714" y="184538"/>
                  </a:lnTo>
                  <a:lnTo>
                    <a:pt x="1117330" y="154441"/>
                  </a:lnTo>
                  <a:lnTo>
                    <a:pt x="1080977" y="126660"/>
                  </a:lnTo>
                  <a:lnTo>
                    <a:pt x="1042770" y="101312"/>
                  </a:lnTo>
                  <a:lnTo>
                    <a:pt x="1002825" y="78513"/>
                  </a:lnTo>
                  <a:lnTo>
                    <a:pt x="961258" y="58377"/>
                  </a:lnTo>
                  <a:lnTo>
                    <a:pt x="918184" y="41022"/>
                  </a:lnTo>
                  <a:lnTo>
                    <a:pt x="873720" y="26563"/>
                  </a:lnTo>
                  <a:lnTo>
                    <a:pt x="827982" y="15115"/>
                  </a:lnTo>
                  <a:lnTo>
                    <a:pt x="781084" y="6795"/>
                  </a:lnTo>
                  <a:lnTo>
                    <a:pt x="733144" y="1718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F96E4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2355" y="1872995"/>
              <a:ext cx="1369060" cy="1369060"/>
            </a:xfrm>
            <a:custGeom>
              <a:avLst/>
              <a:gdLst/>
              <a:ahLst/>
              <a:cxnLst/>
              <a:rect l="l" t="t" r="r" b="b"/>
              <a:pathLst>
                <a:path w="1369060" h="1369060">
                  <a:moveTo>
                    <a:pt x="0" y="684276"/>
                  </a:moveTo>
                  <a:lnTo>
                    <a:pt x="1718" y="635407"/>
                  </a:lnTo>
                  <a:lnTo>
                    <a:pt x="6795" y="587467"/>
                  </a:lnTo>
                  <a:lnTo>
                    <a:pt x="15115" y="540569"/>
                  </a:lnTo>
                  <a:lnTo>
                    <a:pt x="26563" y="494831"/>
                  </a:lnTo>
                  <a:lnTo>
                    <a:pt x="41022" y="450367"/>
                  </a:lnTo>
                  <a:lnTo>
                    <a:pt x="58377" y="407293"/>
                  </a:lnTo>
                  <a:lnTo>
                    <a:pt x="78513" y="365726"/>
                  </a:lnTo>
                  <a:lnTo>
                    <a:pt x="101312" y="325781"/>
                  </a:lnTo>
                  <a:lnTo>
                    <a:pt x="126660" y="287574"/>
                  </a:lnTo>
                  <a:lnTo>
                    <a:pt x="154441" y="251221"/>
                  </a:lnTo>
                  <a:lnTo>
                    <a:pt x="184538" y="216837"/>
                  </a:lnTo>
                  <a:lnTo>
                    <a:pt x="216837" y="184538"/>
                  </a:lnTo>
                  <a:lnTo>
                    <a:pt x="251221" y="154441"/>
                  </a:lnTo>
                  <a:lnTo>
                    <a:pt x="287574" y="126660"/>
                  </a:lnTo>
                  <a:lnTo>
                    <a:pt x="325781" y="101312"/>
                  </a:lnTo>
                  <a:lnTo>
                    <a:pt x="365726" y="78513"/>
                  </a:lnTo>
                  <a:lnTo>
                    <a:pt x="407293" y="58377"/>
                  </a:lnTo>
                  <a:lnTo>
                    <a:pt x="450367" y="41022"/>
                  </a:lnTo>
                  <a:lnTo>
                    <a:pt x="494831" y="26563"/>
                  </a:lnTo>
                  <a:lnTo>
                    <a:pt x="540569" y="15115"/>
                  </a:lnTo>
                  <a:lnTo>
                    <a:pt x="587467" y="6795"/>
                  </a:lnTo>
                  <a:lnTo>
                    <a:pt x="635407" y="1718"/>
                  </a:lnTo>
                  <a:lnTo>
                    <a:pt x="684276" y="0"/>
                  </a:lnTo>
                  <a:lnTo>
                    <a:pt x="733144" y="1718"/>
                  </a:lnTo>
                  <a:lnTo>
                    <a:pt x="781084" y="6795"/>
                  </a:lnTo>
                  <a:lnTo>
                    <a:pt x="827982" y="15115"/>
                  </a:lnTo>
                  <a:lnTo>
                    <a:pt x="873720" y="26563"/>
                  </a:lnTo>
                  <a:lnTo>
                    <a:pt x="918184" y="41022"/>
                  </a:lnTo>
                  <a:lnTo>
                    <a:pt x="961258" y="58377"/>
                  </a:lnTo>
                  <a:lnTo>
                    <a:pt x="1002825" y="78513"/>
                  </a:lnTo>
                  <a:lnTo>
                    <a:pt x="1042770" y="101312"/>
                  </a:lnTo>
                  <a:lnTo>
                    <a:pt x="1080977" y="126660"/>
                  </a:lnTo>
                  <a:lnTo>
                    <a:pt x="1117330" y="154441"/>
                  </a:lnTo>
                  <a:lnTo>
                    <a:pt x="1151714" y="184538"/>
                  </a:lnTo>
                  <a:lnTo>
                    <a:pt x="1184013" y="216837"/>
                  </a:lnTo>
                  <a:lnTo>
                    <a:pt x="1214110" y="251221"/>
                  </a:lnTo>
                  <a:lnTo>
                    <a:pt x="1241891" y="287574"/>
                  </a:lnTo>
                  <a:lnTo>
                    <a:pt x="1267239" y="325781"/>
                  </a:lnTo>
                  <a:lnTo>
                    <a:pt x="1290038" y="365726"/>
                  </a:lnTo>
                  <a:lnTo>
                    <a:pt x="1310174" y="407293"/>
                  </a:lnTo>
                  <a:lnTo>
                    <a:pt x="1327529" y="450367"/>
                  </a:lnTo>
                  <a:lnTo>
                    <a:pt x="1341988" y="494831"/>
                  </a:lnTo>
                  <a:lnTo>
                    <a:pt x="1353436" y="540569"/>
                  </a:lnTo>
                  <a:lnTo>
                    <a:pt x="1361756" y="587467"/>
                  </a:lnTo>
                  <a:lnTo>
                    <a:pt x="1366833" y="635407"/>
                  </a:lnTo>
                  <a:lnTo>
                    <a:pt x="1368552" y="684276"/>
                  </a:lnTo>
                  <a:lnTo>
                    <a:pt x="1366833" y="733144"/>
                  </a:lnTo>
                  <a:lnTo>
                    <a:pt x="1361756" y="781084"/>
                  </a:lnTo>
                  <a:lnTo>
                    <a:pt x="1353436" y="827982"/>
                  </a:lnTo>
                  <a:lnTo>
                    <a:pt x="1341988" y="873720"/>
                  </a:lnTo>
                  <a:lnTo>
                    <a:pt x="1327529" y="918184"/>
                  </a:lnTo>
                  <a:lnTo>
                    <a:pt x="1310174" y="961258"/>
                  </a:lnTo>
                  <a:lnTo>
                    <a:pt x="1290038" y="1002825"/>
                  </a:lnTo>
                  <a:lnTo>
                    <a:pt x="1267239" y="1042770"/>
                  </a:lnTo>
                  <a:lnTo>
                    <a:pt x="1241891" y="1080977"/>
                  </a:lnTo>
                  <a:lnTo>
                    <a:pt x="1214110" y="1117330"/>
                  </a:lnTo>
                  <a:lnTo>
                    <a:pt x="1184013" y="1151714"/>
                  </a:lnTo>
                  <a:lnTo>
                    <a:pt x="1151714" y="1184013"/>
                  </a:lnTo>
                  <a:lnTo>
                    <a:pt x="1117330" y="1214110"/>
                  </a:lnTo>
                  <a:lnTo>
                    <a:pt x="1080977" y="1241891"/>
                  </a:lnTo>
                  <a:lnTo>
                    <a:pt x="1042770" y="1267239"/>
                  </a:lnTo>
                  <a:lnTo>
                    <a:pt x="1002825" y="1290038"/>
                  </a:lnTo>
                  <a:lnTo>
                    <a:pt x="961258" y="1310174"/>
                  </a:lnTo>
                  <a:lnTo>
                    <a:pt x="918184" y="1327529"/>
                  </a:lnTo>
                  <a:lnTo>
                    <a:pt x="873720" y="1341988"/>
                  </a:lnTo>
                  <a:lnTo>
                    <a:pt x="827982" y="1353436"/>
                  </a:lnTo>
                  <a:lnTo>
                    <a:pt x="781084" y="1361756"/>
                  </a:lnTo>
                  <a:lnTo>
                    <a:pt x="733144" y="1366833"/>
                  </a:lnTo>
                  <a:lnTo>
                    <a:pt x="684276" y="1368552"/>
                  </a:lnTo>
                  <a:lnTo>
                    <a:pt x="635407" y="1366833"/>
                  </a:lnTo>
                  <a:lnTo>
                    <a:pt x="587467" y="1361756"/>
                  </a:lnTo>
                  <a:lnTo>
                    <a:pt x="540569" y="1353436"/>
                  </a:lnTo>
                  <a:lnTo>
                    <a:pt x="494831" y="1341988"/>
                  </a:lnTo>
                  <a:lnTo>
                    <a:pt x="450367" y="1327529"/>
                  </a:lnTo>
                  <a:lnTo>
                    <a:pt x="407293" y="1310174"/>
                  </a:lnTo>
                  <a:lnTo>
                    <a:pt x="365726" y="1290038"/>
                  </a:lnTo>
                  <a:lnTo>
                    <a:pt x="325781" y="1267239"/>
                  </a:lnTo>
                  <a:lnTo>
                    <a:pt x="287574" y="1241891"/>
                  </a:lnTo>
                  <a:lnTo>
                    <a:pt x="251221" y="1214110"/>
                  </a:lnTo>
                  <a:lnTo>
                    <a:pt x="216837" y="1184013"/>
                  </a:lnTo>
                  <a:lnTo>
                    <a:pt x="184538" y="1151714"/>
                  </a:lnTo>
                  <a:lnTo>
                    <a:pt x="154441" y="1117330"/>
                  </a:lnTo>
                  <a:lnTo>
                    <a:pt x="126660" y="1080977"/>
                  </a:lnTo>
                  <a:lnTo>
                    <a:pt x="101312" y="1042770"/>
                  </a:lnTo>
                  <a:lnTo>
                    <a:pt x="78513" y="1002825"/>
                  </a:lnTo>
                  <a:lnTo>
                    <a:pt x="58377" y="961258"/>
                  </a:lnTo>
                  <a:lnTo>
                    <a:pt x="41022" y="918184"/>
                  </a:lnTo>
                  <a:lnTo>
                    <a:pt x="26563" y="873720"/>
                  </a:lnTo>
                  <a:lnTo>
                    <a:pt x="15115" y="827982"/>
                  </a:lnTo>
                  <a:lnTo>
                    <a:pt x="6795" y="781084"/>
                  </a:lnTo>
                  <a:lnTo>
                    <a:pt x="1718" y="733144"/>
                  </a:lnTo>
                  <a:lnTo>
                    <a:pt x="0" y="684276"/>
                  </a:lnTo>
                  <a:close/>
                </a:path>
              </a:pathLst>
            </a:custGeom>
            <a:ln w="12700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1" y="3371933"/>
            <a:ext cx="755333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4200" b="1" spc="-975" dirty="0">
                <a:latin typeface="Arial"/>
                <a:cs typeface="Arial"/>
              </a:rPr>
              <a:t>Cost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33455" y="5187467"/>
            <a:ext cx="875348" cy="874395"/>
          </a:xfrm>
          <a:custGeom>
            <a:avLst/>
            <a:gdLst/>
            <a:ahLst/>
            <a:cxnLst/>
            <a:rect l="l" t="t" r="r" b="b"/>
            <a:pathLst>
              <a:path w="583565" h="582929">
                <a:moveTo>
                  <a:pt x="583514" y="198120"/>
                </a:moveTo>
                <a:lnTo>
                  <a:pt x="385127" y="198120"/>
                </a:lnTo>
                <a:lnTo>
                  <a:pt x="385127" y="0"/>
                </a:lnTo>
                <a:lnTo>
                  <a:pt x="198386" y="0"/>
                </a:lnTo>
                <a:lnTo>
                  <a:pt x="198386" y="198120"/>
                </a:lnTo>
                <a:lnTo>
                  <a:pt x="0" y="198120"/>
                </a:lnTo>
                <a:lnTo>
                  <a:pt x="0" y="384810"/>
                </a:lnTo>
                <a:lnTo>
                  <a:pt x="198386" y="384810"/>
                </a:lnTo>
                <a:lnTo>
                  <a:pt x="198386" y="582930"/>
                </a:lnTo>
                <a:lnTo>
                  <a:pt x="385127" y="582930"/>
                </a:lnTo>
                <a:lnTo>
                  <a:pt x="385127" y="384810"/>
                </a:lnTo>
                <a:lnTo>
                  <a:pt x="583514" y="384810"/>
                </a:lnTo>
                <a:lnTo>
                  <a:pt x="583514" y="198120"/>
                </a:lnTo>
                <a:close/>
              </a:path>
            </a:pathLst>
          </a:custGeom>
          <a:solidFill>
            <a:srgbClr val="F96E46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grpSp>
        <p:nvGrpSpPr>
          <p:cNvPr id="10" name="object 10"/>
          <p:cNvGrpSpPr/>
          <p:nvPr/>
        </p:nvGrpSpPr>
        <p:grpSpPr>
          <a:xfrm>
            <a:off x="834008" y="6377558"/>
            <a:ext cx="2072640" cy="2072640"/>
            <a:chOff x="556005" y="4251705"/>
            <a:chExt cx="1381760" cy="1381760"/>
          </a:xfrm>
        </p:grpSpPr>
        <p:sp>
          <p:nvSpPr>
            <p:cNvPr id="11" name="object 11"/>
            <p:cNvSpPr/>
            <p:nvPr/>
          </p:nvSpPr>
          <p:spPr>
            <a:xfrm>
              <a:off x="562355" y="4258055"/>
              <a:ext cx="1369060" cy="1369060"/>
            </a:xfrm>
            <a:custGeom>
              <a:avLst/>
              <a:gdLst/>
              <a:ahLst/>
              <a:cxnLst/>
              <a:rect l="l" t="t" r="r" b="b"/>
              <a:pathLst>
                <a:path w="1369060" h="1369060">
                  <a:moveTo>
                    <a:pt x="684276" y="0"/>
                  </a:moveTo>
                  <a:lnTo>
                    <a:pt x="635407" y="1718"/>
                  </a:lnTo>
                  <a:lnTo>
                    <a:pt x="587467" y="6795"/>
                  </a:lnTo>
                  <a:lnTo>
                    <a:pt x="540569" y="15115"/>
                  </a:lnTo>
                  <a:lnTo>
                    <a:pt x="494831" y="26563"/>
                  </a:lnTo>
                  <a:lnTo>
                    <a:pt x="450367" y="41022"/>
                  </a:lnTo>
                  <a:lnTo>
                    <a:pt x="407293" y="58377"/>
                  </a:lnTo>
                  <a:lnTo>
                    <a:pt x="365726" y="78513"/>
                  </a:lnTo>
                  <a:lnTo>
                    <a:pt x="325781" y="101312"/>
                  </a:lnTo>
                  <a:lnTo>
                    <a:pt x="287574" y="126660"/>
                  </a:lnTo>
                  <a:lnTo>
                    <a:pt x="251221" y="154441"/>
                  </a:lnTo>
                  <a:lnTo>
                    <a:pt x="216837" y="184538"/>
                  </a:lnTo>
                  <a:lnTo>
                    <a:pt x="184538" y="216837"/>
                  </a:lnTo>
                  <a:lnTo>
                    <a:pt x="154441" y="251221"/>
                  </a:lnTo>
                  <a:lnTo>
                    <a:pt x="126660" y="287574"/>
                  </a:lnTo>
                  <a:lnTo>
                    <a:pt x="101312" y="325781"/>
                  </a:lnTo>
                  <a:lnTo>
                    <a:pt x="78513" y="365726"/>
                  </a:lnTo>
                  <a:lnTo>
                    <a:pt x="58377" y="407293"/>
                  </a:lnTo>
                  <a:lnTo>
                    <a:pt x="41022" y="450367"/>
                  </a:lnTo>
                  <a:lnTo>
                    <a:pt x="26563" y="494831"/>
                  </a:lnTo>
                  <a:lnTo>
                    <a:pt x="15115" y="540569"/>
                  </a:lnTo>
                  <a:lnTo>
                    <a:pt x="6795" y="587467"/>
                  </a:lnTo>
                  <a:lnTo>
                    <a:pt x="1718" y="635407"/>
                  </a:lnTo>
                  <a:lnTo>
                    <a:pt x="0" y="684276"/>
                  </a:lnTo>
                  <a:lnTo>
                    <a:pt x="1718" y="733144"/>
                  </a:lnTo>
                  <a:lnTo>
                    <a:pt x="6795" y="781084"/>
                  </a:lnTo>
                  <a:lnTo>
                    <a:pt x="15115" y="827982"/>
                  </a:lnTo>
                  <a:lnTo>
                    <a:pt x="26563" y="873720"/>
                  </a:lnTo>
                  <a:lnTo>
                    <a:pt x="41022" y="918184"/>
                  </a:lnTo>
                  <a:lnTo>
                    <a:pt x="58377" y="961258"/>
                  </a:lnTo>
                  <a:lnTo>
                    <a:pt x="78513" y="1002825"/>
                  </a:lnTo>
                  <a:lnTo>
                    <a:pt x="101312" y="1042770"/>
                  </a:lnTo>
                  <a:lnTo>
                    <a:pt x="126660" y="1080977"/>
                  </a:lnTo>
                  <a:lnTo>
                    <a:pt x="154441" y="1117330"/>
                  </a:lnTo>
                  <a:lnTo>
                    <a:pt x="184538" y="1151714"/>
                  </a:lnTo>
                  <a:lnTo>
                    <a:pt x="216837" y="1184013"/>
                  </a:lnTo>
                  <a:lnTo>
                    <a:pt x="251221" y="1214110"/>
                  </a:lnTo>
                  <a:lnTo>
                    <a:pt x="287574" y="1241891"/>
                  </a:lnTo>
                  <a:lnTo>
                    <a:pt x="325781" y="1267239"/>
                  </a:lnTo>
                  <a:lnTo>
                    <a:pt x="365726" y="1290038"/>
                  </a:lnTo>
                  <a:lnTo>
                    <a:pt x="407293" y="1310174"/>
                  </a:lnTo>
                  <a:lnTo>
                    <a:pt x="450367" y="1327529"/>
                  </a:lnTo>
                  <a:lnTo>
                    <a:pt x="494831" y="1341988"/>
                  </a:lnTo>
                  <a:lnTo>
                    <a:pt x="540569" y="1353436"/>
                  </a:lnTo>
                  <a:lnTo>
                    <a:pt x="587467" y="1361756"/>
                  </a:lnTo>
                  <a:lnTo>
                    <a:pt x="635407" y="1366833"/>
                  </a:lnTo>
                  <a:lnTo>
                    <a:pt x="684276" y="1368552"/>
                  </a:lnTo>
                  <a:lnTo>
                    <a:pt x="733144" y="1366833"/>
                  </a:lnTo>
                  <a:lnTo>
                    <a:pt x="781084" y="1361756"/>
                  </a:lnTo>
                  <a:lnTo>
                    <a:pt x="827982" y="1353436"/>
                  </a:lnTo>
                  <a:lnTo>
                    <a:pt x="873720" y="1341988"/>
                  </a:lnTo>
                  <a:lnTo>
                    <a:pt x="918184" y="1327529"/>
                  </a:lnTo>
                  <a:lnTo>
                    <a:pt x="961258" y="1310174"/>
                  </a:lnTo>
                  <a:lnTo>
                    <a:pt x="1002825" y="1290038"/>
                  </a:lnTo>
                  <a:lnTo>
                    <a:pt x="1042770" y="1267239"/>
                  </a:lnTo>
                  <a:lnTo>
                    <a:pt x="1080977" y="1241891"/>
                  </a:lnTo>
                  <a:lnTo>
                    <a:pt x="1117330" y="1214110"/>
                  </a:lnTo>
                  <a:lnTo>
                    <a:pt x="1151714" y="1184013"/>
                  </a:lnTo>
                  <a:lnTo>
                    <a:pt x="1184013" y="1151714"/>
                  </a:lnTo>
                  <a:lnTo>
                    <a:pt x="1214110" y="1117330"/>
                  </a:lnTo>
                  <a:lnTo>
                    <a:pt x="1241891" y="1080977"/>
                  </a:lnTo>
                  <a:lnTo>
                    <a:pt x="1267239" y="1042770"/>
                  </a:lnTo>
                  <a:lnTo>
                    <a:pt x="1290038" y="1002825"/>
                  </a:lnTo>
                  <a:lnTo>
                    <a:pt x="1310174" y="961258"/>
                  </a:lnTo>
                  <a:lnTo>
                    <a:pt x="1327529" y="918184"/>
                  </a:lnTo>
                  <a:lnTo>
                    <a:pt x="1341988" y="873720"/>
                  </a:lnTo>
                  <a:lnTo>
                    <a:pt x="1353436" y="827982"/>
                  </a:lnTo>
                  <a:lnTo>
                    <a:pt x="1361756" y="781084"/>
                  </a:lnTo>
                  <a:lnTo>
                    <a:pt x="1366833" y="733144"/>
                  </a:lnTo>
                  <a:lnTo>
                    <a:pt x="1368552" y="684276"/>
                  </a:lnTo>
                  <a:lnTo>
                    <a:pt x="1366833" y="635407"/>
                  </a:lnTo>
                  <a:lnTo>
                    <a:pt x="1361756" y="587467"/>
                  </a:lnTo>
                  <a:lnTo>
                    <a:pt x="1353436" y="540569"/>
                  </a:lnTo>
                  <a:lnTo>
                    <a:pt x="1341988" y="494831"/>
                  </a:lnTo>
                  <a:lnTo>
                    <a:pt x="1327529" y="450367"/>
                  </a:lnTo>
                  <a:lnTo>
                    <a:pt x="1310174" y="407293"/>
                  </a:lnTo>
                  <a:lnTo>
                    <a:pt x="1290038" y="365726"/>
                  </a:lnTo>
                  <a:lnTo>
                    <a:pt x="1267239" y="325781"/>
                  </a:lnTo>
                  <a:lnTo>
                    <a:pt x="1241891" y="287574"/>
                  </a:lnTo>
                  <a:lnTo>
                    <a:pt x="1214110" y="251221"/>
                  </a:lnTo>
                  <a:lnTo>
                    <a:pt x="1184013" y="216837"/>
                  </a:lnTo>
                  <a:lnTo>
                    <a:pt x="1151714" y="184538"/>
                  </a:lnTo>
                  <a:lnTo>
                    <a:pt x="1117330" y="154441"/>
                  </a:lnTo>
                  <a:lnTo>
                    <a:pt x="1080977" y="126660"/>
                  </a:lnTo>
                  <a:lnTo>
                    <a:pt x="1042770" y="101312"/>
                  </a:lnTo>
                  <a:lnTo>
                    <a:pt x="1002825" y="78513"/>
                  </a:lnTo>
                  <a:lnTo>
                    <a:pt x="961258" y="58377"/>
                  </a:lnTo>
                  <a:lnTo>
                    <a:pt x="918184" y="41022"/>
                  </a:lnTo>
                  <a:lnTo>
                    <a:pt x="873720" y="26563"/>
                  </a:lnTo>
                  <a:lnTo>
                    <a:pt x="827982" y="15115"/>
                  </a:lnTo>
                  <a:lnTo>
                    <a:pt x="781084" y="6795"/>
                  </a:lnTo>
                  <a:lnTo>
                    <a:pt x="733144" y="1718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9E5D6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355" y="4258055"/>
              <a:ext cx="1369060" cy="1369060"/>
            </a:xfrm>
            <a:custGeom>
              <a:avLst/>
              <a:gdLst/>
              <a:ahLst/>
              <a:cxnLst/>
              <a:rect l="l" t="t" r="r" b="b"/>
              <a:pathLst>
                <a:path w="1369060" h="1369060">
                  <a:moveTo>
                    <a:pt x="0" y="684276"/>
                  </a:moveTo>
                  <a:lnTo>
                    <a:pt x="1718" y="635407"/>
                  </a:lnTo>
                  <a:lnTo>
                    <a:pt x="6795" y="587467"/>
                  </a:lnTo>
                  <a:lnTo>
                    <a:pt x="15115" y="540569"/>
                  </a:lnTo>
                  <a:lnTo>
                    <a:pt x="26563" y="494831"/>
                  </a:lnTo>
                  <a:lnTo>
                    <a:pt x="41022" y="450367"/>
                  </a:lnTo>
                  <a:lnTo>
                    <a:pt x="58377" y="407293"/>
                  </a:lnTo>
                  <a:lnTo>
                    <a:pt x="78513" y="365726"/>
                  </a:lnTo>
                  <a:lnTo>
                    <a:pt x="101312" y="325781"/>
                  </a:lnTo>
                  <a:lnTo>
                    <a:pt x="126660" y="287574"/>
                  </a:lnTo>
                  <a:lnTo>
                    <a:pt x="154441" y="251221"/>
                  </a:lnTo>
                  <a:lnTo>
                    <a:pt x="184538" y="216837"/>
                  </a:lnTo>
                  <a:lnTo>
                    <a:pt x="216837" y="184538"/>
                  </a:lnTo>
                  <a:lnTo>
                    <a:pt x="251221" y="154441"/>
                  </a:lnTo>
                  <a:lnTo>
                    <a:pt x="287574" y="126660"/>
                  </a:lnTo>
                  <a:lnTo>
                    <a:pt x="325781" y="101312"/>
                  </a:lnTo>
                  <a:lnTo>
                    <a:pt x="365726" y="78513"/>
                  </a:lnTo>
                  <a:lnTo>
                    <a:pt x="407293" y="58377"/>
                  </a:lnTo>
                  <a:lnTo>
                    <a:pt x="450367" y="41022"/>
                  </a:lnTo>
                  <a:lnTo>
                    <a:pt x="494831" y="26563"/>
                  </a:lnTo>
                  <a:lnTo>
                    <a:pt x="540569" y="15115"/>
                  </a:lnTo>
                  <a:lnTo>
                    <a:pt x="587467" y="6795"/>
                  </a:lnTo>
                  <a:lnTo>
                    <a:pt x="635407" y="1718"/>
                  </a:lnTo>
                  <a:lnTo>
                    <a:pt x="684276" y="0"/>
                  </a:lnTo>
                  <a:lnTo>
                    <a:pt x="733144" y="1718"/>
                  </a:lnTo>
                  <a:lnTo>
                    <a:pt x="781084" y="6795"/>
                  </a:lnTo>
                  <a:lnTo>
                    <a:pt x="827982" y="15115"/>
                  </a:lnTo>
                  <a:lnTo>
                    <a:pt x="873720" y="26563"/>
                  </a:lnTo>
                  <a:lnTo>
                    <a:pt x="918184" y="41022"/>
                  </a:lnTo>
                  <a:lnTo>
                    <a:pt x="961258" y="58377"/>
                  </a:lnTo>
                  <a:lnTo>
                    <a:pt x="1002825" y="78513"/>
                  </a:lnTo>
                  <a:lnTo>
                    <a:pt x="1042770" y="101312"/>
                  </a:lnTo>
                  <a:lnTo>
                    <a:pt x="1080977" y="126660"/>
                  </a:lnTo>
                  <a:lnTo>
                    <a:pt x="1117330" y="154441"/>
                  </a:lnTo>
                  <a:lnTo>
                    <a:pt x="1151714" y="184538"/>
                  </a:lnTo>
                  <a:lnTo>
                    <a:pt x="1184013" y="216837"/>
                  </a:lnTo>
                  <a:lnTo>
                    <a:pt x="1214110" y="251221"/>
                  </a:lnTo>
                  <a:lnTo>
                    <a:pt x="1241891" y="287574"/>
                  </a:lnTo>
                  <a:lnTo>
                    <a:pt x="1267239" y="325781"/>
                  </a:lnTo>
                  <a:lnTo>
                    <a:pt x="1290038" y="365726"/>
                  </a:lnTo>
                  <a:lnTo>
                    <a:pt x="1310174" y="407293"/>
                  </a:lnTo>
                  <a:lnTo>
                    <a:pt x="1327529" y="450367"/>
                  </a:lnTo>
                  <a:lnTo>
                    <a:pt x="1341988" y="494831"/>
                  </a:lnTo>
                  <a:lnTo>
                    <a:pt x="1353436" y="540569"/>
                  </a:lnTo>
                  <a:lnTo>
                    <a:pt x="1361756" y="587467"/>
                  </a:lnTo>
                  <a:lnTo>
                    <a:pt x="1366833" y="635407"/>
                  </a:lnTo>
                  <a:lnTo>
                    <a:pt x="1368552" y="684276"/>
                  </a:lnTo>
                  <a:lnTo>
                    <a:pt x="1366833" y="733144"/>
                  </a:lnTo>
                  <a:lnTo>
                    <a:pt x="1361756" y="781084"/>
                  </a:lnTo>
                  <a:lnTo>
                    <a:pt x="1353436" y="827982"/>
                  </a:lnTo>
                  <a:lnTo>
                    <a:pt x="1341988" y="873720"/>
                  </a:lnTo>
                  <a:lnTo>
                    <a:pt x="1327529" y="918184"/>
                  </a:lnTo>
                  <a:lnTo>
                    <a:pt x="1310174" y="961258"/>
                  </a:lnTo>
                  <a:lnTo>
                    <a:pt x="1290038" y="1002825"/>
                  </a:lnTo>
                  <a:lnTo>
                    <a:pt x="1267239" y="1042770"/>
                  </a:lnTo>
                  <a:lnTo>
                    <a:pt x="1241891" y="1080977"/>
                  </a:lnTo>
                  <a:lnTo>
                    <a:pt x="1214110" y="1117330"/>
                  </a:lnTo>
                  <a:lnTo>
                    <a:pt x="1184013" y="1151714"/>
                  </a:lnTo>
                  <a:lnTo>
                    <a:pt x="1151714" y="1184013"/>
                  </a:lnTo>
                  <a:lnTo>
                    <a:pt x="1117330" y="1214110"/>
                  </a:lnTo>
                  <a:lnTo>
                    <a:pt x="1080977" y="1241891"/>
                  </a:lnTo>
                  <a:lnTo>
                    <a:pt x="1042770" y="1267239"/>
                  </a:lnTo>
                  <a:lnTo>
                    <a:pt x="1002825" y="1290038"/>
                  </a:lnTo>
                  <a:lnTo>
                    <a:pt x="961258" y="1310174"/>
                  </a:lnTo>
                  <a:lnTo>
                    <a:pt x="918184" y="1327529"/>
                  </a:lnTo>
                  <a:lnTo>
                    <a:pt x="873720" y="1341988"/>
                  </a:lnTo>
                  <a:lnTo>
                    <a:pt x="827982" y="1353436"/>
                  </a:lnTo>
                  <a:lnTo>
                    <a:pt x="781084" y="1361756"/>
                  </a:lnTo>
                  <a:lnTo>
                    <a:pt x="733144" y="1366833"/>
                  </a:lnTo>
                  <a:lnTo>
                    <a:pt x="684276" y="1368552"/>
                  </a:lnTo>
                  <a:lnTo>
                    <a:pt x="635407" y="1366833"/>
                  </a:lnTo>
                  <a:lnTo>
                    <a:pt x="587467" y="1361756"/>
                  </a:lnTo>
                  <a:lnTo>
                    <a:pt x="540569" y="1353436"/>
                  </a:lnTo>
                  <a:lnTo>
                    <a:pt x="494831" y="1341988"/>
                  </a:lnTo>
                  <a:lnTo>
                    <a:pt x="450367" y="1327529"/>
                  </a:lnTo>
                  <a:lnTo>
                    <a:pt x="407293" y="1310174"/>
                  </a:lnTo>
                  <a:lnTo>
                    <a:pt x="365726" y="1290038"/>
                  </a:lnTo>
                  <a:lnTo>
                    <a:pt x="325781" y="1267239"/>
                  </a:lnTo>
                  <a:lnTo>
                    <a:pt x="287574" y="1241891"/>
                  </a:lnTo>
                  <a:lnTo>
                    <a:pt x="251221" y="1214110"/>
                  </a:lnTo>
                  <a:lnTo>
                    <a:pt x="216837" y="1184013"/>
                  </a:lnTo>
                  <a:lnTo>
                    <a:pt x="184538" y="1151714"/>
                  </a:lnTo>
                  <a:lnTo>
                    <a:pt x="154441" y="1117330"/>
                  </a:lnTo>
                  <a:lnTo>
                    <a:pt x="126660" y="1080977"/>
                  </a:lnTo>
                  <a:lnTo>
                    <a:pt x="101312" y="1042770"/>
                  </a:lnTo>
                  <a:lnTo>
                    <a:pt x="78513" y="1002825"/>
                  </a:lnTo>
                  <a:lnTo>
                    <a:pt x="58377" y="961258"/>
                  </a:lnTo>
                  <a:lnTo>
                    <a:pt x="41022" y="918184"/>
                  </a:lnTo>
                  <a:lnTo>
                    <a:pt x="26563" y="873720"/>
                  </a:lnTo>
                  <a:lnTo>
                    <a:pt x="15115" y="827982"/>
                  </a:lnTo>
                  <a:lnTo>
                    <a:pt x="6795" y="781084"/>
                  </a:lnTo>
                  <a:lnTo>
                    <a:pt x="1718" y="733144"/>
                  </a:lnTo>
                  <a:lnTo>
                    <a:pt x="0" y="684276"/>
                  </a:lnTo>
                  <a:close/>
                </a:path>
              </a:pathLst>
            </a:custGeom>
            <a:ln w="12700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81273" y="6948369"/>
            <a:ext cx="1375410" cy="66460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sz="4200" b="1" spc="-1035" dirty="0">
                <a:latin typeface="Arial"/>
                <a:cs typeface="Arial"/>
              </a:rPr>
              <a:t>outcome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04972" y="5244083"/>
            <a:ext cx="651510" cy="763905"/>
          </a:xfrm>
          <a:custGeom>
            <a:avLst/>
            <a:gdLst/>
            <a:ahLst/>
            <a:cxnLst/>
            <a:rect l="l" t="t" r="r" b="b"/>
            <a:pathLst>
              <a:path w="434339" h="509270">
                <a:moveTo>
                  <a:pt x="217170" y="0"/>
                </a:moveTo>
                <a:lnTo>
                  <a:pt x="217170" y="101803"/>
                </a:lnTo>
                <a:lnTo>
                  <a:pt x="0" y="101803"/>
                </a:lnTo>
                <a:lnTo>
                  <a:pt x="0" y="407212"/>
                </a:lnTo>
                <a:lnTo>
                  <a:pt x="217170" y="407212"/>
                </a:lnTo>
                <a:lnTo>
                  <a:pt x="217170" y="509016"/>
                </a:lnTo>
                <a:lnTo>
                  <a:pt x="434340" y="254508"/>
                </a:lnTo>
                <a:lnTo>
                  <a:pt x="217170" y="0"/>
                </a:lnTo>
                <a:close/>
              </a:path>
            </a:pathLst>
          </a:custGeom>
          <a:solidFill>
            <a:srgbClr val="D9E5D6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15" name="object 15"/>
          <p:cNvSpPr txBox="1"/>
          <p:nvPr/>
        </p:nvSpPr>
        <p:spPr>
          <a:xfrm>
            <a:off x="4821733" y="4459683"/>
            <a:ext cx="2718434" cy="2218749"/>
          </a:xfrm>
          <a:prstGeom prst="rect">
            <a:avLst/>
          </a:prstGeom>
        </p:spPr>
        <p:txBody>
          <a:bodyPr vert="horz" wrap="square" lIns="0" tIns="6668" rIns="0" bIns="0" rtlCol="0">
            <a:spAutoFit/>
          </a:bodyPr>
          <a:lstStyle/>
          <a:p>
            <a:pPr marL="19050" marR="7620" indent="122873" algn="just">
              <a:lnSpc>
                <a:spcPct val="101699"/>
              </a:lnSpc>
              <a:spcBef>
                <a:spcPts val="53"/>
              </a:spcBef>
            </a:pPr>
            <a:r>
              <a:rPr sz="4800" b="1" spc="-503" dirty="0">
                <a:solidFill>
                  <a:srgbClr val="FFFFFF"/>
                </a:solidFill>
                <a:latin typeface="Arial"/>
                <a:cs typeface="Arial"/>
              </a:rPr>
              <a:t>Economic </a:t>
            </a:r>
            <a:r>
              <a:rPr sz="4800" b="1" spc="-278" dirty="0">
                <a:solidFill>
                  <a:srgbClr val="FFFFFF"/>
                </a:solidFill>
                <a:latin typeface="Arial"/>
                <a:cs typeface="Arial"/>
              </a:rPr>
              <a:t>evaluation </a:t>
            </a:r>
            <a:r>
              <a:rPr sz="4800" b="1" spc="-188" dirty="0">
                <a:solidFill>
                  <a:srgbClr val="FFFFFF"/>
                </a:solidFill>
                <a:latin typeface="Arial"/>
                <a:cs typeface="Arial"/>
              </a:rPr>
              <a:t>modelling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39275" y="4895234"/>
            <a:ext cx="2103120" cy="8502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8108" marR="7620" indent="-80010">
              <a:spcBef>
                <a:spcPts val="150"/>
              </a:spcBef>
            </a:pPr>
            <a:r>
              <a:rPr sz="2700" b="1" spc="-248" dirty="0">
                <a:solidFill>
                  <a:srgbClr val="FFFFFF"/>
                </a:solidFill>
                <a:latin typeface="Arial"/>
                <a:cs typeface="Arial"/>
              </a:rPr>
              <a:t>Budget</a:t>
            </a:r>
            <a:r>
              <a:rPr sz="27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65" dirty="0">
                <a:solidFill>
                  <a:srgbClr val="FFFFFF"/>
                </a:solidFill>
                <a:latin typeface="Arial"/>
                <a:cs typeface="Arial"/>
              </a:rPr>
              <a:t>impact </a:t>
            </a:r>
            <a:r>
              <a:rPr sz="2700" b="1" spc="-24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27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53" dirty="0">
                <a:solidFill>
                  <a:srgbClr val="FFFFFF"/>
                </a:solidFill>
                <a:latin typeface="Arial"/>
                <a:cs typeface="Arial"/>
              </a:rPr>
              <a:t>(BIA)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19249" y="3818413"/>
            <a:ext cx="222885" cy="343364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2100" spc="-726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50927" y="6548979"/>
            <a:ext cx="338138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00" spc="-1335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D47DDB33-3688-3190-CFDC-83FD35C0F9EA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0C883620-FF6E-8C2F-AA59-3E4CB254D922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13E2B8A-BB53-18D2-C40C-29E70FF70D33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" r="-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74C8AED-7BBD-1966-093B-8D983A7B3E68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15">
            <a:extLst>
              <a:ext uri="{FF2B5EF4-FFF2-40B4-BE49-F238E27FC236}">
                <a16:creationId xmlns:a16="http://schemas.microsoft.com/office/drawing/2014/main" id="{5EB6C36D-6952-8BC9-31D5-D533814FCD3B}"/>
              </a:ext>
            </a:extLst>
          </p:cNvPr>
          <p:cNvSpPr/>
          <p:nvPr/>
        </p:nvSpPr>
        <p:spPr>
          <a:xfrm flipH="1" flipV="1">
            <a:off x="-20897" y="1693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FA3C4E97-16FC-6B28-AFC2-1966E2BF5EA9}"/>
              </a:ext>
            </a:extLst>
          </p:cNvPr>
          <p:cNvSpPr/>
          <p:nvPr/>
        </p:nvSpPr>
        <p:spPr>
          <a:xfrm flipH="1" flipV="1">
            <a:off x="-37943" y="-386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C7A011AB-26EC-07A6-8FE0-63B73EDF1F80}"/>
              </a:ext>
            </a:extLst>
          </p:cNvPr>
          <p:cNvSpPr/>
          <p:nvPr/>
        </p:nvSpPr>
        <p:spPr>
          <a:xfrm flipH="1" flipV="1">
            <a:off x="10232010" y="-3072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2627</Words>
  <Application>Microsoft Office PowerPoint</Application>
  <PresentationFormat>Custom</PresentationFormat>
  <Paragraphs>488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Montserrat Bold</vt:lpstr>
      <vt:lpstr>Times New Roman</vt:lpstr>
      <vt:lpstr>Montserrat Italics</vt:lpstr>
      <vt:lpstr>Montserrat</vt:lpstr>
      <vt:lpstr>TH SarabunPSK</vt:lpstr>
      <vt:lpstr>Arial</vt:lpstr>
      <vt:lpstr>Montserrat Bold Italics</vt:lpstr>
      <vt:lpstr>Browallia New</vt:lpstr>
      <vt:lpstr>Wingdings</vt:lpstr>
      <vt:lpstr>Arial Unicode MS</vt:lpstr>
      <vt:lpstr>Calibri</vt:lpstr>
      <vt:lpstr>Poppins Bold Italics</vt:lpstr>
      <vt:lpstr>Office Theme</vt:lpstr>
      <vt:lpstr>PowerPoint Presentation</vt:lpstr>
      <vt:lpstr>PowerPoint Presentation</vt:lpstr>
      <vt:lpstr>PowerPoint Presentation</vt:lpstr>
      <vt:lpstr>E c o n o m I c     E v  a  l u a t I o n s</vt:lpstr>
      <vt:lpstr>PowerPoint Presentation</vt:lpstr>
      <vt:lpstr>PowerPoint Presentation</vt:lpstr>
      <vt:lpstr>Type of costs (by traceability)</vt:lpstr>
      <vt:lpstr>Type of costs - ‘cost to whom?’</vt:lpstr>
      <vt:lpstr>Type of outcomes</vt:lpstr>
      <vt:lpstr>Economic Evaluations</vt:lpstr>
      <vt:lpstr>Different types of economic evaluations</vt:lpstr>
      <vt:lpstr>Different methods for economic evaluation</vt:lpstr>
      <vt:lpstr>Why do we need to conduct a decision model?</vt:lpstr>
      <vt:lpstr>Decision models   I n  h e a l t h c a r e</vt:lpstr>
      <vt:lpstr>Decision models use with caution</vt:lpstr>
      <vt:lpstr>Data for the models</vt:lpstr>
      <vt:lpstr>Value Adjustment</vt:lpstr>
      <vt:lpstr>Cost Adjustment</vt:lpstr>
      <vt:lpstr>Time horizon</vt:lpstr>
      <vt:lpstr>Different types of decision models</vt:lpstr>
      <vt:lpstr>How to choose your decision model?</vt:lpstr>
      <vt:lpstr>Combining between Decision tree and Markov Model</vt:lpstr>
      <vt:lpstr>Overview steps for building a decision</vt:lpstr>
      <vt:lpstr>Overview steps for building a decision</vt:lpstr>
      <vt:lpstr>Overview steps for building a decision</vt:lpstr>
      <vt:lpstr>Evidence synthesis</vt:lpstr>
      <vt:lpstr>Evidence synthesis Cost-effectiveness plane</vt:lpstr>
      <vt:lpstr>Evidence synthesis Cost-effectiveness plane</vt:lpstr>
      <vt:lpstr>How do we make the decision?</vt:lpstr>
      <vt:lpstr>What trade-offs do we have to make between cost-effectiveness and budget impact?</vt:lpstr>
      <vt:lpstr>How to conduct Budget Impact Analysis </vt:lpstr>
      <vt:lpstr>Key elements in BIA</vt:lpstr>
      <vt:lpstr> ISPOR Framework  </vt:lpstr>
      <vt:lpstr>PowerPoint Presentation</vt:lpstr>
      <vt:lpstr>Time dependency and Budgetary silos</vt:lpstr>
      <vt:lpstr>Handling Uncertainty</vt:lpstr>
      <vt:lpstr>Health system characteristics</vt:lpstr>
      <vt:lpstr>Take-home message</vt:lpstr>
      <vt:lpstr>Coming up next!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Corporate Persentation</dc:title>
  <dc:creator>User PC</dc:creator>
  <cp:lastModifiedBy>Tabitha Okech</cp:lastModifiedBy>
  <cp:revision>6</cp:revision>
  <dcterms:created xsi:type="dcterms:W3CDTF">2006-08-16T00:00:00Z</dcterms:created>
  <dcterms:modified xsi:type="dcterms:W3CDTF">2025-08-28T06:43:02Z</dcterms:modified>
  <dc:identifier>DAGh-nOrZOE</dc:identifier>
</cp:coreProperties>
</file>