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</p:sldMasterIdLst>
  <p:notesMasterIdLst>
    <p:notesMasterId r:id="rId26"/>
  </p:notesMasterIdLst>
  <p:sldIdLst>
    <p:sldId id="256" r:id="rId2"/>
    <p:sldId id="257" r:id="rId3"/>
    <p:sldId id="258" r:id="rId4"/>
    <p:sldId id="307" r:id="rId5"/>
    <p:sldId id="264" r:id="rId6"/>
    <p:sldId id="327" r:id="rId7"/>
    <p:sldId id="310" r:id="rId8"/>
    <p:sldId id="324" r:id="rId9"/>
    <p:sldId id="325" r:id="rId10"/>
    <p:sldId id="326" r:id="rId11"/>
    <p:sldId id="311" r:id="rId12"/>
    <p:sldId id="312" r:id="rId13"/>
    <p:sldId id="315" r:id="rId14"/>
    <p:sldId id="316" r:id="rId15"/>
    <p:sldId id="317" r:id="rId16"/>
    <p:sldId id="318" r:id="rId17"/>
    <p:sldId id="319" r:id="rId18"/>
    <p:sldId id="320" r:id="rId19"/>
    <p:sldId id="313" r:id="rId20"/>
    <p:sldId id="321" r:id="rId21"/>
    <p:sldId id="322" r:id="rId22"/>
    <p:sldId id="323" r:id="rId23"/>
    <p:sldId id="309" r:id="rId24"/>
    <p:sldId id="306" r:id="rId25"/>
  </p:sldIdLst>
  <p:sldSz cx="12192000" cy="6858000"/>
  <p:notesSz cx="6858000" cy="9144000"/>
  <p:embeddedFontLst>
    <p:embeddedFont>
      <p:font typeface="Cambria Math" panose="02040503050406030204" pitchFamily="18" charset="0"/>
      <p:regular r:id="rId27"/>
    </p:embeddedFont>
    <p:embeddedFont>
      <p:font typeface="Century Gothic" panose="020B0502020202020204" pitchFamily="34" charset="0"/>
      <p:regular r:id="rId28"/>
      <p:bold r:id="rId29"/>
      <p:italic r:id="rId30"/>
      <p:boldItalic r:id="rId31"/>
    </p:embeddedFont>
    <p:embeddedFont>
      <p:font typeface="Roboto" panose="02000000000000000000" pitchFamily="2" charset="0"/>
      <p:regular r:id="rId32"/>
      <p:bold r:id="rId33"/>
      <p:italic r:id="rId34"/>
      <p:boldItalic r:id="rId35"/>
    </p:embeddedFont>
    <p:embeddedFont>
      <p:font typeface="Sans Serif Collection" panose="020B0502040504020204" pitchFamily="34" charset="0"/>
      <p:regular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3041" autoAdjust="0"/>
  </p:normalViewPr>
  <p:slideViewPr>
    <p:cSldViewPr snapToGrid="0">
      <p:cViewPr varScale="1">
        <p:scale>
          <a:sx n="67" d="100"/>
          <a:sy n="67" d="100"/>
        </p:scale>
        <p:origin x="1296" y="6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649041afb5_0_9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649041afb5_0_9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g3649041afb5_0_9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649041afb5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0" name="Google Shape;340;g3649041afb5_0_143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649041afb5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0" name="Google Shape;340;g3649041afb5_0_143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173690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455147d995_0_219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1" dirty="0">
                <a:effectLst/>
                <a:latin typeface="KaTeX_Math"/>
              </a:rPr>
              <a:t>S</a:t>
            </a:r>
            <a:r>
              <a:rPr lang="en-US" b="0" i="0" dirty="0">
                <a:effectLst/>
                <a:latin typeface="KaTeX_Main"/>
              </a:rPr>
              <a:t>(</a:t>
            </a:r>
            <a:r>
              <a:rPr lang="en-US" b="0" i="1" dirty="0">
                <a:effectLst/>
                <a:latin typeface="KaTeX_Math"/>
              </a:rPr>
              <a:t>t</a:t>
            </a:r>
            <a:r>
              <a:rPr lang="en-US" b="0" i="0" dirty="0">
                <a:effectLst/>
                <a:latin typeface="KaTeX_Main"/>
              </a:rPr>
              <a:t>)</a:t>
            </a:r>
            <a:r>
              <a:rPr lang="en-US" b="0" i="0" dirty="0">
                <a:effectLst/>
                <a:latin typeface="fkGroteskNeue"/>
              </a:rPr>
              <a:t> = number of susceptible individuals at time </a:t>
            </a:r>
            <a:r>
              <a:rPr lang="en-US" b="0" i="1" dirty="0">
                <a:effectLst/>
                <a:latin typeface="KaTeX_Math"/>
              </a:rPr>
              <a:t>t</a:t>
            </a:r>
            <a:r>
              <a:rPr lang="en-US" b="0" i="0" dirty="0">
                <a:effectLst/>
                <a:latin typeface="fkGroteskNeue"/>
              </a:rPr>
              <a:t>,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1" dirty="0">
                <a:effectLst/>
                <a:latin typeface="KaTeX_Math"/>
              </a:rPr>
              <a:t>I</a:t>
            </a:r>
            <a:r>
              <a:rPr lang="en-US" b="0" i="0" dirty="0">
                <a:effectLst/>
                <a:latin typeface="KaTeX_Main"/>
              </a:rPr>
              <a:t>(</a:t>
            </a:r>
            <a:r>
              <a:rPr lang="en-US" b="0" i="1" dirty="0">
                <a:effectLst/>
                <a:latin typeface="KaTeX_Math"/>
              </a:rPr>
              <a:t>t</a:t>
            </a:r>
            <a:r>
              <a:rPr lang="en-US" b="0" i="0" dirty="0">
                <a:effectLst/>
                <a:latin typeface="KaTeX_Main"/>
              </a:rPr>
              <a:t>)</a:t>
            </a:r>
            <a:r>
              <a:rPr lang="en-US" b="0" i="0" dirty="0">
                <a:effectLst/>
                <a:latin typeface="fkGroteskNeue"/>
              </a:rPr>
              <a:t> = number of infectious individuals at time </a:t>
            </a:r>
            <a:r>
              <a:rPr lang="en-US" b="0" i="1" dirty="0">
                <a:effectLst/>
                <a:latin typeface="KaTeX_Math"/>
              </a:rPr>
              <a:t>t</a:t>
            </a:r>
            <a:r>
              <a:rPr lang="en-US" b="0" i="0" dirty="0">
                <a:effectLst/>
                <a:latin typeface="fkGroteskNeue"/>
              </a:rPr>
              <a:t>,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1" dirty="0">
                <a:effectLst/>
                <a:latin typeface="KaTeX_Math"/>
              </a:rPr>
              <a:t>N</a:t>
            </a:r>
            <a:r>
              <a:rPr lang="en-US" b="0" i="0" dirty="0">
                <a:effectLst/>
                <a:latin typeface="fkGroteskNeue"/>
              </a:rPr>
              <a:t> is the total population </a:t>
            </a:r>
            <a:r>
              <a:rPr lang="en-US" b="0" i="0" dirty="0">
                <a:effectLst/>
                <a:latin typeface="KaTeX_Main"/>
              </a:rPr>
              <a:t>N=S(t)+I(t)</a:t>
            </a:r>
            <a:endParaRPr lang="en-US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1" dirty="0">
                <a:effectLst/>
                <a:latin typeface="KaTeX_Math"/>
              </a:rPr>
              <a:t>β</a:t>
            </a:r>
            <a:r>
              <a:rPr lang="en-US" b="0" i="0" dirty="0">
                <a:effectLst/>
                <a:latin typeface="fkGroteskNeue"/>
              </a:rPr>
              <a:t> is the transmission rate,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1" dirty="0">
                <a:effectLst/>
                <a:latin typeface="KaTeX_Math"/>
              </a:rPr>
              <a:t>γ</a:t>
            </a:r>
            <a:r>
              <a:rPr lang="en-US" b="0" i="0" dirty="0">
                <a:effectLst/>
                <a:latin typeface="fkGroteskNeue"/>
              </a:rPr>
              <a:t> is the recovery rate.</a:t>
            </a:r>
          </a:p>
        </p:txBody>
      </p:sp>
      <p:sp>
        <p:nvSpPr>
          <p:cNvPr id="739" name="Google Shape;739;g3455147d995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b="1" dirty="0"/>
              <a:t>Number of participant = </a:t>
            </a:r>
            <a:r>
              <a:rPr lang="en-GB" b="1" dirty="0" err="1"/>
              <a:t>kenya</a:t>
            </a:r>
            <a:r>
              <a:rPr lang="en-GB" b="1" dirty="0"/>
              <a:t> =22, other 1-4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b="1" dirty="0"/>
              <a:t>Total connection: 0.773</a:t>
            </a:r>
          </a:p>
          <a:p>
            <a:r>
              <a:rPr lang="en-GB" dirty="0" err="1"/>
              <a:t>Edge_density</a:t>
            </a:r>
            <a:r>
              <a:rPr lang="en-GB" dirty="0"/>
              <a:t> = 0.77</a:t>
            </a:r>
          </a:p>
          <a:p>
            <a:r>
              <a:rPr lang="en-GB" dirty="0" err="1"/>
              <a:t>max_degree</a:t>
            </a:r>
            <a:r>
              <a:rPr lang="en-GB" dirty="0"/>
              <a:t> = 43</a:t>
            </a:r>
          </a:p>
          <a:p>
            <a:r>
              <a:rPr lang="en-GB" dirty="0" err="1"/>
              <a:t>Min_degree</a:t>
            </a:r>
            <a:r>
              <a:rPr lang="en-GB" dirty="0"/>
              <a:t> = 23</a:t>
            </a:r>
          </a:p>
          <a:p>
            <a:r>
              <a:rPr lang="en-GB" dirty="0" err="1"/>
              <a:t>Max_betweenness</a:t>
            </a:r>
            <a:r>
              <a:rPr lang="en-GB" dirty="0"/>
              <a:t> = 9.77</a:t>
            </a:r>
          </a:p>
          <a:p>
            <a:r>
              <a:rPr lang="en-GB" dirty="0" err="1"/>
              <a:t>Min_betweenness</a:t>
            </a:r>
            <a:r>
              <a:rPr lang="en-GB" dirty="0"/>
              <a:t>=0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52653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R₀ Analysis: Epidemic threshold occurs at R₀ = 1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When R₀ &lt; 1: Disease dies out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When R₀ &gt; 1: Disease persists and spreads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526363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Smaller infected population to control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Prevents exponential growth phase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Delays can lead to overwhelming healthcare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816148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g37589dff6d1_0_318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</a:pPr>
            <a:endParaRPr/>
          </a:p>
        </p:txBody>
      </p:sp>
      <p:sp>
        <p:nvSpPr>
          <p:cNvPr id="1753" name="Google Shape;1753;g37589dff6d1_0_3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ver">
  <p:cSld name="Cover">
    <p:bg>
      <p:bgPr>
        <a:solidFill>
          <a:srgbClr val="CFE2F3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>
            <a:spLocks noGrp="1"/>
          </p:cNvSpPr>
          <p:nvPr>
            <p:ph type="body" idx="1"/>
          </p:nvPr>
        </p:nvSpPr>
        <p:spPr>
          <a:xfrm>
            <a:off x="5186289" y="3621022"/>
            <a:ext cx="5935500" cy="11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4700"/>
              <a:buNone/>
              <a:defRPr sz="3700">
                <a:solidFill>
                  <a:schemeClr val="accent3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body" idx="2"/>
          </p:nvPr>
        </p:nvSpPr>
        <p:spPr>
          <a:xfrm>
            <a:off x="5186292" y="5443833"/>
            <a:ext cx="59355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 sz="2100"/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body" idx="3"/>
          </p:nvPr>
        </p:nvSpPr>
        <p:spPr>
          <a:xfrm>
            <a:off x="5186289" y="4921157"/>
            <a:ext cx="59355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3000"/>
              </a:lnSpc>
              <a:spcBef>
                <a:spcPts val="400"/>
              </a:spcBef>
              <a:spcAft>
                <a:spcPts val="0"/>
              </a:spcAft>
              <a:buSzPts val="3300"/>
              <a:buNone/>
              <a:defRPr sz="27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body" idx="2"/>
          </p:nvPr>
        </p:nvSpPr>
        <p:spPr>
          <a:xfrm>
            <a:off x="666751" y="1762064"/>
            <a:ext cx="10850100" cy="43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body" idx="3"/>
          </p:nvPr>
        </p:nvSpPr>
        <p:spPr>
          <a:xfrm>
            <a:off x="666750" y="1220755"/>
            <a:ext cx="108501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chemeClr val="accent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1">
  <p:cSld name="Divider 1">
    <p:bg>
      <p:bgPr>
        <a:solidFill>
          <a:srgbClr val="CFE2F3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5186289" y="3547454"/>
            <a:ext cx="5935500" cy="8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4700"/>
              <a:buNone/>
              <a:defRPr sz="3700">
                <a:solidFill>
                  <a:schemeClr val="lt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2"/>
          </p:nvPr>
        </p:nvSpPr>
        <p:spPr>
          <a:xfrm>
            <a:off x="5186292" y="4408274"/>
            <a:ext cx="59355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None/>
              <a:defRPr sz="2400">
                <a:solidFill>
                  <a:schemeClr val="lt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2">
            <a:alphaModFix/>
          </a:blip>
          <a:srcRect b="52284"/>
          <a:stretch/>
        </p:blipFill>
        <p:spPr>
          <a:xfrm>
            <a:off x="5203087" y="2168490"/>
            <a:ext cx="4134491" cy="11420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" name="Google Shape;33;p4"/>
          <p:cNvGrpSpPr/>
          <p:nvPr/>
        </p:nvGrpSpPr>
        <p:grpSpPr>
          <a:xfrm>
            <a:off x="1" y="-2"/>
            <a:ext cx="12187811" cy="6874399"/>
            <a:chOff x="0" y="-1"/>
            <a:chExt cx="9141087" cy="5155928"/>
          </a:xfrm>
        </p:grpSpPr>
        <p:sp>
          <p:nvSpPr>
            <p:cNvPr id="34" name="Google Shape;34;p4"/>
            <p:cNvSpPr/>
            <p:nvPr/>
          </p:nvSpPr>
          <p:spPr>
            <a:xfrm>
              <a:off x="0" y="0"/>
              <a:ext cx="2348678" cy="3502791"/>
            </a:xfrm>
            <a:custGeom>
              <a:avLst/>
              <a:gdLst/>
              <a:ahLst/>
              <a:cxnLst/>
              <a:rect l="l" t="t" r="r" b="b"/>
              <a:pathLst>
                <a:path w="2348678" h="3502791" extrusionOk="0">
                  <a:moveTo>
                    <a:pt x="0" y="0"/>
                  </a:moveTo>
                  <a:lnTo>
                    <a:pt x="525537" y="0"/>
                  </a:lnTo>
                  <a:lnTo>
                    <a:pt x="477649" y="11761"/>
                  </a:lnTo>
                  <a:cubicBezTo>
                    <a:pt x="337298" y="54090"/>
                    <a:pt x="198160" y="111742"/>
                    <a:pt x="62225" y="183642"/>
                  </a:cubicBezTo>
                  <a:cubicBezTo>
                    <a:pt x="62225" y="183642"/>
                    <a:pt x="58176" y="186913"/>
                    <a:pt x="59890" y="190324"/>
                  </a:cubicBezTo>
                  <a:cubicBezTo>
                    <a:pt x="61604" y="193735"/>
                    <a:pt x="66959" y="192199"/>
                    <a:pt x="66959" y="192199"/>
                  </a:cubicBezTo>
                  <a:cubicBezTo>
                    <a:pt x="514156" y="-7207"/>
                    <a:pt x="986540" y="-35167"/>
                    <a:pt x="1402010" y="154763"/>
                  </a:cubicBezTo>
                  <a:cubicBezTo>
                    <a:pt x="2220361" y="528726"/>
                    <a:pt x="2546084" y="1622623"/>
                    <a:pt x="2229032" y="2734319"/>
                  </a:cubicBezTo>
                  <a:lnTo>
                    <a:pt x="2191499" y="2849202"/>
                  </a:lnTo>
                  <a:lnTo>
                    <a:pt x="2121922" y="2804073"/>
                  </a:lnTo>
                  <a:cubicBezTo>
                    <a:pt x="1801129" y="2602569"/>
                    <a:pt x="1421055" y="2395579"/>
                    <a:pt x="1003565" y="2198977"/>
                  </a:cubicBezTo>
                  <a:cubicBezTo>
                    <a:pt x="1003565" y="2198977"/>
                    <a:pt x="997199" y="2196820"/>
                    <a:pt x="995646" y="2201009"/>
                  </a:cubicBezTo>
                  <a:cubicBezTo>
                    <a:pt x="994090" y="2205199"/>
                    <a:pt x="998896" y="2208929"/>
                    <a:pt x="998896" y="2208929"/>
                  </a:cubicBezTo>
                  <a:cubicBezTo>
                    <a:pt x="1434380" y="2451555"/>
                    <a:pt x="1833684" y="2702502"/>
                    <a:pt x="2137892" y="2923903"/>
                  </a:cubicBezTo>
                  <a:lnTo>
                    <a:pt x="2161363" y="2941446"/>
                  </a:lnTo>
                  <a:lnTo>
                    <a:pt x="2151199" y="2972556"/>
                  </a:lnTo>
                  <a:cubicBezTo>
                    <a:pt x="2121939" y="3051889"/>
                    <a:pt x="2089344" y="3131057"/>
                    <a:pt x="2053361" y="3209803"/>
                  </a:cubicBezTo>
                  <a:cubicBezTo>
                    <a:pt x="2017373" y="3288530"/>
                    <a:pt x="1978850" y="3364970"/>
                    <a:pt x="1938019" y="3438996"/>
                  </a:cubicBezTo>
                  <a:lnTo>
                    <a:pt x="1899637" y="3502791"/>
                  </a:lnTo>
                  <a:lnTo>
                    <a:pt x="1749744" y="3459348"/>
                  </a:lnTo>
                  <a:lnTo>
                    <a:pt x="1608111" y="3415107"/>
                  </a:lnTo>
                  <a:cubicBezTo>
                    <a:pt x="1239845" y="3295233"/>
                    <a:pt x="807151" y="3126085"/>
                    <a:pt x="352814" y="2919107"/>
                  </a:cubicBezTo>
                  <a:cubicBezTo>
                    <a:pt x="277091" y="2884611"/>
                    <a:pt x="202558" y="2849879"/>
                    <a:pt x="129384" y="2815026"/>
                  </a:cubicBezTo>
                  <a:lnTo>
                    <a:pt x="0" y="27520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0" y="-1"/>
              <a:ext cx="9141087" cy="5155928"/>
            </a:xfrm>
            <a:custGeom>
              <a:avLst/>
              <a:gdLst/>
              <a:ahLst/>
              <a:cxnLst/>
              <a:rect l="l" t="t" r="r" b="b"/>
              <a:pathLst>
                <a:path w="9141087" h="5155928" extrusionOk="0">
                  <a:moveTo>
                    <a:pt x="1526153" y="0"/>
                  </a:moveTo>
                  <a:lnTo>
                    <a:pt x="9141087" y="0"/>
                  </a:lnTo>
                  <a:lnTo>
                    <a:pt x="9141087" y="5154827"/>
                  </a:lnTo>
                  <a:lnTo>
                    <a:pt x="0" y="5154827"/>
                  </a:lnTo>
                  <a:lnTo>
                    <a:pt x="0" y="5146451"/>
                  </a:lnTo>
                  <a:lnTo>
                    <a:pt x="75637" y="5154368"/>
                  </a:lnTo>
                  <a:cubicBezTo>
                    <a:pt x="776345" y="5184094"/>
                    <a:pt x="1521473" y="4787639"/>
                    <a:pt x="2058507" y="4098986"/>
                  </a:cubicBezTo>
                  <a:lnTo>
                    <a:pt x="2157322" y="3961433"/>
                  </a:lnTo>
                  <a:lnTo>
                    <a:pt x="2164242" y="3962746"/>
                  </a:lnTo>
                  <a:lnTo>
                    <a:pt x="2202530" y="3971148"/>
                  </a:lnTo>
                  <a:lnTo>
                    <a:pt x="2280575" y="3984804"/>
                  </a:lnTo>
                  <a:lnTo>
                    <a:pt x="2326734" y="3993557"/>
                  </a:lnTo>
                  <a:lnTo>
                    <a:pt x="2326992" y="3992927"/>
                  </a:lnTo>
                  <a:lnTo>
                    <a:pt x="2387013" y="4003429"/>
                  </a:lnTo>
                  <a:cubicBezTo>
                    <a:pt x="2799150" y="4065178"/>
                    <a:pt x="3079131" y="4031158"/>
                    <a:pt x="3145582" y="3885282"/>
                  </a:cubicBezTo>
                  <a:cubicBezTo>
                    <a:pt x="3218973" y="3724445"/>
                    <a:pt x="3017460" y="3460150"/>
                    <a:pt x="2630604" y="3157424"/>
                  </a:cubicBezTo>
                  <a:lnTo>
                    <a:pt x="2590729" y="3127515"/>
                  </a:lnTo>
                  <a:lnTo>
                    <a:pt x="2667774" y="2889009"/>
                  </a:lnTo>
                  <a:cubicBezTo>
                    <a:pt x="3005732" y="1683964"/>
                    <a:pt x="2631698" y="490305"/>
                    <a:pt x="1719839" y="73550"/>
                  </a:cubicBezTo>
                  <a:lnTo>
                    <a:pt x="152615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0" y="3174823"/>
              <a:ext cx="1677049" cy="1665275"/>
            </a:xfrm>
            <a:custGeom>
              <a:avLst/>
              <a:gdLst/>
              <a:ahLst/>
              <a:cxnLst/>
              <a:rect l="l" t="t" r="r" b="b"/>
              <a:pathLst>
                <a:path w="1677049" h="1665275" extrusionOk="0">
                  <a:moveTo>
                    <a:pt x="0" y="0"/>
                  </a:moveTo>
                  <a:lnTo>
                    <a:pt x="55062" y="27525"/>
                  </a:lnTo>
                  <a:cubicBezTo>
                    <a:pt x="140029" y="68726"/>
                    <a:pt x="226710" y="109496"/>
                    <a:pt x="314915" y="149684"/>
                  </a:cubicBezTo>
                  <a:cubicBezTo>
                    <a:pt x="667741" y="310496"/>
                    <a:pt x="1011578" y="446790"/>
                    <a:pt x="1331241" y="555564"/>
                  </a:cubicBezTo>
                  <a:lnTo>
                    <a:pt x="1521376" y="617362"/>
                  </a:lnTo>
                  <a:lnTo>
                    <a:pt x="1521140" y="617775"/>
                  </a:lnTo>
                  <a:lnTo>
                    <a:pt x="1540381" y="623539"/>
                  </a:lnTo>
                  <a:lnTo>
                    <a:pt x="1566219" y="631937"/>
                  </a:lnTo>
                  <a:lnTo>
                    <a:pt x="1666079" y="661195"/>
                  </a:lnTo>
                  <a:lnTo>
                    <a:pt x="1677049" y="664481"/>
                  </a:lnTo>
                  <a:lnTo>
                    <a:pt x="1667186" y="678371"/>
                  </a:lnTo>
                  <a:cubicBezTo>
                    <a:pt x="1224914" y="1253212"/>
                    <a:pt x="632916" y="1612206"/>
                    <a:pt x="58278" y="1663563"/>
                  </a:cubicBezTo>
                  <a:lnTo>
                    <a:pt x="0" y="1665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2376848" y="3253687"/>
              <a:ext cx="343930" cy="361770"/>
            </a:xfrm>
            <a:custGeom>
              <a:avLst/>
              <a:gdLst/>
              <a:ahLst/>
              <a:cxnLst/>
              <a:rect l="l" t="t" r="r" b="b"/>
              <a:pathLst>
                <a:path w="343930" h="361770" extrusionOk="0">
                  <a:moveTo>
                    <a:pt x="163744" y="0"/>
                  </a:moveTo>
                  <a:lnTo>
                    <a:pt x="178396" y="13750"/>
                  </a:lnTo>
                  <a:cubicBezTo>
                    <a:pt x="304317" y="138942"/>
                    <a:pt x="364544" y="238018"/>
                    <a:pt x="337605" y="297178"/>
                  </a:cubicBezTo>
                  <a:cubicBezTo>
                    <a:pt x="320278" y="335262"/>
                    <a:pt x="269017" y="356259"/>
                    <a:pt x="189169" y="361598"/>
                  </a:cubicBezTo>
                  <a:lnTo>
                    <a:pt x="101228" y="361770"/>
                  </a:lnTo>
                  <a:lnTo>
                    <a:pt x="94227" y="361237"/>
                  </a:lnTo>
                  <a:lnTo>
                    <a:pt x="4676" y="352915"/>
                  </a:lnTo>
                  <a:lnTo>
                    <a:pt x="0" y="352321"/>
                  </a:lnTo>
                  <a:lnTo>
                    <a:pt x="101987" y="150236"/>
                  </a:lnTo>
                  <a:lnTo>
                    <a:pt x="1637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3">
  <p:cSld name="Divider 3">
    <p:bg>
      <p:bgPr>
        <a:solidFill>
          <a:srgbClr val="CFE2F3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7"/>
          <p:cNvGrpSpPr/>
          <p:nvPr/>
        </p:nvGrpSpPr>
        <p:grpSpPr>
          <a:xfrm>
            <a:off x="1" y="0"/>
            <a:ext cx="12187811" cy="6874399"/>
            <a:chOff x="0" y="-1"/>
            <a:chExt cx="9141087" cy="5155928"/>
          </a:xfrm>
        </p:grpSpPr>
        <p:sp>
          <p:nvSpPr>
            <p:cNvPr id="54" name="Google Shape;54;p7"/>
            <p:cNvSpPr/>
            <p:nvPr/>
          </p:nvSpPr>
          <p:spPr>
            <a:xfrm>
              <a:off x="0" y="0"/>
              <a:ext cx="2348678" cy="3502791"/>
            </a:xfrm>
            <a:custGeom>
              <a:avLst/>
              <a:gdLst/>
              <a:ahLst/>
              <a:cxnLst/>
              <a:rect l="l" t="t" r="r" b="b"/>
              <a:pathLst>
                <a:path w="2348678" h="3502791" extrusionOk="0">
                  <a:moveTo>
                    <a:pt x="0" y="0"/>
                  </a:moveTo>
                  <a:lnTo>
                    <a:pt x="525537" y="0"/>
                  </a:lnTo>
                  <a:lnTo>
                    <a:pt x="477649" y="11761"/>
                  </a:lnTo>
                  <a:cubicBezTo>
                    <a:pt x="337298" y="54090"/>
                    <a:pt x="198160" y="111742"/>
                    <a:pt x="62225" y="183642"/>
                  </a:cubicBezTo>
                  <a:cubicBezTo>
                    <a:pt x="62225" y="183642"/>
                    <a:pt x="58176" y="186913"/>
                    <a:pt x="59890" y="190324"/>
                  </a:cubicBezTo>
                  <a:cubicBezTo>
                    <a:pt x="61604" y="193735"/>
                    <a:pt x="66959" y="192199"/>
                    <a:pt x="66959" y="192199"/>
                  </a:cubicBezTo>
                  <a:cubicBezTo>
                    <a:pt x="514156" y="-7207"/>
                    <a:pt x="986540" y="-35167"/>
                    <a:pt x="1402010" y="154763"/>
                  </a:cubicBezTo>
                  <a:cubicBezTo>
                    <a:pt x="2220361" y="528726"/>
                    <a:pt x="2546084" y="1622623"/>
                    <a:pt x="2229032" y="2734319"/>
                  </a:cubicBezTo>
                  <a:lnTo>
                    <a:pt x="2191499" y="2849202"/>
                  </a:lnTo>
                  <a:lnTo>
                    <a:pt x="2121922" y="2804073"/>
                  </a:lnTo>
                  <a:cubicBezTo>
                    <a:pt x="1801129" y="2602569"/>
                    <a:pt x="1421055" y="2395579"/>
                    <a:pt x="1003565" y="2198977"/>
                  </a:cubicBezTo>
                  <a:cubicBezTo>
                    <a:pt x="1003565" y="2198977"/>
                    <a:pt x="997199" y="2196820"/>
                    <a:pt x="995646" y="2201009"/>
                  </a:cubicBezTo>
                  <a:cubicBezTo>
                    <a:pt x="994090" y="2205199"/>
                    <a:pt x="998896" y="2208929"/>
                    <a:pt x="998896" y="2208929"/>
                  </a:cubicBezTo>
                  <a:cubicBezTo>
                    <a:pt x="1434380" y="2451555"/>
                    <a:pt x="1833684" y="2702502"/>
                    <a:pt x="2137892" y="2923903"/>
                  </a:cubicBezTo>
                  <a:lnTo>
                    <a:pt x="2161363" y="2941446"/>
                  </a:lnTo>
                  <a:lnTo>
                    <a:pt x="2151199" y="2972556"/>
                  </a:lnTo>
                  <a:cubicBezTo>
                    <a:pt x="2121939" y="3051889"/>
                    <a:pt x="2089344" y="3131057"/>
                    <a:pt x="2053361" y="3209803"/>
                  </a:cubicBezTo>
                  <a:cubicBezTo>
                    <a:pt x="2017373" y="3288530"/>
                    <a:pt x="1978850" y="3364970"/>
                    <a:pt x="1938019" y="3438996"/>
                  </a:cubicBezTo>
                  <a:lnTo>
                    <a:pt x="1899637" y="3502791"/>
                  </a:lnTo>
                  <a:lnTo>
                    <a:pt x="1749744" y="3459348"/>
                  </a:lnTo>
                  <a:lnTo>
                    <a:pt x="1608111" y="3415107"/>
                  </a:lnTo>
                  <a:cubicBezTo>
                    <a:pt x="1239845" y="3295233"/>
                    <a:pt x="807151" y="3126085"/>
                    <a:pt x="352814" y="2919107"/>
                  </a:cubicBezTo>
                  <a:cubicBezTo>
                    <a:pt x="277091" y="2884611"/>
                    <a:pt x="202558" y="2849879"/>
                    <a:pt x="129384" y="2815026"/>
                  </a:cubicBezTo>
                  <a:lnTo>
                    <a:pt x="0" y="27520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7"/>
            <p:cNvSpPr/>
            <p:nvPr/>
          </p:nvSpPr>
          <p:spPr>
            <a:xfrm>
              <a:off x="0" y="-1"/>
              <a:ext cx="9141087" cy="5155928"/>
            </a:xfrm>
            <a:custGeom>
              <a:avLst/>
              <a:gdLst/>
              <a:ahLst/>
              <a:cxnLst/>
              <a:rect l="l" t="t" r="r" b="b"/>
              <a:pathLst>
                <a:path w="9141087" h="5155928" extrusionOk="0">
                  <a:moveTo>
                    <a:pt x="1526153" y="0"/>
                  </a:moveTo>
                  <a:lnTo>
                    <a:pt x="9141087" y="0"/>
                  </a:lnTo>
                  <a:lnTo>
                    <a:pt x="9141087" y="5154827"/>
                  </a:lnTo>
                  <a:lnTo>
                    <a:pt x="0" y="5154827"/>
                  </a:lnTo>
                  <a:lnTo>
                    <a:pt x="0" y="5146451"/>
                  </a:lnTo>
                  <a:lnTo>
                    <a:pt x="75637" y="5154368"/>
                  </a:lnTo>
                  <a:cubicBezTo>
                    <a:pt x="776345" y="5184094"/>
                    <a:pt x="1521473" y="4787639"/>
                    <a:pt x="2058507" y="4098986"/>
                  </a:cubicBezTo>
                  <a:lnTo>
                    <a:pt x="2157322" y="3961433"/>
                  </a:lnTo>
                  <a:lnTo>
                    <a:pt x="2164242" y="3962746"/>
                  </a:lnTo>
                  <a:lnTo>
                    <a:pt x="2202530" y="3971148"/>
                  </a:lnTo>
                  <a:lnTo>
                    <a:pt x="2280575" y="3984804"/>
                  </a:lnTo>
                  <a:lnTo>
                    <a:pt x="2326734" y="3993557"/>
                  </a:lnTo>
                  <a:lnTo>
                    <a:pt x="2326992" y="3992927"/>
                  </a:lnTo>
                  <a:lnTo>
                    <a:pt x="2387013" y="4003429"/>
                  </a:lnTo>
                  <a:cubicBezTo>
                    <a:pt x="2799150" y="4065178"/>
                    <a:pt x="3079131" y="4031158"/>
                    <a:pt x="3145582" y="3885282"/>
                  </a:cubicBezTo>
                  <a:cubicBezTo>
                    <a:pt x="3218973" y="3724445"/>
                    <a:pt x="3017460" y="3460150"/>
                    <a:pt x="2630604" y="3157424"/>
                  </a:cubicBezTo>
                  <a:lnTo>
                    <a:pt x="2590729" y="3127515"/>
                  </a:lnTo>
                  <a:lnTo>
                    <a:pt x="2667774" y="2889009"/>
                  </a:lnTo>
                  <a:cubicBezTo>
                    <a:pt x="3005732" y="1683964"/>
                    <a:pt x="2631698" y="490305"/>
                    <a:pt x="1719839" y="73550"/>
                  </a:cubicBezTo>
                  <a:lnTo>
                    <a:pt x="152615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7"/>
            <p:cNvSpPr/>
            <p:nvPr/>
          </p:nvSpPr>
          <p:spPr>
            <a:xfrm>
              <a:off x="0" y="3174823"/>
              <a:ext cx="1677049" cy="1665275"/>
            </a:xfrm>
            <a:custGeom>
              <a:avLst/>
              <a:gdLst/>
              <a:ahLst/>
              <a:cxnLst/>
              <a:rect l="l" t="t" r="r" b="b"/>
              <a:pathLst>
                <a:path w="1677049" h="1665275" extrusionOk="0">
                  <a:moveTo>
                    <a:pt x="0" y="0"/>
                  </a:moveTo>
                  <a:lnTo>
                    <a:pt x="55062" y="27525"/>
                  </a:lnTo>
                  <a:cubicBezTo>
                    <a:pt x="140029" y="68726"/>
                    <a:pt x="226710" y="109496"/>
                    <a:pt x="314915" y="149684"/>
                  </a:cubicBezTo>
                  <a:cubicBezTo>
                    <a:pt x="667741" y="310496"/>
                    <a:pt x="1011578" y="446790"/>
                    <a:pt x="1331241" y="555564"/>
                  </a:cubicBezTo>
                  <a:lnTo>
                    <a:pt x="1521376" y="617362"/>
                  </a:lnTo>
                  <a:lnTo>
                    <a:pt x="1521140" y="617775"/>
                  </a:lnTo>
                  <a:lnTo>
                    <a:pt x="1540381" y="623539"/>
                  </a:lnTo>
                  <a:lnTo>
                    <a:pt x="1566219" y="631937"/>
                  </a:lnTo>
                  <a:lnTo>
                    <a:pt x="1666079" y="661195"/>
                  </a:lnTo>
                  <a:lnTo>
                    <a:pt x="1677049" y="664481"/>
                  </a:lnTo>
                  <a:lnTo>
                    <a:pt x="1667186" y="678371"/>
                  </a:lnTo>
                  <a:cubicBezTo>
                    <a:pt x="1224914" y="1253212"/>
                    <a:pt x="632916" y="1612206"/>
                    <a:pt x="58278" y="1663563"/>
                  </a:cubicBezTo>
                  <a:lnTo>
                    <a:pt x="0" y="1665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7"/>
            <p:cNvSpPr/>
            <p:nvPr/>
          </p:nvSpPr>
          <p:spPr>
            <a:xfrm>
              <a:off x="2376848" y="3253687"/>
              <a:ext cx="343930" cy="361770"/>
            </a:xfrm>
            <a:custGeom>
              <a:avLst/>
              <a:gdLst/>
              <a:ahLst/>
              <a:cxnLst/>
              <a:rect l="l" t="t" r="r" b="b"/>
              <a:pathLst>
                <a:path w="343930" h="361770" extrusionOk="0">
                  <a:moveTo>
                    <a:pt x="163744" y="0"/>
                  </a:moveTo>
                  <a:lnTo>
                    <a:pt x="178396" y="13750"/>
                  </a:lnTo>
                  <a:cubicBezTo>
                    <a:pt x="304317" y="138942"/>
                    <a:pt x="364544" y="238018"/>
                    <a:pt x="337605" y="297178"/>
                  </a:cubicBezTo>
                  <a:cubicBezTo>
                    <a:pt x="320278" y="335262"/>
                    <a:pt x="269017" y="356259"/>
                    <a:pt x="189169" y="361598"/>
                  </a:cubicBezTo>
                  <a:lnTo>
                    <a:pt x="101228" y="361770"/>
                  </a:lnTo>
                  <a:lnTo>
                    <a:pt x="94227" y="361237"/>
                  </a:lnTo>
                  <a:lnTo>
                    <a:pt x="4676" y="352915"/>
                  </a:lnTo>
                  <a:lnTo>
                    <a:pt x="0" y="352321"/>
                  </a:lnTo>
                  <a:lnTo>
                    <a:pt x="101987" y="150236"/>
                  </a:lnTo>
                  <a:lnTo>
                    <a:pt x="16374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" name="Google Shape;58;p7"/>
          <p:cNvSpPr txBox="1">
            <a:spLocks noGrp="1"/>
          </p:cNvSpPr>
          <p:nvPr>
            <p:ph type="body" idx="1"/>
          </p:nvPr>
        </p:nvSpPr>
        <p:spPr>
          <a:xfrm>
            <a:off x="5186289" y="3547454"/>
            <a:ext cx="5935500" cy="8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4700"/>
              <a:buNone/>
              <a:defRPr sz="3700">
                <a:solidFill>
                  <a:schemeClr val="lt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body" idx="2"/>
          </p:nvPr>
        </p:nvSpPr>
        <p:spPr>
          <a:xfrm>
            <a:off x="5186292" y="4408274"/>
            <a:ext cx="59355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None/>
              <a:defRPr sz="2400">
                <a:solidFill>
                  <a:schemeClr val="lt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pic>
        <p:nvPicPr>
          <p:cNvPr id="60" name="Google Shape;60;p7"/>
          <p:cNvPicPr preferRelativeResize="0"/>
          <p:nvPr/>
        </p:nvPicPr>
        <p:blipFill rotWithShape="1">
          <a:blip r:embed="rId2">
            <a:alphaModFix/>
          </a:blip>
          <a:srcRect b="52284"/>
          <a:stretch/>
        </p:blipFill>
        <p:spPr>
          <a:xfrm>
            <a:off x="5203087" y="2168490"/>
            <a:ext cx="4134491" cy="1142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Text">
  <p:cSld name="Image and 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>
            <a:spLocks noGrp="1"/>
          </p:cNvSpPr>
          <p:nvPr>
            <p:ph type="pic" idx="2"/>
          </p:nvPr>
        </p:nvSpPr>
        <p:spPr>
          <a:xfrm>
            <a:off x="656074" y="1221319"/>
            <a:ext cx="7743900" cy="49404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>
            <a:off x="8592277" y="1221318"/>
            <a:ext cx="2924400" cy="49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 sz="210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body" idx="3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Caption">
  <p:cSld name="Image and Ca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>
            <a:spLocks noGrp="1"/>
          </p:cNvSpPr>
          <p:nvPr>
            <p:ph type="pic" idx="2"/>
          </p:nvPr>
        </p:nvSpPr>
        <p:spPr>
          <a:xfrm>
            <a:off x="656074" y="1221318"/>
            <a:ext cx="10860900" cy="44577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665645" y="5678867"/>
            <a:ext cx="108609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 sz="21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3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Images with Captions">
  <p:cSld name="2 Images with Caption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>
            <a:spLocks noGrp="1"/>
          </p:cNvSpPr>
          <p:nvPr>
            <p:ph type="pic" idx="2"/>
          </p:nvPr>
        </p:nvSpPr>
        <p:spPr>
          <a:xfrm>
            <a:off x="666751" y="1221317"/>
            <a:ext cx="5247300" cy="44028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0"/>
          <p:cNvSpPr txBox="1">
            <a:spLocks noGrp="1"/>
          </p:cNvSpPr>
          <p:nvPr>
            <p:ph type="body" idx="1"/>
          </p:nvPr>
        </p:nvSpPr>
        <p:spPr>
          <a:xfrm>
            <a:off x="681525" y="5624064"/>
            <a:ext cx="52323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None/>
              <a:defRPr sz="19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0"/>
          <p:cNvSpPr>
            <a:spLocks noGrp="1"/>
          </p:cNvSpPr>
          <p:nvPr>
            <p:ph type="pic" idx="3"/>
          </p:nvPr>
        </p:nvSpPr>
        <p:spPr>
          <a:xfrm>
            <a:off x="6288618" y="1221317"/>
            <a:ext cx="5220900" cy="43881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10"/>
          <p:cNvSpPr txBox="1">
            <a:spLocks noGrp="1"/>
          </p:cNvSpPr>
          <p:nvPr>
            <p:ph type="body" idx="4"/>
          </p:nvPr>
        </p:nvSpPr>
        <p:spPr>
          <a:xfrm>
            <a:off x="6299598" y="5609295"/>
            <a:ext cx="52209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None/>
              <a:defRPr sz="19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body" idx="5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Images with Captions">
  <p:cSld name="3 Images with Captio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>
            <a:spLocks noGrp="1"/>
          </p:cNvSpPr>
          <p:nvPr>
            <p:ph type="pic" idx="2"/>
          </p:nvPr>
        </p:nvSpPr>
        <p:spPr>
          <a:xfrm>
            <a:off x="656074" y="1221318"/>
            <a:ext cx="3519600" cy="42840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1"/>
          <p:cNvSpPr txBox="1">
            <a:spLocks noGrp="1"/>
          </p:cNvSpPr>
          <p:nvPr>
            <p:ph type="body" idx="1"/>
          </p:nvPr>
        </p:nvSpPr>
        <p:spPr>
          <a:xfrm>
            <a:off x="656074" y="5505449"/>
            <a:ext cx="35196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None/>
              <a:defRPr sz="19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1"/>
          <p:cNvSpPr>
            <a:spLocks noGrp="1"/>
          </p:cNvSpPr>
          <p:nvPr>
            <p:ph type="pic" idx="3"/>
          </p:nvPr>
        </p:nvSpPr>
        <p:spPr>
          <a:xfrm>
            <a:off x="4319770" y="1221318"/>
            <a:ext cx="3519600" cy="42840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1"/>
          <p:cNvSpPr txBox="1">
            <a:spLocks noGrp="1"/>
          </p:cNvSpPr>
          <p:nvPr>
            <p:ph type="body" idx="4"/>
          </p:nvPr>
        </p:nvSpPr>
        <p:spPr>
          <a:xfrm>
            <a:off x="4319770" y="5505449"/>
            <a:ext cx="35196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None/>
              <a:defRPr sz="19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1"/>
          <p:cNvSpPr>
            <a:spLocks noGrp="1"/>
          </p:cNvSpPr>
          <p:nvPr>
            <p:ph type="pic" idx="5"/>
          </p:nvPr>
        </p:nvSpPr>
        <p:spPr>
          <a:xfrm>
            <a:off x="7983466" y="1221318"/>
            <a:ext cx="3519600" cy="42840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11"/>
          <p:cNvSpPr txBox="1">
            <a:spLocks noGrp="1"/>
          </p:cNvSpPr>
          <p:nvPr>
            <p:ph type="body" idx="6"/>
          </p:nvPr>
        </p:nvSpPr>
        <p:spPr>
          <a:xfrm>
            <a:off x="7983466" y="5505449"/>
            <a:ext cx="35196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None/>
              <a:defRPr sz="19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7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and Chart">
  <p:cSld name="Text and Char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 txBox="1">
            <a:spLocks noGrp="1"/>
          </p:cNvSpPr>
          <p:nvPr>
            <p:ph type="body" idx="1"/>
          </p:nvPr>
        </p:nvSpPr>
        <p:spPr>
          <a:xfrm>
            <a:off x="666751" y="1221319"/>
            <a:ext cx="3509100" cy="49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•"/>
              <a:defRPr/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2"/>
          <p:cNvSpPr>
            <a:spLocks noGrp="1"/>
          </p:cNvSpPr>
          <p:nvPr>
            <p:ph type="chart" idx="2"/>
          </p:nvPr>
        </p:nvSpPr>
        <p:spPr>
          <a:xfrm>
            <a:off x="4367809" y="1221319"/>
            <a:ext cx="7157700" cy="49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31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NTR"/>
              <a:buChar char="-"/>
              <a:defRPr sz="21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NTR"/>
              <a:buChar char="-"/>
              <a:defRPr sz="21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NTR"/>
              <a:buChar char="-"/>
              <a:defRPr sz="21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TR"/>
              <a:buChar char="-"/>
              <a:defRPr sz="1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body" idx="3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">
  <p:cSld name="Char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3"/>
          <p:cNvSpPr>
            <a:spLocks noGrp="1"/>
          </p:cNvSpPr>
          <p:nvPr>
            <p:ph type="chart" idx="2"/>
          </p:nvPr>
        </p:nvSpPr>
        <p:spPr>
          <a:xfrm>
            <a:off x="666751" y="1808992"/>
            <a:ext cx="10858500" cy="43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31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NTR"/>
              <a:buChar char="-"/>
              <a:defRPr sz="21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NTR"/>
              <a:buChar char="-"/>
              <a:defRPr sz="21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NTR"/>
              <a:buChar char="-"/>
              <a:defRPr sz="21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TR"/>
              <a:buChar char="-"/>
              <a:defRPr sz="1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body" idx="1"/>
          </p:nvPr>
        </p:nvSpPr>
        <p:spPr>
          <a:xfrm>
            <a:off x="656073" y="1221318"/>
            <a:ext cx="10869300" cy="4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None/>
              <a:defRPr/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body" idx="3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ullets">
  <p:cSld name="Title and Bullet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body" idx="1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14"/>
          <p:cNvSpPr txBox="1">
            <a:spLocks noGrp="1"/>
          </p:cNvSpPr>
          <p:nvPr>
            <p:ph type="body" idx="2"/>
          </p:nvPr>
        </p:nvSpPr>
        <p:spPr>
          <a:xfrm>
            <a:off x="666751" y="1221319"/>
            <a:ext cx="10850100" cy="49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•"/>
              <a:defRPr/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Image">
  <p:cSld name="Full Image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EFEF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body" idx="1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rgbClr val="FFFFFF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pic>
        <p:nvPicPr>
          <p:cNvPr id="113" name="Google Shape;113;p15"/>
          <p:cNvPicPr preferRelativeResize="0"/>
          <p:nvPr/>
        </p:nvPicPr>
        <p:blipFill rotWithShape="1">
          <a:blip r:embed="rId2">
            <a:alphaModFix/>
          </a:blip>
          <a:srcRect b="52800"/>
          <a:stretch/>
        </p:blipFill>
        <p:spPr>
          <a:xfrm>
            <a:off x="683548" y="6231502"/>
            <a:ext cx="1486355" cy="406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" name="Google Shape;114;p15"/>
          <p:cNvGrpSpPr/>
          <p:nvPr/>
        </p:nvGrpSpPr>
        <p:grpSpPr>
          <a:xfrm>
            <a:off x="4233" y="6761503"/>
            <a:ext cx="12191695" cy="104397"/>
            <a:chOff x="0" y="5071254"/>
            <a:chExt cx="9144000" cy="78300"/>
          </a:xfrm>
        </p:grpSpPr>
        <p:sp>
          <p:nvSpPr>
            <p:cNvPr id="115" name="Google Shape;115;p15"/>
            <p:cNvSpPr/>
            <p:nvPr/>
          </p:nvSpPr>
          <p:spPr>
            <a:xfrm>
              <a:off x="0" y="5071254"/>
              <a:ext cx="2016000" cy="78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EFEFF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2016000" y="5071254"/>
              <a:ext cx="7128000" cy="78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EFEFF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7" name="Google Shape;117;p15"/>
          <p:cNvCxnSpPr/>
          <p:nvPr/>
        </p:nvCxnSpPr>
        <p:spPr>
          <a:xfrm>
            <a:off x="10912828" y="6307323"/>
            <a:ext cx="0" cy="3531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8" name="Google Shape;118;p15"/>
          <p:cNvSpPr txBox="1"/>
          <p:nvPr/>
        </p:nvSpPr>
        <p:spPr>
          <a:xfrm>
            <a:off x="3797575" y="-298435"/>
            <a:ext cx="45885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75" rIns="121900" bIns="60975" anchor="t" anchorCtr="0">
            <a:norm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Please insert picture from format background – picture/texture fill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p-up Boxes">
  <p:cSld name="Pop-up Boxes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666750" y="1220757"/>
            <a:ext cx="5288700" cy="120480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4860000" sx="101000" sy="101000" algn="tl" rotWithShape="0">
              <a:srgbClr val="73737B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6"/>
          <p:cNvSpPr txBox="1">
            <a:spLocks noGrp="1"/>
          </p:cNvSpPr>
          <p:nvPr>
            <p:ph type="body" idx="1"/>
          </p:nvPr>
        </p:nvSpPr>
        <p:spPr>
          <a:xfrm>
            <a:off x="939454" y="1381373"/>
            <a:ext cx="4762500" cy="8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None/>
              <a:defRPr sz="1900">
                <a:solidFill>
                  <a:srgbClr val="FFFFFF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16"/>
          <p:cNvSpPr/>
          <p:nvPr/>
        </p:nvSpPr>
        <p:spPr>
          <a:xfrm rot="10800000">
            <a:off x="6225201" y="1223196"/>
            <a:ext cx="5285605" cy="1401936"/>
          </a:xfrm>
          <a:custGeom>
            <a:avLst/>
            <a:gdLst/>
            <a:ahLst/>
            <a:cxnLst/>
            <a:rect l="l" t="t" r="r" b="b"/>
            <a:pathLst>
              <a:path w="3966683" h="3098200" extrusionOk="0">
                <a:moveTo>
                  <a:pt x="3966683" y="3098200"/>
                </a:moveTo>
                <a:lnTo>
                  <a:pt x="0" y="3098200"/>
                </a:lnTo>
                <a:lnTo>
                  <a:pt x="0" y="440687"/>
                </a:lnTo>
                <a:lnTo>
                  <a:pt x="568196" y="440687"/>
                </a:lnTo>
                <a:lnTo>
                  <a:pt x="809515" y="0"/>
                </a:lnTo>
                <a:lnTo>
                  <a:pt x="1050834" y="440687"/>
                </a:lnTo>
                <a:lnTo>
                  <a:pt x="3966683" y="440687"/>
                </a:lnTo>
                <a:lnTo>
                  <a:pt x="3966683" y="30982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4860000" sx="101000" sy="101000" algn="tl" rotWithShape="0">
              <a:srgbClr val="73737B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6"/>
          <p:cNvSpPr txBox="1">
            <a:spLocks noGrp="1"/>
          </p:cNvSpPr>
          <p:nvPr>
            <p:ph type="body" idx="2"/>
          </p:nvPr>
        </p:nvSpPr>
        <p:spPr>
          <a:xfrm>
            <a:off x="6516165" y="1381373"/>
            <a:ext cx="4762500" cy="8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None/>
              <a:defRPr sz="1900">
                <a:solidFill>
                  <a:srgbClr val="FFFFFF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666750" y="2864026"/>
            <a:ext cx="5288700" cy="12048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4860000" sx="101000" sy="101000" algn="tl" rotWithShape="0">
              <a:srgbClr val="73737B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6"/>
          <p:cNvSpPr txBox="1">
            <a:spLocks noGrp="1"/>
          </p:cNvSpPr>
          <p:nvPr>
            <p:ph type="body" idx="3"/>
          </p:nvPr>
        </p:nvSpPr>
        <p:spPr>
          <a:xfrm>
            <a:off x="939454" y="3024642"/>
            <a:ext cx="4762500" cy="8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None/>
              <a:defRPr sz="1900">
                <a:solidFill>
                  <a:srgbClr val="FFFFFF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16"/>
          <p:cNvSpPr/>
          <p:nvPr/>
        </p:nvSpPr>
        <p:spPr>
          <a:xfrm rot="10800000">
            <a:off x="6225201" y="2866466"/>
            <a:ext cx="5285605" cy="1401936"/>
          </a:xfrm>
          <a:custGeom>
            <a:avLst/>
            <a:gdLst/>
            <a:ahLst/>
            <a:cxnLst/>
            <a:rect l="l" t="t" r="r" b="b"/>
            <a:pathLst>
              <a:path w="3966683" h="3098200" extrusionOk="0">
                <a:moveTo>
                  <a:pt x="3966683" y="3098200"/>
                </a:moveTo>
                <a:lnTo>
                  <a:pt x="0" y="3098200"/>
                </a:lnTo>
                <a:lnTo>
                  <a:pt x="0" y="440687"/>
                </a:lnTo>
                <a:lnTo>
                  <a:pt x="568196" y="440687"/>
                </a:lnTo>
                <a:lnTo>
                  <a:pt x="809515" y="0"/>
                </a:lnTo>
                <a:lnTo>
                  <a:pt x="1050834" y="440687"/>
                </a:lnTo>
                <a:lnTo>
                  <a:pt x="3966683" y="440687"/>
                </a:lnTo>
                <a:lnTo>
                  <a:pt x="3966683" y="3098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4860000" sx="101000" sy="101000" algn="tl" rotWithShape="0">
              <a:srgbClr val="73737B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6"/>
          <p:cNvSpPr txBox="1">
            <a:spLocks noGrp="1"/>
          </p:cNvSpPr>
          <p:nvPr>
            <p:ph type="body" idx="4"/>
          </p:nvPr>
        </p:nvSpPr>
        <p:spPr>
          <a:xfrm>
            <a:off x="6516165" y="3024642"/>
            <a:ext cx="4762500" cy="8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None/>
              <a:defRPr sz="1900">
                <a:solidFill>
                  <a:srgbClr val="FFFFFF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666750" y="4507296"/>
            <a:ext cx="5288700" cy="12048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4860000" sx="101000" sy="101000" algn="tl" rotWithShape="0">
              <a:srgbClr val="73737B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6"/>
          <p:cNvSpPr txBox="1">
            <a:spLocks noGrp="1"/>
          </p:cNvSpPr>
          <p:nvPr>
            <p:ph type="body" idx="5"/>
          </p:nvPr>
        </p:nvSpPr>
        <p:spPr>
          <a:xfrm>
            <a:off x="939454" y="4667912"/>
            <a:ext cx="4762500" cy="8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None/>
              <a:defRPr sz="1900">
                <a:solidFill>
                  <a:srgbClr val="FFFFFF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16"/>
          <p:cNvSpPr/>
          <p:nvPr/>
        </p:nvSpPr>
        <p:spPr>
          <a:xfrm rot="10800000">
            <a:off x="6225201" y="4509735"/>
            <a:ext cx="5285605" cy="1401936"/>
          </a:xfrm>
          <a:custGeom>
            <a:avLst/>
            <a:gdLst/>
            <a:ahLst/>
            <a:cxnLst/>
            <a:rect l="l" t="t" r="r" b="b"/>
            <a:pathLst>
              <a:path w="3966683" h="3098200" extrusionOk="0">
                <a:moveTo>
                  <a:pt x="3966683" y="3098200"/>
                </a:moveTo>
                <a:lnTo>
                  <a:pt x="0" y="3098200"/>
                </a:lnTo>
                <a:lnTo>
                  <a:pt x="0" y="440687"/>
                </a:lnTo>
                <a:lnTo>
                  <a:pt x="568196" y="440687"/>
                </a:lnTo>
                <a:lnTo>
                  <a:pt x="809515" y="0"/>
                </a:lnTo>
                <a:lnTo>
                  <a:pt x="1050834" y="440687"/>
                </a:lnTo>
                <a:lnTo>
                  <a:pt x="3966683" y="440687"/>
                </a:lnTo>
                <a:lnTo>
                  <a:pt x="3966683" y="30982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0800" dist="38100" dir="4860000" sx="101000" sy="101000" algn="tl" rotWithShape="0">
              <a:srgbClr val="73737B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6"/>
          <p:cNvSpPr txBox="1">
            <a:spLocks noGrp="1"/>
          </p:cNvSpPr>
          <p:nvPr>
            <p:ph type="body" idx="6"/>
          </p:nvPr>
        </p:nvSpPr>
        <p:spPr>
          <a:xfrm>
            <a:off x="6516165" y="4667912"/>
            <a:ext cx="4762500" cy="8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None/>
              <a:defRPr sz="1900">
                <a:solidFill>
                  <a:srgbClr val="FFFFFF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16"/>
          <p:cNvSpPr txBox="1">
            <a:spLocks noGrp="1"/>
          </p:cNvSpPr>
          <p:nvPr>
            <p:ph type="body" idx="7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and Image">
  <p:cSld name="Text and Image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 txBox="1">
            <a:spLocks noGrp="1"/>
          </p:cNvSpPr>
          <p:nvPr>
            <p:ph type="body" idx="1"/>
          </p:nvPr>
        </p:nvSpPr>
        <p:spPr>
          <a:xfrm>
            <a:off x="666751" y="1784352"/>
            <a:ext cx="5247300" cy="43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•"/>
              <a:defRPr sz="2100"/>
            </a:lvl1pPr>
            <a:lvl2pPr marL="914400" lvl="1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-"/>
              <a:defRPr sz="2100"/>
            </a:lvl2pPr>
            <a:lvl3pPr marL="1371600" lvl="2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-"/>
              <a:defRPr sz="2100"/>
            </a:lvl3pPr>
            <a:lvl4pPr marL="1828800" lvl="3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-"/>
              <a:defRPr sz="21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-"/>
              <a:defRPr sz="1600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18"/>
          <p:cNvSpPr txBox="1">
            <a:spLocks noGrp="1"/>
          </p:cNvSpPr>
          <p:nvPr>
            <p:ph type="body" idx="2"/>
          </p:nvPr>
        </p:nvSpPr>
        <p:spPr>
          <a:xfrm>
            <a:off x="666750" y="1220755"/>
            <a:ext cx="108501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chemeClr val="accent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18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p18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8"/>
          <p:cNvSpPr>
            <a:spLocks noGrp="1"/>
          </p:cNvSpPr>
          <p:nvPr>
            <p:ph type="pic" idx="3"/>
          </p:nvPr>
        </p:nvSpPr>
        <p:spPr>
          <a:xfrm>
            <a:off x="6278038" y="1221319"/>
            <a:ext cx="5238900" cy="4459500"/>
          </a:xfrm>
          <a:prstGeom prst="rect">
            <a:avLst/>
          </a:prstGeom>
          <a:noFill/>
          <a:ln>
            <a:noFill/>
          </a:ln>
        </p:spPr>
      </p:sp>
      <p:sp>
        <p:nvSpPr>
          <p:cNvPr id="149" name="Google Shape;149;p18"/>
          <p:cNvSpPr txBox="1">
            <a:spLocks noGrp="1"/>
          </p:cNvSpPr>
          <p:nvPr>
            <p:ph type="body" idx="4"/>
          </p:nvPr>
        </p:nvSpPr>
        <p:spPr>
          <a:xfrm>
            <a:off x="6278039" y="5681002"/>
            <a:ext cx="5238900" cy="4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None/>
              <a:defRPr sz="1900">
                <a:solidFill>
                  <a:srgbClr val="7F7F7F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18"/>
          <p:cNvSpPr txBox="1">
            <a:spLocks noGrp="1"/>
          </p:cNvSpPr>
          <p:nvPr>
            <p:ph type="body" idx="5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Person Profile">
  <p:cSld name="1 Person Profile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2" name="Google Shape;152;p19"/>
          <p:cNvCxnSpPr/>
          <p:nvPr/>
        </p:nvCxnSpPr>
        <p:spPr>
          <a:xfrm>
            <a:off x="3599723" y="2205113"/>
            <a:ext cx="672000" cy="0"/>
          </a:xfrm>
          <a:prstGeom prst="straightConnector1">
            <a:avLst/>
          </a:prstGeom>
          <a:noFill/>
          <a:ln w="12700" cap="rnd" cmpd="sng">
            <a:solidFill>
              <a:srgbClr val="545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3" name="Google Shape;153;p19"/>
          <p:cNvSpPr txBox="1">
            <a:spLocks noGrp="1"/>
          </p:cNvSpPr>
          <p:nvPr>
            <p:ph type="body" idx="1"/>
          </p:nvPr>
        </p:nvSpPr>
        <p:spPr>
          <a:xfrm>
            <a:off x="3599723" y="1519121"/>
            <a:ext cx="79173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Font typeface="Arial"/>
              <a:buNone/>
              <a:defRPr sz="2100" b="1" i="0">
                <a:solidFill>
                  <a:schemeClr val="accen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19"/>
          <p:cNvSpPr txBox="1">
            <a:spLocks noGrp="1"/>
          </p:cNvSpPr>
          <p:nvPr>
            <p:ph type="body" idx="2"/>
          </p:nvPr>
        </p:nvSpPr>
        <p:spPr>
          <a:xfrm>
            <a:off x="3599723" y="1884443"/>
            <a:ext cx="79173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19"/>
          <p:cNvSpPr txBox="1">
            <a:spLocks noGrp="1"/>
          </p:cNvSpPr>
          <p:nvPr>
            <p:ph type="body" idx="3"/>
          </p:nvPr>
        </p:nvSpPr>
        <p:spPr>
          <a:xfrm>
            <a:off x="3599723" y="2244995"/>
            <a:ext cx="7917300" cy="29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19"/>
          <p:cNvSpPr>
            <a:spLocks noGrp="1"/>
          </p:cNvSpPr>
          <p:nvPr>
            <p:ph type="pic" idx="4"/>
          </p:nvPr>
        </p:nvSpPr>
        <p:spPr>
          <a:xfrm>
            <a:off x="666751" y="1516893"/>
            <a:ext cx="2356800" cy="2356800"/>
          </a:xfrm>
          <a:prstGeom prst="rect">
            <a:avLst/>
          </a:prstGeom>
          <a:noFill/>
          <a:ln>
            <a:noFill/>
          </a:ln>
        </p:spPr>
      </p:sp>
      <p:sp>
        <p:nvSpPr>
          <p:cNvPr id="157" name="Google Shape;157;p19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" name="Google Shape;158;p19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9"/>
          <p:cNvSpPr txBox="1">
            <a:spLocks noGrp="1"/>
          </p:cNvSpPr>
          <p:nvPr>
            <p:ph type="body" idx="5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erson Profile">
  <p:cSld name="3 Person Profile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1" name="Google Shape;161;p20"/>
          <p:cNvCxnSpPr/>
          <p:nvPr/>
        </p:nvCxnSpPr>
        <p:spPr>
          <a:xfrm>
            <a:off x="666751" y="3576024"/>
            <a:ext cx="672000" cy="0"/>
          </a:xfrm>
          <a:prstGeom prst="straightConnector1">
            <a:avLst/>
          </a:prstGeom>
          <a:noFill/>
          <a:ln w="12700" cap="rnd" cmpd="sng">
            <a:solidFill>
              <a:srgbClr val="545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2" name="Google Shape;162;p20"/>
          <p:cNvSpPr txBox="1">
            <a:spLocks noGrp="1"/>
          </p:cNvSpPr>
          <p:nvPr>
            <p:ph type="body" idx="1"/>
          </p:nvPr>
        </p:nvSpPr>
        <p:spPr>
          <a:xfrm>
            <a:off x="666750" y="2890031"/>
            <a:ext cx="33540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Font typeface="Arial"/>
              <a:buNone/>
              <a:defRPr sz="2100" b="1" i="0">
                <a:solidFill>
                  <a:schemeClr val="accen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20"/>
          <p:cNvSpPr txBox="1">
            <a:spLocks noGrp="1"/>
          </p:cNvSpPr>
          <p:nvPr>
            <p:ph type="body" idx="2"/>
          </p:nvPr>
        </p:nvSpPr>
        <p:spPr>
          <a:xfrm>
            <a:off x="666750" y="3255354"/>
            <a:ext cx="33540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p20"/>
          <p:cNvSpPr txBox="1">
            <a:spLocks noGrp="1"/>
          </p:cNvSpPr>
          <p:nvPr>
            <p:ph type="body" idx="3"/>
          </p:nvPr>
        </p:nvSpPr>
        <p:spPr>
          <a:xfrm>
            <a:off x="666750" y="3615907"/>
            <a:ext cx="33540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20"/>
          <p:cNvSpPr>
            <a:spLocks noGrp="1"/>
          </p:cNvSpPr>
          <p:nvPr>
            <p:ph type="pic" idx="4"/>
          </p:nvPr>
        </p:nvSpPr>
        <p:spPr>
          <a:xfrm>
            <a:off x="666751" y="1350324"/>
            <a:ext cx="1513200" cy="15132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66" name="Google Shape;166;p20"/>
          <p:cNvCxnSpPr/>
          <p:nvPr/>
        </p:nvCxnSpPr>
        <p:spPr>
          <a:xfrm>
            <a:off x="4407800" y="3576024"/>
            <a:ext cx="672000" cy="0"/>
          </a:xfrm>
          <a:prstGeom prst="straightConnector1">
            <a:avLst/>
          </a:prstGeom>
          <a:noFill/>
          <a:ln w="12700" cap="rnd" cmpd="sng">
            <a:solidFill>
              <a:srgbClr val="545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7" name="Google Shape;167;p20"/>
          <p:cNvSpPr txBox="1">
            <a:spLocks noGrp="1"/>
          </p:cNvSpPr>
          <p:nvPr>
            <p:ph type="body" idx="5"/>
          </p:nvPr>
        </p:nvSpPr>
        <p:spPr>
          <a:xfrm>
            <a:off x="4407800" y="2890031"/>
            <a:ext cx="33540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Font typeface="Arial"/>
              <a:buNone/>
              <a:defRPr sz="2100" b="1" i="0">
                <a:solidFill>
                  <a:schemeClr val="accen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68" name="Google Shape;168;p20"/>
          <p:cNvSpPr txBox="1">
            <a:spLocks noGrp="1"/>
          </p:cNvSpPr>
          <p:nvPr>
            <p:ph type="body" idx="6"/>
          </p:nvPr>
        </p:nvSpPr>
        <p:spPr>
          <a:xfrm>
            <a:off x="4407800" y="3255354"/>
            <a:ext cx="33540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20"/>
          <p:cNvSpPr txBox="1">
            <a:spLocks noGrp="1"/>
          </p:cNvSpPr>
          <p:nvPr>
            <p:ph type="body" idx="7"/>
          </p:nvPr>
        </p:nvSpPr>
        <p:spPr>
          <a:xfrm>
            <a:off x="4407800" y="3615907"/>
            <a:ext cx="33540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20"/>
          <p:cNvSpPr>
            <a:spLocks noGrp="1"/>
          </p:cNvSpPr>
          <p:nvPr>
            <p:ph type="pic" idx="8"/>
          </p:nvPr>
        </p:nvSpPr>
        <p:spPr>
          <a:xfrm>
            <a:off x="4407800" y="1350324"/>
            <a:ext cx="1513200" cy="15132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71" name="Google Shape;171;p20"/>
          <p:cNvCxnSpPr/>
          <p:nvPr/>
        </p:nvCxnSpPr>
        <p:spPr>
          <a:xfrm>
            <a:off x="8148852" y="3576024"/>
            <a:ext cx="672000" cy="0"/>
          </a:xfrm>
          <a:prstGeom prst="straightConnector1">
            <a:avLst/>
          </a:prstGeom>
          <a:noFill/>
          <a:ln w="12700" cap="rnd" cmpd="sng">
            <a:solidFill>
              <a:srgbClr val="545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2" name="Google Shape;172;p20"/>
          <p:cNvSpPr txBox="1">
            <a:spLocks noGrp="1"/>
          </p:cNvSpPr>
          <p:nvPr>
            <p:ph type="body" idx="9"/>
          </p:nvPr>
        </p:nvSpPr>
        <p:spPr>
          <a:xfrm>
            <a:off x="8148852" y="2890031"/>
            <a:ext cx="33540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Font typeface="Arial"/>
              <a:buNone/>
              <a:defRPr sz="2100" b="1" i="0">
                <a:solidFill>
                  <a:schemeClr val="accen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20"/>
          <p:cNvSpPr txBox="1">
            <a:spLocks noGrp="1"/>
          </p:cNvSpPr>
          <p:nvPr>
            <p:ph type="body" idx="13"/>
          </p:nvPr>
        </p:nvSpPr>
        <p:spPr>
          <a:xfrm>
            <a:off x="8148852" y="3255354"/>
            <a:ext cx="33540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20"/>
          <p:cNvSpPr txBox="1">
            <a:spLocks noGrp="1"/>
          </p:cNvSpPr>
          <p:nvPr>
            <p:ph type="body" idx="14"/>
          </p:nvPr>
        </p:nvSpPr>
        <p:spPr>
          <a:xfrm>
            <a:off x="8148852" y="3615907"/>
            <a:ext cx="33540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20"/>
          <p:cNvSpPr>
            <a:spLocks noGrp="1"/>
          </p:cNvSpPr>
          <p:nvPr>
            <p:ph type="pic" idx="15"/>
          </p:nvPr>
        </p:nvSpPr>
        <p:spPr>
          <a:xfrm>
            <a:off x="8148852" y="1350324"/>
            <a:ext cx="1513200" cy="15132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20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7" name="Google Shape;177;p20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0"/>
          <p:cNvSpPr txBox="1">
            <a:spLocks noGrp="1"/>
          </p:cNvSpPr>
          <p:nvPr>
            <p:ph type="body" idx="16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Person Profile">
  <p:cSld name="4 Person Profile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p21"/>
          <p:cNvCxnSpPr/>
          <p:nvPr/>
        </p:nvCxnSpPr>
        <p:spPr>
          <a:xfrm>
            <a:off x="666751" y="3576024"/>
            <a:ext cx="504300" cy="0"/>
          </a:xfrm>
          <a:prstGeom prst="straightConnector1">
            <a:avLst/>
          </a:prstGeom>
          <a:noFill/>
          <a:ln w="12700" cap="rnd" cmpd="sng">
            <a:solidFill>
              <a:srgbClr val="545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1" name="Google Shape;181;p21"/>
          <p:cNvSpPr txBox="1">
            <a:spLocks noGrp="1"/>
          </p:cNvSpPr>
          <p:nvPr>
            <p:ph type="body" idx="1"/>
          </p:nvPr>
        </p:nvSpPr>
        <p:spPr>
          <a:xfrm>
            <a:off x="666749" y="2890031"/>
            <a:ext cx="25176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Font typeface="Arial"/>
              <a:buNone/>
              <a:defRPr sz="2100" b="1" i="0">
                <a:solidFill>
                  <a:schemeClr val="accen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82" name="Google Shape;182;p21"/>
          <p:cNvSpPr txBox="1">
            <a:spLocks noGrp="1"/>
          </p:cNvSpPr>
          <p:nvPr>
            <p:ph type="body" idx="2"/>
          </p:nvPr>
        </p:nvSpPr>
        <p:spPr>
          <a:xfrm>
            <a:off x="666749" y="3255354"/>
            <a:ext cx="25176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83" name="Google Shape;183;p21"/>
          <p:cNvSpPr txBox="1">
            <a:spLocks noGrp="1"/>
          </p:cNvSpPr>
          <p:nvPr>
            <p:ph type="body" idx="3"/>
          </p:nvPr>
        </p:nvSpPr>
        <p:spPr>
          <a:xfrm>
            <a:off x="666749" y="3615907"/>
            <a:ext cx="25176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p21"/>
          <p:cNvSpPr>
            <a:spLocks noGrp="1"/>
          </p:cNvSpPr>
          <p:nvPr>
            <p:ph type="pic" idx="4"/>
          </p:nvPr>
        </p:nvSpPr>
        <p:spPr>
          <a:xfrm>
            <a:off x="666751" y="1350324"/>
            <a:ext cx="1513200" cy="1513200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21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6" name="Google Shape;186;p21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cxnSp>
        <p:nvCxnSpPr>
          <p:cNvPr id="187" name="Google Shape;187;p21"/>
          <p:cNvCxnSpPr/>
          <p:nvPr/>
        </p:nvCxnSpPr>
        <p:spPr>
          <a:xfrm>
            <a:off x="3449396" y="3576024"/>
            <a:ext cx="504300" cy="0"/>
          </a:xfrm>
          <a:prstGeom prst="straightConnector1">
            <a:avLst/>
          </a:prstGeom>
          <a:noFill/>
          <a:ln w="12700" cap="rnd" cmpd="sng">
            <a:solidFill>
              <a:srgbClr val="545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8" name="Google Shape;188;p21"/>
          <p:cNvSpPr txBox="1">
            <a:spLocks noGrp="1"/>
          </p:cNvSpPr>
          <p:nvPr>
            <p:ph type="body" idx="5"/>
          </p:nvPr>
        </p:nvSpPr>
        <p:spPr>
          <a:xfrm>
            <a:off x="3449395" y="2890031"/>
            <a:ext cx="25176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Font typeface="Arial"/>
              <a:buNone/>
              <a:defRPr sz="2100" b="1" i="0">
                <a:solidFill>
                  <a:schemeClr val="accen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21"/>
          <p:cNvSpPr txBox="1">
            <a:spLocks noGrp="1"/>
          </p:cNvSpPr>
          <p:nvPr>
            <p:ph type="body" idx="6"/>
          </p:nvPr>
        </p:nvSpPr>
        <p:spPr>
          <a:xfrm>
            <a:off x="3449395" y="3255354"/>
            <a:ext cx="25176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90" name="Google Shape;190;p21"/>
          <p:cNvSpPr txBox="1">
            <a:spLocks noGrp="1"/>
          </p:cNvSpPr>
          <p:nvPr>
            <p:ph type="body" idx="7"/>
          </p:nvPr>
        </p:nvSpPr>
        <p:spPr>
          <a:xfrm>
            <a:off x="3449395" y="3615907"/>
            <a:ext cx="25176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cxnSp>
        <p:nvCxnSpPr>
          <p:cNvPr id="191" name="Google Shape;191;p21"/>
          <p:cNvCxnSpPr/>
          <p:nvPr/>
        </p:nvCxnSpPr>
        <p:spPr>
          <a:xfrm>
            <a:off x="6232042" y="3576024"/>
            <a:ext cx="504300" cy="0"/>
          </a:xfrm>
          <a:prstGeom prst="straightConnector1">
            <a:avLst/>
          </a:prstGeom>
          <a:noFill/>
          <a:ln w="12700" cap="rnd" cmpd="sng">
            <a:solidFill>
              <a:srgbClr val="545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21"/>
          <p:cNvSpPr txBox="1">
            <a:spLocks noGrp="1"/>
          </p:cNvSpPr>
          <p:nvPr>
            <p:ph type="body" idx="8"/>
          </p:nvPr>
        </p:nvSpPr>
        <p:spPr>
          <a:xfrm>
            <a:off x="6232040" y="2890031"/>
            <a:ext cx="25176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Font typeface="Arial"/>
              <a:buNone/>
              <a:defRPr sz="2100" b="1" i="0">
                <a:solidFill>
                  <a:schemeClr val="accen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93" name="Google Shape;193;p21"/>
          <p:cNvSpPr txBox="1">
            <a:spLocks noGrp="1"/>
          </p:cNvSpPr>
          <p:nvPr>
            <p:ph type="body" idx="9"/>
          </p:nvPr>
        </p:nvSpPr>
        <p:spPr>
          <a:xfrm>
            <a:off x="6232040" y="3255354"/>
            <a:ext cx="25176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94" name="Google Shape;194;p21"/>
          <p:cNvSpPr txBox="1">
            <a:spLocks noGrp="1"/>
          </p:cNvSpPr>
          <p:nvPr>
            <p:ph type="body" idx="13"/>
          </p:nvPr>
        </p:nvSpPr>
        <p:spPr>
          <a:xfrm>
            <a:off x="6232040" y="3615907"/>
            <a:ext cx="25176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cxnSp>
        <p:nvCxnSpPr>
          <p:cNvPr id="195" name="Google Shape;195;p21"/>
          <p:cNvCxnSpPr/>
          <p:nvPr/>
        </p:nvCxnSpPr>
        <p:spPr>
          <a:xfrm>
            <a:off x="9014686" y="3576024"/>
            <a:ext cx="504300" cy="0"/>
          </a:xfrm>
          <a:prstGeom prst="straightConnector1">
            <a:avLst/>
          </a:prstGeom>
          <a:noFill/>
          <a:ln w="12700" cap="rnd" cmpd="sng">
            <a:solidFill>
              <a:srgbClr val="545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6" name="Google Shape;196;p21"/>
          <p:cNvSpPr txBox="1">
            <a:spLocks noGrp="1"/>
          </p:cNvSpPr>
          <p:nvPr>
            <p:ph type="body" idx="14"/>
          </p:nvPr>
        </p:nvSpPr>
        <p:spPr>
          <a:xfrm>
            <a:off x="9014684" y="2890031"/>
            <a:ext cx="25176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Font typeface="Arial"/>
              <a:buNone/>
              <a:defRPr sz="2100" b="1" i="0">
                <a:solidFill>
                  <a:schemeClr val="accen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97" name="Google Shape;197;p21"/>
          <p:cNvSpPr txBox="1">
            <a:spLocks noGrp="1"/>
          </p:cNvSpPr>
          <p:nvPr>
            <p:ph type="body" idx="15"/>
          </p:nvPr>
        </p:nvSpPr>
        <p:spPr>
          <a:xfrm>
            <a:off x="9014684" y="3255354"/>
            <a:ext cx="25176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21"/>
          <p:cNvSpPr txBox="1">
            <a:spLocks noGrp="1"/>
          </p:cNvSpPr>
          <p:nvPr>
            <p:ph type="body" idx="16"/>
          </p:nvPr>
        </p:nvSpPr>
        <p:spPr>
          <a:xfrm>
            <a:off x="9014684" y="3615907"/>
            <a:ext cx="25176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99" name="Google Shape;199;p21"/>
          <p:cNvSpPr>
            <a:spLocks noGrp="1"/>
          </p:cNvSpPr>
          <p:nvPr>
            <p:ph type="pic" idx="17"/>
          </p:nvPr>
        </p:nvSpPr>
        <p:spPr>
          <a:xfrm>
            <a:off x="3449395" y="1350324"/>
            <a:ext cx="1513200" cy="15132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21"/>
          <p:cNvSpPr>
            <a:spLocks noGrp="1"/>
          </p:cNvSpPr>
          <p:nvPr>
            <p:ph type="pic" idx="18"/>
          </p:nvPr>
        </p:nvSpPr>
        <p:spPr>
          <a:xfrm>
            <a:off x="6232040" y="1350324"/>
            <a:ext cx="1513200" cy="1513200"/>
          </a:xfrm>
          <a:prstGeom prst="rect">
            <a:avLst/>
          </a:prstGeom>
          <a:noFill/>
          <a:ln>
            <a:noFill/>
          </a:ln>
        </p:spPr>
      </p:sp>
      <p:sp>
        <p:nvSpPr>
          <p:cNvPr id="201" name="Google Shape;201;p21"/>
          <p:cNvSpPr>
            <a:spLocks noGrp="1"/>
          </p:cNvSpPr>
          <p:nvPr>
            <p:ph type="pic" idx="19"/>
          </p:nvPr>
        </p:nvSpPr>
        <p:spPr>
          <a:xfrm>
            <a:off x="9014684" y="1350324"/>
            <a:ext cx="1513200" cy="1513200"/>
          </a:xfrm>
          <a:prstGeom prst="rect">
            <a:avLst/>
          </a:prstGeom>
          <a:noFill/>
          <a:ln>
            <a:noFill/>
          </a:ln>
        </p:spPr>
      </p:sp>
      <p:sp>
        <p:nvSpPr>
          <p:cNvPr id="202" name="Google Shape;202;p21"/>
          <p:cNvSpPr txBox="1">
            <a:spLocks noGrp="1"/>
          </p:cNvSpPr>
          <p:nvPr>
            <p:ph type="body" idx="20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act Us">
  <p:cSld name="Contact Us">
    <p:bg>
      <p:bgPr>
        <a:solidFill>
          <a:srgbClr val="CFE2F3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2"/>
          <p:cNvPicPr preferRelativeResize="0"/>
          <p:nvPr/>
        </p:nvPicPr>
        <p:blipFill rotWithShape="1">
          <a:blip r:embed="rId2">
            <a:alphaModFix/>
          </a:blip>
          <a:srcRect b="53518"/>
          <a:stretch/>
        </p:blipFill>
        <p:spPr>
          <a:xfrm>
            <a:off x="666751" y="2386152"/>
            <a:ext cx="3358301" cy="903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22"/>
          <p:cNvGrpSpPr/>
          <p:nvPr/>
        </p:nvGrpSpPr>
        <p:grpSpPr>
          <a:xfrm>
            <a:off x="4233" y="6761503"/>
            <a:ext cx="12191695" cy="104397"/>
            <a:chOff x="0" y="5071254"/>
            <a:chExt cx="9144000" cy="78300"/>
          </a:xfrm>
        </p:grpSpPr>
        <p:sp>
          <p:nvSpPr>
            <p:cNvPr id="206" name="Google Shape;206;p22"/>
            <p:cNvSpPr/>
            <p:nvPr/>
          </p:nvSpPr>
          <p:spPr>
            <a:xfrm>
              <a:off x="0" y="5071254"/>
              <a:ext cx="2016000" cy="78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EFEFF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2"/>
            <p:cNvSpPr/>
            <p:nvPr/>
          </p:nvSpPr>
          <p:spPr>
            <a:xfrm>
              <a:off x="2016000" y="5071254"/>
              <a:ext cx="7128000" cy="78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EFEFF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8" name="Google Shape;208;p22"/>
          <p:cNvSpPr txBox="1">
            <a:spLocks noGrp="1"/>
          </p:cNvSpPr>
          <p:nvPr>
            <p:ph type="body" idx="1"/>
          </p:nvPr>
        </p:nvSpPr>
        <p:spPr>
          <a:xfrm>
            <a:off x="666750" y="3547454"/>
            <a:ext cx="10850100" cy="8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4700"/>
              <a:buNone/>
              <a:defRPr sz="3700">
                <a:solidFill>
                  <a:schemeClr val="accent3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209" name="Google Shape;209;p22"/>
          <p:cNvSpPr txBox="1">
            <a:spLocks noGrp="1"/>
          </p:cNvSpPr>
          <p:nvPr>
            <p:ph type="body" idx="2"/>
          </p:nvPr>
        </p:nvSpPr>
        <p:spPr>
          <a:xfrm>
            <a:off x="666754" y="4408274"/>
            <a:ext cx="108501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None/>
              <a:defRPr sz="2400">
                <a:solidFill>
                  <a:schemeClr val="accent3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_2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4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24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1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18" name="Google Shape;218;p24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2pPr>
            <a:lvl3pPr marL="1371600" lvl="2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3pPr>
            <a:lvl4pPr marL="1828800" lvl="3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19" name="Google Shape;219;p24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_3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5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1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23" name="Google Shape;223;p25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2pPr>
            <a:lvl3pPr marL="1371600" lvl="2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3pPr>
            <a:lvl4pPr marL="1828800" lvl="3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24" name="Google Shape;224;p25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_4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26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1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28" name="Google Shape;228;p26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2pPr>
            <a:lvl3pPr marL="1371600" lvl="2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3pPr>
            <a:lvl4pPr marL="1828800" lvl="3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26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 and Text_5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7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27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1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33" name="Google Shape;233;p27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2pPr>
            <a:lvl3pPr marL="1371600" lvl="2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3pPr>
            <a:lvl4pPr marL="1828800" lvl="3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34" name="Google Shape;234;p27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 and Text_6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8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28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1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38" name="Google Shape;238;p28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2pPr>
            <a:lvl3pPr marL="1371600" lvl="2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3pPr>
            <a:lvl4pPr marL="1828800" lvl="3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39" name="Google Shape;239;p28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Title and Text_7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29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1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43" name="Google Shape;243;p29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2pPr>
            <a:lvl3pPr marL="1371600" lvl="2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3pPr>
            <a:lvl4pPr marL="1828800" lvl="3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44" name="Google Shape;244;p29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Title and Text_8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0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30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1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48" name="Google Shape;248;p30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2pPr>
            <a:lvl3pPr marL="1371600" lvl="2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3pPr>
            <a:lvl4pPr marL="1828800" lvl="3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49" name="Google Shape;249;p30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9">
  <p:cSld name="Title and Text_9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2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32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1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4pPr>
            <a:lvl5pPr marL="2286000" lvl="4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57" name="Google Shape;257;p32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2pPr>
            <a:lvl3pPr marL="1371600" lvl="2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3pPr>
            <a:lvl4pPr marL="1828800" lvl="3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4pPr>
            <a:lvl5pPr marL="2286000" lvl="4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58" name="Google Shape;258;p32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 type="obj">
  <p:cSld name="OBJECT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3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75" tIns="30475" rIns="60975" bIns="304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33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5486400" cy="30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75" tIns="30475" rIns="60975" bIns="30475" anchor="t" anchorCtr="0">
            <a:normAutofit/>
          </a:bodyPr>
          <a:lstStyle>
            <a:lvl1pPr marL="457200" lvl="0" indent="-30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marL="914400" lvl="1" indent="-30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  <a:defRPr/>
            </a:lvl2pPr>
            <a:lvl3pPr marL="1371600" lvl="2" indent="-30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  <a:defRPr/>
            </a:lvl3pPr>
            <a:lvl4pPr marL="1828800" lvl="3" indent="-30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  <a:defRPr/>
            </a:lvl4pPr>
            <a:lvl5pPr marL="2286000" lvl="4" indent="-30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  <a:defRPr/>
            </a:lvl5pPr>
            <a:lvl6pPr marL="2743200" lvl="5" indent="-30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marL="3200400" lvl="6" indent="-30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marL="3657600" lvl="7" indent="-30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marL="4114800" lvl="8" indent="-30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>
            <a:endParaRPr/>
          </a:p>
        </p:txBody>
      </p:sp>
      <p:sp>
        <p:nvSpPr>
          <p:cNvPr id="262" name="Google Shape;262;p33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75" tIns="30475" rIns="60975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263" name="Google Shape;263;p33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75" tIns="30475" rIns="60975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264" name="Google Shape;264;p33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75" tIns="30475" rIns="60975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 1">
  <p:cSld name="Title and Text_1_3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4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7" name="Google Shape;267;p34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34"/>
          <p:cNvSpPr txBox="1">
            <a:spLocks noGrp="1"/>
          </p:cNvSpPr>
          <p:nvPr>
            <p:ph type="body" idx="1"/>
          </p:nvPr>
        </p:nvSpPr>
        <p:spPr>
          <a:xfrm>
            <a:off x="2244695" y="6308723"/>
            <a:ext cx="85125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269" name="Google Shape;269;p34"/>
          <p:cNvSpPr txBox="1">
            <a:spLocks noGrp="1"/>
          </p:cNvSpPr>
          <p:nvPr>
            <p:ph type="body" idx="2"/>
          </p:nvPr>
        </p:nvSpPr>
        <p:spPr>
          <a:xfrm>
            <a:off x="666751" y="1762064"/>
            <a:ext cx="10850100" cy="43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270" name="Google Shape;270;p34"/>
          <p:cNvSpPr txBox="1">
            <a:spLocks noGrp="1"/>
          </p:cNvSpPr>
          <p:nvPr>
            <p:ph type="body" idx="3"/>
          </p:nvPr>
        </p:nvSpPr>
        <p:spPr>
          <a:xfrm>
            <a:off x="666750" y="1220755"/>
            <a:ext cx="108501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chemeClr val="accent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 Text 1">
  <p:cSld name="2 Column Text_1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5"/>
          <p:cNvSpPr txBox="1">
            <a:spLocks noGrp="1"/>
          </p:cNvSpPr>
          <p:nvPr>
            <p:ph type="body" idx="1"/>
          </p:nvPr>
        </p:nvSpPr>
        <p:spPr>
          <a:xfrm>
            <a:off x="666751" y="1784351"/>
            <a:ext cx="5247300" cy="38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•"/>
              <a:defRPr sz="2100"/>
            </a:lvl1pPr>
            <a:lvl2pPr marL="914400" lvl="1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-"/>
              <a:defRPr sz="2100"/>
            </a:lvl2pPr>
            <a:lvl3pPr marL="1371600" lvl="2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-"/>
              <a:defRPr sz="2100"/>
            </a:lvl3pPr>
            <a:lvl4pPr marL="1828800" lvl="3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-"/>
              <a:defRPr sz="2100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 sz="1900"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73" name="Google Shape;273;p35"/>
          <p:cNvSpPr txBox="1">
            <a:spLocks noGrp="1"/>
          </p:cNvSpPr>
          <p:nvPr>
            <p:ph type="body" idx="2"/>
          </p:nvPr>
        </p:nvSpPr>
        <p:spPr>
          <a:xfrm>
            <a:off x="6278037" y="1784351"/>
            <a:ext cx="5247300" cy="38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•"/>
              <a:defRPr sz="2100"/>
            </a:lvl1pPr>
            <a:lvl2pPr marL="914400" lvl="1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-"/>
              <a:defRPr sz="2100"/>
            </a:lvl2pPr>
            <a:lvl3pPr marL="1371600" lvl="2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-"/>
              <a:defRPr sz="2100"/>
            </a:lvl3pPr>
            <a:lvl4pPr marL="1828800" lvl="3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-"/>
              <a:defRPr sz="2100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 sz="1900"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74" name="Google Shape;274;p35"/>
          <p:cNvSpPr txBox="1">
            <a:spLocks noGrp="1"/>
          </p:cNvSpPr>
          <p:nvPr>
            <p:ph type="body" idx="3"/>
          </p:nvPr>
        </p:nvSpPr>
        <p:spPr>
          <a:xfrm>
            <a:off x="666751" y="1220755"/>
            <a:ext cx="52473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2pPr>
            <a:lvl3pPr marL="1371600" lvl="2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3pPr>
            <a:lvl4pPr marL="1828800" lvl="3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4pPr>
            <a:lvl5pPr marL="2286000" lvl="4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75" name="Google Shape;275;p35"/>
          <p:cNvSpPr txBox="1">
            <a:spLocks noGrp="1"/>
          </p:cNvSpPr>
          <p:nvPr>
            <p:ph type="body" idx="4"/>
          </p:nvPr>
        </p:nvSpPr>
        <p:spPr>
          <a:xfrm>
            <a:off x="6288617" y="1220755"/>
            <a:ext cx="52800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2pPr>
            <a:lvl3pPr marL="1371600" lvl="2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3pPr>
            <a:lvl4pPr marL="1828800" lvl="3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4pPr>
            <a:lvl5pPr marL="2286000" lvl="4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76" name="Google Shape;276;p35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35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2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 3">
  <p:cSld name="Title and Text_1_3_1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6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36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1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81" name="Google Shape;281;p36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2pPr>
            <a:lvl3pPr marL="1371600" lvl="2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3pPr>
            <a:lvl4pPr marL="1828800" lvl="3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82" name="Google Shape;282;p36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marR="0"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 4">
  <p:cSld name="Title and Text_1_4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7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37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1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86" name="Google Shape;286;p37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2pPr>
            <a:lvl3pPr marL="1371600" lvl="2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3pPr>
            <a:lvl4pPr marL="1828800" lvl="3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87" name="Google Shape;287;p37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 2">
  <p:cSld name="Title and Text_1_2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8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38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1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91" name="Google Shape;291;p38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2pPr>
            <a:lvl3pPr marL="1371600" lvl="2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3pPr>
            <a:lvl4pPr marL="1828800" lvl="3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92" name="Google Shape;292;p38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 1">
  <p:cSld name="Title and Text_8_1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9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5" name="Google Shape;295;p39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39"/>
          <p:cNvSpPr txBox="1">
            <a:spLocks noGrp="1"/>
          </p:cNvSpPr>
          <p:nvPr>
            <p:ph type="body" idx="1"/>
          </p:nvPr>
        </p:nvSpPr>
        <p:spPr>
          <a:xfrm>
            <a:off x="2244695" y="6308723"/>
            <a:ext cx="85125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297" name="Google Shape;297;p39"/>
          <p:cNvSpPr txBox="1">
            <a:spLocks noGrp="1"/>
          </p:cNvSpPr>
          <p:nvPr>
            <p:ph type="body" idx="2"/>
          </p:nvPr>
        </p:nvSpPr>
        <p:spPr>
          <a:xfrm>
            <a:off x="666751" y="1762064"/>
            <a:ext cx="10850100" cy="43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298" name="Google Shape;298;p39"/>
          <p:cNvSpPr txBox="1">
            <a:spLocks noGrp="1"/>
          </p:cNvSpPr>
          <p:nvPr>
            <p:ph type="body" idx="3"/>
          </p:nvPr>
        </p:nvSpPr>
        <p:spPr>
          <a:xfrm>
            <a:off x="666750" y="1220755"/>
            <a:ext cx="108501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chemeClr val="accent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act Us 1">
  <p:cSld name="Contact Us_1">
    <p:bg>
      <p:bgPr>
        <a:solidFill>
          <a:srgbClr val="FFFFFF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40"/>
          <p:cNvPicPr preferRelativeResize="0"/>
          <p:nvPr/>
        </p:nvPicPr>
        <p:blipFill rotWithShape="1">
          <a:blip r:embed="rId2">
            <a:alphaModFix/>
          </a:blip>
          <a:srcRect b="53518"/>
          <a:stretch/>
        </p:blipFill>
        <p:spPr>
          <a:xfrm>
            <a:off x="666752" y="2386152"/>
            <a:ext cx="3358301" cy="903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1" name="Google Shape;301;p40"/>
          <p:cNvGrpSpPr/>
          <p:nvPr/>
        </p:nvGrpSpPr>
        <p:grpSpPr>
          <a:xfrm>
            <a:off x="4233" y="6761503"/>
            <a:ext cx="12191695" cy="104397"/>
            <a:chOff x="0" y="5071254"/>
            <a:chExt cx="9144000" cy="78300"/>
          </a:xfrm>
        </p:grpSpPr>
        <p:sp>
          <p:nvSpPr>
            <p:cNvPr id="302" name="Google Shape;302;p40"/>
            <p:cNvSpPr/>
            <p:nvPr/>
          </p:nvSpPr>
          <p:spPr>
            <a:xfrm>
              <a:off x="0" y="5071254"/>
              <a:ext cx="2016000" cy="78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40"/>
            <p:cNvSpPr/>
            <p:nvPr/>
          </p:nvSpPr>
          <p:spPr>
            <a:xfrm>
              <a:off x="2016000" y="5071254"/>
              <a:ext cx="7128000" cy="78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4" name="Google Shape;304;p40"/>
          <p:cNvSpPr txBox="1">
            <a:spLocks noGrp="1"/>
          </p:cNvSpPr>
          <p:nvPr>
            <p:ph type="body" idx="1"/>
          </p:nvPr>
        </p:nvSpPr>
        <p:spPr>
          <a:xfrm>
            <a:off x="666751" y="3547455"/>
            <a:ext cx="10850100" cy="8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4700"/>
              <a:buNone/>
              <a:defRPr sz="3700">
                <a:solidFill>
                  <a:schemeClr val="accent1"/>
                </a:solidFill>
              </a:defRPr>
            </a:lvl1pPr>
            <a:lvl2pPr marL="914400" lvl="1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2pPr>
            <a:lvl3pPr marL="1371600" lvl="2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▪"/>
              <a:defRPr/>
            </a:lvl3pPr>
            <a:lvl4pPr marL="1828800" lvl="3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4pPr>
            <a:lvl5pPr marL="2286000" lvl="4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305" name="Google Shape;305;p40"/>
          <p:cNvSpPr txBox="1">
            <a:spLocks noGrp="1"/>
          </p:cNvSpPr>
          <p:nvPr>
            <p:ph type="body" idx="2"/>
          </p:nvPr>
        </p:nvSpPr>
        <p:spPr>
          <a:xfrm>
            <a:off x="666755" y="4408275"/>
            <a:ext cx="108501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2400">
                <a:solidFill>
                  <a:schemeClr val="accent2"/>
                </a:solidFill>
              </a:defRPr>
            </a:lvl1pPr>
            <a:lvl2pPr marL="914400" lvl="1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2pPr>
            <a:lvl3pPr marL="1371600" lvl="2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▪"/>
              <a:defRPr/>
            </a:lvl3pPr>
            <a:lvl4pPr marL="1828800" lvl="3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4pPr>
            <a:lvl5pPr marL="2286000" lvl="4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306" name="Google Shape;306;p40"/>
          <p:cNvSpPr txBox="1">
            <a:spLocks noGrp="1"/>
          </p:cNvSpPr>
          <p:nvPr>
            <p:ph type="body" idx="3"/>
          </p:nvPr>
        </p:nvSpPr>
        <p:spPr>
          <a:xfrm>
            <a:off x="666749" y="4971309"/>
            <a:ext cx="10850100" cy="3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1900"/>
            </a:lvl1pPr>
            <a:lvl2pPr marL="914400" lvl="1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2pPr>
            <a:lvl3pPr marL="1371600" lvl="2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▪"/>
              <a:defRPr/>
            </a:lvl3pPr>
            <a:lvl4pPr marL="1828800" lvl="3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  <a:defRPr/>
            </a:lvl4pPr>
            <a:lvl5pPr marL="2286000" lvl="4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-"/>
              <a:defRPr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0959942" y="6287239"/>
            <a:ext cx="548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10912828" y="6307323"/>
            <a:ext cx="0" cy="3531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666751" y="1249031"/>
            <a:ext cx="10850100" cy="49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4254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3100"/>
              <a:buFont typeface="Arial"/>
              <a:buChar char="•"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00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NTR"/>
              <a:buChar char="-"/>
              <a:defRPr sz="21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00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NTR"/>
              <a:buChar char="-"/>
              <a:defRPr sz="21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00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NTR"/>
              <a:buChar char="-"/>
              <a:defRPr sz="21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65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TR"/>
              <a:buChar char="-"/>
              <a:defRPr sz="1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title"/>
          </p:nvPr>
        </p:nvSpPr>
        <p:spPr>
          <a:xfrm>
            <a:off x="675217" y="366185"/>
            <a:ext cx="10850100" cy="7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5" name="Google Shape;15;p1"/>
          <p:cNvGrpSpPr/>
          <p:nvPr/>
        </p:nvGrpSpPr>
        <p:grpSpPr>
          <a:xfrm>
            <a:off x="4233" y="6761503"/>
            <a:ext cx="12191695" cy="104397"/>
            <a:chOff x="0" y="5071254"/>
            <a:chExt cx="9144000" cy="78300"/>
          </a:xfrm>
        </p:grpSpPr>
        <p:sp>
          <p:nvSpPr>
            <p:cNvPr id="16" name="Google Shape;16;p1"/>
            <p:cNvSpPr/>
            <p:nvPr/>
          </p:nvSpPr>
          <p:spPr>
            <a:xfrm>
              <a:off x="0" y="5071254"/>
              <a:ext cx="2016000" cy="78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EFEFF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2016000" y="5071254"/>
              <a:ext cx="7128000" cy="78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EFEFF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8" r:id="rId26"/>
    <p:sldLayoutId id="2147483679" r:id="rId27"/>
    <p:sldLayoutId id="2147483680" r:id="rId28"/>
    <p:sldLayoutId id="2147483681" r:id="rId29"/>
    <p:sldLayoutId id="2147483682" r:id="rId30"/>
    <p:sldLayoutId id="2147483683" r:id="rId31"/>
    <p:sldLayoutId id="2147483684" r:id="rId32"/>
    <p:sldLayoutId id="2147483685" r:id="rId33"/>
    <p:sldLayoutId id="2147483686" r:id="rId3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4.png"/><Relationship Id="rId5" Type="http://schemas.openxmlformats.org/officeDocument/2006/relationships/hyperlink" Target="mailto:Cameline.orlendo@swisstph.ch" TargetMode="Externa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4"/>
          <p:cNvSpPr txBox="1">
            <a:spLocks noGrp="1"/>
          </p:cNvSpPr>
          <p:nvPr>
            <p:ph type="body" idx="1"/>
          </p:nvPr>
        </p:nvSpPr>
        <p:spPr>
          <a:xfrm>
            <a:off x="4122050" y="2235943"/>
            <a:ext cx="79938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7916"/>
              </a:lnSpc>
              <a:spcBef>
                <a:spcPts val="2400"/>
              </a:spcBef>
              <a:spcAft>
                <a:spcPts val="600"/>
              </a:spcAft>
              <a:buSzPts val="1100"/>
              <a:buNone/>
            </a:pPr>
            <a:r>
              <a:rPr lang="en-US" sz="3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Modeling with SIS </a:t>
            </a:r>
            <a:endParaRPr sz="35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44"/>
          <p:cNvSpPr txBox="1"/>
          <p:nvPr/>
        </p:nvSpPr>
        <p:spPr>
          <a:xfrm>
            <a:off x="6016475" y="3499639"/>
            <a:ext cx="4902300" cy="2805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 dirty="0">
                <a:solidFill>
                  <a:schemeClr val="dk1"/>
                </a:solidFill>
              </a:rPr>
              <a:t>29-08-2025</a:t>
            </a:r>
            <a:endParaRPr sz="16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 dirty="0">
                <a:solidFill>
                  <a:schemeClr val="dk1"/>
                </a:solidFill>
              </a:rPr>
              <a:t>Sineshaw Legese Bayu</a:t>
            </a: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 dirty="0" err="1">
                <a:solidFill>
                  <a:schemeClr val="dk1"/>
                </a:solidFill>
              </a:rPr>
              <a:t>Rahma</a:t>
            </a:r>
            <a:r>
              <a:rPr lang="en-US" sz="1600" b="1" dirty="0">
                <a:solidFill>
                  <a:schemeClr val="dk1"/>
                </a:solidFill>
              </a:rPr>
              <a:t> </a:t>
            </a:r>
            <a:r>
              <a:rPr lang="en-US" sz="1600" b="1" dirty="0" err="1">
                <a:solidFill>
                  <a:schemeClr val="dk1"/>
                </a:solidFill>
              </a:rPr>
              <a:t>Jumaa</a:t>
            </a:r>
            <a:r>
              <a:rPr lang="en-US" sz="1600" b="1" dirty="0">
                <a:solidFill>
                  <a:schemeClr val="dk1"/>
                </a:solidFill>
              </a:rPr>
              <a:t> </a:t>
            </a:r>
            <a:r>
              <a:rPr lang="en-US" sz="1600" b="1" dirty="0" err="1">
                <a:solidFill>
                  <a:schemeClr val="dk1"/>
                </a:solidFill>
              </a:rPr>
              <a:t>Sheshe</a:t>
            </a:r>
            <a:endParaRPr lang="en-US" sz="16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 dirty="0">
                <a:solidFill>
                  <a:schemeClr val="dk1"/>
                </a:solidFill>
              </a:rPr>
              <a:t>Frank </a:t>
            </a:r>
            <a:r>
              <a:rPr lang="en-US" sz="1600" b="1" dirty="0" err="1">
                <a:solidFill>
                  <a:schemeClr val="dk1"/>
                </a:solidFill>
              </a:rPr>
              <a:t>Chacky</a:t>
            </a:r>
            <a:endParaRPr lang="en-US" sz="16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 dirty="0">
                <a:solidFill>
                  <a:schemeClr val="dk1"/>
                </a:solidFill>
              </a:rPr>
              <a:t>Charles </a:t>
            </a:r>
            <a:r>
              <a:rPr lang="en-US" sz="1600" b="1" dirty="0" err="1">
                <a:solidFill>
                  <a:schemeClr val="dk1"/>
                </a:solidFill>
              </a:rPr>
              <a:t>Arnest</a:t>
            </a:r>
            <a:r>
              <a:rPr lang="en-US" sz="1600" b="1" dirty="0">
                <a:solidFill>
                  <a:schemeClr val="dk1"/>
                </a:solidFill>
              </a:rPr>
              <a:t> </a:t>
            </a:r>
            <a:r>
              <a:rPr lang="en-US" sz="1600" b="1" dirty="0" err="1">
                <a:solidFill>
                  <a:schemeClr val="dk1"/>
                </a:solidFill>
              </a:rPr>
              <a:t>Obat</a:t>
            </a:r>
            <a:endParaRPr lang="en-US" sz="16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 dirty="0">
                <a:solidFill>
                  <a:schemeClr val="dk1"/>
                </a:solidFill>
              </a:rPr>
              <a:t>Sahar </a:t>
            </a:r>
            <a:r>
              <a:rPr lang="en-US" sz="1600" b="1" dirty="0" err="1">
                <a:solidFill>
                  <a:schemeClr val="dk1"/>
                </a:solidFill>
              </a:rPr>
              <a:t>Trabelsi</a:t>
            </a:r>
            <a:endParaRPr lang="en-US" sz="1600" b="1" dirty="0">
              <a:solidFill>
                <a:schemeClr val="dk1"/>
              </a:solidFill>
            </a:endParaRPr>
          </a:p>
        </p:txBody>
      </p:sp>
      <p:pic>
        <p:nvPicPr>
          <p:cNvPr id="328" name="Google Shape;32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5725" y="118000"/>
            <a:ext cx="1402700" cy="140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1652" y="402063"/>
            <a:ext cx="2709627" cy="701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4"/>
          <p:cNvPicPr preferRelativeResize="0"/>
          <p:nvPr/>
        </p:nvPicPr>
        <p:blipFill rotWithShape="1">
          <a:blip r:embed="rId5">
            <a:alphaModFix/>
          </a:blip>
          <a:srcRect b="52799"/>
          <a:stretch/>
        </p:blipFill>
        <p:spPr>
          <a:xfrm>
            <a:off x="9662875" y="461400"/>
            <a:ext cx="2132100" cy="64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5"/>
          <p:cNvSpPr txBox="1">
            <a:spLocks noGrp="1"/>
          </p:cNvSpPr>
          <p:nvPr>
            <p:ph type="body" idx="1"/>
          </p:nvPr>
        </p:nvSpPr>
        <p:spPr>
          <a:xfrm>
            <a:off x="5186289" y="3547454"/>
            <a:ext cx="5935500" cy="8241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dirty="0"/>
              <a:t>Scenario 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/>
              <a:buNone/>
            </a:pPr>
            <a:r>
              <a:rPr lang="en-US" dirty="0"/>
              <a:t>Scenario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EC29CF2-0D95-4372-A8BA-18B12B5E140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82550" indent="0" algn="just">
              <a:buNone/>
            </a:pPr>
            <a:r>
              <a:rPr lang="en-GB" sz="2000" b="0" i="0" dirty="0">
                <a:solidFill>
                  <a:schemeClr val="tx1"/>
                </a:solidFill>
                <a:effectLst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 this project, we </a:t>
            </a:r>
            <a:r>
              <a:rPr lang="en-GB" sz="2000" b="0" i="0" dirty="0" err="1">
                <a:solidFill>
                  <a:schemeClr val="tx1"/>
                </a:solidFill>
                <a:effectLst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modeled</a:t>
            </a:r>
            <a:r>
              <a:rPr lang="en-GB" sz="2000" b="0" i="0" dirty="0">
                <a:solidFill>
                  <a:schemeClr val="tx1"/>
                </a:solidFill>
                <a:effectLst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how malaria could spread within an international training program by representing ourselves as a social network. Each participant was treated as a node, and connections captured interactions, with Kenya serving as a central hub linking individuals from multiple countries. Using the </a:t>
            </a:r>
            <a:r>
              <a:rPr lang="en-GB" sz="2000" b="1" i="0" dirty="0">
                <a:solidFill>
                  <a:schemeClr val="tx1"/>
                </a:solidFill>
                <a:effectLst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Susceptible-Infected-Susceptible (SIS) </a:t>
            </a:r>
            <a:r>
              <a:rPr lang="en-GB" sz="2000" b="0" i="0" dirty="0">
                <a:solidFill>
                  <a:schemeClr val="tx1"/>
                </a:solidFill>
                <a:effectLst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model, we simulated how infection flows through the network under different conditions—such as varying transmission </a:t>
            </a:r>
            <a:r>
              <a:rPr lang="en-GB" sz="2000" b="1" i="0" dirty="0">
                <a:solidFill>
                  <a:schemeClr val="tx1"/>
                </a:solidFill>
                <a:effectLst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(β = 0.4) </a:t>
            </a:r>
            <a:r>
              <a:rPr lang="en-GB" sz="2000" b="0" i="0" dirty="0">
                <a:solidFill>
                  <a:schemeClr val="tx1"/>
                </a:solidFill>
                <a:effectLst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recovery </a:t>
            </a:r>
            <a:r>
              <a:rPr lang="en-GB" sz="2000" b="1" i="0" dirty="0">
                <a:solidFill>
                  <a:schemeClr val="tx1"/>
                </a:solidFill>
                <a:effectLst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(γ = 0.1) </a:t>
            </a:r>
            <a:r>
              <a:rPr lang="en-GB" sz="2000" b="0" i="0" dirty="0">
                <a:solidFill>
                  <a:schemeClr val="tx1"/>
                </a:solidFill>
                <a:effectLst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rates. We then tested public health interventions, like introducing masks or targeting </a:t>
            </a:r>
            <a:r>
              <a:rPr lang="en-GB" sz="2000" b="0" i="0" dirty="0" err="1">
                <a:solidFill>
                  <a:schemeClr val="tx1"/>
                </a:solidFill>
                <a:effectLst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superspreaders</a:t>
            </a:r>
            <a:r>
              <a:rPr lang="en-GB" sz="2000" b="0" i="0" dirty="0">
                <a:solidFill>
                  <a:schemeClr val="tx1"/>
                </a:solidFill>
                <a:effectLst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to observe how network structure and individual roles influence outbreak dynamics.</a:t>
            </a:r>
            <a:endParaRPr lang="en-GB" sz="2000" dirty="0">
              <a:solidFill>
                <a:schemeClr val="tx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/>
              <a:buNone/>
            </a:pPr>
            <a:r>
              <a:rPr lang="en-US" dirty="0"/>
              <a:t>Network Modeling with SIS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EC29CF2-0D95-4372-A8BA-18B12B5E140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GB" b="0" i="0" dirty="0">
                <a:solidFill>
                  <a:schemeClr val="tx1"/>
                </a:solidFill>
                <a:effectLst/>
                <a:latin typeface="-apple-system"/>
              </a:rPr>
              <a:t>Builds social networks from participants across countries (Kenya as hub)</a:t>
            </a:r>
          </a:p>
          <a:p>
            <a:pPr algn="just">
              <a:lnSpc>
                <a:spcPct val="150000"/>
              </a:lnSpc>
            </a:pPr>
            <a:r>
              <a:rPr lang="en-GB" b="0" i="0" dirty="0">
                <a:solidFill>
                  <a:schemeClr val="tx1"/>
                </a:solidFill>
                <a:effectLst/>
                <a:latin typeface="-apple-system"/>
              </a:rPr>
              <a:t>Uses SIS model to simulate disease spread</a:t>
            </a:r>
          </a:p>
          <a:p>
            <a:pPr algn="just">
              <a:lnSpc>
                <a:spcPct val="150000"/>
              </a:lnSpc>
            </a:pPr>
            <a:r>
              <a:rPr lang="en-GB" b="0" i="0" dirty="0">
                <a:solidFill>
                  <a:schemeClr val="tx1"/>
                </a:solidFill>
                <a:effectLst/>
                <a:latin typeface="-apple-system"/>
              </a:rPr>
              <a:t>Key parameters</a:t>
            </a:r>
            <a:r>
              <a:rPr lang="en-GB" b="1" i="0" dirty="0">
                <a:solidFill>
                  <a:schemeClr val="tx1"/>
                </a:solidFill>
                <a:effectLst/>
                <a:latin typeface="-apple-system"/>
              </a:rPr>
              <a:t>: </a:t>
            </a:r>
            <a:r>
              <a:rPr lang="el-GR" b="1" i="0" dirty="0">
                <a:solidFill>
                  <a:schemeClr val="tx1"/>
                </a:solidFill>
                <a:effectLst/>
                <a:latin typeface="-apple-system"/>
              </a:rPr>
              <a:t>β = 0.4 (</a:t>
            </a:r>
            <a:r>
              <a:rPr lang="en-GB" b="1" i="0" dirty="0">
                <a:solidFill>
                  <a:schemeClr val="tx1"/>
                </a:solidFill>
                <a:effectLst/>
                <a:latin typeface="-apple-system"/>
              </a:rPr>
              <a:t>transmission), </a:t>
            </a:r>
            <a:r>
              <a:rPr lang="el-GR" b="1" i="0" dirty="0">
                <a:solidFill>
                  <a:schemeClr val="tx1"/>
                </a:solidFill>
                <a:effectLst/>
                <a:latin typeface="-apple-system"/>
              </a:rPr>
              <a:t>γ = 0.1 (</a:t>
            </a:r>
            <a:r>
              <a:rPr lang="en-GB" b="1" i="0" dirty="0">
                <a:solidFill>
                  <a:schemeClr val="tx1"/>
                </a:solidFill>
                <a:effectLst/>
                <a:latin typeface="-apple-system"/>
              </a:rPr>
              <a:t>recovery)</a:t>
            </a:r>
          </a:p>
          <a:p>
            <a:pPr algn="just">
              <a:lnSpc>
                <a:spcPct val="150000"/>
              </a:lnSpc>
            </a:pPr>
            <a:r>
              <a:rPr lang="en-GB" b="0" i="0" dirty="0">
                <a:solidFill>
                  <a:schemeClr val="tx1"/>
                </a:solidFill>
                <a:effectLst/>
                <a:latin typeface="-apple-system"/>
              </a:rPr>
              <a:t>Explores interventions: mask-wearing, </a:t>
            </a:r>
            <a:r>
              <a:rPr lang="en-GB" b="0" i="0" dirty="0" err="1">
                <a:solidFill>
                  <a:schemeClr val="tx1"/>
                </a:solidFill>
                <a:effectLst/>
                <a:latin typeface="-apple-system"/>
              </a:rPr>
              <a:t>superspreaders</a:t>
            </a:r>
            <a:r>
              <a:rPr lang="en-GB" b="0" i="0" dirty="0">
                <a:solidFill>
                  <a:schemeClr val="tx1"/>
                </a:solidFill>
                <a:effectLst/>
                <a:latin typeface="-apple-system"/>
              </a:rPr>
              <a:t>, mid-outbreak measures.</a:t>
            </a:r>
          </a:p>
        </p:txBody>
      </p:sp>
    </p:spTree>
    <p:extLst>
      <p:ext uri="{BB962C8B-B14F-4D97-AF65-F5344CB8AC3E}">
        <p14:creationId xmlns:p14="http://schemas.microsoft.com/office/powerpoint/2010/main" val="3809695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15F813CE-79FF-4B36-8B88-26CC580E7170}"/>
              </a:ext>
            </a:extLst>
          </p:cNvPr>
          <p:cNvGrpSpPr/>
          <p:nvPr/>
        </p:nvGrpSpPr>
        <p:grpSpPr>
          <a:xfrm>
            <a:off x="5961621" y="4360790"/>
            <a:ext cx="2652151" cy="1568387"/>
            <a:chOff x="6025127" y="3817275"/>
            <a:chExt cx="2102190" cy="13347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76D619BF-AFC4-4A44-B5D8-D9BA2739BC50}"/>
                    </a:ext>
                  </a:extLst>
                </p:cNvPr>
                <p:cNvSpPr txBox="1"/>
                <p:nvPr/>
              </p:nvSpPr>
              <p:spPr>
                <a:xfrm>
                  <a:off x="6025140" y="3817275"/>
                  <a:ext cx="2102177" cy="5760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𝒅𝑺</m:t>
                            </m:r>
                          </m:num>
                          <m:den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𝒅𝒕</m:t>
                            </m:r>
                          </m:den>
                        </m:f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a:rPr lang="el-GR" sz="2000" b="1" i="1">
                            <a:latin typeface="Cambria Math" panose="02040503050406030204" pitchFamily="18" charset="0"/>
                          </a:rPr>
                          <m:t>𝜷</m:t>
                        </m:r>
                        <m:f>
                          <m:f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𝑺𝑰</m:t>
                            </m:r>
                          </m:num>
                          <m:den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𝑵</m:t>
                            </m:r>
                          </m:den>
                        </m:f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+ </m:t>
                        </m:r>
                        <m:r>
                          <a:rPr lang="el-GR" sz="2000" b="1" i="1" smtClean="0">
                            <a:latin typeface="Cambria Math" panose="02040503050406030204" pitchFamily="18" charset="0"/>
                          </a:rPr>
                          <m:t>𝜸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76D619BF-AFC4-4A44-B5D8-D9BA2739BC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5140" y="3817275"/>
                  <a:ext cx="2102177" cy="57607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734674EB-BAD0-4238-A864-B3BEBE8548DF}"/>
                    </a:ext>
                  </a:extLst>
                </p:cNvPr>
                <p:cNvSpPr txBox="1"/>
                <p:nvPr/>
              </p:nvSpPr>
              <p:spPr>
                <a:xfrm>
                  <a:off x="6025127" y="4575935"/>
                  <a:ext cx="2102177" cy="5760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𝒅𝑰</m:t>
                            </m:r>
                          </m:num>
                          <m:den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𝒅𝒕</m:t>
                            </m:r>
                          </m:den>
                        </m:f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l-GR" sz="2000" b="1" i="1">
                            <a:latin typeface="Cambria Math" panose="02040503050406030204" pitchFamily="18" charset="0"/>
                          </a:rPr>
                          <m:t>𝜷</m:t>
                        </m:r>
                        <m:f>
                          <m:f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𝑺𝑰</m:t>
                            </m:r>
                          </m:num>
                          <m:den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𝑵</m:t>
                            </m:r>
                          </m:den>
                        </m:f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− </m:t>
                        </m:r>
                        <m:r>
                          <a:rPr lang="el-GR" sz="2000" b="1" i="1" smtClean="0">
                            <a:latin typeface="Cambria Math" panose="02040503050406030204" pitchFamily="18" charset="0"/>
                          </a:rPr>
                          <m:t>𝜸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734674EB-BAD0-4238-A864-B3BEBE8548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5127" y="4575935"/>
                  <a:ext cx="2102177" cy="57607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41" name="Google Shape;741;p52"/>
          <p:cNvSpPr/>
          <p:nvPr/>
        </p:nvSpPr>
        <p:spPr>
          <a:xfrm>
            <a:off x="1199049" y="1937196"/>
            <a:ext cx="4022164" cy="1591619"/>
          </a:xfrm>
          <a:prstGeom prst="roundRect">
            <a:avLst>
              <a:gd name="adj" fmla="val 16667"/>
            </a:avLst>
          </a:prstGeom>
          <a:noFill/>
          <a:ln w="152400" cap="flat" cmpd="sng">
            <a:solidFill>
              <a:srgbClr val="95C0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52"/>
          <p:cNvSpPr/>
          <p:nvPr/>
        </p:nvSpPr>
        <p:spPr>
          <a:xfrm>
            <a:off x="6729918" y="1937204"/>
            <a:ext cx="4022164" cy="1646612"/>
          </a:xfrm>
          <a:prstGeom prst="roundRect">
            <a:avLst>
              <a:gd name="adj" fmla="val 16667"/>
            </a:avLst>
          </a:prstGeom>
          <a:noFill/>
          <a:ln w="152400" cap="flat" cmpd="sng">
            <a:solidFill>
              <a:srgbClr val="E97F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52"/>
          <p:cNvSpPr txBox="1"/>
          <p:nvPr/>
        </p:nvSpPr>
        <p:spPr>
          <a:xfrm>
            <a:off x="1393194" y="1992114"/>
            <a:ext cx="3592961" cy="1591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dirty="0">
                <a:solidFill>
                  <a:schemeClr val="accent1"/>
                </a:solidFill>
              </a:rPr>
              <a:t>susceptible humans</a:t>
            </a:r>
            <a:endParaRPr sz="3800" dirty="0">
              <a:solidFill>
                <a:schemeClr val="accent1"/>
              </a:solidFill>
            </a:endParaRPr>
          </a:p>
        </p:txBody>
      </p:sp>
      <p:sp>
        <p:nvSpPr>
          <p:cNvPr id="744" name="Google Shape;744;p52"/>
          <p:cNvSpPr txBox="1"/>
          <p:nvPr/>
        </p:nvSpPr>
        <p:spPr>
          <a:xfrm>
            <a:off x="6853098" y="1981549"/>
            <a:ext cx="3592961" cy="1591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accent1"/>
                </a:solidFill>
              </a:rPr>
              <a:t>infectious</a:t>
            </a:r>
            <a:endParaRPr sz="3800">
              <a:solidFill>
                <a:schemeClr val="accen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accent1"/>
                </a:solidFill>
              </a:rPr>
              <a:t>humans</a:t>
            </a:r>
            <a:endParaRPr sz="3800">
              <a:solidFill>
                <a:schemeClr val="accent1"/>
              </a:solidFill>
            </a:endParaRPr>
          </a:p>
        </p:txBody>
      </p:sp>
      <p:sp>
        <p:nvSpPr>
          <p:cNvPr id="745" name="Google Shape;745;p52"/>
          <p:cNvSpPr/>
          <p:nvPr/>
        </p:nvSpPr>
        <p:spPr>
          <a:xfrm rot="10800000" flipH="1">
            <a:off x="5415358" y="2187445"/>
            <a:ext cx="1184046" cy="35683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52"/>
          <p:cNvSpPr/>
          <p:nvPr/>
        </p:nvSpPr>
        <p:spPr>
          <a:xfrm flipH="1">
            <a:off x="5362891" y="2828886"/>
            <a:ext cx="1184046" cy="33825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B04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52"/>
          <p:cNvSpPr txBox="1"/>
          <p:nvPr/>
        </p:nvSpPr>
        <p:spPr>
          <a:xfrm>
            <a:off x="5276996" y="3235097"/>
            <a:ext cx="1359898" cy="54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4FB043"/>
                </a:solidFill>
              </a:rPr>
              <a:t>recovery</a:t>
            </a:r>
            <a:endParaRPr sz="1800" dirty="0">
              <a:solidFill>
                <a:srgbClr val="4FB043"/>
              </a:solidFill>
            </a:endParaRPr>
          </a:p>
        </p:txBody>
      </p:sp>
      <p:sp>
        <p:nvSpPr>
          <p:cNvPr id="748" name="Google Shape;748;p52"/>
          <p:cNvSpPr txBox="1"/>
          <p:nvPr/>
        </p:nvSpPr>
        <p:spPr>
          <a:xfrm>
            <a:off x="1913993" y="4813527"/>
            <a:ext cx="2943697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accent1"/>
                </a:solidFill>
                <a:latin typeface="+mj-lt"/>
              </a:rPr>
              <a:t>SIS Model</a:t>
            </a:r>
            <a:endParaRPr sz="32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749" name="Google Shape;749;p52"/>
          <p:cNvSpPr/>
          <p:nvPr/>
        </p:nvSpPr>
        <p:spPr>
          <a:xfrm rot="10798723" flipV="1">
            <a:off x="6423909" y="1308490"/>
            <a:ext cx="2037765" cy="289888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75000"/>
            </a:avLst>
          </a:prstGeom>
          <a:solidFill>
            <a:srgbClr val="FF9900"/>
          </a:solidFill>
          <a:ln w="9525" cap="flat" cmpd="sng">
            <a:solidFill>
              <a:srgbClr val="BABC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52"/>
          <p:cNvSpPr txBox="1"/>
          <p:nvPr/>
        </p:nvSpPr>
        <p:spPr>
          <a:xfrm>
            <a:off x="5046012" y="1405684"/>
            <a:ext cx="2237605" cy="54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9900"/>
                </a:solidFill>
              </a:rPr>
              <a:t>transmission</a:t>
            </a:r>
            <a:endParaRPr sz="1800" b="1" dirty="0">
              <a:solidFill>
                <a:srgbClr val="FF99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628E5B8-9926-4F42-B7BA-02A20DBAF634}"/>
                  </a:ext>
                </a:extLst>
              </p:cNvPr>
              <p:cNvSpPr txBox="1"/>
              <p:nvPr/>
            </p:nvSpPr>
            <p:spPr>
              <a:xfrm>
                <a:off x="5415358" y="1935148"/>
                <a:ext cx="1092203" cy="361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400" i="1" smtClean="0">
                          <a:latin typeface="Cambria Math" panose="02040503050406030204" pitchFamily="18" charset="0"/>
                        </a:rPr>
                        <m:t>β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=0.4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628E5B8-9926-4F42-B7BA-02A20DBAF6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5358" y="1935148"/>
                <a:ext cx="1092203" cy="3616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49D484-13F0-4354-B380-25ED53D60D0A}"/>
                  </a:ext>
                </a:extLst>
              </p:cNvPr>
              <p:cNvSpPr txBox="1"/>
              <p:nvPr/>
            </p:nvSpPr>
            <p:spPr>
              <a:xfrm>
                <a:off x="5443570" y="3053350"/>
                <a:ext cx="1092203" cy="361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=0.1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49D484-13F0-4354-B380-25ED53D60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3570" y="3053350"/>
                <a:ext cx="1092203" cy="36165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Google Shape;342;p46">
            <a:extLst>
              <a:ext uri="{FF2B5EF4-FFF2-40B4-BE49-F238E27FC236}">
                <a16:creationId xmlns:a16="http://schemas.microsoft.com/office/drawing/2014/main" id="{A8CF9C3A-437E-4A1C-95CA-A2A02D35D4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/>
              <a:buNone/>
            </a:pPr>
            <a:r>
              <a:rPr lang="en-US" dirty="0">
                <a:solidFill>
                  <a:schemeClr val="accent3"/>
                </a:solidFill>
              </a:rPr>
              <a:t>Flow Diagram &amp; Differential Equation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2415AE-4658-4FC5-A2A9-D906A330E9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D627ED-AEF3-4C4D-84F1-547DE7F37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Description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A991665-9476-4E33-88A7-8E2A287548CC}"/>
              </a:ext>
            </a:extLst>
          </p:cNvPr>
          <p:cNvGrpSpPr/>
          <p:nvPr/>
        </p:nvGrpSpPr>
        <p:grpSpPr>
          <a:xfrm>
            <a:off x="676394" y="1336013"/>
            <a:ext cx="10839212" cy="4168469"/>
            <a:chOff x="261295" y="1336013"/>
            <a:chExt cx="10839212" cy="416846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5A4E8A6-E7E9-45BB-8825-F1419743D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1295" y="1336014"/>
              <a:ext cx="5630622" cy="416846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3925626-B1F8-497D-814F-D63CD1EE6B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1800" y="1336013"/>
              <a:ext cx="5008707" cy="41684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18070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16220E-E544-40AD-8649-ED418B1C25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8581B7-7E12-41D2-A172-7A838319C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F57863-228D-4BA4-BBDE-7F9168F4465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What is betweenness centrality. Redraw the network with node sizes proportional to the node betweenness. How does this differ from degree centrality?</a:t>
            </a:r>
          </a:p>
          <a:p>
            <a:pPr marL="342900" indent="-342900"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b="1" dirty="0"/>
              <a:t>etweenness centrality </a:t>
            </a:r>
            <a:r>
              <a:rPr lang="en-US" dirty="0"/>
              <a:t>measures how often that node lies on the shortest paths between other pairs of nodes in the network.</a:t>
            </a:r>
          </a:p>
          <a:p>
            <a:pPr marL="0" indent="0" algn="just">
              <a:buNone/>
            </a:pPr>
            <a:endParaRPr lang="en-US" b="1" dirty="0"/>
          </a:p>
          <a:p>
            <a:pPr marL="342900" indent="-342900"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Example: Connection of</a:t>
            </a:r>
          </a:p>
          <a:p>
            <a:pPr marL="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ZN --- BA --- MY --- LY    where BA= Highest , MY= second highest </a:t>
            </a:r>
          </a:p>
          <a:p>
            <a:pPr marL="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|                          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betweenness = 4    betweenness = 2 </a:t>
            </a:r>
          </a:p>
          <a:p>
            <a:pPr marL="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SH</a:t>
            </a:r>
          </a:p>
          <a:p>
            <a:endParaRPr lang="en-US" b="0" i="0" dirty="0">
              <a:solidFill>
                <a:srgbClr val="333333"/>
              </a:solidFill>
              <a:effectLst/>
              <a:latin typeface="Roboto" panose="020B060402020202020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497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5C5B900-BA64-4AC4-AF8D-5D21597C5E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751" y="1784352"/>
            <a:ext cx="5667376" cy="4377300"/>
          </a:xfrm>
        </p:spPr>
        <p:txBody>
          <a:bodyPr/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Nodes = participants (colored by country).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Edges = interactions between participants.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Kenya (green nodes) is centrally located, acting as a hub linking participants from multiple nations.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Network density shows frequent cross-country connections.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Highly connected nodes (super-spreaders) are key drivers of potential disease spread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159AD54-A11B-4AC2-800D-BA48B4A1DEC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66750" y="1220755"/>
            <a:ext cx="5247300" cy="431700"/>
          </a:xfrm>
        </p:spPr>
        <p:txBody>
          <a:bodyPr/>
          <a:lstStyle/>
          <a:p>
            <a:r>
              <a:rPr lang="en-US" b="1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Model Interpretation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D04C75-14F3-4823-BC33-ECFB3F1E2F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1D71C2-B941-4859-863D-F215B69EB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113D59"/>
                </a:solidFill>
                <a:effectLst/>
                <a:latin typeface="Roboto" panose="020B0604020202020204" charset="0"/>
              </a:rPr>
              <a:t>PART 1: NETWORK CONSTRUCION</a:t>
            </a:r>
            <a:endParaRPr lang="en-US" b="1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5084D893-E0FC-4139-8305-8A15C0BE0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681" y="1857924"/>
            <a:ext cx="5387336" cy="4175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2930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8B848AF-B570-439B-8B4B-8646E1B69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751" y="1277221"/>
            <a:ext cx="5247300" cy="4884431"/>
          </a:xfrm>
        </p:spPr>
        <p:txBody>
          <a:bodyPr/>
          <a:lstStyle/>
          <a:p>
            <a:pPr marL="57150" indent="0" algn="l">
              <a:lnSpc>
                <a:spcPct val="150000"/>
              </a:lnSpc>
              <a:buNone/>
            </a:pPr>
            <a:r>
              <a:rPr lang="en-US" b="1" i="0" u="sng" dirty="0">
                <a:solidFill>
                  <a:srgbClr val="333333"/>
                </a:solidFill>
                <a:effectLst/>
                <a:latin typeface="Roboto" panose="020B0604020202020204" charset="0"/>
              </a:rPr>
              <a:t>Number of infected individuals:</a:t>
            </a:r>
          </a:p>
          <a:p>
            <a:pPr>
              <a:lnSpc>
                <a:spcPct val="150000"/>
              </a:lnSpc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Day 2: 42 people</a:t>
            </a:r>
          </a:p>
          <a:p>
            <a:pPr>
              <a:lnSpc>
                <a:spcPct val="150000"/>
              </a:lnSpc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Day 4: 42 people</a:t>
            </a:r>
          </a:p>
          <a:p>
            <a:pPr>
              <a:lnSpc>
                <a:spcPct val="150000"/>
              </a:lnSpc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Day 8: 39 people</a:t>
            </a:r>
          </a:p>
          <a:p>
            <a:pPr>
              <a:lnSpc>
                <a:spcPct val="150000"/>
              </a:lnSpc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Incidence on Day 8: 7 new infections</a:t>
            </a:r>
          </a:p>
          <a:p>
            <a:pPr marL="57150" indent="0">
              <a:lnSpc>
                <a:spcPct val="150000"/>
              </a:lnSpc>
              <a:buNone/>
            </a:pPr>
            <a:r>
              <a:rPr lang="en-US" b="1" u="sng" dirty="0">
                <a:solidFill>
                  <a:srgbClr val="333333"/>
                </a:solidFill>
                <a:latin typeface="Roboto" panose="020B0604020202020204" charset="0"/>
              </a:rPr>
              <a:t>With masks from Day 5</a:t>
            </a:r>
          </a:p>
          <a:p>
            <a:pPr algn="l">
              <a:lnSpc>
                <a:spcPct val="150000"/>
              </a:lnSpc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Infections on Day 5 with masks: 42</a:t>
            </a:r>
          </a:p>
          <a:p>
            <a:pPr algn="l">
              <a:lnSpc>
                <a:spcPct val="150000"/>
              </a:lnSpc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Infections averted: 0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1E31C-CC3B-4355-AACB-F75C6CCC49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352B02D-A6D8-4E8A-B940-55BD7DCF0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113D59"/>
                </a:solidFill>
                <a:effectLst/>
                <a:latin typeface="Roboto" panose="020B0604020202020204" charset="0"/>
              </a:rPr>
              <a:t>Part 4. ANALYSIS AND RESULTS</a:t>
            </a:r>
            <a:endParaRPr lang="en-US" b="1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AD9089B-BE03-414D-AEEA-479A25AD4AC9}"/>
              </a:ext>
            </a:extLst>
          </p:cNvPr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5A4865EB-39E1-4301-B913-03510D1C74CC}"/>
              </a:ext>
            </a:extLst>
          </p:cNvPr>
          <p:cNvSpPr txBox="1">
            <a:spLocks/>
          </p:cNvSpPr>
          <p:nvPr/>
        </p:nvSpPr>
        <p:spPr>
          <a:xfrm>
            <a:off x="5914052" y="1111386"/>
            <a:ext cx="5857534" cy="5031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00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ial"/>
              <a:buChar char="•"/>
              <a:defRPr sz="21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00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NTR"/>
              <a:buChar char="-"/>
              <a:defRPr sz="21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00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NTR"/>
              <a:buChar char="-"/>
              <a:defRPr sz="21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00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NTR"/>
              <a:buChar char="-"/>
              <a:defRPr sz="21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TR"/>
              <a:buChar char="-"/>
              <a:defRPr sz="1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92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92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92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7150" indent="0">
              <a:lnSpc>
                <a:spcPct val="150000"/>
              </a:lnSpc>
              <a:buFont typeface="Arial"/>
              <a:buNone/>
            </a:pPr>
            <a:r>
              <a:rPr lang="en-US" sz="2200" b="1" u="sng" dirty="0">
                <a:solidFill>
                  <a:srgbClr val="333333"/>
                </a:solidFill>
                <a:latin typeface="Roboto" panose="020B0604020202020204" charset="0"/>
              </a:rPr>
              <a:t>Network Metrics:</a:t>
            </a:r>
          </a:p>
          <a:p>
            <a:pPr>
              <a:lnSpc>
                <a:spcPct val="150000"/>
              </a:lnSpc>
            </a:pPr>
            <a:r>
              <a:rPr lang="en-US" sz="2200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Network density: 0.773</a:t>
            </a:r>
          </a:p>
          <a:p>
            <a:pPr marL="57150" indent="0">
              <a:lnSpc>
                <a:spcPct val="150000"/>
              </a:lnSpc>
              <a:buNone/>
            </a:pPr>
            <a:r>
              <a:rPr lang="en-US" sz="2200" b="1" i="1" dirty="0">
                <a:solidFill>
                  <a:srgbClr val="333333"/>
                </a:solidFill>
                <a:effectLst/>
                <a:latin typeface="Roboto" panose="020B0604020202020204" charset="0"/>
              </a:rPr>
              <a:t>Super-spreader analysis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Without super-spreaders:  41  infected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 super-spreaders:  41  infected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Additional infections from super-spreaders:  0</a:t>
            </a:r>
          </a:p>
          <a:p>
            <a:pPr marL="5715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200" b="1" i="1" dirty="0">
                <a:solidFill>
                  <a:srgbClr val="333333"/>
                </a:solidFill>
                <a:latin typeface="Roboto" panose="020B0604020202020204" charset="0"/>
              </a:rPr>
              <a:t>Effect of changing interaction rates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Beta </a:t>
            </a:r>
            <a:r>
              <a:rPr lang="en-US" sz="2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Final_Infected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1 0.01 5 2 0.02 6 3 0.03 17 4 0.04 20 5 0.05 35</a:t>
            </a:r>
          </a:p>
        </p:txBody>
      </p:sp>
    </p:spTree>
    <p:extLst>
      <p:ext uri="{BB962C8B-B14F-4D97-AF65-F5344CB8AC3E}">
        <p14:creationId xmlns:p14="http://schemas.microsoft.com/office/powerpoint/2010/main" val="632909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71872E-5355-433A-9F1F-B10F651303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942762E-8E5C-4EE4-9425-B29310C45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i="0" dirty="0">
                <a:solidFill>
                  <a:schemeClr val="tx1"/>
                </a:solidFill>
                <a:effectLst/>
                <a:latin typeface="Roboto" panose="020B0604020202020204" charset="0"/>
              </a:rPr>
              <a:t>VISUALIZATION OF EPIDEMIC PROGRESSION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6A42BA60-B2E0-473B-BA30-618DD98C2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383" y="1723698"/>
            <a:ext cx="3334852" cy="3434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>
            <a:extLst>
              <a:ext uri="{FF2B5EF4-FFF2-40B4-BE49-F238E27FC236}">
                <a16:creationId xmlns:a16="http://schemas.microsoft.com/office/drawing/2014/main" id="{B8B18982-E6B2-427E-8DCF-57BA4AC519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9047" y="1723567"/>
            <a:ext cx="4206285" cy="343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>
            <a:extLst>
              <a:ext uri="{FF2B5EF4-FFF2-40B4-BE49-F238E27FC236}">
                <a16:creationId xmlns:a16="http://schemas.microsoft.com/office/drawing/2014/main" id="{C6E5EEB2-ABFF-4443-B03B-07C451CF0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4487" y="1723567"/>
            <a:ext cx="3882713" cy="342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9">
            <a:extLst>
              <a:ext uri="{FF2B5EF4-FFF2-40B4-BE49-F238E27FC236}">
                <a16:creationId xmlns:a16="http://schemas.microsoft.com/office/drawing/2014/main" id="{34A93C58-8CFA-4879-B70D-B7696A2C511B}"/>
              </a:ext>
            </a:extLst>
          </p:cNvPr>
          <p:cNvSpPr>
            <a:spLocks noGrp="1" noChangeArrowheads="1"/>
          </p:cNvSpPr>
          <p:nvPr>
            <p:ph type="body" idx="7"/>
          </p:nvPr>
        </p:nvSpPr>
        <p:spPr bwMode="auto">
          <a:xfrm>
            <a:off x="2094438" y="5373364"/>
            <a:ext cx="7994726" cy="10241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57132" numCol="1" anchor="ctr" anchorCtr="0" compatLnSpc="1">
            <a:prstTxWarp prst="textNoShape">
              <a:avLst/>
            </a:prstTxWarp>
            <a:spAutoFit/>
          </a:bodyPr>
          <a:lstStyle/>
          <a:p>
            <a:pPr marL="5143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Network has 44 participants and 731 connections</a:t>
            </a:r>
          </a:p>
          <a:p>
            <a:pPr marL="514350" indent="-285750"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Density: 0.773 - indicates a highly connected network</a:t>
            </a:r>
          </a:p>
        </p:txBody>
      </p:sp>
    </p:spTree>
    <p:extLst>
      <p:ext uri="{BB962C8B-B14F-4D97-AF65-F5344CB8AC3E}">
        <p14:creationId xmlns:p14="http://schemas.microsoft.com/office/powerpoint/2010/main" val="1164221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369464-3035-41AB-8D27-3C19DE6C70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FD5BE1D-10CF-41F0-BCCB-5CAF919E0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1" y="183277"/>
            <a:ext cx="10850099" cy="928109"/>
          </a:xfrm>
        </p:spPr>
        <p:txBody>
          <a:bodyPr/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Exercise 1: Network with Node sizes proportional: Degree and  betweenness centrality </a:t>
            </a:r>
            <a:endParaRPr lang="en-US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E1F68-2069-4029-9266-220E563FC6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4B50440-A651-4BA6-B199-80F178D2AA08}"/>
              </a:ext>
            </a:extLst>
          </p:cNvPr>
          <p:cNvGrpSpPr/>
          <p:nvPr/>
        </p:nvGrpSpPr>
        <p:grpSpPr>
          <a:xfrm>
            <a:off x="666752" y="1111386"/>
            <a:ext cx="11094324" cy="3326949"/>
            <a:chOff x="666752" y="1422344"/>
            <a:chExt cx="10978711" cy="322660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ABC77C3-9870-4891-9843-9EF08212A4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2" y="1422344"/>
              <a:ext cx="5375527" cy="322660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1940814-0372-4B19-8A3B-3F39302E56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71671" y="1422345"/>
              <a:ext cx="5573792" cy="3226606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7AE9A4BD-31F6-4054-BD9B-E137FFD98B80}"/>
              </a:ext>
            </a:extLst>
          </p:cNvPr>
          <p:cNvSpPr txBox="1"/>
          <p:nvPr/>
        </p:nvSpPr>
        <p:spPr>
          <a:xfrm>
            <a:off x="1408386" y="4519449"/>
            <a:ext cx="7062952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i="0" u="sng" dirty="0">
                <a:solidFill>
                  <a:srgbClr val="333333"/>
                </a:solidFill>
                <a:effectLst/>
                <a:latin typeface="Roboto" panose="020B0604020202020204" charset="0"/>
              </a:rPr>
              <a:t>Degree Centrality Comparison: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Kenya participants - Mean degree: 43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Other countries - Mean degree: 23.45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Kenya participants are 1.8 times more connected</a:t>
            </a:r>
          </a:p>
        </p:txBody>
      </p:sp>
    </p:spTree>
    <p:extLst>
      <p:ext uri="{BB962C8B-B14F-4D97-AF65-F5344CB8AC3E}">
        <p14:creationId xmlns:p14="http://schemas.microsoft.com/office/powerpoint/2010/main" val="636333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814D66-434C-4A18-AC28-BC35E459D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751" y="1931172"/>
            <a:ext cx="4788118" cy="423048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Betweenness Centrality Comparison:</a:t>
            </a:r>
          </a:p>
          <a:p>
            <a:pPr>
              <a:lnSpc>
                <a:spcPct val="150000"/>
              </a:lnSpc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Kenya participants - Mean degree: 9.77</a:t>
            </a:r>
          </a:p>
          <a:p>
            <a:pPr>
              <a:lnSpc>
                <a:spcPct val="150000"/>
              </a:lnSpc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Other countries - Mean degree: 0</a:t>
            </a:r>
          </a:p>
          <a:p>
            <a:pPr>
              <a:lnSpc>
                <a:spcPct val="150000"/>
              </a:lnSpc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Kenya participants are Inf times more connected</a:t>
            </a:r>
          </a:p>
          <a:p>
            <a:pPr marL="342900" indent="-342900" algn="just">
              <a:lnSpc>
                <a:spcPct val="150000"/>
              </a:lnSpc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A90C50E-AA0A-443C-82DF-EE21E926E85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66749" y="1220754"/>
            <a:ext cx="5611287" cy="563597"/>
          </a:xfrm>
        </p:spPr>
        <p:txBody>
          <a:bodyPr/>
          <a:lstStyle/>
          <a:p>
            <a:pPr marL="0" indent="0"/>
            <a:r>
              <a:rPr lang="en-US" sz="180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Calculate and compare betweenness centrality for Kenya vs other countries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D707C3-6D63-4C55-9771-744F2CFECC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4DBEC6-E15A-468D-BCBB-28C735CBB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49" y="183277"/>
            <a:ext cx="10850100" cy="745200"/>
          </a:xfrm>
        </p:spPr>
        <p:txBody>
          <a:bodyPr/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Exercise 1.2: Calculate and compare betweenness centrality for Kenya vs other countries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BAFB06C-E5ED-4B6B-9F15-4D8032250F48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737133" y="1207418"/>
            <a:ext cx="4779718" cy="480900"/>
          </a:xfrm>
        </p:spPr>
        <p:txBody>
          <a:bodyPr/>
          <a:lstStyle/>
          <a:p>
            <a:pPr marL="0" indent="0" algn="l"/>
            <a:r>
              <a:rPr lang="en-US" b="1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Identify least 3 connected individuals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3D5808-E96A-4BD2-B140-5B91F1094E7D}"/>
              </a:ext>
            </a:extLst>
          </p:cNvPr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6F8F7480-A110-4D5C-875F-ACBA05E1D963}"/>
              </a:ext>
            </a:extLst>
          </p:cNvPr>
          <p:cNvSpPr txBox="1">
            <a:spLocks/>
          </p:cNvSpPr>
          <p:nvPr/>
        </p:nvSpPr>
        <p:spPr>
          <a:xfrm>
            <a:off x="6737133" y="2004708"/>
            <a:ext cx="4469600" cy="423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00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ial"/>
              <a:buChar char="•"/>
              <a:defRPr sz="21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00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NTR"/>
              <a:buChar char="-"/>
              <a:defRPr sz="21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00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NTR"/>
              <a:buChar char="-"/>
              <a:defRPr sz="21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00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NTR"/>
              <a:buChar char="-"/>
              <a:defRPr sz="21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TR"/>
              <a:buChar char="-"/>
              <a:defRPr sz="1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92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92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92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>
                <a:solidFill>
                  <a:srgbClr val="333333"/>
                </a:solidFill>
                <a:latin typeface="Roboto" panose="020B0604020202020204" charset="0"/>
              </a:rPr>
              <a:t>THU (Uganda) = 22 connections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33333"/>
                </a:solidFill>
                <a:latin typeface="Roboto" panose="020B0604020202020204" charset="0"/>
              </a:rPr>
              <a:t>BAS (Nigeria) = 22 connections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33333"/>
                </a:solidFill>
                <a:latin typeface="Roboto" panose="020B0604020202020204" charset="0"/>
              </a:rPr>
              <a:t>MUS (Zimbabwe) = 22 connections</a:t>
            </a:r>
          </a:p>
          <a:p>
            <a:pPr marL="342900" indent="-342900" algn="just">
              <a:lnSpc>
                <a:spcPct val="150000"/>
              </a:lnSpc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778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6A2F8BB-1A5E-421A-8F28-F610A37FC84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66751" y="1023631"/>
            <a:ext cx="10850100" cy="431700"/>
          </a:xfrm>
        </p:spPr>
        <p:txBody>
          <a:bodyPr/>
          <a:lstStyle/>
          <a:p>
            <a:r>
              <a:rPr lang="en-US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Run SIS model with different β values and plot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858B32-9B64-4DE0-85B5-E7E1C22DCC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24188D-1CD4-4905-A50E-54AEC3A67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1" y="76006"/>
            <a:ext cx="10850100" cy="745200"/>
          </a:xfrm>
        </p:spPr>
        <p:txBody>
          <a:bodyPr/>
          <a:lstStyle/>
          <a:p>
            <a:r>
              <a:rPr lang="en-US" sz="2800" b="0" i="0" dirty="0">
                <a:solidFill>
                  <a:srgbClr val="113D59"/>
                </a:solidFill>
                <a:effectLst/>
                <a:latin typeface="Roboto" panose="020B0604020202020204" charset="0"/>
              </a:rPr>
              <a:t>Exercise 2: Parameter Sensitivity Analysis</a:t>
            </a:r>
            <a:endParaRPr lang="en-US" sz="280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3FD0885-26FA-44F3-8ACD-B7F6F51D6DCE}"/>
              </a:ext>
            </a:extLst>
          </p:cNvPr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8E00EF6-1655-45EB-9156-AD88BCECD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060" y="1799276"/>
            <a:ext cx="5555729" cy="3968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E49E8C32-646D-4300-AAC1-920BB0B1BE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84379" y="1860181"/>
            <a:ext cx="5247300" cy="4377300"/>
          </a:xfrm>
        </p:spPr>
        <p:txBody>
          <a:bodyPr/>
          <a:lstStyle/>
          <a:p>
            <a:pPr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 infection plateaus because the epidemic reaches an equilibrium (Beta=0.071, I=40)</a:t>
            </a: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Where no more people can be infected.</a:t>
            </a:r>
          </a:p>
          <a:p>
            <a:pPr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Once the susceptible pool is exhausted:</a:t>
            </a: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outbreak stops, regardless of how high the transmission rate (β) is.</a:t>
            </a: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plateau simply reflects the population limit, not the strength of transmission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715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817C9BD-E678-445C-B762-357D31FDCEB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03FCE3-A909-4607-B338-A96230320C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C7FB1969-90A9-49C2-96A6-28CE11FB0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0910870-6322-4921-A0AD-3F8421667633}"/>
              </a:ext>
            </a:extLst>
          </p:cNvPr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8E278C28-A3D0-4352-8FC7-D4AB1D595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657" y="1959527"/>
            <a:ext cx="5349626" cy="3821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A6485A78-D06C-4520-9B1D-0E088FF6E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6719" y="2022832"/>
            <a:ext cx="5349625" cy="3821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91182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ED1410-FF3E-4BC9-9B7D-78CDF767AA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4418CE-7B98-4888-8AB1-32482776C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1" y="183277"/>
            <a:ext cx="10850100" cy="745200"/>
          </a:xfrm>
        </p:spPr>
        <p:txBody>
          <a:bodyPr/>
          <a:lstStyle/>
          <a:p>
            <a:r>
              <a:rPr lang="en-US" sz="2400" b="1" i="0" dirty="0">
                <a:solidFill>
                  <a:srgbClr val="113D59"/>
                </a:solidFill>
                <a:effectLst/>
                <a:latin typeface="Roboto" panose="020B0604020202020204" charset="0"/>
              </a:rPr>
              <a:t>Exercise 2.2: 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What is R₀? How would you use the knowledge of R₀ for disease control? What’s another way to calculate R₀ as Billy showed in class?</a:t>
            </a:r>
            <a:endParaRPr lang="en-US" sz="2400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9ED897-4520-4537-B83D-5003C86B7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FC00B0-A28A-479A-8474-F74477076DB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66751" y="1397875"/>
            <a:ext cx="10850100" cy="476384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Basic reproductive number(R₀) is the average number of secondary cases caused by infected person in a completely susceptible population.</a:t>
            </a:r>
          </a:p>
          <a:p>
            <a:pPr>
              <a:lnSpc>
                <a:spcPct val="150000"/>
              </a:lnSpc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Analysis:</a:t>
            </a:r>
          </a:p>
          <a:p>
            <a:pPr>
              <a:lnSpc>
                <a:spcPct val="150000"/>
              </a:lnSpc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When R₀ = 1: </a:t>
            </a:r>
            <a:r>
              <a:rPr lang="en-US" dirty="0">
                <a:solidFill>
                  <a:srgbClr val="333333"/>
                </a:solidFill>
                <a:latin typeface="Roboto" panose="020B0604020202020204" charset="0"/>
              </a:rPr>
              <a:t>T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he disease neither grows nor dies quickly</a:t>
            </a:r>
          </a:p>
          <a:p>
            <a:pPr>
              <a:lnSpc>
                <a:spcPct val="150000"/>
              </a:lnSpc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When R₀ &lt; 1: Disease dies out</a:t>
            </a:r>
          </a:p>
          <a:p>
            <a:pPr>
              <a:lnSpc>
                <a:spcPct val="150000"/>
              </a:lnSpc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When R₀ &gt; 1: Disease persists and spreads</a:t>
            </a:r>
          </a:p>
          <a:p>
            <a:pPr>
              <a:lnSpc>
                <a:spcPct val="150000"/>
              </a:lnSpc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Another ways to define R₀:</a:t>
            </a:r>
            <a:br>
              <a:rPr lang="en-US" dirty="0"/>
            </a:br>
            <a:r>
              <a:rPr lang="en-US" b="1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R₀= β/ (ϒ + τ) where τ is the treatment rate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290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13E3C6F-E71F-48E8-9FFB-169D6DCD8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7544" y="966953"/>
            <a:ext cx="4740165" cy="5077754"/>
          </a:xfrm>
        </p:spPr>
        <p:txBody>
          <a:bodyPr/>
          <a:lstStyle/>
          <a:p>
            <a:pPr marL="228600" indent="0">
              <a:lnSpc>
                <a:spcPct val="150000"/>
              </a:lnSpc>
            </a:pPr>
            <a:r>
              <a:rPr lang="en-US" sz="1800" b="1" i="0" u="sng" dirty="0">
                <a:solidFill>
                  <a:srgbClr val="333333"/>
                </a:solidFill>
                <a:effectLst/>
                <a:latin typeface="Roboto" panose="020B0604020202020204" charset="0"/>
              </a:rPr>
              <a:t>Intervention Timing Results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Day 1 intervention: 12 infections averted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Day 2 intervention: 3 infections averted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Day 3 intervention: 0 infections averted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Day 4 intervention: 0 infections averted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Day 5 intervention: 0 infections averted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Day 6 intervention: 0 infections averted</a:t>
            </a:r>
          </a:p>
          <a:p>
            <a:pPr marL="228600" indent="0">
              <a:lnSpc>
                <a:spcPct val="150000"/>
              </a:lnSpc>
            </a:pPr>
            <a:r>
              <a:rPr lang="en-US" sz="1800" b="1" u="sng" dirty="0">
                <a:solidFill>
                  <a:srgbClr val="333333"/>
                </a:solidFill>
                <a:latin typeface="Roboto" panose="020B0604020202020204" charset="0"/>
              </a:rPr>
              <a:t>Top 6 most connected individuals:</a:t>
            </a:r>
          </a:p>
          <a:p>
            <a:pPr marL="228600" indent="0">
              <a:lnSpc>
                <a:spcPct val="150000"/>
              </a:lnSpc>
            </a:pPr>
            <a:endParaRPr lang="en-US" sz="1800" b="1" u="sng" dirty="0">
              <a:solidFill>
                <a:srgbClr val="333333"/>
              </a:solidFill>
              <a:latin typeface="Roboto" panose="020B0604020202020204" charset="0"/>
            </a:endParaRP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b="0" i="0" dirty="0">
              <a:solidFill>
                <a:srgbClr val="333333"/>
              </a:solidFill>
              <a:effectLst/>
              <a:latin typeface="Roboto" panose="020B0604020202020204" charset="0"/>
            </a:endParaRPr>
          </a:p>
          <a:p>
            <a:pPr>
              <a:lnSpc>
                <a:spcPct val="150000"/>
              </a:lnSpc>
            </a:pPr>
            <a:endParaRPr lang="en-US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3C1783-BF29-4547-91CF-DA885EAB95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B11A16-064A-4AE1-ABDF-0977FD642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1" y="354260"/>
            <a:ext cx="10850100" cy="757126"/>
          </a:xfrm>
        </p:spPr>
        <p:txBody>
          <a:bodyPr/>
          <a:lstStyle/>
          <a:p>
            <a:r>
              <a:rPr lang="en-US" b="0" i="0" dirty="0">
                <a:solidFill>
                  <a:srgbClr val="113D59"/>
                </a:solidFill>
                <a:effectLst/>
                <a:latin typeface="Roboto" panose="020B0604020202020204" charset="0"/>
              </a:rPr>
              <a:t>Exercise 3: Intervention Timing Analysis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84BE87-2352-4C0F-82EA-1946898E11A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E473403-4287-436A-ADF9-8273E7ADA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415" y="1282262"/>
            <a:ext cx="6198592" cy="4498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E83893B-AD77-4276-B7FD-086508E9CB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2495" y="4647764"/>
            <a:ext cx="2165131" cy="139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146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62C07E-0FBC-4B02-840A-739DBD9CB83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61491" y="2231712"/>
            <a:ext cx="7009798" cy="3608754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sz="2200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Baseline (no </a:t>
            </a:r>
            <a:r>
              <a:rPr lang="en-US" sz="2200" b="0" i="0" dirty="0" err="1">
                <a:solidFill>
                  <a:srgbClr val="333333"/>
                </a:solidFill>
                <a:effectLst/>
                <a:latin typeface="Roboto" panose="020B0604020202020204" charset="0"/>
              </a:rPr>
              <a:t>superspreaders</a:t>
            </a:r>
            <a:r>
              <a:rPr lang="en-US" sz="2200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): 1150 total infections</a:t>
            </a:r>
          </a:p>
          <a:p>
            <a:pPr algn="l">
              <a:lnSpc>
                <a:spcPct val="150000"/>
              </a:lnSpc>
            </a:pPr>
            <a:r>
              <a:rPr lang="en-US" sz="2200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Most connected as </a:t>
            </a:r>
            <a:r>
              <a:rPr lang="en-US" sz="2200" b="0" i="0" dirty="0" err="1">
                <a:solidFill>
                  <a:srgbClr val="333333"/>
                </a:solidFill>
                <a:effectLst/>
                <a:latin typeface="Roboto" panose="020B0604020202020204" charset="0"/>
              </a:rPr>
              <a:t>superspreaders</a:t>
            </a:r>
            <a:r>
              <a:rPr lang="en-US" sz="2200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: 1151 total infections ( 0.1 % increase)</a:t>
            </a:r>
          </a:p>
          <a:p>
            <a:pPr algn="l">
              <a:lnSpc>
                <a:spcPct val="150000"/>
              </a:lnSpc>
            </a:pPr>
            <a:r>
              <a:rPr lang="en-US" sz="2200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Random people as </a:t>
            </a:r>
            <a:r>
              <a:rPr lang="en-US" sz="2200" b="0" i="0" dirty="0" err="1">
                <a:solidFill>
                  <a:srgbClr val="333333"/>
                </a:solidFill>
                <a:effectLst/>
                <a:latin typeface="Roboto" panose="020B0604020202020204" charset="0"/>
              </a:rPr>
              <a:t>superspreaders</a:t>
            </a:r>
            <a:r>
              <a:rPr lang="en-US" sz="2200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: 1150 total infections ( 0 % increase)</a:t>
            </a:r>
          </a:p>
          <a:p>
            <a:endParaRPr lang="en-US" sz="22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E7EDFFF-CC35-487B-9717-731FE41F6805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56544" y="1681878"/>
            <a:ext cx="4104946" cy="432000"/>
          </a:xfrm>
        </p:spPr>
        <p:txBody>
          <a:bodyPr/>
          <a:lstStyle/>
          <a:p>
            <a:r>
              <a:rPr lang="en-US" sz="200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Top 6 most connected individuals</a:t>
            </a:r>
            <a:endParaRPr lang="en-US" sz="20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9E62FED-7703-4DA0-B352-53E1407E99A0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908331" y="1681878"/>
            <a:ext cx="6608520" cy="432000"/>
          </a:xfrm>
        </p:spPr>
        <p:txBody>
          <a:bodyPr/>
          <a:lstStyle/>
          <a:p>
            <a:r>
              <a:rPr lang="en-US" b="0" i="0" dirty="0" err="1">
                <a:solidFill>
                  <a:srgbClr val="333333"/>
                </a:solidFill>
                <a:effectLst/>
                <a:latin typeface="Roboto" panose="020B0604020202020204" charset="0"/>
              </a:rPr>
              <a:t>Superspreader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 Effect Analysis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2FD65D-CC8C-4689-92B5-755B20CE0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i="0" dirty="0">
                <a:solidFill>
                  <a:srgbClr val="113D59"/>
                </a:solidFill>
                <a:effectLst/>
                <a:latin typeface="Roboto" panose="020B0604020202020204" charset="0"/>
              </a:rPr>
              <a:t>Exercise 3.1: 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Who are the top 6 most connected individuals abased on betweenness? Do they differ from those based on degree centrality? Comment on whether they are different or the same - why?</a:t>
            </a:r>
            <a:endParaRPr lang="en-US" sz="24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30BD5C-962D-47FC-9522-DDFE8923A1B6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571288" y="6308725"/>
            <a:ext cx="620712" cy="366713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AC5845-72D1-4BD0-B140-2EBDE475C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413" y="2359455"/>
            <a:ext cx="3238952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670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0F3577E-2193-47DE-829F-02C8089BE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751" y="1797269"/>
            <a:ext cx="5247300" cy="3263464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Baseline (no </a:t>
            </a:r>
            <a:r>
              <a:rPr lang="en-US" dirty="0" err="1"/>
              <a:t>superspreaders</a:t>
            </a:r>
            <a:r>
              <a:rPr lang="en-US" dirty="0"/>
              <a:t>): 1109 total infections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Most connected as </a:t>
            </a:r>
            <a:r>
              <a:rPr lang="en-US" dirty="0" err="1"/>
              <a:t>superspreaders</a:t>
            </a:r>
            <a:r>
              <a:rPr lang="en-US" dirty="0"/>
              <a:t>: 1126 total infections ( 1.5 % increase)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Random people as </a:t>
            </a:r>
            <a:r>
              <a:rPr lang="en-US" dirty="0" err="1"/>
              <a:t>superspreaders</a:t>
            </a:r>
            <a:r>
              <a:rPr lang="en-US" dirty="0"/>
              <a:t>: 1117 total infections ( 0.7 % increase)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6B5FB8D-396C-42B4-8102-8F2834A5F10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32331" y="2047921"/>
            <a:ext cx="5093006" cy="309689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Baseline (no </a:t>
            </a:r>
            <a:r>
              <a:rPr lang="en-US" dirty="0" err="1"/>
              <a:t>superspreaders</a:t>
            </a:r>
            <a:r>
              <a:rPr lang="en-US" dirty="0"/>
              <a:t>): 1109 total infections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Most connected as </a:t>
            </a:r>
            <a:r>
              <a:rPr lang="en-US" dirty="0" err="1"/>
              <a:t>superspreaders</a:t>
            </a:r>
            <a:r>
              <a:rPr lang="en-US" dirty="0"/>
              <a:t>: 1126 total infections ( 1.5 % increase)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Random people as </a:t>
            </a:r>
            <a:r>
              <a:rPr lang="en-US" dirty="0" err="1"/>
              <a:t>superspreaders</a:t>
            </a:r>
            <a:r>
              <a:rPr lang="en-US" dirty="0"/>
              <a:t>: 1117 total infections ( 0.7 % increase)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59845D9-6E5D-4C57-85C1-D75D44FB562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Degree Centrality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2D92795-1711-46A7-956C-72CDA3FEAB3F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5517931" y="1220755"/>
            <a:ext cx="6390290" cy="576514"/>
          </a:xfrm>
        </p:spPr>
        <p:txBody>
          <a:bodyPr/>
          <a:lstStyle/>
          <a:p>
            <a:r>
              <a:rPr lang="en-US" sz="2000" dirty="0">
                <a:solidFill>
                  <a:srgbClr val="FF0000"/>
                </a:solidFill>
              </a:rPr>
              <a:t>Betweenness Centrality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97EE41F-2875-4A7C-AFE0-F08A0983D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01" y="224903"/>
            <a:ext cx="10850100" cy="745200"/>
          </a:xfrm>
        </p:spPr>
        <p:txBody>
          <a:bodyPr/>
          <a:lstStyle/>
          <a:p>
            <a:pPr algn="l"/>
            <a:r>
              <a:rPr lang="en-US" sz="2400" b="1" i="0" u="sng" dirty="0">
                <a:solidFill>
                  <a:srgbClr val="113D59"/>
                </a:solidFill>
                <a:effectLst/>
                <a:latin typeface="Roboto" panose="020B0604020202020204" charset="0"/>
              </a:rPr>
              <a:t>Exercise 3.2: </a:t>
            </a:r>
            <a:r>
              <a:rPr lang="en-US" sz="2400" b="1" i="0" u="sng" dirty="0">
                <a:solidFill>
                  <a:srgbClr val="333333"/>
                </a:solidFill>
                <a:effectLst/>
                <a:latin typeface="Roboto" panose="020B0604020202020204" charset="0"/>
              </a:rPr>
              <a:t>Calculate the </a:t>
            </a:r>
            <a:r>
              <a:rPr lang="en-US" sz="2400" b="1" i="0" u="sng" dirty="0" err="1">
                <a:solidFill>
                  <a:srgbClr val="333333"/>
                </a:solidFill>
                <a:effectLst/>
                <a:latin typeface="Roboto" panose="020B0604020202020204" charset="0"/>
              </a:rPr>
              <a:t>superspreader</a:t>
            </a:r>
            <a:endParaRPr lang="en-US" sz="2400" b="1" u="sng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DC7D0E-146E-42DD-9B4D-74525B671F87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571288" y="6308725"/>
            <a:ext cx="620712" cy="366713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64FF37-B492-4B98-B6E7-E41AD2374AB0}"/>
              </a:ext>
            </a:extLst>
          </p:cNvPr>
          <p:cNvSpPr txBox="1"/>
          <p:nvPr/>
        </p:nvSpPr>
        <p:spPr>
          <a:xfrm>
            <a:off x="1849821" y="5060732"/>
            <a:ext cx="709448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THEY DON’T DIFFER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 the network, the individuals with the </a:t>
            </a:r>
            <a:r>
              <a:rPr lang="en-US" sz="2000" b="1" dirty="0">
                <a:solidFill>
                  <a:srgbClr val="FF0000"/>
                </a:solidFill>
              </a:rPr>
              <a:t>most connections  (high degree)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also happen to be the ones having high </a:t>
            </a:r>
            <a:r>
              <a:rPr lang="en-US" sz="2000" b="1" dirty="0">
                <a:solidFill>
                  <a:srgbClr val="FF0000"/>
                </a:solidFill>
              </a:rPr>
              <a:t>bridging (high betweenness)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98397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AF973B8-3D31-4025-BDA9-25FC27BF5A0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69551" y="2429067"/>
            <a:ext cx="5247300" cy="3852900"/>
          </a:xfrm>
        </p:spPr>
        <p:txBody>
          <a:bodyPr/>
          <a:lstStyle/>
          <a:p>
            <a:pPr algn="l"/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With targeted intervention: 1077 total infections</a:t>
            </a:r>
          </a:p>
          <a:p>
            <a:pPr algn="l"/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Infections prevented: 73</a:t>
            </a:r>
          </a:p>
          <a:p>
            <a:pPr algn="l"/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Effectiveness: 6.3 % reduction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AA004E-3EAF-41A3-8784-B8028B63D71A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310356" y="1433471"/>
            <a:ext cx="5492692" cy="782880"/>
          </a:xfrm>
        </p:spPr>
        <p:txBody>
          <a:bodyPr/>
          <a:lstStyle/>
          <a:p>
            <a:pPr marL="0" indent="0"/>
            <a:r>
              <a:rPr lang="en-US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Top 3 most connected individuals based on betweenness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E4923B5-CDC5-4694-A905-7E13B6B1A335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116075" y="1433471"/>
            <a:ext cx="5765569" cy="995596"/>
          </a:xfrm>
        </p:spPr>
        <p:txBody>
          <a:bodyPr/>
          <a:lstStyle/>
          <a:p>
            <a:pPr marL="0" indent="0"/>
            <a:r>
              <a:rPr lang="en-US" sz="220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Targeted Intervention (Isolate top 3 connected) based on betweenness</a:t>
            </a:r>
            <a:endParaRPr lang="en-US" sz="22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469D4F2-9C9F-48D8-99E6-CB3FE5A2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56" y="115789"/>
            <a:ext cx="11206495" cy="995596"/>
          </a:xfrm>
        </p:spPr>
        <p:txBody>
          <a:bodyPr/>
          <a:lstStyle/>
          <a:p>
            <a:r>
              <a:rPr lang="en-US" sz="2800" b="1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How many infections are prevented if we consider betweenness centrality isolation?</a:t>
            </a:r>
            <a:endParaRPr lang="en-US" sz="28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A35279-A88A-4369-B0DC-B4F5567A6E47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571288" y="6308725"/>
            <a:ext cx="620712" cy="366713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9CF34C5-3E05-4E4D-B2F8-900E47291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11" y="3267826"/>
            <a:ext cx="4286848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043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B3E83A-3A43-4A95-A6B1-565ABDE942D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Network Structure Comparison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B7D9CFE-0684-4A25-9EB7-0CE055BAD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13D59"/>
                </a:solidFill>
                <a:effectLst/>
                <a:latin typeface="Roboto" panose="020B0604020202020204" charset="0"/>
              </a:rPr>
              <a:t>Network Structure Modification**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FD2093-8EAF-4BAE-B0AE-6747D15E1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539" y="1784351"/>
            <a:ext cx="3002315" cy="4394955"/>
          </a:xfrm>
          <a:prstGeom prst="rect">
            <a:avLst/>
          </a:prstGeom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3E114176-B867-436F-90AC-9C40D50A01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1021" y="1555530"/>
            <a:ext cx="6332910" cy="4523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5657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239AD60-6BA7-405E-A30C-ED0298A59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663" y="2459421"/>
            <a:ext cx="5247388" cy="3177830"/>
          </a:xfrm>
        </p:spPr>
        <p:txBody>
          <a:bodyPr/>
          <a:lstStyle/>
          <a:p>
            <a:pPr algn="l"/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Baseline (no intervention): 1150 total infections</a:t>
            </a:r>
          </a:p>
          <a:p>
            <a:pPr algn="l"/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Strategy A (Universal masks Day 3): 1150 total infections - 0 % reduction</a:t>
            </a:r>
          </a:p>
          <a:p>
            <a:pPr algn="l"/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Strategy B (Isolate top 3 connected): 1077 total infections - 6.3 % reduction</a:t>
            </a:r>
          </a:p>
          <a:p>
            <a:pPr algn="l"/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Strategy C (Random isolation of 6): 1002 total infections - 12.9 % reduction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CE326B-E4CF-437A-92F5-0ACE3C5C85D7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66751" y="1220755"/>
            <a:ext cx="10850100" cy="523962"/>
          </a:xfrm>
        </p:spPr>
        <p:txBody>
          <a:bodyPr/>
          <a:lstStyle/>
          <a:p>
            <a:pPr marL="0" indent="0"/>
            <a:r>
              <a:rPr lang="en-US" dirty="0">
                <a:solidFill>
                  <a:srgbClr val="333333"/>
                </a:solidFill>
                <a:latin typeface="Roboto" panose="020B0604020202020204" charset="0"/>
              </a:rPr>
              <a:t>P</a:t>
            </a:r>
            <a:r>
              <a:rPr lang="en-US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ublic health official planning intervention strategies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102FC47-ECF1-4225-B625-807B68D25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069" y="199697"/>
            <a:ext cx="10938782" cy="911688"/>
          </a:xfrm>
        </p:spPr>
        <p:txBody>
          <a:bodyPr/>
          <a:lstStyle/>
          <a:p>
            <a:r>
              <a:rPr lang="en-US" b="1" i="0" dirty="0">
                <a:solidFill>
                  <a:srgbClr val="113D59"/>
                </a:solidFill>
                <a:effectLst/>
                <a:latin typeface="Roboto" panose="020B0604020202020204" charset="0"/>
              </a:rPr>
              <a:t>Exercise 4: General Epidemiological Modelling Questions</a:t>
            </a:r>
            <a:endParaRPr lang="en-US" b="1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02B5BA3-9CFF-44AD-AE96-639AC03EF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7951" y="1757801"/>
            <a:ext cx="5431221" cy="3879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97814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D1F77CF-ED01-44C6-99DD-9690046B4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BONUS ANALYSIS: Cost-Effectiveness</a:t>
            </a:r>
            <a:endParaRPr lang="en-US" b="1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3917BC5-FC25-47AC-9012-E26941AB9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12ED06C-3395-46C3-875D-7F94C274022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5715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Assumed costs: 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Universal masking = $1000, Isolation = $500/person</a:t>
            </a:r>
          </a:p>
          <a:p>
            <a:pPr marL="5715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Cost per infection prevented:</a:t>
            </a:r>
          </a:p>
          <a:p>
            <a:pPr marL="5715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Strategy A: 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$ Inf per infection prevented</a:t>
            </a:r>
          </a:p>
          <a:p>
            <a:pPr marL="5715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33333"/>
                </a:solidFill>
                <a:latin typeface="Roboto" panose="020B0604020202020204" charset="0"/>
              </a:rPr>
              <a:t>Strategy B: 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$ 21 per infection prevented</a:t>
            </a:r>
          </a:p>
          <a:p>
            <a:pPr marL="5715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33333"/>
                </a:solidFill>
                <a:latin typeface="Roboto" panose="020B0604020202020204" charset="0"/>
              </a:rPr>
              <a:t>Strategy C: 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$ 20 per infection prevented</a:t>
            </a:r>
          </a:p>
          <a:p>
            <a:pPr marL="5715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8908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7FF8CC0-D071-48BA-A9B2-B09F2F8F3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3A541E-BAA7-4CE4-A414-A3934DD7A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AAA6791-B6B1-48AC-A659-01986CF4092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53143" y="1209734"/>
            <a:ext cx="10863708" cy="4951985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Network structure critically influences disease transmission</a:t>
            </a:r>
          </a:p>
          <a:p>
            <a:pPr algn="l">
              <a:lnSpc>
                <a:spcPct val="150000"/>
              </a:lnSpc>
            </a:pPr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Early intervention is more effective than delayed action</a:t>
            </a:r>
          </a:p>
          <a:p>
            <a:pPr algn="l">
              <a:lnSpc>
                <a:spcPct val="150000"/>
              </a:lnSpc>
            </a:pPr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Targeted interventions can be more efficient than broad measures</a:t>
            </a:r>
          </a:p>
          <a:p>
            <a:pPr algn="l">
              <a:lnSpc>
                <a:spcPct val="150000"/>
              </a:lnSpc>
            </a:pPr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Public health decisions require balancing effectiveness, cost, and feasibility</a:t>
            </a:r>
          </a:p>
          <a:p>
            <a:pPr algn="l">
              <a:lnSpc>
                <a:spcPct val="150000"/>
              </a:lnSpc>
            </a:pPr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Mathematical modelling helps evaluate intervention strategies before implementation</a:t>
            </a:r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48854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5" name="Google Shape;1755;p94"/>
          <p:cNvGrpSpPr/>
          <p:nvPr/>
        </p:nvGrpSpPr>
        <p:grpSpPr>
          <a:xfrm>
            <a:off x="0" y="382633"/>
            <a:ext cx="4501249" cy="436800"/>
            <a:chOff x="23676" y="510670"/>
            <a:chExt cx="4501249" cy="436800"/>
          </a:xfrm>
        </p:grpSpPr>
        <p:sp>
          <p:nvSpPr>
            <p:cNvPr id="1756" name="Google Shape;1756;p94"/>
            <p:cNvSpPr/>
            <p:nvPr/>
          </p:nvSpPr>
          <p:spPr>
            <a:xfrm>
              <a:off x="3773425" y="510670"/>
              <a:ext cx="751500" cy="436800"/>
            </a:xfrm>
            <a:prstGeom prst="flowChartDelay">
              <a:avLst/>
            </a:prstGeom>
            <a:solidFill>
              <a:srgbClr val="468AB2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7" name="Google Shape;1757;p94"/>
            <p:cNvSpPr/>
            <p:nvPr/>
          </p:nvSpPr>
          <p:spPr>
            <a:xfrm>
              <a:off x="23676" y="510670"/>
              <a:ext cx="3749700" cy="436800"/>
            </a:xfrm>
            <a:prstGeom prst="rect">
              <a:avLst/>
            </a:prstGeom>
            <a:solidFill>
              <a:srgbClr val="468AB2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58" name="Google Shape;1758;p94"/>
          <p:cNvSpPr txBox="1"/>
          <p:nvPr/>
        </p:nvSpPr>
        <p:spPr>
          <a:xfrm>
            <a:off x="666751" y="68627"/>
            <a:ext cx="52371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rgbClr val="B5C75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9" name="Google Shape;1759;p94"/>
          <p:cNvPicPr preferRelativeResize="0"/>
          <p:nvPr/>
        </p:nvPicPr>
        <p:blipFill rotWithShape="1">
          <a:blip r:embed="rId3">
            <a:alphaModFix/>
          </a:blip>
          <a:srcRect b="52283"/>
          <a:stretch/>
        </p:blipFill>
        <p:spPr>
          <a:xfrm>
            <a:off x="131361" y="6222211"/>
            <a:ext cx="1904118" cy="4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0" name="Google Shape;1760;p94"/>
          <p:cNvSpPr/>
          <p:nvPr/>
        </p:nvSpPr>
        <p:spPr>
          <a:xfrm>
            <a:off x="378691" y="2309091"/>
            <a:ext cx="3454500" cy="19992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1" name="Google Shape;1761;p94"/>
          <p:cNvSpPr txBox="1"/>
          <p:nvPr/>
        </p:nvSpPr>
        <p:spPr>
          <a:xfrm>
            <a:off x="6335480" y="482825"/>
            <a:ext cx="5130900" cy="37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60960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  <a:p>
            <a:pPr marL="609600" marR="0" lvl="0" indent="-43815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2100"/>
              <a:buFont typeface="Century Gothic"/>
              <a:buChar char="●"/>
            </a:pPr>
            <a:r>
              <a:rPr lang="en-US" sz="2100">
                <a:latin typeface="Century Gothic"/>
                <a:ea typeface="Century Gothic"/>
                <a:cs typeface="Century Gothic"/>
                <a:sym typeface="Century Gothic"/>
              </a:rPr>
              <a:t>Christian Selinger</a:t>
            </a:r>
            <a:endParaRPr sz="1900"/>
          </a:p>
          <a:p>
            <a:pPr marL="609600" marR="0" lvl="0" indent="-43815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2100"/>
              <a:buFont typeface="Century Gothic"/>
              <a:buChar char="●"/>
            </a:pPr>
            <a:r>
              <a:rPr lang="en-US" sz="2100">
                <a:latin typeface="Century Gothic"/>
                <a:ea typeface="Century Gothic"/>
                <a:cs typeface="Century Gothic"/>
                <a:sym typeface="Century Gothic"/>
              </a:rPr>
              <a:t>Emilie Pothin</a:t>
            </a:r>
            <a:endParaRPr sz="21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609600" marR="0" lvl="0" indent="-43815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2100"/>
              <a:buFont typeface="Century Gothic"/>
              <a:buChar char="●"/>
            </a:pPr>
            <a:r>
              <a:rPr lang="en-US" sz="2100">
                <a:latin typeface="Century Gothic"/>
                <a:ea typeface="Century Gothic"/>
                <a:cs typeface="Century Gothic"/>
                <a:sym typeface="Century Gothic"/>
              </a:rPr>
              <a:t>Cameline Orlendo</a:t>
            </a:r>
            <a:endParaRPr sz="21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609600" marR="0" lvl="0" indent="-43815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2100"/>
              <a:buFont typeface="Century Gothic"/>
              <a:buChar char="●"/>
            </a:pPr>
            <a:r>
              <a:rPr lang="en-US" sz="2100">
                <a:latin typeface="Century Gothic"/>
                <a:ea typeface="Century Gothic"/>
                <a:cs typeface="Century Gothic"/>
                <a:sym typeface="Century Gothic"/>
              </a:rPr>
              <a:t>Zenabu Suboi</a:t>
            </a:r>
            <a:endParaRPr sz="21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609600" marR="0" lvl="0" indent="-43815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2100"/>
              <a:buFont typeface="Century Gothic"/>
              <a:buChar char="●"/>
            </a:pPr>
            <a:r>
              <a:rPr lang="en-US" sz="2100">
                <a:latin typeface="Century Gothic"/>
                <a:ea typeface="Century Gothic"/>
                <a:cs typeface="Century Gothic"/>
                <a:sym typeface="Century Gothic"/>
              </a:rPr>
              <a:t>Geoffrey Githinji</a:t>
            </a:r>
            <a:endParaRPr sz="21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42900" marR="0" lvl="0" indent="-20320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endParaRPr sz="21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42900" marR="0" lvl="0" indent="-20320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endParaRPr sz="21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92100" marR="0" lvl="0" indent="-15240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endParaRPr sz="21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92100" marR="0" lvl="0" indent="-15240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endParaRPr sz="21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b="1" u="sng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62" name="Google Shape;1762;p94"/>
          <p:cNvPicPr preferRelativeResize="0"/>
          <p:nvPr/>
        </p:nvPicPr>
        <p:blipFill rotWithShape="1">
          <a:blip r:embed="rId4">
            <a:alphaModFix/>
          </a:blip>
          <a:srcRect b="52799"/>
          <a:stretch/>
        </p:blipFill>
        <p:spPr>
          <a:xfrm>
            <a:off x="1443580" y="1722953"/>
            <a:ext cx="2336803" cy="638495"/>
          </a:xfrm>
          <a:prstGeom prst="rect">
            <a:avLst/>
          </a:prstGeom>
          <a:noFill/>
          <a:ln>
            <a:noFill/>
          </a:ln>
        </p:spPr>
      </p:pic>
      <p:sp>
        <p:nvSpPr>
          <p:cNvPr id="1763" name="Google Shape;1763;p94"/>
          <p:cNvSpPr txBox="1"/>
          <p:nvPr/>
        </p:nvSpPr>
        <p:spPr>
          <a:xfrm>
            <a:off x="365052" y="382633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entury Gothic"/>
              <a:buNone/>
            </a:pPr>
            <a:r>
              <a:rPr lang="en-US" sz="2000" b="1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Acknowledgements</a:t>
            </a:r>
            <a:endParaRPr sz="1900"/>
          </a:p>
        </p:txBody>
      </p:sp>
      <p:sp>
        <p:nvSpPr>
          <p:cNvPr id="1764" name="Google Shape;1764;p94"/>
          <p:cNvSpPr txBox="1"/>
          <p:nvPr/>
        </p:nvSpPr>
        <p:spPr>
          <a:xfrm>
            <a:off x="666751" y="4823725"/>
            <a:ext cx="5184300" cy="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u="sng">
                <a:solidFill>
                  <a:srgbClr val="468AB2"/>
                </a:solidFill>
                <a:latin typeface="Century Gothic"/>
                <a:ea typeface="Century Gothic"/>
                <a:cs typeface="Century Gothic"/>
                <a:sym typeface="Century Gothic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billy.bauzile@swisstph.ch</a:t>
            </a:r>
            <a:r>
              <a:rPr lang="en-US" sz="2100">
                <a:solidFill>
                  <a:srgbClr val="468AB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2100">
              <a:solidFill>
                <a:srgbClr val="468AB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65" name="Google Shape;1765;p9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62452" y="6248548"/>
            <a:ext cx="493916" cy="493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6" name="Google Shape;1766;p9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61001" y="6348573"/>
            <a:ext cx="954107" cy="2469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Swiss TPH">
      <a:dk1>
        <a:srgbClr val="000000"/>
      </a:dk1>
      <a:lt1>
        <a:srgbClr val="EFEFF0"/>
      </a:lt1>
      <a:dk2>
        <a:srgbClr val="BABCBE"/>
      </a:dk2>
      <a:lt2>
        <a:srgbClr val="717073"/>
      </a:lt2>
      <a:accent1>
        <a:srgbClr val="222222"/>
      </a:accent1>
      <a:accent2>
        <a:srgbClr val="BF3227"/>
      </a:accent2>
      <a:accent3>
        <a:srgbClr val="468AB2"/>
      </a:accent3>
      <a:accent4>
        <a:srgbClr val="EDCD64"/>
      </a:accent4>
      <a:accent5>
        <a:srgbClr val="B5C751"/>
      </a:accent5>
      <a:accent6>
        <a:srgbClr val="868686"/>
      </a:accent6>
      <a:hlink>
        <a:srgbClr val="00344B"/>
      </a:hlink>
      <a:folHlink>
        <a:srgbClr val="7FB9C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9771</TotalTime>
  <Words>1409</Words>
  <Application>Microsoft Office PowerPoint</Application>
  <PresentationFormat>Widescreen</PresentationFormat>
  <Paragraphs>192</Paragraphs>
  <Slides>24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7" baseType="lpstr">
      <vt:lpstr>Wingdings</vt:lpstr>
      <vt:lpstr>Century Gothic</vt:lpstr>
      <vt:lpstr>fkGroteskNeue</vt:lpstr>
      <vt:lpstr>NTR</vt:lpstr>
      <vt:lpstr>Cambria Math</vt:lpstr>
      <vt:lpstr>-apple-system</vt:lpstr>
      <vt:lpstr>Calibri</vt:lpstr>
      <vt:lpstr>KaTeX_Main</vt:lpstr>
      <vt:lpstr>Sans Serif Collection</vt:lpstr>
      <vt:lpstr>KaTeX_Math</vt:lpstr>
      <vt:lpstr>Roboto</vt:lpstr>
      <vt:lpstr>Arial</vt:lpstr>
      <vt:lpstr>Custom Design</vt:lpstr>
      <vt:lpstr>PowerPoint Presentation</vt:lpstr>
      <vt:lpstr>PowerPoint Presentation</vt:lpstr>
      <vt:lpstr>Scenario</vt:lpstr>
      <vt:lpstr>Network Modeling with SIS</vt:lpstr>
      <vt:lpstr>Flow Diagram &amp; Differential Equation</vt:lpstr>
      <vt:lpstr>Network Description</vt:lpstr>
      <vt:lpstr>Exercises</vt:lpstr>
      <vt:lpstr>PART 1: NETWORK CONSTRUCION</vt:lpstr>
      <vt:lpstr>Part 4. ANALYSIS AND RESULTS</vt:lpstr>
      <vt:lpstr>VISUALIZATION OF EPIDEMIC PROGRESSION</vt:lpstr>
      <vt:lpstr>Exercise 1: Network with Node sizes proportional: Degree and  betweenness centrality </vt:lpstr>
      <vt:lpstr>Exercise 1.2: Calculate and compare betweenness centrality for Kenya vs other countries</vt:lpstr>
      <vt:lpstr>Exercise 2: Parameter Sensitivity Analysis</vt:lpstr>
      <vt:lpstr>PowerPoint Presentation</vt:lpstr>
      <vt:lpstr>Exercise 2.2: What is R₀? How would you use the knowledge of R₀ for disease control? What’s another way to calculate R₀ as Billy showed in class?</vt:lpstr>
      <vt:lpstr>Exercise 3: Intervention Timing Analysis</vt:lpstr>
      <vt:lpstr>Exercise 3.1: Who are the top 6 most connected individuals abased on betweenness? Do they differ from those based on degree centrality? Comment on whether they are different or the same - why?</vt:lpstr>
      <vt:lpstr>Exercise 3.2: Calculate the superspreader</vt:lpstr>
      <vt:lpstr>How many infections are prevented if we consider betweenness centrality isolation?</vt:lpstr>
      <vt:lpstr>Network Structure Modification**</vt:lpstr>
      <vt:lpstr>Exercise 4: General Epidemiological Modelling Questions</vt:lpstr>
      <vt:lpstr>BONUS ANALYSIS: Cost-Effectiveness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Cameline Orlendo</dc:creator>
  <cp:lastModifiedBy>Bernard Karanja</cp:lastModifiedBy>
  <cp:revision>35</cp:revision>
  <dcterms:modified xsi:type="dcterms:W3CDTF">2025-09-02T16:15:17Z</dcterms:modified>
</cp:coreProperties>
</file>