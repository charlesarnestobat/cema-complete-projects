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3" r:id="rId6"/>
    <p:sldId id="260" r:id="rId7"/>
    <p:sldId id="264" r:id="rId8"/>
    <p:sldId id="265" r:id="rId9"/>
    <p:sldId id="267" r:id="rId10"/>
    <p:sldId id="269" r:id="rId11"/>
    <p:sldId id="261" r:id="rId12"/>
    <p:sldId id="268" r:id="rId13"/>
    <p:sldId id="270" r:id="rId14"/>
    <p:sldId id="271" r:id="rId15"/>
    <p:sldId id="272" r:id="rId16"/>
    <p:sldId id="273" r:id="rId17"/>
    <p:sldId id="274" r:id="rId18"/>
  </p:sldIdLst>
  <p:sldSz cx="18288000" cy="10287000"/>
  <p:notesSz cx="6858000" cy="9144000"/>
  <p:embeddedFontLst>
    <p:embeddedFont>
      <p:font typeface="Montserrat Bold" panose="020B0604020202020204" charset="0"/>
      <p:regular r:id="rId19"/>
    </p:embeddedFont>
    <p:embeddedFont>
      <p:font typeface="Montserrat Bold Italics" panose="020B0604020202020204" charset="0"/>
      <p:regular r:id="rId20"/>
    </p:embeddedFont>
    <p:embeddedFont>
      <p:font typeface="Montserrat Italics" panose="020B0604020202020204" charset="0"/>
      <p:regular r:id="rId21"/>
    </p:embeddedFont>
    <p:embeddedFont>
      <p:font typeface="Poppins Bold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Kamunya" userId="9d7a06f1-9dc0-421d-9b16-51341c440144" providerId="ADAL" clId="{DA9DCFE1-1259-4695-85A5-0801927BA239}"/>
    <pc:docChg chg="delSld">
      <pc:chgData name="Stephanie Kamunya" userId="9d7a06f1-9dc0-421d-9b16-51341c440144" providerId="ADAL" clId="{DA9DCFE1-1259-4695-85A5-0801927BA239}" dt="2025-06-19T05:02:27.841" v="0" actId="47"/>
      <pc:docMkLst>
        <pc:docMk/>
      </pc:docMkLst>
      <pc:sldChg chg="del">
        <pc:chgData name="Stephanie Kamunya" userId="9d7a06f1-9dc0-421d-9b16-51341c440144" providerId="ADAL" clId="{DA9DCFE1-1259-4695-85A5-0801927BA239}" dt="2025-06-19T05:02:27.841" v="0" actId="47"/>
        <pc:sldMkLst>
          <pc:docMk/>
          <pc:sldMk cId="828220794" sldId="275"/>
        </pc:sldMkLst>
      </pc:sldChg>
      <pc:sldChg chg="del">
        <pc:chgData name="Stephanie Kamunya" userId="9d7a06f1-9dc0-421d-9b16-51341c440144" providerId="ADAL" clId="{DA9DCFE1-1259-4695-85A5-0801927BA239}" dt="2025-06-19T05:02:27.841" v="0" actId="47"/>
        <pc:sldMkLst>
          <pc:docMk/>
          <pc:sldMk cId="870743094" sldId="276"/>
        </pc:sldMkLst>
      </pc:sldChg>
      <pc:sldChg chg="del">
        <pc:chgData name="Stephanie Kamunya" userId="9d7a06f1-9dc0-421d-9b16-51341c440144" providerId="ADAL" clId="{DA9DCFE1-1259-4695-85A5-0801927BA239}" dt="2025-06-19T05:02:27.841" v="0" actId="47"/>
        <pc:sldMkLst>
          <pc:docMk/>
          <pc:sldMk cId="687843917" sldId="277"/>
        </pc:sldMkLst>
      </pc:sldChg>
      <pc:sldChg chg="del">
        <pc:chgData name="Stephanie Kamunya" userId="9d7a06f1-9dc0-421d-9b16-51341c440144" providerId="ADAL" clId="{DA9DCFE1-1259-4695-85A5-0801927BA239}" dt="2025-06-19T05:02:27.841" v="0" actId="47"/>
        <pc:sldMkLst>
          <pc:docMk/>
          <pc:sldMk cId="986505788" sldId="278"/>
        </pc:sldMkLst>
      </pc:sldChg>
      <pc:sldChg chg="del">
        <pc:chgData name="Stephanie Kamunya" userId="9d7a06f1-9dc0-421d-9b16-51341c440144" providerId="ADAL" clId="{DA9DCFE1-1259-4695-85A5-0801927BA239}" dt="2025-06-19T05:02:27.841" v="0" actId="47"/>
        <pc:sldMkLst>
          <pc:docMk/>
          <pc:sldMk cId="2188696266" sldId="279"/>
        </pc:sldMkLst>
      </pc:sldChg>
      <pc:sldChg chg="del">
        <pc:chgData name="Stephanie Kamunya" userId="9d7a06f1-9dc0-421d-9b16-51341c440144" providerId="ADAL" clId="{DA9DCFE1-1259-4695-85A5-0801927BA239}" dt="2025-06-19T05:02:27.841" v="0" actId="47"/>
        <pc:sldMkLst>
          <pc:docMk/>
          <pc:sldMk cId="2790611458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/>
          <p:cNvGrpSpPr/>
          <p:nvPr/>
        </p:nvGrpSpPr>
        <p:grpSpPr>
          <a:xfrm>
            <a:off x="5243485" y="271789"/>
            <a:ext cx="7801030" cy="1683812"/>
            <a:chOff x="0" y="0"/>
            <a:chExt cx="10401373" cy="2245083"/>
          </a:xfrm>
        </p:grpSpPr>
        <p:sp>
          <p:nvSpPr>
            <p:cNvPr id="4" name="Freeform 4"/>
            <p:cNvSpPr/>
            <p:nvPr/>
          </p:nvSpPr>
          <p:spPr>
            <a:xfrm>
              <a:off x="0" y="379389"/>
              <a:ext cx="3895248" cy="1204473"/>
            </a:xfrm>
            <a:custGeom>
              <a:avLst/>
              <a:gdLst/>
              <a:ahLst/>
              <a:cxnLst/>
              <a:rect l="l" t="t" r="r" b="b"/>
              <a:pathLst>
                <a:path w="3895248" h="1204473">
                  <a:moveTo>
                    <a:pt x="0" y="0"/>
                  </a:moveTo>
                  <a:lnTo>
                    <a:pt x="3895248" y="0"/>
                  </a:lnTo>
                  <a:lnTo>
                    <a:pt x="3895248" y="1204474"/>
                  </a:lnTo>
                  <a:lnTo>
                    <a:pt x="0" y="1204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5370" r="-1364" b="-56415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/>
            <p:cNvSpPr/>
            <p:nvPr/>
          </p:nvSpPr>
          <p:spPr>
            <a:xfrm>
              <a:off x="4253623" y="0"/>
              <a:ext cx="2245083" cy="2245083"/>
            </a:xfrm>
            <a:custGeom>
              <a:avLst/>
              <a:gdLst/>
              <a:ahLst/>
              <a:cxnLst/>
              <a:rect l="l" t="t" r="r" b="b"/>
              <a:pathLst>
                <a:path w="2245083" h="2245083">
                  <a:moveTo>
                    <a:pt x="0" y="0"/>
                  </a:moveTo>
                  <a:lnTo>
                    <a:pt x="2245083" y="0"/>
                  </a:lnTo>
                  <a:lnTo>
                    <a:pt x="2245083" y="2245083"/>
                  </a:lnTo>
                  <a:lnTo>
                    <a:pt x="0" y="2245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63968" y="8925"/>
              <a:ext cx="3537405" cy="1574938"/>
            </a:xfrm>
            <a:custGeom>
              <a:avLst/>
              <a:gdLst/>
              <a:ahLst/>
              <a:cxnLst/>
              <a:rect l="l" t="t" r="r" b="b"/>
              <a:pathLst>
                <a:path w="3537405" h="1574938">
                  <a:moveTo>
                    <a:pt x="0" y="0"/>
                  </a:moveTo>
                  <a:lnTo>
                    <a:pt x="3537405" y="0"/>
                  </a:lnTo>
                  <a:lnTo>
                    <a:pt x="3537405" y="1574938"/>
                  </a:lnTo>
                  <a:lnTo>
                    <a:pt x="0" y="1574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457" b="-3379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14878023" y="9525"/>
            <a:ext cx="3400452" cy="3400452"/>
          </a:xfrm>
          <a:custGeom>
            <a:avLst/>
            <a:gdLst/>
            <a:ahLst/>
            <a:cxnLst/>
            <a:rect l="l" t="t" r="r" b="b"/>
            <a:pathLst>
              <a:path w="3400452" h="3400452">
                <a:moveTo>
                  <a:pt x="0" y="0"/>
                </a:moveTo>
                <a:lnTo>
                  <a:pt x="3400452" y="0"/>
                </a:lnTo>
                <a:lnTo>
                  <a:pt x="3400452" y="3400452"/>
                </a:lnTo>
                <a:lnTo>
                  <a:pt x="0" y="3400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/>
          <p:cNvSpPr txBox="1"/>
          <p:nvPr/>
        </p:nvSpPr>
        <p:spPr>
          <a:xfrm>
            <a:off x="2763050" y="7647472"/>
            <a:ext cx="14915350" cy="354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3600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BY [Dr. Stephanie Kamunya, Postdoctoral Fellow, CEMA]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00226" y="4162233"/>
            <a:ext cx="14272113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6103" b="1" dirty="0">
                <a:solidFill>
                  <a:srgbClr val="1D9B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Building a Malaria Model </a:t>
            </a:r>
            <a:endParaRPr lang="en-US" sz="6103" i="1" dirty="0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10" name="Freeform 10"/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/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/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/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/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/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/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/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/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/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/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/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/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/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/>
          <p:cNvSpPr/>
          <p:nvPr/>
        </p:nvSpPr>
        <p:spPr>
          <a:xfrm rot="5400000">
            <a:off x="0" y="6896073"/>
            <a:ext cx="3400452" cy="3400452"/>
          </a:xfrm>
          <a:custGeom>
            <a:avLst/>
            <a:gdLst/>
            <a:ahLst/>
            <a:cxnLst/>
            <a:rect l="l" t="t" r="r" b="b"/>
            <a:pathLst>
              <a:path w="3400452" h="3400452">
                <a:moveTo>
                  <a:pt x="0" y="0"/>
                </a:moveTo>
                <a:lnTo>
                  <a:pt x="3400452" y="0"/>
                </a:lnTo>
                <a:lnTo>
                  <a:pt x="3400452" y="3400452"/>
                </a:lnTo>
                <a:lnTo>
                  <a:pt x="0" y="3400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5" name="Freeform 25"/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6" name="TextBox 26"/>
          <p:cNvSpPr txBox="1"/>
          <p:nvPr/>
        </p:nvSpPr>
        <p:spPr>
          <a:xfrm>
            <a:off x="2048906" y="6149608"/>
            <a:ext cx="709509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Elementary Vector-Host Model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303102" y="9651707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/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/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/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/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/>
          <p:cNvSpPr txBox="1"/>
          <p:nvPr/>
        </p:nvSpPr>
        <p:spPr>
          <a:xfrm>
            <a:off x="1564199" y="1442219"/>
            <a:ext cx="71226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i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Plasmodium</a:t>
            </a: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Life Cycle</a:t>
            </a:r>
          </a:p>
        </p:txBody>
      </p:sp>
      <p:sp>
        <p:nvSpPr>
          <p:cNvPr id="9" name="Freeform 9"/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/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/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/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/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/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/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/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/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/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/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/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/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/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/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2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AA9D6DE-EF31-660E-E435-25F6D6507C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2049065"/>
            <a:ext cx="9525000" cy="80802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/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/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/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/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/>
          <p:cNvSpPr txBox="1"/>
          <p:nvPr/>
        </p:nvSpPr>
        <p:spPr>
          <a:xfrm>
            <a:off x="1564199" y="2183048"/>
            <a:ext cx="73512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Compartments Involved</a:t>
            </a:r>
          </a:p>
        </p:txBody>
      </p:sp>
      <p:sp>
        <p:nvSpPr>
          <p:cNvPr id="9" name="Freeform 9"/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/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/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/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/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/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/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/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/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/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/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/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/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/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/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8DA178-F50F-BEAA-B41B-2A724739B5A8}"/>
              </a:ext>
            </a:extLst>
          </p:cNvPr>
          <p:cNvSpPr/>
          <p:nvPr/>
        </p:nvSpPr>
        <p:spPr>
          <a:xfrm>
            <a:off x="2057400" y="3058879"/>
            <a:ext cx="5934074" cy="675798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21AEF6-D374-F0C3-4B53-4C0FB67731DA}"/>
              </a:ext>
            </a:extLst>
          </p:cNvPr>
          <p:cNvSpPr/>
          <p:nvPr/>
        </p:nvSpPr>
        <p:spPr>
          <a:xfrm>
            <a:off x="9745498" y="3058878"/>
            <a:ext cx="5934074" cy="675798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9266BE-222A-FE2B-5CB5-0B4498FA55B8}"/>
              </a:ext>
            </a:extLst>
          </p:cNvPr>
          <p:cNvSpPr/>
          <p:nvPr/>
        </p:nvSpPr>
        <p:spPr>
          <a:xfrm>
            <a:off x="2738436" y="4563098"/>
            <a:ext cx="3505200" cy="187477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Susceptible Mosquitoes </a:t>
            </a:r>
          </a:p>
          <a:p>
            <a:pPr algn="ctr"/>
            <a:r>
              <a:rPr lang="en-US" sz="3200" b="1" dirty="0"/>
              <a:t>(</a:t>
            </a:r>
            <a:r>
              <a:rPr lang="en-US" sz="3200" b="1" dirty="0" err="1"/>
              <a:t>Sm</a:t>
            </a:r>
            <a:r>
              <a:rPr lang="en-US" sz="3200" b="1" dirty="0"/>
              <a:t>)</a:t>
            </a:r>
            <a:endParaRPr lang="en-ZA" sz="3200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B837E13-92B0-7484-8D68-F9272D04E766}"/>
              </a:ext>
            </a:extLst>
          </p:cNvPr>
          <p:cNvSpPr/>
          <p:nvPr/>
        </p:nvSpPr>
        <p:spPr>
          <a:xfrm>
            <a:off x="3975306" y="7089163"/>
            <a:ext cx="3505200" cy="187477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Infectious Mosquitoes</a:t>
            </a:r>
          </a:p>
          <a:p>
            <a:pPr algn="ctr"/>
            <a:r>
              <a:rPr lang="en-US" sz="3200" b="1" dirty="0"/>
              <a:t>(</a:t>
            </a:r>
            <a:r>
              <a:rPr lang="en-US" sz="3200" b="1" dirty="0" err="1"/>
              <a:t>Im</a:t>
            </a:r>
            <a:r>
              <a:rPr lang="en-US" sz="3200" b="1" dirty="0"/>
              <a:t>)</a:t>
            </a:r>
            <a:endParaRPr lang="en-ZA" sz="32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651246F-849F-0BEF-908B-1702B06C4A81}"/>
              </a:ext>
            </a:extLst>
          </p:cNvPr>
          <p:cNvSpPr/>
          <p:nvPr/>
        </p:nvSpPr>
        <p:spPr>
          <a:xfrm>
            <a:off x="10288425" y="4499849"/>
            <a:ext cx="3505200" cy="187477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Susceptible Humans</a:t>
            </a:r>
          </a:p>
          <a:p>
            <a:pPr algn="ctr"/>
            <a:r>
              <a:rPr lang="en-US" sz="3200" b="1" dirty="0"/>
              <a:t>(S)</a:t>
            </a:r>
            <a:endParaRPr lang="en-ZA" sz="3200" b="1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ECAEFF-A090-6E97-169E-1C51F0C38F4F}"/>
              </a:ext>
            </a:extLst>
          </p:cNvPr>
          <p:cNvSpPr/>
          <p:nvPr/>
        </p:nvSpPr>
        <p:spPr>
          <a:xfrm>
            <a:off x="12041025" y="7089163"/>
            <a:ext cx="3505200" cy="187477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Infectious Humans</a:t>
            </a:r>
          </a:p>
          <a:p>
            <a:pPr algn="ctr"/>
            <a:r>
              <a:rPr lang="en-US" sz="3200" b="1" dirty="0"/>
              <a:t>(I)</a:t>
            </a:r>
            <a:endParaRPr lang="en-ZA" sz="3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10869C-4736-65B8-76B4-1E53340B3EEC}"/>
              </a:ext>
            </a:extLst>
          </p:cNvPr>
          <p:cNvSpPr txBox="1"/>
          <p:nvPr/>
        </p:nvSpPr>
        <p:spPr>
          <a:xfrm>
            <a:off x="3198626" y="3478003"/>
            <a:ext cx="3999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Vector Population</a:t>
            </a:r>
            <a:endParaRPr lang="en-ZA" sz="3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13A1BB-2868-C7CF-A1EA-ADD5F0EE6B59}"/>
              </a:ext>
            </a:extLst>
          </p:cNvPr>
          <p:cNvSpPr txBox="1"/>
          <p:nvPr/>
        </p:nvSpPr>
        <p:spPr>
          <a:xfrm>
            <a:off x="10820400" y="3475500"/>
            <a:ext cx="3999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Human Population</a:t>
            </a:r>
            <a:endParaRPr lang="en-ZA" sz="3600" b="1" dirty="0"/>
          </a:p>
        </p:txBody>
      </p:sp>
    </p:spTree>
    <p:extLst>
      <p:ext uri="{BB962C8B-B14F-4D97-AF65-F5344CB8AC3E}">
        <p14:creationId xmlns:p14="http://schemas.microsoft.com/office/powerpoint/2010/main" val="225660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ECD7B-0F74-559D-4C2D-991C384B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531659-9D21-1ECB-1F45-0110B7D11F9B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5723C36-1143-63D3-A828-DF595CB6AA79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6479229-05A0-FE1B-E430-6EB3DDC80A63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CAF99F-BACF-09A5-835D-E3D131C9A1AA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3462F96-5549-C1B5-C0A1-5CE5DFE5020C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EA0F856-D9DD-C030-D2E6-381AB7EC45C8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D2B3B96-C507-C078-28F6-89E4AD78AD75}"/>
              </a:ext>
            </a:extLst>
          </p:cNvPr>
          <p:cNvSpPr txBox="1"/>
          <p:nvPr/>
        </p:nvSpPr>
        <p:spPr>
          <a:xfrm>
            <a:off x="1564199" y="2183048"/>
            <a:ext cx="73512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 Chart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4CB4C51-DA20-0627-4347-61AB9D05CBFE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93FBAC0-5D3C-5557-3249-22EC31CDB736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B2B9F32-B683-DDE6-BC07-03187CC22D7E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5278303-B514-CD8F-B57A-3E53DF498F67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CEACE8A-77C8-8B1E-C8AB-61D24A577E13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986BE78-DE88-BC36-2400-4B4E8FB4E5BD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F2E1DCF-C59A-E1CE-0726-4ED6A4CFCBA4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75FEE14-189A-6023-D2D2-681437695DAD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4F0152C-80F0-0D21-C9FF-534008182CB6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B459B96-193C-A7F6-7BCE-31F43C8DD44D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932973D-EB3C-6F38-A6BB-1A1D44443D72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BDB3021-C823-0652-DC11-8139F487B7B8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A66FB22D-EAAF-F53C-C50F-160F902220B6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DE5A2AED-D57C-6859-2D90-60B379ED8F41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99133B57-3901-2272-E0C2-EE3828ECB82E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D15E5DCE-E4AE-BDA7-DFD9-518ACEEF6AC4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6A3B814-F173-35BF-0FB3-F4ED83FA97C9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5CE4C6C-8E29-FD22-CEC1-8C9FA39B3BA3}"/>
              </a:ext>
            </a:extLst>
          </p:cNvPr>
          <p:cNvSpPr/>
          <p:nvPr/>
        </p:nvSpPr>
        <p:spPr>
          <a:xfrm>
            <a:off x="1066799" y="6641843"/>
            <a:ext cx="14575241" cy="274826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5AD452-1FC6-A708-9A55-A13F59D5F7DE}"/>
              </a:ext>
            </a:extLst>
          </p:cNvPr>
          <p:cNvSpPr/>
          <p:nvPr/>
        </p:nvSpPr>
        <p:spPr>
          <a:xfrm>
            <a:off x="1066799" y="3058878"/>
            <a:ext cx="14575241" cy="27387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CC93AE-30D9-1FE7-005D-63D7A043AA74}"/>
              </a:ext>
            </a:extLst>
          </p:cNvPr>
          <p:cNvSpPr/>
          <p:nvPr/>
        </p:nvSpPr>
        <p:spPr>
          <a:xfrm>
            <a:off x="2221240" y="6817000"/>
            <a:ext cx="3505200" cy="187477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Susceptible Mosquitoes </a:t>
            </a:r>
          </a:p>
          <a:p>
            <a:pPr algn="ctr"/>
            <a:r>
              <a:rPr lang="en-US" sz="3200" b="1" dirty="0"/>
              <a:t>(</a:t>
            </a:r>
            <a:r>
              <a:rPr lang="en-US" sz="3200" b="1" dirty="0" err="1"/>
              <a:t>Sm</a:t>
            </a:r>
            <a:r>
              <a:rPr lang="en-US" sz="3200" b="1" dirty="0"/>
              <a:t>)</a:t>
            </a:r>
            <a:endParaRPr lang="en-ZA" sz="3200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BB0AB1-E38B-0065-5C23-723605579158}"/>
              </a:ext>
            </a:extLst>
          </p:cNvPr>
          <p:cNvSpPr/>
          <p:nvPr/>
        </p:nvSpPr>
        <p:spPr>
          <a:xfrm>
            <a:off x="9259262" y="6839773"/>
            <a:ext cx="3505200" cy="187477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Infectious Mosquitoes</a:t>
            </a:r>
          </a:p>
          <a:p>
            <a:pPr algn="ctr"/>
            <a:r>
              <a:rPr lang="en-US" sz="3200" b="1" dirty="0"/>
              <a:t>(</a:t>
            </a:r>
            <a:r>
              <a:rPr lang="en-US" sz="3200" b="1" dirty="0" err="1"/>
              <a:t>Im</a:t>
            </a:r>
            <a:r>
              <a:rPr lang="en-US" sz="3200" b="1" dirty="0"/>
              <a:t>)</a:t>
            </a:r>
            <a:endParaRPr lang="en-ZA" sz="32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6658839-5BB8-FE5A-0552-8B249CCBC26A}"/>
              </a:ext>
            </a:extLst>
          </p:cNvPr>
          <p:cNvSpPr/>
          <p:nvPr/>
        </p:nvSpPr>
        <p:spPr>
          <a:xfrm>
            <a:off x="2159074" y="3268726"/>
            <a:ext cx="3505200" cy="187477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Susceptible Humans</a:t>
            </a:r>
          </a:p>
          <a:p>
            <a:pPr algn="ctr"/>
            <a:r>
              <a:rPr lang="en-US" sz="3200" b="1" dirty="0"/>
              <a:t>(S)</a:t>
            </a:r>
            <a:endParaRPr lang="en-ZA" sz="3200" b="1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DD7AC7-89A1-2F11-0F9B-5253B992E9B7}"/>
              </a:ext>
            </a:extLst>
          </p:cNvPr>
          <p:cNvSpPr/>
          <p:nvPr/>
        </p:nvSpPr>
        <p:spPr>
          <a:xfrm>
            <a:off x="9259262" y="3278250"/>
            <a:ext cx="3505200" cy="187477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Infectious Humans</a:t>
            </a:r>
          </a:p>
          <a:p>
            <a:pPr algn="ctr"/>
            <a:r>
              <a:rPr lang="en-US" sz="3200" b="1" dirty="0"/>
              <a:t>(I)</a:t>
            </a:r>
            <a:endParaRPr lang="en-ZA" sz="3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F0050A-F6B5-8E5C-596A-C82E9F2133C9}"/>
              </a:ext>
            </a:extLst>
          </p:cNvPr>
          <p:cNvSpPr txBox="1"/>
          <p:nvPr/>
        </p:nvSpPr>
        <p:spPr>
          <a:xfrm>
            <a:off x="11642603" y="8739945"/>
            <a:ext cx="3999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Vector Population</a:t>
            </a:r>
            <a:endParaRPr lang="en-ZA" sz="3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B7007A-C599-DE5A-50B6-CB21152F9B7F}"/>
              </a:ext>
            </a:extLst>
          </p:cNvPr>
          <p:cNvSpPr txBox="1"/>
          <p:nvPr/>
        </p:nvSpPr>
        <p:spPr>
          <a:xfrm>
            <a:off x="11642604" y="5115334"/>
            <a:ext cx="3999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Human Population</a:t>
            </a:r>
            <a:endParaRPr lang="en-ZA" sz="36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14617F-6BFB-8AB0-ACAC-5D5FBC20FEA6}"/>
              </a:ext>
            </a:extLst>
          </p:cNvPr>
          <p:cNvCxnSpPr/>
          <p:nvPr/>
        </p:nvCxnSpPr>
        <p:spPr>
          <a:xfrm>
            <a:off x="6248400" y="4457700"/>
            <a:ext cx="237031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E7898F1-5458-7000-E86A-AA6510E61DA6}"/>
              </a:ext>
            </a:extLst>
          </p:cNvPr>
          <p:cNvCxnSpPr>
            <a:cxnSpLocks/>
          </p:cNvCxnSpPr>
          <p:nvPr/>
        </p:nvCxnSpPr>
        <p:spPr>
          <a:xfrm flipH="1">
            <a:off x="6248400" y="3848100"/>
            <a:ext cx="237031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BB56A54-0B62-D75C-3C29-4016A3C7B7BC}"/>
              </a:ext>
            </a:extLst>
          </p:cNvPr>
          <p:cNvCxnSpPr/>
          <p:nvPr/>
        </p:nvCxnSpPr>
        <p:spPr>
          <a:xfrm>
            <a:off x="6324600" y="7734300"/>
            <a:ext cx="237031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90AAB90-AF23-8218-CC2A-5D99EF4B757E}"/>
              </a:ext>
            </a:extLst>
          </p:cNvPr>
          <p:cNvCxnSpPr>
            <a:cxnSpLocks/>
          </p:cNvCxnSpPr>
          <p:nvPr/>
        </p:nvCxnSpPr>
        <p:spPr>
          <a:xfrm flipH="1">
            <a:off x="3246491" y="8742223"/>
            <a:ext cx="455605" cy="41046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13B14D5-D346-B5D9-66CD-B03C696B96F1}"/>
              </a:ext>
            </a:extLst>
          </p:cNvPr>
          <p:cNvCxnSpPr>
            <a:cxnSpLocks/>
          </p:cNvCxnSpPr>
          <p:nvPr/>
        </p:nvCxnSpPr>
        <p:spPr>
          <a:xfrm flipH="1">
            <a:off x="9909190" y="8787105"/>
            <a:ext cx="455605" cy="41046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B83207B-A0F6-C015-12A6-75071F5EA0A0}"/>
              </a:ext>
            </a:extLst>
          </p:cNvPr>
          <p:cNvCxnSpPr>
            <a:cxnSpLocks/>
          </p:cNvCxnSpPr>
          <p:nvPr/>
        </p:nvCxnSpPr>
        <p:spPr>
          <a:xfrm flipH="1" flipV="1">
            <a:off x="7391400" y="4573850"/>
            <a:ext cx="2362200" cy="2265923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5F94749-79B1-B76A-D260-02C12431A43A}"/>
              </a:ext>
            </a:extLst>
          </p:cNvPr>
          <p:cNvCxnSpPr>
            <a:cxnSpLocks/>
          </p:cNvCxnSpPr>
          <p:nvPr/>
        </p:nvCxnSpPr>
        <p:spPr>
          <a:xfrm flipH="1">
            <a:off x="7381876" y="5301929"/>
            <a:ext cx="2244833" cy="2298367"/>
          </a:xfrm>
          <a:prstGeom prst="straightConnector1">
            <a:avLst/>
          </a:prstGeom>
          <a:ln w="57150"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265AB14-4568-F9BA-0D06-9E88C25ADA08}"/>
              </a:ext>
            </a:extLst>
          </p:cNvPr>
          <p:cNvSpPr txBox="1"/>
          <p:nvPr/>
        </p:nvSpPr>
        <p:spPr>
          <a:xfrm>
            <a:off x="1314688" y="5905500"/>
            <a:ext cx="7600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Transmission from humans to mosquitoes</a:t>
            </a:r>
            <a:endParaRPr lang="en-ZA" sz="3200" b="1" dirty="0">
              <a:solidFill>
                <a:srgbClr val="7030A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E292EC-C443-61F2-62ED-F12030E5F592}"/>
              </a:ext>
            </a:extLst>
          </p:cNvPr>
          <p:cNvSpPr txBox="1"/>
          <p:nvPr/>
        </p:nvSpPr>
        <p:spPr>
          <a:xfrm>
            <a:off x="9448800" y="5905500"/>
            <a:ext cx="7600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92D050"/>
                </a:solidFill>
              </a:rPr>
              <a:t>Transmission from mosquitoes to humans</a:t>
            </a:r>
            <a:endParaRPr lang="en-ZA" sz="32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65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59F82-5860-A640-536B-D13F345C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D18AC0-0E2B-3D20-7B25-EE83B67B3D51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FC37EB9-8CDD-16B8-3554-65C9927B6202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6A7D488-E767-BCCD-D2BE-3362BDE268AD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A1429DC-8B0C-D33A-CEC1-6F058715029B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FCC6F68-E656-3627-B673-DC8FFC25E126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752B0CF-85D6-4087-4131-63C95A6CEEC1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A837713-A331-6714-0D65-D0F60E10AC7F}"/>
              </a:ext>
            </a:extLst>
          </p:cNvPr>
          <p:cNvSpPr txBox="1"/>
          <p:nvPr/>
        </p:nvSpPr>
        <p:spPr>
          <a:xfrm>
            <a:off x="1564199" y="2183048"/>
            <a:ext cx="73512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Parameters Involved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E99673E-7AEB-1D62-E2C8-7888FC0D18B6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0F434AA-54F2-596F-C845-60F82E47B99F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D3AFEE7-A41E-C94C-5541-6F684873D969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E6CE3E0-F7B3-A0A8-E58E-4214E1E44E23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4E963D5-5F41-8244-BCCB-288486340B85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A3778E5-28F0-89D5-E74F-D1B39CEF3ED0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C3C5F1D-076B-DA55-759E-57609A8C07E3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02EBD63-A42A-EA6D-DCA6-159B6C242D1A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5DEA8D7-AA3B-A2DC-B1F1-DEA8CE13CDC3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AAD5FE4-3F7F-37E7-6AA0-88CA0BA05E07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D11C6F09-BA59-1A18-1C9E-D6A0EE3666D6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F2951A93-B842-9E38-8354-94AFC7D33DDC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513DCB0D-D956-A402-0E67-6C33EB45829E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47907CD8-8DBE-0442-8B76-3083B4022477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5716A5F-5AC3-FB7E-FB2E-C3DF618DAFCD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4CCFBF1B-E3C1-D1DD-EBBF-A27DA798A6FC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9D7B26-AD53-7466-0FE8-F7C484334EB3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D70809-E05A-1D21-8A33-2B70B6C70DF5}"/>
              </a:ext>
            </a:extLst>
          </p:cNvPr>
          <p:cNvSpPr/>
          <p:nvPr/>
        </p:nvSpPr>
        <p:spPr>
          <a:xfrm>
            <a:off x="1066799" y="6641843"/>
            <a:ext cx="14575241" cy="274826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3E6CC0-ACE8-7A79-F12C-D8C00720A731}"/>
              </a:ext>
            </a:extLst>
          </p:cNvPr>
          <p:cNvSpPr/>
          <p:nvPr/>
        </p:nvSpPr>
        <p:spPr>
          <a:xfrm>
            <a:off x="1066799" y="3058878"/>
            <a:ext cx="14575241" cy="27387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1E9DAD9-AD6C-F40C-AB39-C091D7B4811E}"/>
              </a:ext>
            </a:extLst>
          </p:cNvPr>
          <p:cNvSpPr/>
          <p:nvPr/>
        </p:nvSpPr>
        <p:spPr>
          <a:xfrm>
            <a:off x="2221240" y="6817000"/>
            <a:ext cx="3505200" cy="187477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Susceptible Mosquitoes </a:t>
            </a:r>
          </a:p>
          <a:p>
            <a:pPr algn="ctr"/>
            <a:r>
              <a:rPr lang="en-US" sz="3200" b="1" dirty="0"/>
              <a:t>(</a:t>
            </a:r>
            <a:r>
              <a:rPr lang="en-US" sz="3200" b="1" dirty="0" err="1"/>
              <a:t>Sm</a:t>
            </a:r>
            <a:r>
              <a:rPr lang="en-US" sz="3200" b="1" dirty="0"/>
              <a:t>)</a:t>
            </a:r>
            <a:endParaRPr lang="en-ZA" sz="3200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7F5F60A-C1B0-44F8-FDF9-FFB433C613A3}"/>
              </a:ext>
            </a:extLst>
          </p:cNvPr>
          <p:cNvSpPr/>
          <p:nvPr/>
        </p:nvSpPr>
        <p:spPr>
          <a:xfrm>
            <a:off x="9259262" y="6839773"/>
            <a:ext cx="3505200" cy="187477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Infectious Mosquitoes</a:t>
            </a:r>
          </a:p>
          <a:p>
            <a:pPr algn="ctr"/>
            <a:r>
              <a:rPr lang="en-US" sz="3200" b="1" dirty="0"/>
              <a:t>(</a:t>
            </a:r>
            <a:r>
              <a:rPr lang="en-US" sz="3200" b="1" dirty="0" err="1"/>
              <a:t>Im</a:t>
            </a:r>
            <a:r>
              <a:rPr lang="en-US" sz="3200" b="1" dirty="0"/>
              <a:t>)</a:t>
            </a:r>
            <a:endParaRPr lang="en-ZA" sz="32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55F9AD-E9BC-86B9-6DCA-54BF768A3ED1}"/>
              </a:ext>
            </a:extLst>
          </p:cNvPr>
          <p:cNvSpPr/>
          <p:nvPr/>
        </p:nvSpPr>
        <p:spPr>
          <a:xfrm>
            <a:off x="2159074" y="3268726"/>
            <a:ext cx="3505200" cy="187477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Susceptible Humans</a:t>
            </a:r>
          </a:p>
          <a:p>
            <a:pPr algn="ctr"/>
            <a:r>
              <a:rPr lang="en-US" sz="3200" b="1" dirty="0"/>
              <a:t>(S)</a:t>
            </a:r>
            <a:endParaRPr lang="en-ZA" sz="3200" b="1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4B778DC-F312-2CF6-CFBA-4346AB3B9BA3}"/>
              </a:ext>
            </a:extLst>
          </p:cNvPr>
          <p:cNvSpPr/>
          <p:nvPr/>
        </p:nvSpPr>
        <p:spPr>
          <a:xfrm>
            <a:off x="9259262" y="3278250"/>
            <a:ext cx="3505200" cy="187477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Infectious Humans</a:t>
            </a:r>
          </a:p>
          <a:p>
            <a:pPr algn="ctr"/>
            <a:r>
              <a:rPr lang="en-US" sz="3200" b="1" dirty="0"/>
              <a:t>(I)</a:t>
            </a:r>
            <a:endParaRPr lang="en-ZA" sz="3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E6CA6F-43AD-34FD-21AF-5A960B8060A1}"/>
              </a:ext>
            </a:extLst>
          </p:cNvPr>
          <p:cNvSpPr txBox="1"/>
          <p:nvPr/>
        </p:nvSpPr>
        <p:spPr>
          <a:xfrm>
            <a:off x="11642603" y="8739945"/>
            <a:ext cx="3999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Vector Population</a:t>
            </a:r>
            <a:endParaRPr lang="en-ZA" sz="3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BD5ED6-6B97-870E-AA53-E90F66CD6D28}"/>
              </a:ext>
            </a:extLst>
          </p:cNvPr>
          <p:cNvSpPr txBox="1"/>
          <p:nvPr/>
        </p:nvSpPr>
        <p:spPr>
          <a:xfrm>
            <a:off x="11642604" y="5115334"/>
            <a:ext cx="3999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Human Population</a:t>
            </a:r>
            <a:endParaRPr lang="en-ZA" sz="36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4429B2-ADF8-2A65-717C-058AE9759651}"/>
              </a:ext>
            </a:extLst>
          </p:cNvPr>
          <p:cNvCxnSpPr/>
          <p:nvPr/>
        </p:nvCxnSpPr>
        <p:spPr>
          <a:xfrm>
            <a:off x="6248400" y="4457700"/>
            <a:ext cx="237031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EE0F014-87A6-C408-1FF9-1097D3279098}"/>
              </a:ext>
            </a:extLst>
          </p:cNvPr>
          <p:cNvCxnSpPr>
            <a:cxnSpLocks/>
          </p:cNvCxnSpPr>
          <p:nvPr/>
        </p:nvCxnSpPr>
        <p:spPr>
          <a:xfrm flipH="1">
            <a:off x="6248400" y="3848100"/>
            <a:ext cx="237031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C30F333-F618-4BF6-2E28-E0879334BDFF}"/>
              </a:ext>
            </a:extLst>
          </p:cNvPr>
          <p:cNvCxnSpPr/>
          <p:nvPr/>
        </p:nvCxnSpPr>
        <p:spPr>
          <a:xfrm>
            <a:off x="6324600" y="7734300"/>
            <a:ext cx="237031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978A7E-A05E-4C05-66EC-C230AFD5E016}"/>
              </a:ext>
            </a:extLst>
          </p:cNvPr>
          <p:cNvCxnSpPr>
            <a:cxnSpLocks/>
          </p:cNvCxnSpPr>
          <p:nvPr/>
        </p:nvCxnSpPr>
        <p:spPr>
          <a:xfrm flipH="1">
            <a:off x="3246491" y="8742223"/>
            <a:ext cx="455605" cy="41046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D3B642-48AC-1E15-C93E-16CCE05D246F}"/>
              </a:ext>
            </a:extLst>
          </p:cNvPr>
          <p:cNvCxnSpPr>
            <a:cxnSpLocks/>
          </p:cNvCxnSpPr>
          <p:nvPr/>
        </p:nvCxnSpPr>
        <p:spPr>
          <a:xfrm flipH="1">
            <a:off x="9909190" y="8787105"/>
            <a:ext cx="455605" cy="41046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CCA3F4F-C9B7-75BE-2EF7-2B756BEF24A1}"/>
              </a:ext>
            </a:extLst>
          </p:cNvPr>
          <p:cNvCxnSpPr>
            <a:cxnSpLocks/>
          </p:cNvCxnSpPr>
          <p:nvPr/>
        </p:nvCxnSpPr>
        <p:spPr>
          <a:xfrm flipH="1" flipV="1">
            <a:off x="7391400" y="4573850"/>
            <a:ext cx="2362200" cy="2265923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EF53771-5521-0888-B37B-EAB597B8BAE7}"/>
              </a:ext>
            </a:extLst>
          </p:cNvPr>
          <p:cNvCxnSpPr>
            <a:cxnSpLocks/>
          </p:cNvCxnSpPr>
          <p:nvPr/>
        </p:nvCxnSpPr>
        <p:spPr>
          <a:xfrm flipH="1">
            <a:off x="7381876" y="5301929"/>
            <a:ext cx="2244833" cy="2298367"/>
          </a:xfrm>
          <a:prstGeom prst="straightConnector1">
            <a:avLst/>
          </a:prstGeom>
          <a:ln w="57150"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BEE7100-1B2E-7DA4-01F4-F4AADDF1563A}"/>
              </a:ext>
            </a:extLst>
          </p:cNvPr>
          <p:cNvSpPr txBox="1"/>
          <p:nvPr/>
        </p:nvSpPr>
        <p:spPr>
          <a:xfrm>
            <a:off x="1314688" y="5905500"/>
            <a:ext cx="7600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Transmission from humans to mosquitoes</a:t>
            </a:r>
            <a:endParaRPr lang="en-ZA" sz="3200" b="1" dirty="0">
              <a:solidFill>
                <a:srgbClr val="7030A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69C997-C43D-050F-6233-8E1380543871}"/>
              </a:ext>
            </a:extLst>
          </p:cNvPr>
          <p:cNvSpPr txBox="1"/>
          <p:nvPr/>
        </p:nvSpPr>
        <p:spPr>
          <a:xfrm>
            <a:off x="9448800" y="5905500"/>
            <a:ext cx="7600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92D050"/>
                </a:solidFill>
              </a:rPr>
              <a:t>Transmission from mosquitoes to humans</a:t>
            </a:r>
            <a:endParaRPr lang="en-ZA" sz="3200" b="1" dirty="0">
              <a:solidFill>
                <a:srgbClr val="92D05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26AEE5-CCC6-2604-6C96-167B322700EA}"/>
              </a:ext>
            </a:extLst>
          </p:cNvPr>
          <p:cNvSpPr txBox="1"/>
          <p:nvPr/>
        </p:nvSpPr>
        <p:spPr>
          <a:xfrm>
            <a:off x="3596623" y="8598987"/>
            <a:ext cx="957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400" b="1" dirty="0"/>
              <a:t>μ</a:t>
            </a:r>
            <a:endParaRPr lang="en-ZA" sz="44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5A62A0-342C-94E9-CB2C-63C39D9941A1}"/>
              </a:ext>
            </a:extLst>
          </p:cNvPr>
          <p:cNvSpPr txBox="1"/>
          <p:nvPr/>
        </p:nvSpPr>
        <p:spPr>
          <a:xfrm>
            <a:off x="10304245" y="8632296"/>
            <a:ext cx="957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400" b="1" dirty="0"/>
              <a:t>μ</a:t>
            </a:r>
            <a:endParaRPr lang="en-ZA" sz="4400" b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819A64-ABEF-EA3B-07F1-8B1C023B8E0B}"/>
              </a:ext>
            </a:extLst>
          </p:cNvPr>
          <p:cNvCxnSpPr>
            <a:cxnSpLocks/>
          </p:cNvCxnSpPr>
          <p:nvPr/>
        </p:nvCxnSpPr>
        <p:spPr>
          <a:xfrm>
            <a:off x="1241405" y="7734300"/>
            <a:ext cx="815995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8D26723-905E-99B0-3668-66996582E0DC}"/>
              </a:ext>
            </a:extLst>
          </p:cNvPr>
          <p:cNvSpPr txBox="1"/>
          <p:nvPr/>
        </p:nvSpPr>
        <p:spPr>
          <a:xfrm>
            <a:off x="1314688" y="6938852"/>
            <a:ext cx="957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400" b="1" dirty="0"/>
              <a:t>μ</a:t>
            </a:r>
            <a:endParaRPr lang="en-ZA" sz="44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104A16-5749-E470-73AE-1977D2826418}"/>
              </a:ext>
            </a:extLst>
          </p:cNvPr>
          <p:cNvSpPr txBox="1"/>
          <p:nvPr/>
        </p:nvSpPr>
        <p:spPr>
          <a:xfrm>
            <a:off x="7077500" y="3074201"/>
            <a:ext cx="957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400" b="1" dirty="0"/>
              <a:t>γ</a:t>
            </a:r>
            <a:endParaRPr lang="en-ZA" sz="4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403E4B-8883-B659-F801-C01E1522376D}"/>
              </a:ext>
            </a:extLst>
          </p:cNvPr>
          <p:cNvSpPr txBox="1"/>
          <p:nvPr/>
        </p:nvSpPr>
        <p:spPr>
          <a:xfrm>
            <a:off x="15697200" y="6217503"/>
            <a:ext cx="957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b="1" dirty="0"/>
              <a:t>α</a:t>
            </a:r>
            <a:endParaRPr lang="en-ZA" sz="4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2DA88F-9504-B491-7FA6-741AC4EF95EE}"/>
              </a:ext>
            </a:extLst>
          </p:cNvPr>
          <p:cNvSpPr txBox="1"/>
          <p:nvPr/>
        </p:nvSpPr>
        <p:spPr>
          <a:xfrm>
            <a:off x="795073" y="5836503"/>
            <a:ext cx="957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b="1" dirty="0"/>
              <a:t>β</a:t>
            </a:r>
            <a:endParaRPr lang="en-ZA" sz="4800" b="1" dirty="0"/>
          </a:p>
        </p:txBody>
      </p:sp>
    </p:spTree>
    <p:extLst>
      <p:ext uri="{BB962C8B-B14F-4D97-AF65-F5344CB8AC3E}">
        <p14:creationId xmlns:p14="http://schemas.microsoft.com/office/powerpoint/2010/main" val="3482325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9F1E-363E-C12C-3A49-35C3859B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16A84A-139D-E06A-9D5A-3791CA44EB81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EED02C9-4A79-A8FA-F3B9-1A3E1C52B8E5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72F4822-CD3A-9D62-8C99-74B20A73D15B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321A5B8-CD59-E401-216A-7B47F2BCA06D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C887F16-57BD-4E34-4BF1-2B572D8FE0CA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D545E6B-B455-D195-11D7-93922F332836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6D562F4-5F0B-AC2B-D3C4-6BA8376269F6}"/>
              </a:ext>
            </a:extLst>
          </p:cNvPr>
          <p:cNvSpPr txBox="1"/>
          <p:nvPr/>
        </p:nvSpPr>
        <p:spPr>
          <a:xfrm>
            <a:off x="1564199" y="2183048"/>
            <a:ext cx="92562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Equations (Vector Population)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0FB5EFD-B2B6-DA1D-DED7-534081044445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164E5F2-87D2-24E5-6856-9E08AD1358DF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7AD9DB7-4B21-882C-E825-D7CCE5A5D44C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33739FB-207F-2337-045A-77B6AD904288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422D883-0E42-ACEB-B471-9AAF325C2440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7E6A274-F968-C844-3B11-363C44F500EE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BEED268-EA5B-676D-C68A-B180B44D7CB2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9041294-EF89-7BC7-1A2B-485A700646E2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1FD7866-0783-61B2-A6A1-C9FE1B7F6F77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652E84CD-AFB7-B094-6C4B-D366B1066DDA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27A343D6-E654-62CC-A2C6-BC47F2938D1D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10D0CC78-4FDD-04E4-7F6A-A8E4A02617FC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872391D0-F54D-5EEA-3815-0B6720D30BCC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5BF6BD23-1D25-040A-DDDA-D8F15BB84109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8F4781C4-32BE-58EF-1C2A-D7E6602EDB7D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3D61416D-B083-4F4A-D5A1-34AC1A0B7805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02B3FAF-AB16-8DE8-1543-A228689ED0B5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E52874-7A25-1BCF-0A78-C2C171869572}"/>
              </a:ext>
            </a:extLst>
          </p:cNvPr>
          <p:cNvSpPr txBox="1"/>
          <p:nvPr/>
        </p:nvSpPr>
        <p:spPr>
          <a:xfrm>
            <a:off x="2133600" y="7205081"/>
            <a:ext cx="90980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/>
              <a:t>μ</a:t>
            </a:r>
            <a:r>
              <a:rPr lang="en-US" sz="4000" baseline="-25000" dirty="0"/>
              <a:t>m</a:t>
            </a:r>
            <a:r>
              <a:rPr lang="en-US" sz="4000" dirty="0"/>
              <a:t> = Birth/Death rate of mosquitoes</a:t>
            </a:r>
          </a:p>
          <a:p>
            <a:r>
              <a:rPr lang="en-US" sz="4000" dirty="0"/>
              <a:t>H = Total human population</a:t>
            </a:r>
          </a:p>
          <a:p>
            <a:r>
              <a:rPr lang="en-US" sz="4000" dirty="0"/>
              <a:t>M = Total mosquito population</a:t>
            </a:r>
            <a:endParaRPr lang="en-ZA" sz="4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EA87D0-FEDE-AE53-BD3F-AE5FED3586A9}"/>
              </a:ext>
            </a:extLst>
          </p:cNvPr>
          <p:cNvSpPr txBox="1"/>
          <p:nvPr/>
        </p:nvSpPr>
        <p:spPr>
          <a:xfrm>
            <a:off x="4622209" y="3583496"/>
            <a:ext cx="82555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dirty="0"/>
              <a:t>δ</a:t>
            </a:r>
            <a:r>
              <a:rPr lang="en-US" sz="4800" dirty="0" err="1"/>
              <a:t>Sm</a:t>
            </a:r>
            <a:r>
              <a:rPr lang="en-US" sz="4800" dirty="0"/>
              <a:t> = </a:t>
            </a:r>
            <a:r>
              <a:rPr lang="el-GR" sz="4800" dirty="0"/>
              <a:t>μ</a:t>
            </a:r>
            <a:r>
              <a:rPr lang="en-US" sz="4800" baseline="-25000" dirty="0"/>
              <a:t>m</a:t>
            </a:r>
            <a:r>
              <a:rPr lang="en-US" sz="4800" dirty="0"/>
              <a:t>M - β(I/H)</a:t>
            </a:r>
            <a:r>
              <a:rPr lang="en-US" sz="4800" dirty="0" err="1"/>
              <a:t>Sm</a:t>
            </a:r>
            <a:r>
              <a:rPr lang="en-US" sz="4800" dirty="0"/>
              <a:t> – </a:t>
            </a:r>
            <a:r>
              <a:rPr lang="el-GR" sz="4800" dirty="0"/>
              <a:t>μ</a:t>
            </a:r>
            <a:r>
              <a:rPr lang="en-US" sz="4800" dirty="0" err="1"/>
              <a:t>Sm</a:t>
            </a:r>
            <a:endParaRPr lang="en-US" sz="4800" dirty="0"/>
          </a:p>
          <a:p>
            <a:endParaRPr lang="en-US" sz="4800" dirty="0"/>
          </a:p>
          <a:p>
            <a:r>
              <a:rPr lang="el-GR" sz="4800" dirty="0"/>
              <a:t>δ</a:t>
            </a:r>
            <a:r>
              <a:rPr lang="en-US" sz="4800" dirty="0" err="1"/>
              <a:t>Im</a:t>
            </a:r>
            <a:r>
              <a:rPr lang="en-US" sz="4800" dirty="0"/>
              <a:t> = β(I/H)</a:t>
            </a:r>
            <a:r>
              <a:rPr lang="en-US" sz="4800" dirty="0" err="1"/>
              <a:t>Sm</a:t>
            </a:r>
            <a:r>
              <a:rPr lang="en-US" sz="4800" dirty="0"/>
              <a:t> – </a:t>
            </a:r>
            <a:r>
              <a:rPr lang="el-GR" sz="4800" dirty="0"/>
              <a:t>μ</a:t>
            </a:r>
            <a:r>
              <a:rPr lang="en-US" sz="4800" dirty="0" err="1"/>
              <a:t>Im</a:t>
            </a:r>
            <a:endParaRPr lang="en-US" sz="4800" dirty="0"/>
          </a:p>
          <a:p>
            <a:endParaRPr lang="en-ZA" sz="4800" dirty="0"/>
          </a:p>
        </p:txBody>
      </p:sp>
    </p:spTree>
    <p:extLst>
      <p:ext uri="{BB962C8B-B14F-4D97-AF65-F5344CB8AC3E}">
        <p14:creationId xmlns:p14="http://schemas.microsoft.com/office/powerpoint/2010/main" val="371400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FAB2-DF88-BCC0-769F-4BF9A723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18AF19-A308-1FBA-BD8A-39E9C36ADF71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ED2D13A-8036-8AFC-B48B-72B761B7C82C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F96A3F-95D9-170D-BC8B-A1114AFE8724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A3A477E-4327-DC89-CE17-949DFFD8C42B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456D610-7E2C-189D-9A50-6ACD314023AD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8624EDC-1203-9E0B-B1F9-38EF3C1D7BE3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ED95951-BE76-9C48-5B91-177ED673AA39}"/>
              </a:ext>
            </a:extLst>
          </p:cNvPr>
          <p:cNvSpPr txBox="1"/>
          <p:nvPr/>
        </p:nvSpPr>
        <p:spPr>
          <a:xfrm>
            <a:off x="1564199" y="2183048"/>
            <a:ext cx="92562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Equations (Human Population)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7C027B0-B6C7-85BE-1879-DF11EB281FA1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3BB5EF4-49CE-BBC8-5CDF-2C47D8DAB8C4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0EB0935-056F-8D63-AD65-BB1332DBD31C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55CA54B-955B-859F-B408-465AB4C58FB7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0408C4F-E987-4877-9945-D4A13D357B19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41EE7D2-8296-F719-7D48-BABE2C6E90B0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5B788F9-8DB8-0AAD-2781-2F60064282AB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7DBAAD14-D512-4B0F-F78D-3D3C0800A32A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5533216-AA8D-11D4-8BF4-2CE0C1636186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E144FB7-7FD4-6B07-116C-8748C40E0738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DB741DDB-5A18-8D8F-2BE5-CFA3CABE0DC1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8E22F483-86DA-53B3-18F3-52EB6ED906D6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F5CAB88-8861-AD1E-501A-6E68A3D465C8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CADE6EC7-419A-D639-A2B0-3249E77D583B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8B604AB5-D39A-438E-AC8D-3172FC1C2B55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651CF010-D7FD-D7F6-4201-B8BEAB68B0A5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122EB5D-91DF-E98D-6908-B325E782EE6B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CFF1A1-64D8-6BB5-722C-92E27A114A94}"/>
              </a:ext>
            </a:extLst>
          </p:cNvPr>
          <p:cNvSpPr txBox="1"/>
          <p:nvPr/>
        </p:nvSpPr>
        <p:spPr>
          <a:xfrm>
            <a:off x="1371600" y="3467100"/>
            <a:ext cx="146733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/>
              <a:t>NOT so straightforward.</a:t>
            </a:r>
          </a:p>
          <a:p>
            <a:endParaRPr lang="en-US" sz="4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/>
              <a:t> </a:t>
            </a:r>
            <a:r>
              <a:rPr lang="el-GR" sz="4000" dirty="0"/>
              <a:t>α</a:t>
            </a:r>
            <a:r>
              <a:rPr lang="en-US" sz="4000" dirty="0"/>
              <a:t> = host seeking + biting  + infectivity rate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4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/>
              <a:t> </a:t>
            </a:r>
            <a:r>
              <a:rPr lang="el-GR" sz="4000" dirty="0"/>
              <a:t>α</a:t>
            </a:r>
            <a:r>
              <a:rPr lang="en-US" sz="4000" dirty="0"/>
              <a:t>(</a:t>
            </a:r>
            <a:r>
              <a:rPr lang="en-US" sz="4000" dirty="0" err="1"/>
              <a:t>Sm</a:t>
            </a:r>
            <a:r>
              <a:rPr lang="en-US" sz="4000" dirty="0"/>
              <a:t> + </a:t>
            </a:r>
            <a:r>
              <a:rPr lang="en-US" sz="4000" dirty="0" err="1"/>
              <a:t>Im</a:t>
            </a:r>
            <a:r>
              <a:rPr lang="en-US" sz="4000" dirty="0"/>
              <a:t>) -&gt; Number of bites of mosquito population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4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l-GR" sz="4000" dirty="0"/>
              <a:t>α</a:t>
            </a:r>
            <a:r>
              <a:rPr lang="en-US" sz="4000" dirty="0"/>
              <a:t>(</a:t>
            </a:r>
            <a:r>
              <a:rPr lang="en-US" sz="4000" dirty="0" err="1"/>
              <a:t>Sm</a:t>
            </a:r>
            <a:r>
              <a:rPr lang="en-US" sz="4000" dirty="0"/>
              <a:t> + </a:t>
            </a:r>
            <a:r>
              <a:rPr lang="en-US" sz="4000" dirty="0" err="1"/>
              <a:t>Im</a:t>
            </a:r>
            <a:r>
              <a:rPr lang="en-US" sz="4000" dirty="0"/>
              <a:t>) -&gt; Number of bites PER HUMAN</a:t>
            </a:r>
          </a:p>
          <a:p>
            <a:r>
              <a:rPr lang="en-US" sz="4000" dirty="0"/>
              <a:t>              H		</a:t>
            </a:r>
          </a:p>
          <a:p>
            <a:endParaRPr lang="en-ZA" sz="40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9A0069B-FFD1-A2ED-8F7C-BA12284D98C2}"/>
              </a:ext>
            </a:extLst>
          </p:cNvPr>
          <p:cNvCxnSpPr>
            <a:cxnSpLocks/>
          </p:cNvCxnSpPr>
          <p:nvPr/>
        </p:nvCxnSpPr>
        <p:spPr>
          <a:xfrm>
            <a:off x="1874773" y="7810500"/>
            <a:ext cx="231622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419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2E4FB-2E34-9EC2-7619-607029BA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D448D4-BB0C-8F41-68C2-0B72C6DB7E55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05EA3D-72BB-41CC-C2B7-DB0DDBF53660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75EEEF8-FC4B-EE2B-922C-115A90860640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0520C30-8361-8DD6-8017-B1E5E8D2316C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5C6C73B-3818-DA5A-7AF3-7500560BFF52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E3E48C3-118F-CE4D-09C5-9C250F134A32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0F0508C-6DE0-46F9-E38A-248BFC69EAB3}"/>
              </a:ext>
            </a:extLst>
          </p:cNvPr>
          <p:cNvSpPr txBox="1"/>
          <p:nvPr/>
        </p:nvSpPr>
        <p:spPr>
          <a:xfrm>
            <a:off x="1564199" y="2183048"/>
            <a:ext cx="92562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Equations (Human Population)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B2B5287-5DBF-F53F-2AE3-1AEB4D59FD09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43166A3-EA20-D803-768D-DF97CCE3541A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73AB513-5E6E-4BDD-4764-F032604E7996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5E0A760-4800-F718-132C-E73B248FE9AF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D9A072C-8D98-74B9-E319-183567B55E82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DEDDF74-6E90-AFA0-C655-D70B364C6DD5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8BA9DF6-D42E-8EB1-984F-1000FE46C06B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3533D793-2905-A668-4689-E3678CDBC35C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42850A9A-AD6D-46E3-887E-EA90E6E75135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1D921D2-87C8-E62E-5BBB-44E212FA4173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C6CC42D-B9CD-CFA4-B812-45E74FD08BF5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D3ED49B9-668E-5F71-D683-E21E00333E90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245F9557-9216-ACDC-AE7B-B06B936FBB09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18FBC94D-96E5-ACA6-BE26-22E1E7FEC14D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52E7F52-801A-551A-B9DB-1D7ED3C93019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E63BD96A-17E7-CF1B-40CB-77AF605EBF61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332D6AF-E5A1-FC06-B7FA-88FD968DB9CD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A51ED2-4110-12F2-0A6C-1F380CE411C5}"/>
              </a:ext>
            </a:extLst>
          </p:cNvPr>
          <p:cNvSpPr txBox="1"/>
          <p:nvPr/>
        </p:nvSpPr>
        <p:spPr>
          <a:xfrm>
            <a:off x="1371600" y="3467100"/>
            <a:ext cx="1295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/>
              <a:t>     </a:t>
            </a:r>
            <a:r>
              <a:rPr lang="en-US" sz="4000" dirty="0" err="1"/>
              <a:t>Im</a:t>
            </a:r>
            <a:r>
              <a:rPr lang="en-US" sz="4000" dirty="0"/>
              <a:t>         -&gt; Infectious mosquito density</a:t>
            </a:r>
          </a:p>
          <a:p>
            <a:r>
              <a:rPr lang="en-US" sz="4000" dirty="0"/>
              <a:t>      </a:t>
            </a:r>
            <a:r>
              <a:rPr lang="en-US" sz="4000" dirty="0" err="1"/>
              <a:t>Sm</a:t>
            </a:r>
            <a:r>
              <a:rPr lang="en-US" sz="4000" dirty="0"/>
              <a:t> + </a:t>
            </a:r>
            <a:r>
              <a:rPr lang="en-US" sz="4000" dirty="0" err="1"/>
              <a:t>Im</a:t>
            </a:r>
            <a:endParaRPr lang="en-US" sz="4000" dirty="0"/>
          </a:p>
          <a:p>
            <a:endParaRPr lang="en-US" sz="4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/>
              <a:t>Infectious mosquito density  x Number of bites per human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4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/>
              <a:t>        </a:t>
            </a:r>
            <a:r>
              <a:rPr lang="en-US" sz="4000" dirty="0" err="1"/>
              <a:t>Im</a:t>
            </a:r>
            <a:r>
              <a:rPr lang="en-US" sz="4000" dirty="0"/>
              <a:t>       x      </a:t>
            </a:r>
            <a:r>
              <a:rPr lang="el-GR" sz="4000" dirty="0"/>
              <a:t>α</a:t>
            </a:r>
            <a:r>
              <a:rPr lang="en-US" sz="4000" dirty="0"/>
              <a:t>(</a:t>
            </a:r>
            <a:r>
              <a:rPr lang="en-US" sz="4000" dirty="0" err="1"/>
              <a:t>Sm</a:t>
            </a:r>
            <a:r>
              <a:rPr lang="en-US" sz="4000" dirty="0"/>
              <a:t> + </a:t>
            </a:r>
            <a:r>
              <a:rPr lang="en-US" sz="4000" dirty="0" err="1"/>
              <a:t>Im</a:t>
            </a:r>
            <a:r>
              <a:rPr lang="en-US" sz="4000" dirty="0"/>
              <a:t>)   =         α </a:t>
            </a:r>
            <a:r>
              <a:rPr lang="en-US" sz="4000" dirty="0" err="1"/>
              <a:t>Im</a:t>
            </a:r>
            <a:endParaRPr lang="en-US" sz="4000" dirty="0"/>
          </a:p>
          <a:p>
            <a:r>
              <a:rPr lang="en-US" sz="4000" dirty="0"/>
              <a:t>       </a:t>
            </a:r>
            <a:r>
              <a:rPr lang="en-US" sz="4000" dirty="0" err="1"/>
              <a:t>Sm</a:t>
            </a:r>
            <a:r>
              <a:rPr lang="en-US" sz="4000" dirty="0"/>
              <a:t> + </a:t>
            </a:r>
            <a:r>
              <a:rPr lang="en-US" sz="4000" dirty="0" err="1"/>
              <a:t>Im</a:t>
            </a:r>
            <a:r>
              <a:rPr lang="en-US" sz="4000" dirty="0"/>
              <a:t>                     H                        </a:t>
            </a:r>
            <a:r>
              <a:rPr lang="en-US" sz="4000" dirty="0" err="1"/>
              <a:t>H</a:t>
            </a:r>
            <a:endParaRPr lang="en-US" sz="4000" dirty="0"/>
          </a:p>
          <a:p>
            <a:r>
              <a:rPr lang="en-US" sz="4000" dirty="0"/>
              <a:t>       		</a:t>
            </a:r>
          </a:p>
          <a:p>
            <a:endParaRPr lang="en-ZA" sz="40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80ACC7-003F-981C-A607-912C1F5DC2CD}"/>
              </a:ext>
            </a:extLst>
          </p:cNvPr>
          <p:cNvCxnSpPr>
            <a:cxnSpLocks/>
          </p:cNvCxnSpPr>
          <p:nvPr/>
        </p:nvCxnSpPr>
        <p:spPr>
          <a:xfrm>
            <a:off x="9144000" y="7195782"/>
            <a:ext cx="852610" cy="51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6B2C122-666B-0216-6F84-FFB31E5CD72F}"/>
              </a:ext>
            </a:extLst>
          </p:cNvPr>
          <p:cNvCxnSpPr>
            <a:cxnSpLocks/>
          </p:cNvCxnSpPr>
          <p:nvPr/>
        </p:nvCxnSpPr>
        <p:spPr>
          <a:xfrm>
            <a:off x="5181600" y="7195782"/>
            <a:ext cx="2133600" cy="51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B1E864-4010-FAC9-CD36-4D1616ED086F}"/>
              </a:ext>
            </a:extLst>
          </p:cNvPr>
          <p:cNvCxnSpPr>
            <a:cxnSpLocks/>
          </p:cNvCxnSpPr>
          <p:nvPr/>
        </p:nvCxnSpPr>
        <p:spPr>
          <a:xfrm>
            <a:off x="2209800" y="7200900"/>
            <a:ext cx="18288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27A131-9ECD-6869-AEB0-CA5524A1DC66}"/>
              </a:ext>
            </a:extLst>
          </p:cNvPr>
          <p:cNvCxnSpPr>
            <a:cxnSpLocks/>
          </p:cNvCxnSpPr>
          <p:nvPr/>
        </p:nvCxnSpPr>
        <p:spPr>
          <a:xfrm>
            <a:off x="2057400" y="4152900"/>
            <a:ext cx="17526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01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AEDF-02A8-C4FB-052B-2C26C7059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FAE1AE-9AA8-318F-AB39-8F673D01FF15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A6D6082-3607-6A01-AA78-D8D6626C8DFB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9866787-6A24-F08F-FF53-98FDD00A1E74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0EBFF2B-1522-123D-5A1C-FCB6E0184416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97B76F7-9D7B-F9B0-DD7B-10C1920A81E0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924BF49-A689-7580-B709-D5465230611B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EA1A85C-D58C-AE27-D531-2D3A6D7BA020}"/>
              </a:ext>
            </a:extLst>
          </p:cNvPr>
          <p:cNvSpPr txBox="1"/>
          <p:nvPr/>
        </p:nvSpPr>
        <p:spPr>
          <a:xfrm>
            <a:off x="1564199" y="2183048"/>
            <a:ext cx="92562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Equations (Human Population)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BD04689-FB30-240F-D2F4-A8F45ED8BE2C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DB1A36E-1F77-83F6-B061-7DA8F95E6611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70B504E-6890-2E6D-40A4-03700FB27BB7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D1EAE22-B810-5222-9101-CAF7B35E6ACD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4ABFFC1-2193-5BDA-9DE5-20952AE98E01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41F6534-0A73-96DE-5A73-6922FF43777A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FA135F2C-AD6A-6512-6017-7908AB11C84C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D316F82-30A8-A682-2E7D-D72016C1F0FD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AAC47B1-0014-ECD2-1EF0-F1254C8F2415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D77D01BA-A57D-D603-B504-9C5AA9A0C5EA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DD321B6B-EDF8-6110-ECB8-71817437CF94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D30C8C6A-FA95-A7D7-2F32-3FD8BE57E896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E570E52A-8126-7A60-84F3-D17007A467E3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3491FD43-57B5-A549-9B6B-633FE4732A65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AB516D21-4DB3-B09C-1B5C-68044F333D4A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21C4FB5-3F8D-05C4-9D1D-297890F1F84F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A72F6A-1D01-599A-BCB7-624E69DA47B2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E2F73C-577B-5C85-F0BE-E2C71299B2FB}"/>
              </a:ext>
            </a:extLst>
          </p:cNvPr>
          <p:cNvSpPr txBox="1"/>
          <p:nvPr/>
        </p:nvSpPr>
        <p:spPr>
          <a:xfrm>
            <a:off x="5157910" y="4120528"/>
            <a:ext cx="96774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5400" dirty="0"/>
              <a:t>δ</a:t>
            </a:r>
            <a:r>
              <a:rPr lang="en-US" sz="5400" dirty="0"/>
              <a:t>S = - </a:t>
            </a:r>
            <a:r>
              <a:rPr lang="el-GR" sz="5400" dirty="0"/>
              <a:t>α</a:t>
            </a:r>
            <a:r>
              <a:rPr lang="en-US" sz="5400" dirty="0"/>
              <a:t>(</a:t>
            </a:r>
            <a:r>
              <a:rPr lang="en-US" sz="5400" dirty="0" err="1"/>
              <a:t>Im</a:t>
            </a:r>
            <a:r>
              <a:rPr lang="en-US" sz="5400" dirty="0"/>
              <a:t>/H)S + </a:t>
            </a:r>
            <a:r>
              <a:rPr lang="el-GR" sz="5400" dirty="0"/>
              <a:t>γ</a:t>
            </a:r>
            <a:r>
              <a:rPr lang="en-US" sz="5400" dirty="0"/>
              <a:t>I</a:t>
            </a:r>
          </a:p>
          <a:p>
            <a:endParaRPr lang="en-US" sz="5400" dirty="0"/>
          </a:p>
          <a:p>
            <a:r>
              <a:rPr lang="el-GR" sz="5400" dirty="0"/>
              <a:t>δ</a:t>
            </a:r>
            <a:r>
              <a:rPr lang="en-US" sz="5400" dirty="0"/>
              <a:t>I = </a:t>
            </a:r>
            <a:r>
              <a:rPr lang="el-GR" sz="5400" dirty="0"/>
              <a:t>α</a:t>
            </a:r>
            <a:r>
              <a:rPr lang="en-US" sz="5400" dirty="0"/>
              <a:t>(</a:t>
            </a:r>
            <a:r>
              <a:rPr lang="en-US" sz="5400" dirty="0" err="1"/>
              <a:t>Im</a:t>
            </a:r>
            <a:r>
              <a:rPr lang="en-US" sz="5400" dirty="0"/>
              <a:t>/H)S - </a:t>
            </a:r>
            <a:r>
              <a:rPr lang="el-GR" sz="5400" dirty="0"/>
              <a:t>γ</a:t>
            </a:r>
            <a:r>
              <a:rPr lang="en-US" sz="5400" dirty="0"/>
              <a:t>I</a:t>
            </a:r>
          </a:p>
          <a:p>
            <a:endParaRPr lang="en-ZA" sz="4800" dirty="0"/>
          </a:p>
        </p:txBody>
      </p:sp>
    </p:spTree>
    <p:extLst>
      <p:ext uri="{BB962C8B-B14F-4D97-AF65-F5344CB8AC3E}">
        <p14:creationId xmlns:p14="http://schemas.microsoft.com/office/powerpoint/2010/main" val="312674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924EF-344E-20C4-B0E1-B946D4AD6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0ABA15-033D-F2AF-F388-32C1C40BCDC4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031EC1A-B157-2083-A4EF-C27751325F0E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AA7F938-E119-5B4F-2180-7D2B1AECD0BC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E1FA845-E939-C079-E046-8DC1C632B6E6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D8DDF3E-C3B1-1BE7-EC7F-DAFDABB391FE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82207F3-806C-2104-2974-90DC3401C349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9B1AF43-A71C-B068-9FD6-64C1242CA61E}"/>
              </a:ext>
            </a:extLst>
          </p:cNvPr>
          <p:cNvSpPr txBox="1"/>
          <p:nvPr/>
        </p:nvSpPr>
        <p:spPr>
          <a:xfrm>
            <a:off x="1564199" y="2183048"/>
            <a:ext cx="9256201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 err="1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DeSolve</a:t>
            </a: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Package</a:t>
            </a:r>
          </a:p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Load the Required Packages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BBB0F07-EEAA-A6D1-51DE-A009591BC50C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4BEDC9D-EF55-C981-A42E-10D955E3B96F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5A20770-EC84-4BD3-59A4-9572FEE99673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E0F1552-AA35-9F5A-71DE-4068C83680EE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BCA82C3-6B2B-C2FD-5944-639619F645BA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FDCAC15-58F9-491B-26DE-4377B4315E43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9DBB082E-BB5B-821F-405F-1449EE9522A9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7CFC51E-937D-BC98-BFE0-BA888E537C65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6D89DC1-6367-3A26-C7C7-404E44C1362C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127C8ED-E3C7-297E-D3E7-AFCE4DF76BBE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D0DE512C-4713-4FF7-4D63-D4E4175E8569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EA26F1F1-85DF-FD28-C9F4-1A4C74096B0E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A46C38CE-0830-3A38-C116-3982CD6C98BC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BEE5E791-1E92-423E-15C5-6A60C4E53E80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161C1324-B844-71B4-FDDF-06644E3F78DF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0D1E256-9604-343D-C226-BB0D61D19B7A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9A4A49A-18E3-381F-FCD5-25B21B68754D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C94F85A-858B-DB82-0FC8-136154F709B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352" t="33923" r="64815" b="53703"/>
          <a:stretch/>
        </p:blipFill>
        <p:spPr>
          <a:xfrm>
            <a:off x="4191000" y="4457700"/>
            <a:ext cx="9749295" cy="361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67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364E-1B62-E290-403D-D503A712A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ADFA03-D559-6E20-9230-1147860E8458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861840C-FCF1-AF2F-621B-D5E1C8E0EFF9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1CCBE63-CCA1-0876-6F31-84F050E3EC53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5235B27-DD0C-9163-18F8-F1B38E1AD4A5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C31855-C453-F93A-5D49-5FAE1A9FC660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09E438A-57F2-9149-C673-03D645E0337A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FF144B2-58B4-08E7-1F02-4A60F30ABE2B}"/>
              </a:ext>
            </a:extLst>
          </p:cNvPr>
          <p:cNvSpPr txBox="1"/>
          <p:nvPr/>
        </p:nvSpPr>
        <p:spPr>
          <a:xfrm>
            <a:off x="1470070" y="1499370"/>
            <a:ext cx="7960801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 err="1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DeSolve</a:t>
            </a: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Package </a:t>
            </a:r>
          </a:p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Define the Equations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43611D6-CC86-32F3-A38B-65A652C487A5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72849DF-E38E-392E-326E-407CB66921AC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33E28F5-725E-B9C5-6886-3F367E361E27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D4FFC75-88DE-4BF2-5078-CF0A43EC373C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0D92773-7F87-7291-0F1F-A2BB6190B202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202650C-1D57-D9B6-3369-0328ACFCE0D3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91AC4920-C421-989A-BC78-08A8120E4486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3D7309C-E28B-E332-5DED-4D8D75EE75BF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39FDFFFF-992C-3FD3-1B75-991A73C67FA5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839F05C-3D51-D7C3-C5FC-40C1BA76FC61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BCC5F062-3E47-522C-CE2F-D5C88CFC429B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9E9F9659-674E-FED0-F9D7-98A3D5ED4853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D828A738-7107-A2BA-EB1B-40EF32446710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5F7168D3-B784-0DC4-A965-A303E33E131E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4F70C8A-3651-738E-9EED-F3BC79D8FA65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D3336CAA-3AC1-B382-748B-80909A5A09CD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445453D-3067-A01F-2C49-F6AE9F95BEBE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DD3B028-1D96-81D2-ED7B-02202787955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118" t="30773" r="58333" b="22593"/>
          <a:stretch/>
        </p:blipFill>
        <p:spPr>
          <a:xfrm>
            <a:off x="5568309" y="2882484"/>
            <a:ext cx="6776091" cy="71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96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C1AA8-1B3F-C776-32F3-4A255909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E0950A-A1D7-680B-D483-621B5E1E2318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2F15597-D243-6F58-8CEA-B3C2A4CC60BC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328E4E0-5550-209C-3FE1-224226507503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C06C43-6CDA-185F-5F5B-52CC2D6FF98A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B8F436E-8822-C311-3287-9B6476E50A13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8519067-94A3-E78B-00BB-FCDFC07A6324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D83D563-F4AD-416F-92F0-3D17D9EC6BA6}"/>
              </a:ext>
            </a:extLst>
          </p:cNvPr>
          <p:cNvSpPr txBox="1"/>
          <p:nvPr/>
        </p:nvSpPr>
        <p:spPr>
          <a:xfrm>
            <a:off x="1470070" y="1499370"/>
            <a:ext cx="980753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 err="1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DeSolve</a:t>
            </a: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Package </a:t>
            </a:r>
          </a:p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</a:t>
            </a:r>
            <a:r>
              <a:rPr lang="en-US" sz="4407" b="1" dirty="0" err="1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Initialise</a:t>
            </a: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 compartments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56AF4C1-5615-E993-2CB9-57963F335538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D574A54-7701-0371-11DE-7BB00E44FA76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40D1392-8F67-6C1A-5118-F06507978B73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9439760-82A6-939B-A9EB-62FC60FD3365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9CF46B9-1ED1-EDCB-EC3D-0205FEC22AC1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22D1082-1378-B36C-761A-DE2FF2835224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DE2A76B-32E4-9A92-25DB-6A1871E66434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89F4F48-4F92-D1BC-BBF2-A82B3F3F1431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2DFF187F-B9DE-CA56-FD43-0C3020F35F1F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D492B781-D764-0CD1-EC0A-E7614F3B8A71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511127F2-5CFE-0DF7-8292-EBD33817428D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17451287-E4BD-D1B5-29C3-5DADB22BF880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93F4D32-50C2-9151-68B6-ADE3AE7C5D9B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FA871A77-3E46-F8B7-0D63-35DFAD851170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84FD5910-5BA6-DA06-0B10-A90A0D87975F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761BF88-3520-5553-D0C5-AF62950D5F79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06721CF-E12D-C247-5160-1D46310F318E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E8730E0-A3CF-9D9E-61A0-0A8F44AF0DE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3889" t="13831" r="54629" b="67944"/>
          <a:stretch/>
        </p:blipFill>
        <p:spPr>
          <a:xfrm>
            <a:off x="1771221" y="3836177"/>
            <a:ext cx="13030591" cy="471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57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2EF6-41FB-C0F6-0915-989BE5EB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7DD352-7706-E8A1-E8C9-28B27E6088C3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85D3CEA-B7EE-FCF1-410E-876FE3A7FDA5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010BA08-497D-A478-AC3F-36D394CF8BB0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53936EC-8574-5DA9-3AC6-80C2DDF60093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7FA1F67-7B37-27C2-F8F0-9BDBF65A243B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127B177-00A9-6A3E-B496-DDE8BE5EC9CC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364FACA-FB82-59D6-FAAE-EE350E4A22C2}"/>
              </a:ext>
            </a:extLst>
          </p:cNvPr>
          <p:cNvSpPr txBox="1"/>
          <p:nvPr/>
        </p:nvSpPr>
        <p:spPr>
          <a:xfrm>
            <a:off x="1470070" y="1499370"/>
            <a:ext cx="980753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 err="1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DeSolve</a:t>
            </a: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Package </a:t>
            </a:r>
          </a:p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Define Parameters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7045BC8-F71A-EFEE-C67E-FFBBB9A3C9F1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DD9FE6D-326B-6AF2-4E7F-C7AD893C6D80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5E812C1-925B-8B97-2516-4161DA119BB9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4ACC9BC-7E73-8090-C8F5-EA70BF633F66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F5B9F93-16AC-AADE-B7D8-0D877B000994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D0B5062-33FF-57C4-C169-B7FF74D6EE8A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5CACB21-CE61-19A3-93F8-4D75CEAC0B21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774D93A-618A-6CFC-D6B3-344B91FCD9D5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F3F8E8AB-8322-3B8D-D959-3B4218219997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33F1EC3-7583-23FC-7DBE-B60A62CE3820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A18917A-3E86-6611-6D1C-309CB735052F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82FCC4C-0B3C-C365-4990-354D6002F6D8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C48789C0-53B8-0ABE-4903-FA110B093D22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D06B6DC2-408E-E8FC-E66B-29AB7B1CD116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F5C80493-623B-B371-9939-9331008B6E42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07D60ECB-F1CA-6C8F-990F-8EBDEB3763AE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8904E7A-F7CE-AD13-38B2-378E7F684316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C1528EE-C9BB-DCEE-E7E1-3A77F97457C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118" t="27277" r="58400" b="54499"/>
          <a:stretch/>
        </p:blipFill>
        <p:spPr>
          <a:xfrm>
            <a:off x="3432916" y="3513066"/>
            <a:ext cx="11422168" cy="473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3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8C85C-7763-820E-06DA-D3746B58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60A324-899E-FE43-9C76-BB424C8CB1F8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59F0C0F-75A8-41CB-C02C-05110DBDAB9D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79A57AC-3808-8DB3-114E-43E920567460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0F2CA8D-0383-122A-D30D-6B4EFA1A00C1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527B6C-2F9C-7EA1-94C5-175100B8B64E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A1FD1D1-5DA1-16B4-DB9E-7036FE9FD5BD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0647D75-0D4F-A924-B5C4-CE1CDCC6209B}"/>
              </a:ext>
            </a:extLst>
          </p:cNvPr>
          <p:cNvSpPr txBox="1"/>
          <p:nvPr/>
        </p:nvSpPr>
        <p:spPr>
          <a:xfrm>
            <a:off x="1470070" y="1499370"/>
            <a:ext cx="980753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 err="1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DeSolve</a:t>
            </a: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Package </a:t>
            </a:r>
          </a:p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Define Time Interval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9C82B75-0BA1-894A-F2AE-2A14DD88A6FD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F4A795D-4252-36F3-85E3-52334DC25E3C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AB78DFE-0192-2F73-52AC-BE7A8E230F35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65DC983-42D7-813A-D317-D6448809CF9E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76178F4-13C4-2CA6-FD29-985EB128F759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FBE5785-1B22-DE70-B191-5212E57D6833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9FB8DA5-865C-EED5-055D-620645833CF2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3C5D4897-8628-A6F6-3B92-B129081EBEA3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53730480-26CE-BA55-4FE0-9C56AC2167EE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CEBB2E7-FD7C-E42F-B030-AC20B38BD563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F716BC64-E3AD-FB64-862E-50E1A0E8FAFB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473A381F-769D-A561-0965-D761F5CC2625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110FA526-2E3F-28F4-5BE1-6B285EEEF4B7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FBB89102-D43D-4A86-8132-E02DCD58BA62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91E40A27-3844-9197-43CA-004D7935D612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62BB716-1D29-73FE-58BD-5F5023DAA03C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F11DADE-A25F-6DB5-6190-26D9B12E78F8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50702EB-8F3A-FF81-B5A6-0CA29331ECB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352" t="36906" r="69908" b="58148"/>
          <a:stretch/>
        </p:blipFill>
        <p:spPr>
          <a:xfrm>
            <a:off x="4535761" y="4531911"/>
            <a:ext cx="7972311" cy="156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6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6741A-EDCD-52ED-66DB-EAE876D9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C4455C-0443-9AFA-2214-A9798DA409DE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CE40F96-6677-C282-223C-43D0415CDDD5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C42D4F2-7558-F157-AF63-750DD3A35709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B7C2CF2-0BDA-8BF3-58F7-A7DDF367F74F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B9760EC-CCC4-9A8E-0E02-0A31D1B18AC9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2947F15-E849-321D-C23F-AAB0EF7F7840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7AEC678-4CA0-6AF1-681A-1FB3AF575B10}"/>
              </a:ext>
            </a:extLst>
          </p:cNvPr>
          <p:cNvSpPr txBox="1"/>
          <p:nvPr/>
        </p:nvSpPr>
        <p:spPr>
          <a:xfrm>
            <a:off x="1470070" y="1499370"/>
            <a:ext cx="980753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 err="1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DeSolve</a:t>
            </a: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Package </a:t>
            </a:r>
          </a:p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Solve the Equations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1C43821-469D-0D91-D212-FC027FFD4F0E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BFEAF8-B286-2878-D963-0E899E336D3A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8943E92-17AE-CA4E-BF7B-30033B76C120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686F4D7-F98F-793E-9BC4-2B69CE0621ED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09699D4-45F8-9465-0856-80342CF87598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B705BF9-6FB5-F597-10F5-6324AA461C28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D7846C9-02FA-395C-130B-B276A9DA0FD0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E1BC6D3-3B5A-1487-913E-4D27AB0BA24F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04C6C6B-CD67-AAC0-962E-17D1B5974E5E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36419D6-E985-93D6-8189-2765A284A8E3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6A1300C9-CC25-CAC6-E298-BB45CC3D8130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EB4AD97-062C-99A7-A20B-0620AF3069F6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B134E9BE-2B4A-4950-00AF-6FD10A78D2AA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F894A192-0378-5DE9-4F18-E1020F2F930A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3AB4E17D-FE81-8C7D-6F14-54FA224BE9D5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ADD2E321-E115-EE52-E2ED-560E896B8A77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AAE46FB-85E0-DE5F-E363-68B0B0654FD0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2466FA8-0CB1-A3E2-C510-7DCD6AEB8FB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3889" t="52125" r="68981" b="31493"/>
          <a:stretch/>
        </p:blipFill>
        <p:spPr>
          <a:xfrm>
            <a:off x="4366455" y="3668523"/>
            <a:ext cx="8310923" cy="496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28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37C7-2C54-0FAC-B295-0BCC4A5B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B63C7B-EBAF-653D-4D2F-58839F39B0DA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C30E852-406C-CF65-689D-D692785E2348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DED9CD9-BE0F-1FF0-C0D0-7E9F2D818341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877818-FF76-2DED-82BC-08C301323419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3F4D279-0ACF-AA56-E88E-AE5C3BAF0F5C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D8ECB13-E9A5-A33C-3346-23C178427CD8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CBD7D6-4E75-1AA8-ED82-471136E8D922}"/>
              </a:ext>
            </a:extLst>
          </p:cNvPr>
          <p:cNvSpPr txBox="1"/>
          <p:nvPr/>
        </p:nvSpPr>
        <p:spPr>
          <a:xfrm>
            <a:off x="1470070" y="2051819"/>
            <a:ext cx="980753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Plot the Results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63692A5-A4A0-A0A2-2003-A4AB99F7BB44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26B68EC-EF49-D868-B795-40E06EF4BD89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B2DB6E8-FDDE-798A-3269-09EACCE7A299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F5D969F-2F09-8A4A-9C19-C03063F30A70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265A418-D9F2-8916-A2D4-3B1EA407383D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7F19791-D84B-B42D-06AD-52B99D89E215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451E62F7-F418-A81B-8AA3-BF5A8BD8642B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8C16F0BB-BD8D-0D50-F6FD-B442540B90A6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7CE93A7-AB58-D519-0C9A-1823A5A98153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5EB17FA-42FE-B902-0110-EFA728FB5344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979D6D2-E02C-095E-118C-EA743EC5767B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8395D66-8FC3-CFCE-45E5-F15C8A682CEF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0EF1277-67A8-B6A3-549D-9578FA8672EB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B5BE4C6F-1CB5-1176-7066-EC7DDF8B3AA2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E2582D3D-2A71-42FB-EF9C-F3C1A84AF8DF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CAE5C5F-FAE6-0BF7-B23B-D41022CFF0FC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F113839-3650-91E5-00CF-2EB96A0492BE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5688096-99C6-47DD-0D3D-3DADBA72D11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117" t="27037" r="35649" b="47037"/>
          <a:stretch/>
        </p:blipFill>
        <p:spPr>
          <a:xfrm>
            <a:off x="1600200" y="3457663"/>
            <a:ext cx="15177892" cy="48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60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65AC-FB03-D105-4AC6-F69BC32E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F88F7A-8D7A-091C-8D3C-02B7B6685A5E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72C83A8-DC72-3C41-D9B6-EE833668A541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C1DC55D-4884-BC86-AF36-4048C6F147FB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0666519-A637-55D2-7B4A-2A3FD9C81061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D0BED80-5070-64AF-ECA5-6F37D742D31C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A5D81F0-9112-9A90-4EA1-EB8A04F619F4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73DF450-8CAA-9577-852C-979067E175E2}"/>
              </a:ext>
            </a:extLst>
          </p:cNvPr>
          <p:cNvSpPr txBox="1"/>
          <p:nvPr/>
        </p:nvSpPr>
        <p:spPr>
          <a:xfrm>
            <a:off x="1470070" y="2051819"/>
            <a:ext cx="980753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Plot the Results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0B6B589-2DAC-8223-44F8-7AB16B9EC37E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556DD65-8B01-E50E-0E2C-351732B0E9DD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0F7C082-92CA-34B9-011F-037FDA8DFD53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C2E38FF-AEF0-680F-D546-A3215B293C37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CC3C853-9B1B-D6E2-7CCB-9BE7B0D1064C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0147862-48CB-1BD6-07F1-3B8D75BEAAC4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4D10B97-9082-9788-DA69-87F47640C5CD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FDCD539-D9B7-0684-2B50-9F93BA2781C4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9B1041A-25B1-965B-E618-1F77C045ED87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8E36E0F-5D90-DD7D-E509-DB99BEE5DFF2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F593C25A-7877-C5FB-47C0-99F2A9C33371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D8FBA40-26F1-5678-5401-BE1D0BBBF34C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8958AB8-F32F-5B49-6EC0-FE61CB097083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0618C39F-0E88-AAB5-7C26-B1CDA1841C50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90F652B4-8D8C-8BFA-F56D-EFBF0100FF9F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55DC522-D058-9758-BE18-44CC9E1B7348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6E7A844-AFC3-B8ED-8A2E-2217AC13E45B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8746996-26F6-3A82-0DED-08100B2FDD3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2963" t="32949" r="33333" b="5555"/>
          <a:stretch/>
        </p:blipFill>
        <p:spPr>
          <a:xfrm>
            <a:off x="3667164" y="2796421"/>
            <a:ext cx="9709505" cy="69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5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4576</TotalTime>
  <Words>368</Words>
  <Application>Microsoft Office PowerPoint</Application>
  <PresentationFormat>Custom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Wingdings</vt:lpstr>
      <vt:lpstr>Montserrat Bold</vt:lpstr>
      <vt:lpstr>Montserrat Italics</vt:lpstr>
      <vt:lpstr>Montserrat Bold Italics</vt:lpstr>
      <vt:lpstr>Calibri</vt:lpstr>
      <vt:lpstr>Poppins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Corporate Persentation</dc:title>
  <cp:lastModifiedBy>Bernard Karanja</cp:lastModifiedBy>
  <cp:revision>6</cp:revision>
  <dcterms:created xsi:type="dcterms:W3CDTF">2006-08-16T00:00:00Z</dcterms:created>
  <dcterms:modified xsi:type="dcterms:W3CDTF">2025-08-22T12:07:51Z</dcterms:modified>
  <dc:identifier>DAGh-nOrZOE</dc:identifier>
</cp:coreProperties>
</file>