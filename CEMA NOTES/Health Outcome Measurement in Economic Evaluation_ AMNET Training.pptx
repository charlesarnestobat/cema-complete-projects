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94" r:id="rId21"/>
    <p:sldId id="295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6" r:id="rId36"/>
    <p:sldId id="297" r:id="rId37"/>
    <p:sldId id="298" r:id="rId38"/>
    <p:sldId id="299" r:id="rId39"/>
    <p:sldId id="300" r:id="rId40"/>
    <p:sldId id="301" r:id="rId41"/>
    <p:sldId id="291" r:id="rId42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8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B2354-FBDA-404F-918A-87C4558C4A56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EBE8B-6766-C040-ADEF-C359B2962EC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64737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EBE8B-6766-C040-ADEF-C359B2962ECB}" type="slidenum">
              <a:rPr lang="en-KE" smtClean="0"/>
              <a:t>1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13073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Natural units</a:t>
            </a:r>
            <a:r>
              <a:rPr lang="en-US" dirty="0"/>
              <a:t> – These are direct clinical outcomes, such as: Life-years gained, Cases prevented (e.g., malaria cases averted), Deaths averted, Hospitalizations avoided</a:t>
            </a:r>
          </a:p>
          <a:p>
            <a:r>
              <a:rPr lang="en-US" b="1" dirty="0"/>
              <a:t>Summary health measures</a:t>
            </a:r>
            <a:r>
              <a:rPr lang="en-US" dirty="0"/>
              <a:t> – These combine both quantity and quality of life, such as:</a:t>
            </a:r>
          </a:p>
          <a:p>
            <a:r>
              <a:rPr lang="en-US" b="1" dirty="0"/>
              <a:t>QALYs (Quality-Adjusted Life Years)</a:t>
            </a:r>
            <a:r>
              <a:rPr lang="en-US" dirty="0"/>
              <a:t> – incorporates both length of life and quality of health.</a:t>
            </a:r>
          </a:p>
          <a:p>
            <a:r>
              <a:rPr lang="en-US" b="1" dirty="0"/>
              <a:t>DALYs (Disability-Adjusted Life Years)</a:t>
            </a:r>
            <a:r>
              <a:rPr lang="en-US" dirty="0"/>
              <a:t> – measures the burden of disease, with lower DALYs meaning better health outcomes.</a:t>
            </a:r>
          </a:p>
          <a:p>
            <a:r>
              <a:rPr lang="en-US" b="1" dirty="0"/>
              <a:t>Incremental Cost-Effectiveness Ratio (ICER)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EBE8B-6766-C040-ADEF-C359B2962ECB}" type="slidenum">
              <a:rPr lang="en-KE" smtClean="0"/>
              <a:t>4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0430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2000" t="20000" r="62000" b="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A0F0-385B-B22A-8EE6-69D028ECC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096" y="645286"/>
            <a:ext cx="7364895" cy="179974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04FA1-2BDE-A516-21A8-78C485DFA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9261" y="3313803"/>
            <a:ext cx="614569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4C54F-AA08-B7AD-4754-B27D513973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93517" y="6093895"/>
            <a:ext cx="2432222" cy="76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8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FB6D-CA99-1389-DCF8-CC70AC1F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617" y="1365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381EA-4A33-47FF-C19D-9A4F07598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17" y="1643856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3FEC-4515-0C76-7EB9-9CF39E1F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E6B06-A276-2DEC-C478-2DD9AE99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7422B-3503-1AC1-325E-97739565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7487" y="6176963"/>
            <a:ext cx="1984513" cy="681037"/>
          </a:xfrm>
        </p:spPr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995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1689-C717-6DB8-30FD-C4357706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396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5DEEC-5100-50AD-280A-48D06F992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50839-E945-8303-8A85-C62DB0563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62018-0FAF-2777-233F-5D1C0AD6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E22F9-3D3E-A091-1253-CE2C2153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0B5FE-D53E-55AD-7EC9-AFDC7D12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5213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2DB1-9CB0-F4A1-4AD5-F968CF44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095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6DA2F-A808-7511-A7ED-58C9B07F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5DF48-EFA5-90EB-698D-B3C91537F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94C4E-9965-AC87-8C79-4C8BC37C9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D0934-74E2-9E7E-4D7E-810A31A57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C74199-B12D-9AAF-F4D4-9F2F12AE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496F3-4EA9-85D3-2D4E-D1F35E5A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1EB-BBDF-BF5D-DCF5-4535F561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1752BC-F842-FBFA-5F10-95FB42C365B4}"/>
              </a:ext>
            </a:extLst>
          </p:cNvPr>
          <p:cNvCxnSpPr>
            <a:cxnSpLocks/>
          </p:cNvCxnSpPr>
          <p:nvPr userDrawn="1"/>
        </p:nvCxnSpPr>
        <p:spPr>
          <a:xfrm>
            <a:off x="1109293" y="1171873"/>
            <a:ext cx="11092020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1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F48F-4C5D-9D13-03A7-CACC2BA6C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87" y="1365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C18A8-C238-B902-E940-D7FAF29F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A1B71-C718-5A2E-9EFE-CB2A7799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E3529-694A-053D-1DB9-31C42F94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6070" y="6311900"/>
            <a:ext cx="1865243" cy="546100"/>
          </a:xfrm>
        </p:spPr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8900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F37A8-33F8-F258-3047-3ECFAE91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C22F2-843D-EFBC-7A13-BFED1AF9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AD910-EB1F-B70F-D113-524F3EA5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243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01A8-5776-7397-8BCA-0A23E1D4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1BE46-6DA6-4CCF-F6D5-5B2FD563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6C464-3951-0C12-58F4-EB1B19676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9B166-145C-EED7-42BD-635916EF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1950E-514C-268F-2FB1-B2354289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B2ACE-C12D-E1CF-DD24-F5F4C82D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3926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F975-BD0D-5EB5-CAF3-F940E410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DE596-AD3E-6145-4307-A69B3E6B7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D17DF-458C-954B-DF14-0EFF09111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EC33-74F4-E006-4BBC-D0BC4DE0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A2B4F-677C-EA5A-07ED-5091945B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D9C0B-8386-8B1F-9577-430426A8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7376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7D3B-0339-59D6-E49D-71D2E9A0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91" y="1825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E385A-0526-E199-B13A-AC2E8A43D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D394C-3E26-B28B-445E-028C606A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FDF05-2727-C877-BF6E-8D7C9648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58B39-169D-603B-260F-D4004732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2420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E6B23-4AAA-B6E2-D85B-0E85BF915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DE1AE-90CD-9FC7-1A16-CBAFA3F1D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49C42-4F1A-C87E-4F92-BE6DC58AB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5702D-96BB-E87C-5418-5D643945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424F7-7FD1-9391-FC16-34395C89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0189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7498B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59966"/>
            <a:ext cx="3248025" cy="450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B8DE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5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1000" t="-1000" r="90000" b="8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300D9-D1F9-03ED-A77E-06541535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B90EE-7DB1-4BC0-43FE-5DBEADBB4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D2E4D-F77A-4E7D-1E4E-DBABEB9F3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8B413-01DD-7E48-9E67-39759FED9E82}" type="datetimeFigureOut">
              <a:rPr lang="en-KE" smtClean="0"/>
              <a:t>08/26/2025</a:t>
            </a:fld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093B3-AF5E-E195-CF2B-8B4058A86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B0BE7-F562-C247-B5C8-DE5F899201FB}" type="slidenum">
              <a:rPr lang="en-KE" smtClean="0"/>
              <a:t>‹#›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C3BC9-F0B3-73B3-7BA6-F8BE7987F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5007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data.org/research-analysis/health-by-location/profiles/kenya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ealthdata.org/research-analysis/health-by-location/profiles/kenya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uroqol.org/information-and-support/resources/value-sets/" TargetMode="External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ear4health.com/gear/mind-map/5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hyperlink" Target="https://gear4health.com/material-and-training/tool/detail/22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5383-5657-A45A-32B7-5B43FBE0B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5768" y="1385950"/>
            <a:ext cx="9334831" cy="1799740"/>
          </a:xfrm>
        </p:spPr>
        <p:txBody>
          <a:bodyPr>
            <a:normAutofit fontScale="90000"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lang="en-US" b="1" spc="-310" dirty="0">
                <a:solidFill>
                  <a:schemeClr val="accent6"/>
                </a:solidFill>
                <a:cs typeface="Arial" panose="020B0604020202020204"/>
              </a:rPr>
              <a:t>Health</a:t>
            </a:r>
            <a:r>
              <a:rPr lang="en-US" b="1" spc="-295" dirty="0">
                <a:solidFill>
                  <a:schemeClr val="accent6"/>
                </a:solidFill>
                <a:cs typeface="Arial" panose="020B0604020202020204"/>
              </a:rPr>
              <a:t> </a:t>
            </a:r>
            <a:r>
              <a:rPr lang="en-US" b="1" spc="-459" dirty="0">
                <a:solidFill>
                  <a:schemeClr val="accent6"/>
                </a:solidFill>
                <a:cs typeface="Arial" panose="020B0604020202020204"/>
              </a:rPr>
              <a:t>Outcome</a:t>
            </a:r>
            <a:r>
              <a:rPr lang="en-US" b="1" spc="-290" dirty="0">
                <a:solidFill>
                  <a:schemeClr val="accent6"/>
                </a:solidFill>
                <a:cs typeface="Arial" panose="020B0604020202020204"/>
              </a:rPr>
              <a:t> </a:t>
            </a:r>
            <a:r>
              <a:rPr lang="en-US" b="1" spc="-355" dirty="0">
                <a:solidFill>
                  <a:schemeClr val="accent6"/>
                </a:solidFill>
                <a:cs typeface="Arial" panose="020B0604020202020204"/>
              </a:rPr>
              <a:t>Measurement </a:t>
            </a:r>
            <a:r>
              <a:rPr lang="en-US" b="1" spc="-320" dirty="0">
                <a:solidFill>
                  <a:schemeClr val="accent6"/>
                </a:solidFill>
                <a:cs typeface="Arial" panose="020B0604020202020204"/>
              </a:rPr>
              <a:t>in</a:t>
            </a:r>
            <a:r>
              <a:rPr lang="en-US" b="1" spc="-305" dirty="0">
                <a:solidFill>
                  <a:schemeClr val="accent6"/>
                </a:solidFill>
                <a:cs typeface="Arial" panose="020B0604020202020204"/>
              </a:rPr>
              <a:t> </a:t>
            </a:r>
            <a:r>
              <a:rPr lang="en-US" b="1" spc="-630" dirty="0">
                <a:solidFill>
                  <a:schemeClr val="accent6"/>
                </a:solidFill>
                <a:cs typeface="Arial" panose="020B0604020202020204"/>
              </a:rPr>
              <a:t>Economic</a:t>
            </a:r>
            <a:r>
              <a:rPr lang="en-US" b="1" spc="-310" dirty="0">
                <a:solidFill>
                  <a:schemeClr val="accent6"/>
                </a:solidFill>
                <a:cs typeface="Arial" panose="020B0604020202020204"/>
              </a:rPr>
              <a:t> </a:t>
            </a:r>
            <a:r>
              <a:rPr lang="en-US" b="1" spc="-445" dirty="0">
                <a:solidFill>
                  <a:schemeClr val="accent6"/>
                </a:solidFill>
                <a:cs typeface="Arial" panose="020B0604020202020204"/>
              </a:rPr>
              <a:t>Evaluation</a:t>
            </a:r>
            <a:br>
              <a:rPr lang="en-US" dirty="0">
                <a:solidFill>
                  <a:schemeClr val="accent6"/>
                </a:solidFill>
                <a:cs typeface="Arial" panose="020B0604020202020204"/>
              </a:rPr>
            </a:br>
            <a:r>
              <a:rPr lang="en-US" sz="2800" b="1" spc="-75" dirty="0">
                <a:solidFill>
                  <a:srgbClr val="00B0F0"/>
                </a:solidFill>
                <a:cs typeface="Arial" panose="020B0604020202020204"/>
              </a:rPr>
              <a:t>August 28,</a:t>
            </a:r>
            <a:r>
              <a:rPr lang="en-US" sz="2800" b="1" spc="-114" dirty="0">
                <a:solidFill>
                  <a:srgbClr val="00B0F0"/>
                </a:solidFill>
                <a:cs typeface="Arial" panose="020B0604020202020204"/>
              </a:rPr>
              <a:t> </a:t>
            </a:r>
            <a:r>
              <a:rPr lang="en-US" sz="2800" b="1" spc="-20" dirty="0">
                <a:solidFill>
                  <a:srgbClr val="00B0F0"/>
                </a:solidFill>
                <a:cs typeface="Arial" panose="020B0604020202020204"/>
              </a:rPr>
              <a:t>2025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24AC9-D85B-97F8-AB41-DEE0364E7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2373" y="4292211"/>
            <a:ext cx="6145696" cy="165576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altLang="" spc="-170" dirty="0">
                <a:solidFill>
                  <a:srgbClr val="888888"/>
                </a:solidFill>
                <a:cs typeface="Arial" panose="020B0604020202020204"/>
              </a:rPr>
              <a:t>Tabitha Okech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altLang="" dirty="0">
                <a:cs typeface="Arial" panose="020B0604020202020204"/>
              </a:rPr>
              <a:t>Center for Epidemiological Modelling and Analysis</a:t>
            </a:r>
          </a:p>
        </p:txBody>
      </p:sp>
    </p:spTree>
    <p:extLst>
      <p:ext uri="{BB962C8B-B14F-4D97-AF65-F5344CB8AC3E}">
        <p14:creationId xmlns:p14="http://schemas.microsoft.com/office/powerpoint/2010/main" val="169633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375" dirty="0">
                <a:latin typeface="Arial" panose="020B0604020202020204"/>
                <a:cs typeface="Arial" panose="020B0604020202020204"/>
              </a:rPr>
              <a:t>Outline</a:t>
            </a:r>
            <a:endParaRPr sz="6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546886"/>
            <a:ext cx="10132061" cy="4629472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20"/>
              </a:spcBef>
              <a:buChar char="•"/>
              <a:tabLst>
                <a:tab pos="240665" algn="l"/>
              </a:tabLst>
            </a:pPr>
            <a:r>
              <a:rPr spc="-215" dirty="0">
                <a:solidFill>
                  <a:srgbClr val="4B8DE1"/>
                </a:solidFill>
              </a:rPr>
              <a:t>Types</a:t>
            </a:r>
            <a:r>
              <a:rPr spc="-105" dirty="0">
                <a:solidFill>
                  <a:srgbClr val="4B8DE1"/>
                </a:solidFill>
              </a:rPr>
              <a:t> </a:t>
            </a:r>
            <a:r>
              <a:rPr dirty="0">
                <a:solidFill>
                  <a:srgbClr val="4B8DE1"/>
                </a:solidFill>
              </a:rPr>
              <a:t>of</a:t>
            </a:r>
            <a:r>
              <a:rPr spc="-114" dirty="0">
                <a:solidFill>
                  <a:srgbClr val="4B8DE1"/>
                </a:solidFill>
              </a:rPr>
              <a:t> </a:t>
            </a:r>
            <a:r>
              <a:rPr spc="-90" dirty="0">
                <a:solidFill>
                  <a:srgbClr val="4B8DE1"/>
                </a:solidFill>
              </a:rPr>
              <a:t>outcome</a:t>
            </a:r>
            <a:r>
              <a:rPr spc="-120" dirty="0">
                <a:solidFill>
                  <a:srgbClr val="4B8DE1"/>
                </a:solidFill>
              </a:rPr>
              <a:t> </a:t>
            </a:r>
            <a:r>
              <a:rPr spc="-155" dirty="0">
                <a:solidFill>
                  <a:srgbClr val="4B8DE1"/>
                </a:solidFill>
              </a:rPr>
              <a:t>used</a:t>
            </a:r>
            <a:r>
              <a:rPr spc="-114" dirty="0">
                <a:solidFill>
                  <a:srgbClr val="4B8DE1"/>
                </a:solidFill>
              </a:rPr>
              <a:t> </a:t>
            </a:r>
            <a:r>
              <a:rPr spc="-40" dirty="0">
                <a:solidFill>
                  <a:srgbClr val="4B8DE1"/>
                </a:solidFill>
              </a:rPr>
              <a:t>in</a:t>
            </a:r>
            <a:r>
              <a:rPr spc="-110" dirty="0">
                <a:solidFill>
                  <a:srgbClr val="4B8DE1"/>
                </a:solidFill>
              </a:rPr>
              <a:t> </a:t>
            </a:r>
            <a:r>
              <a:rPr spc="-70" dirty="0">
                <a:solidFill>
                  <a:srgbClr val="4B8DE1"/>
                </a:solidFill>
              </a:rPr>
              <a:t>health</a:t>
            </a:r>
            <a:r>
              <a:rPr spc="-114" dirty="0">
                <a:solidFill>
                  <a:srgbClr val="4B8DE1"/>
                </a:solidFill>
              </a:rPr>
              <a:t> economic</a:t>
            </a:r>
            <a:r>
              <a:rPr spc="-120" dirty="0">
                <a:solidFill>
                  <a:srgbClr val="4B8DE1"/>
                </a:solidFill>
              </a:rPr>
              <a:t> </a:t>
            </a:r>
            <a:r>
              <a:rPr spc="-10" dirty="0">
                <a:solidFill>
                  <a:srgbClr val="4B8DE1"/>
                </a:solidFill>
              </a:rPr>
              <a:t>evaluation</a:t>
            </a:r>
            <a:endParaRPr lang="en-US" spc="-10" dirty="0">
              <a:solidFill>
                <a:srgbClr val="4B8DE1"/>
              </a:solidFill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240665" algn="l"/>
              </a:tabLst>
            </a:pPr>
            <a:endParaRPr spc="-10" dirty="0">
              <a:solidFill>
                <a:srgbClr val="4B8DE1"/>
              </a:solidFill>
            </a:endParaRP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Char char="•"/>
              <a:tabLst>
                <a:tab pos="240665" algn="l"/>
              </a:tabLst>
            </a:pPr>
            <a:r>
              <a:rPr spc="-120" dirty="0">
                <a:solidFill>
                  <a:srgbClr val="4B8DE1"/>
                </a:solidFill>
              </a:rPr>
              <a:t>Outcome</a:t>
            </a:r>
            <a:r>
              <a:rPr spc="-125" dirty="0">
                <a:solidFill>
                  <a:srgbClr val="4B8DE1"/>
                </a:solidFill>
              </a:rPr>
              <a:t> </a:t>
            </a:r>
            <a:r>
              <a:rPr spc="-135" dirty="0">
                <a:solidFill>
                  <a:srgbClr val="4B8DE1"/>
                </a:solidFill>
              </a:rPr>
              <a:t>measure</a:t>
            </a:r>
            <a:r>
              <a:rPr spc="-114" dirty="0">
                <a:solidFill>
                  <a:srgbClr val="4B8DE1"/>
                </a:solidFill>
              </a:rPr>
              <a:t> </a:t>
            </a:r>
            <a:r>
              <a:rPr spc="-40" dirty="0">
                <a:solidFill>
                  <a:srgbClr val="4B8DE1"/>
                </a:solidFill>
              </a:rPr>
              <a:t>in</a:t>
            </a:r>
            <a:r>
              <a:rPr spc="-110" dirty="0">
                <a:solidFill>
                  <a:srgbClr val="4B8DE1"/>
                </a:solidFill>
              </a:rPr>
              <a:t> </a:t>
            </a:r>
            <a:r>
              <a:rPr lang="en-US" spc="-120" dirty="0">
                <a:solidFill>
                  <a:srgbClr val="4B8DE1"/>
                </a:solidFill>
              </a:rPr>
              <a:t>cost-effectiveness</a:t>
            </a:r>
            <a:r>
              <a:rPr spc="-105" dirty="0">
                <a:solidFill>
                  <a:srgbClr val="4B8DE1"/>
                </a:solidFill>
              </a:rPr>
              <a:t> </a:t>
            </a:r>
            <a:r>
              <a:rPr spc="-10" dirty="0">
                <a:solidFill>
                  <a:srgbClr val="4B8DE1"/>
                </a:solidFill>
              </a:rPr>
              <a:t>analysis</a:t>
            </a:r>
          </a:p>
          <a:p>
            <a:pPr marL="697230" lvl="1" indent="-227330">
              <a:lnSpc>
                <a:spcPct val="100000"/>
              </a:lnSpc>
              <a:spcBef>
                <a:spcPts val="205"/>
              </a:spcBef>
              <a:buChar char="•"/>
              <a:tabLst>
                <a:tab pos="697230" algn="l"/>
              </a:tabLst>
            </a:pPr>
            <a:r>
              <a:rPr sz="2400" spc="-1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Efficacy</a:t>
            </a: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VS</a:t>
            </a: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Effectiveness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15"/>
              </a:spcBef>
              <a:buChar char="•"/>
              <a:tabLst>
                <a:tab pos="697230" algn="l"/>
              </a:tabLst>
            </a:pPr>
            <a:r>
              <a:rPr sz="2400" spc="-6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Intermediate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VS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3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Final</a:t>
            </a:r>
            <a:r>
              <a:rPr sz="2400" spc="-10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6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outcome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15"/>
              </a:spcBef>
              <a:buChar char="•"/>
              <a:tabLst>
                <a:tab pos="697230" algn="l"/>
              </a:tabLst>
            </a:pP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Measurement</a:t>
            </a: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Treatment </a:t>
            </a:r>
            <a:r>
              <a:rPr sz="2400" spc="-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effects</a:t>
            </a:r>
            <a:endParaRPr lang="en-US" sz="2400" spc="-10" dirty="0">
              <a:solidFill>
                <a:srgbClr val="F86D46"/>
              </a:solidFill>
              <a:latin typeface="Arial" panose="020B0604020202020204"/>
              <a:cs typeface="Arial" panose="020B0604020202020204"/>
            </a:endParaRPr>
          </a:p>
          <a:p>
            <a:pPr marL="469900" lvl="1">
              <a:lnSpc>
                <a:spcPct val="100000"/>
              </a:lnSpc>
              <a:spcBef>
                <a:spcPts val="215"/>
              </a:spcBef>
              <a:tabLst>
                <a:tab pos="697230" algn="l"/>
              </a:tabLst>
            </a:pPr>
            <a:endParaRPr sz="2400" dirty="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710"/>
              </a:spcBef>
              <a:buChar char="•"/>
              <a:tabLst>
                <a:tab pos="239395" algn="l"/>
              </a:tabLst>
            </a:pPr>
            <a:r>
              <a:rPr spc="-114" dirty="0">
                <a:solidFill>
                  <a:srgbClr val="4B8DE1"/>
                </a:solidFill>
              </a:rPr>
              <a:t>Outcome </a:t>
            </a:r>
            <a:r>
              <a:rPr spc="-130" dirty="0">
                <a:solidFill>
                  <a:srgbClr val="4B8DE1"/>
                </a:solidFill>
              </a:rPr>
              <a:t>measure</a:t>
            </a:r>
            <a:r>
              <a:rPr spc="-105" dirty="0">
                <a:solidFill>
                  <a:srgbClr val="4B8DE1"/>
                </a:solidFill>
              </a:rPr>
              <a:t> </a:t>
            </a:r>
            <a:r>
              <a:rPr spc="-45" dirty="0">
                <a:solidFill>
                  <a:srgbClr val="4B8DE1"/>
                </a:solidFill>
              </a:rPr>
              <a:t>in</a:t>
            </a:r>
            <a:r>
              <a:rPr spc="-95" dirty="0">
                <a:solidFill>
                  <a:srgbClr val="4B8DE1"/>
                </a:solidFill>
              </a:rPr>
              <a:t> </a:t>
            </a:r>
            <a:r>
              <a:rPr spc="-120" dirty="0">
                <a:solidFill>
                  <a:srgbClr val="4B8DE1"/>
                </a:solidFill>
              </a:rPr>
              <a:t>cost</a:t>
            </a:r>
            <a:r>
              <a:rPr spc="-114" dirty="0">
                <a:solidFill>
                  <a:srgbClr val="4B8DE1"/>
                </a:solidFill>
              </a:rPr>
              <a:t> </a:t>
            </a:r>
            <a:r>
              <a:rPr dirty="0">
                <a:solidFill>
                  <a:srgbClr val="4B8DE1"/>
                </a:solidFill>
              </a:rPr>
              <a:t>utility</a:t>
            </a:r>
            <a:r>
              <a:rPr spc="-110" dirty="0">
                <a:solidFill>
                  <a:srgbClr val="4B8DE1"/>
                </a:solidFill>
              </a:rPr>
              <a:t> </a:t>
            </a:r>
            <a:r>
              <a:rPr spc="-10" dirty="0">
                <a:solidFill>
                  <a:srgbClr val="4B8DE1"/>
                </a:solidFill>
              </a:rPr>
              <a:t>analysis</a:t>
            </a:r>
          </a:p>
          <a:p>
            <a:pPr marL="697230" lvl="1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697230" algn="l"/>
              </a:tabLst>
            </a:pPr>
            <a:r>
              <a:rPr sz="2400" spc="-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Quality</a:t>
            </a:r>
            <a:r>
              <a:rPr sz="2400" spc="-114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Year</a:t>
            </a:r>
            <a:r>
              <a:rPr sz="2400" spc="-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(QALY)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00"/>
              </a:spcBef>
              <a:buChar char="•"/>
              <a:tabLst>
                <a:tab pos="697230" algn="l"/>
              </a:tabLst>
            </a:pPr>
            <a:r>
              <a:rPr sz="2400" spc="-8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Disability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400" spc="-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(DALYs)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697230" algn="l"/>
              </a:tabLst>
            </a:pPr>
            <a:r>
              <a:rPr sz="2400" spc="-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Methods</a:t>
            </a: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assessing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400" spc="-1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400" spc="-8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(VAS,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SG,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7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TTO,</a:t>
            </a:r>
            <a:r>
              <a:rPr sz="2400" spc="-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EQ-</a:t>
            </a:r>
            <a:r>
              <a:rPr sz="24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5D-</a:t>
            </a:r>
            <a:r>
              <a:rPr sz="24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5L)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5464" y="62610"/>
            <a:ext cx="3130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P.2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65" dirty="0">
                <a:latin typeface="Arial" panose="020B0604020202020204"/>
                <a:cs typeface="Arial" panose="020B0604020202020204"/>
              </a:rPr>
              <a:t>Economic</a:t>
            </a:r>
            <a:r>
              <a:rPr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b="1" spc="-370" dirty="0">
                <a:latin typeface="Arial" panose="020B0604020202020204"/>
                <a:cs typeface="Arial" panose="020B0604020202020204"/>
              </a:rPr>
              <a:t>Evaluations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7552" y="1735835"/>
            <a:ext cx="2596896" cy="259689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837676" y="2711195"/>
            <a:ext cx="1076960" cy="534670"/>
            <a:chOff x="8837676" y="2711195"/>
            <a:chExt cx="1076960" cy="5346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7676" y="2711195"/>
              <a:ext cx="525018" cy="53416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20" y="2711195"/>
              <a:ext cx="525018" cy="5341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89364" y="2711195"/>
              <a:ext cx="525018" cy="53416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63027" y="2158974"/>
            <a:ext cx="1544955" cy="1397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spc="-10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Intervention</a:t>
            </a:r>
            <a:r>
              <a:rPr sz="2000" b="1" spc="-7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39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63245">
              <a:lnSpc>
                <a:spcPct val="150000"/>
              </a:lnSpc>
            </a:pPr>
            <a:r>
              <a:rPr sz="2000" spc="-9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Outcome </a:t>
            </a:r>
            <a:r>
              <a:rPr sz="2000" spc="-2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Cost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31707" y="3168395"/>
            <a:ext cx="1078230" cy="534670"/>
            <a:chOff x="8331707" y="3168395"/>
            <a:chExt cx="1078230" cy="53467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1707" y="3168395"/>
              <a:ext cx="525018" cy="53416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9075" y="3168395"/>
              <a:ext cx="525018" cy="53416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4919" y="3168395"/>
              <a:ext cx="525018" cy="53416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503676" y="2641092"/>
            <a:ext cx="801370" cy="534670"/>
            <a:chOff x="3503676" y="2641092"/>
            <a:chExt cx="801370" cy="53467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3676" y="2641092"/>
              <a:ext cx="525018" cy="53416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9520" y="2641092"/>
              <a:ext cx="525018" cy="53416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609214" y="2089251"/>
            <a:ext cx="1556385" cy="1397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spc="-10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Intervention</a:t>
            </a:r>
            <a:r>
              <a:rPr sz="2000" b="1" spc="-7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6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048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Outcome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R="22225" algn="ctr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Cost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02152" y="3098292"/>
            <a:ext cx="802640" cy="534670"/>
            <a:chOff x="3502152" y="3098292"/>
            <a:chExt cx="802640" cy="53467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2152" y="3098292"/>
              <a:ext cx="525018" cy="53416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9520" y="3098292"/>
              <a:ext cx="525018" cy="53416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755139" y="4779010"/>
            <a:ext cx="811085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solidFill>
                  <a:srgbClr val="3C422D"/>
                </a:solidFill>
                <a:latin typeface="Arial Unicode MS"/>
                <a:cs typeface="Arial Unicode MS"/>
              </a:rPr>
              <a:t>✔</a:t>
            </a:r>
            <a:r>
              <a:rPr sz="1800" spc="-35" dirty="0">
                <a:solidFill>
                  <a:srgbClr val="3C422D"/>
                </a:solidFill>
                <a:latin typeface="Arial Unicode MS"/>
                <a:cs typeface="Arial Unicode MS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Comparison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costs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and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outcomes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alternative</a:t>
            </a:r>
            <a:r>
              <a:rPr sz="18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policy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options.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0" dirty="0">
                <a:solidFill>
                  <a:srgbClr val="3C422D"/>
                </a:solidFill>
                <a:latin typeface="Arial Unicode MS"/>
                <a:cs typeface="Arial Unicode MS"/>
              </a:rPr>
              <a:t>✔</a:t>
            </a:r>
            <a:r>
              <a:rPr sz="1800" spc="-70" dirty="0">
                <a:solidFill>
                  <a:srgbClr val="3C422D"/>
                </a:solidFill>
                <a:latin typeface="Arial Unicode MS"/>
                <a:cs typeface="Arial Unicode MS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Additional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unit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resources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spent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per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additional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unit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outcome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gained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4074" y="4609338"/>
            <a:ext cx="9725025" cy="1325880"/>
          </a:xfrm>
          <a:custGeom>
            <a:avLst/>
            <a:gdLst/>
            <a:ahLst/>
            <a:cxnLst/>
            <a:rect l="l" t="t" r="r" b="b"/>
            <a:pathLst>
              <a:path w="9725025" h="1325879">
                <a:moveTo>
                  <a:pt x="0" y="220980"/>
                </a:moveTo>
                <a:lnTo>
                  <a:pt x="4489" y="176443"/>
                </a:lnTo>
                <a:lnTo>
                  <a:pt x="17365" y="134963"/>
                </a:lnTo>
                <a:lnTo>
                  <a:pt x="37739" y="97426"/>
                </a:lnTo>
                <a:lnTo>
                  <a:pt x="64722" y="64722"/>
                </a:lnTo>
                <a:lnTo>
                  <a:pt x="97426" y="37739"/>
                </a:lnTo>
                <a:lnTo>
                  <a:pt x="134963" y="17365"/>
                </a:lnTo>
                <a:lnTo>
                  <a:pt x="176443" y="4489"/>
                </a:lnTo>
                <a:lnTo>
                  <a:pt x="220979" y="0"/>
                </a:lnTo>
                <a:lnTo>
                  <a:pt x="9503664" y="0"/>
                </a:lnTo>
                <a:lnTo>
                  <a:pt x="9548200" y="4489"/>
                </a:lnTo>
                <a:lnTo>
                  <a:pt x="9589680" y="17365"/>
                </a:lnTo>
                <a:lnTo>
                  <a:pt x="9627217" y="37739"/>
                </a:lnTo>
                <a:lnTo>
                  <a:pt x="9659921" y="64722"/>
                </a:lnTo>
                <a:lnTo>
                  <a:pt x="9686904" y="97426"/>
                </a:lnTo>
                <a:lnTo>
                  <a:pt x="9707278" y="134963"/>
                </a:lnTo>
                <a:lnTo>
                  <a:pt x="9720154" y="176443"/>
                </a:lnTo>
                <a:lnTo>
                  <a:pt x="9724644" y="220980"/>
                </a:lnTo>
                <a:lnTo>
                  <a:pt x="9724644" y="1104900"/>
                </a:lnTo>
                <a:lnTo>
                  <a:pt x="9720154" y="1149436"/>
                </a:lnTo>
                <a:lnTo>
                  <a:pt x="9707278" y="1190916"/>
                </a:lnTo>
                <a:lnTo>
                  <a:pt x="9686904" y="1228453"/>
                </a:lnTo>
                <a:lnTo>
                  <a:pt x="9659921" y="1261157"/>
                </a:lnTo>
                <a:lnTo>
                  <a:pt x="9627217" y="1288140"/>
                </a:lnTo>
                <a:lnTo>
                  <a:pt x="9589680" y="1308514"/>
                </a:lnTo>
                <a:lnTo>
                  <a:pt x="9548200" y="1321390"/>
                </a:lnTo>
                <a:lnTo>
                  <a:pt x="9503664" y="1325880"/>
                </a:lnTo>
                <a:lnTo>
                  <a:pt x="220979" y="1325880"/>
                </a:lnTo>
                <a:lnTo>
                  <a:pt x="176443" y="1321390"/>
                </a:lnTo>
                <a:lnTo>
                  <a:pt x="134963" y="1308514"/>
                </a:lnTo>
                <a:lnTo>
                  <a:pt x="97426" y="1288140"/>
                </a:lnTo>
                <a:lnTo>
                  <a:pt x="64722" y="1261157"/>
                </a:lnTo>
                <a:lnTo>
                  <a:pt x="37739" y="1228453"/>
                </a:lnTo>
                <a:lnTo>
                  <a:pt x="17365" y="1190916"/>
                </a:lnTo>
                <a:lnTo>
                  <a:pt x="4489" y="1149436"/>
                </a:lnTo>
                <a:lnTo>
                  <a:pt x="0" y="1104900"/>
                </a:lnTo>
                <a:lnTo>
                  <a:pt x="0" y="220980"/>
                </a:lnTo>
                <a:close/>
              </a:path>
            </a:pathLst>
          </a:custGeom>
          <a:ln w="28575">
            <a:solidFill>
              <a:srgbClr val="041A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8295" y="352453"/>
            <a:ext cx="9243921" cy="893706"/>
          </a:xfrm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09" dirty="0">
                <a:latin typeface="Arial" panose="020B0604020202020204"/>
                <a:cs typeface="Arial" panose="020B0604020202020204"/>
              </a:rPr>
              <a:t>Type</a:t>
            </a:r>
            <a:r>
              <a:rPr b="1" spc="-235" dirty="0">
                <a:latin typeface="Arial" panose="020B0604020202020204"/>
                <a:cs typeface="Arial" panose="020B0604020202020204"/>
              </a:rPr>
              <a:t> </a:t>
            </a:r>
            <a:r>
              <a:rPr b="1" spc="-210" dirty="0">
                <a:latin typeface="Arial" panose="020B0604020202020204"/>
                <a:cs typeface="Arial" panose="020B0604020202020204"/>
              </a:rPr>
              <a:t>of </a:t>
            </a:r>
            <a:r>
              <a:rPr b="1" spc="-225" dirty="0">
                <a:latin typeface="Arial" panose="020B0604020202020204"/>
                <a:cs typeface="Arial" panose="020B0604020202020204"/>
              </a:rPr>
              <a:t>health</a:t>
            </a:r>
            <a:r>
              <a:rPr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b="1" spc="-380" dirty="0">
                <a:latin typeface="Arial" panose="020B0604020202020204"/>
                <a:cs typeface="Arial" panose="020B0604020202020204"/>
              </a:rPr>
              <a:t>outcomes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7904" y="2369820"/>
            <a:ext cx="1103376" cy="11033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0427" y="2313432"/>
            <a:ext cx="1103376" cy="110337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51661" y="3729228"/>
            <a:ext cx="2329180" cy="2077720"/>
          </a:xfrm>
          <a:custGeom>
            <a:avLst/>
            <a:gdLst/>
            <a:ahLst/>
            <a:cxnLst/>
            <a:rect l="l" t="t" r="r" b="b"/>
            <a:pathLst>
              <a:path w="2329179" h="2077720">
                <a:moveTo>
                  <a:pt x="1982469" y="0"/>
                </a:moveTo>
                <a:lnTo>
                  <a:pt x="346202" y="0"/>
                </a:lnTo>
                <a:lnTo>
                  <a:pt x="299211" y="3159"/>
                </a:lnTo>
                <a:lnTo>
                  <a:pt x="254146" y="12362"/>
                </a:lnTo>
                <a:lnTo>
                  <a:pt x="211419" y="27197"/>
                </a:lnTo>
                <a:lnTo>
                  <a:pt x="171440" y="47253"/>
                </a:lnTo>
                <a:lnTo>
                  <a:pt x="134622" y="72117"/>
                </a:lnTo>
                <a:lnTo>
                  <a:pt x="101377" y="101377"/>
                </a:lnTo>
                <a:lnTo>
                  <a:pt x="72117" y="134622"/>
                </a:lnTo>
                <a:lnTo>
                  <a:pt x="47253" y="171440"/>
                </a:lnTo>
                <a:lnTo>
                  <a:pt x="27197" y="211419"/>
                </a:lnTo>
                <a:lnTo>
                  <a:pt x="12362" y="254146"/>
                </a:lnTo>
                <a:lnTo>
                  <a:pt x="3159" y="299211"/>
                </a:lnTo>
                <a:lnTo>
                  <a:pt x="0" y="346202"/>
                </a:lnTo>
                <a:lnTo>
                  <a:pt x="0" y="1731010"/>
                </a:lnTo>
                <a:lnTo>
                  <a:pt x="3159" y="1777986"/>
                </a:lnTo>
                <a:lnTo>
                  <a:pt x="12362" y="1823042"/>
                </a:lnTo>
                <a:lnTo>
                  <a:pt x="27197" y="1865765"/>
                </a:lnTo>
                <a:lnTo>
                  <a:pt x="47253" y="1905743"/>
                </a:lnTo>
                <a:lnTo>
                  <a:pt x="72117" y="1942562"/>
                </a:lnTo>
                <a:lnTo>
                  <a:pt x="101377" y="1975810"/>
                </a:lnTo>
                <a:lnTo>
                  <a:pt x="134622" y="2005075"/>
                </a:lnTo>
                <a:lnTo>
                  <a:pt x="171440" y="2029944"/>
                </a:lnTo>
                <a:lnTo>
                  <a:pt x="211419" y="2050005"/>
                </a:lnTo>
                <a:lnTo>
                  <a:pt x="254146" y="2064845"/>
                </a:lnTo>
                <a:lnTo>
                  <a:pt x="299211" y="2074051"/>
                </a:lnTo>
                <a:lnTo>
                  <a:pt x="346202" y="2077212"/>
                </a:lnTo>
                <a:lnTo>
                  <a:pt x="1982469" y="2077212"/>
                </a:lnTo>
                <a:lnTo>
                  <a:pt x="2029433" y="2074051"/>
                </a:lnTo>
                <a:lnTo>
                  <a:pt x="2074480" y="2064845"/>
                </a:lnTo>
                <a:lnTo>
                  <a:pt x="2117199" y="2050005"/>
                </a:lnTo>
                <a:lnTo>
                  <a:pt x="2157174" y="2029944"/>
                </a:lnTo>
                <a:lnTo>
                  <a:pt x="2193995" y="2005075"/>
                </a:lnTo>
                <a:lnTo>
                  <a:pt x="2227246" y="1975810"/>
                </a:lnTo>
                <a:lnTo>
                  <a:pt x="2256516" y="1942562"/>
                </a:lnTo>
                <a:lnTo>
                  <a:pt x="2281390" y="1905743"/>
                </a:lnTo>
                <a:lnTo>
                  <a:pt x="2301456" y="1865765"/>
                </a:lnTo>
                <a:lnTo>
                  <a:pt x="2316300" y="1823042"/>
                </a:lnTo>
                <a:lnTo>
                  <a:pt x="2325510" y="1777986"/>
                </a:lnTo>
                <a:lnTo>
                  <a:pt x="2328671" y="1731010"/>
                </a:lnTo>
                <a:lnTo>
                  <a:pt x="2328671" y="346202"/>
                </a:lnTo>
                <a:lnTo>
                  <a:pt x="2325510" y="299211"/>
                </a:lnTo>
                <a:lnTo>
                  <a:pt x="2316300" y="254146"/>
                </a:lnTo>
                <a:lnTo>
                  <a:pt x="2301456" y="211419"/>
                </a:lnTo>
                <a:lnTo>
                  <a:pt x="2281390" y="171440"/>
                </a:lnTo>
                <a:lnTo>
                  <a:pt x="2256516" y="134622"/>
                </a:lnTo>
                <a:lnTo>
                  <a:pt x="2227246" y="101377"/>
                </a:lnTo>
                <a:lnTo>
                  <a:pt x="2193995" y="72117"/>
                </a:lnTo>
                <a:lnTo>
                  <a:pt x="2157174" y="47253"/>
                </a:lnTo>
                <a:lnTo>
                  <a:pt x="2117199" y="27197"/>
                </a:lnTo>
                <a:lnTo>
                  <a:pt x="2074480" y="12362"/>
                </a:lnTo>
                <a:lnTo>
                  <a:pt x="2029433" y="3159"/>
                </a:lnTo>
                <a:lnTo>
                  <a:pt x="1982469" y="0"/>
                </a:lnTo>
                <a:close/>
              </a:path>
            </a:pathLst>
          </a:custGeom>
          <a:solidFill>
            <a:srgbClr val="1749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06955" y="4466590"/>
            <a:ext cx="1657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315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Economic 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(monetary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value)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13064" y="3729228"/>
            <a:ext cx="2327275" cy="2077720"/>
          </a:xfrm>
          <a:custGeom>
            <a:avLst/>
            <a:gdLst/>
            <a:ahLst/>
            <a:cxnLst/>
            <a:rect l="l" t="t" r="r" b="b"/>
            <a:pathLst>
              <a:path w="2327275" h="2077720">
                <a:moveTo>
                  <a:pt x="1980945" y="0"/>
                </a:moveTo>
                <a:lnTo>
                  <a:pt x="346201" y="0"/>
                </a:lnTo>
                <a:lnTo>
                  <a:pt x="299211" y="3159"/>
                </a:lnTo>
                <a:lnTo>
                  <a:pt x="254146" y="12362"/>
                </a:lnTo>
                <a:lnTo>
                  <a:pt x="211419" y="27197"/>
                </a:lnTo>
                <a:lnTo>
                  <a:pt x="171440" y="47253"/>
                </a:lnTo>
                <a:lnTo>
                  <a:pt x="134622" y="72117"/>
                </a:lnTo>
                <a:lnTo>
                  <a:pt x="101377" y="101377"/>
                </a:lnTo>
                <a:lnTo>
                  <a:pt x="72117" y="134622"/>
                </a:lnTo>
                <a:lnTo>
                  <a:pt x="47253" y="171440"/>
                </a:lnTo>
                <a:lnTo>
                  <a:pt x="27197" y="211419"/>
                </a:lnTo>
                <a:lnTo>
                  <a:pt x="12362" y="254146"/>
                </a:lnTo>
                <a:lnTo>
                  <a:pt x="3159" y="299211"/>
                </a:lnTo>
                <a:lnTo>
                  <a:pt x="0" y="346202"/>
                </a:lnTo>
                <a:lnTo>
                  <a:pt x="0" y="1731010"/>
                </a:lnTo>
                <a:lnTo>
                  <a:pt x="3159" y="1777986"/>
                </a:lnTo>
                <a:lnTo>
                  <a:pt x="12362" y="1823042"/>
                </a:lnTo>
                <a:lnTo>
                  <a:pt x="27197" y="1865765"/>
                </a:lnTo>
                <a:lnTo>
                  <a:pt x="47253" y="1905743"/>
                </a:lnTo>
                <a:lnTo>
                  <a:pt x="72117" y="1942562"/>
                </a:lnTo>
                <a:lnTo>
                  <a:pt x="101377" y="1975810"/>
                </a:lnTo>
                <a:lnTo>
                  <a:pt x="134622" y="2005075"/>
                </a:lnTo>
                <a:lnTo>
                  <a:pt x="171440" y="2029944"/>
                </a:lnTo>
                <a:lnTo>
                  <a:pt x="211419" y="2050005"/>
                </a:lnTo>
                <a:lnTo>
                  <a:pt x="254146" y="2064845"/>
                </a:lnTo>
                <a:lnTo>
                  <a:pt x="299211" y="2074051"/>
                </a:lnTo>
                <a:lnTo>
                  <a:pt x="346201" y="2077212"/>
                </a:lnTo>
                <a:lnTo>
                  <a:pt x="1980945" y="2077212"/>
                </a:lnTo>
                <a:lnTo>
                  <a:pt x="2027909" y="2074051"/>
                </a:lnTo>
                <a:lnTo>
                  <a:pt x="2072956" y="2064845"/>
                </a:lnTo>
                <a:lnTo>
                  <a:pt x="2115675" y="2050005"/>
                </a:lnTo>
                <a:lnTo>
                  <a:pt x="2155650" y="2029944"/>
                </a:lnTo>
                <a:lnTo>
                  <a:pt x="2192471" y="2005075"/>
                </a:lnTo>
                <a:lnTo>
                  <a:pt x="2225722" y="1975810"/>
                </a:lnTo>
                <a:lnTo>
                  <a:pt x="2254992" y="1942562"/>
                </a:lnTo>
                <a:lnTo>
                  <a:pt x="2279866" y="1905743"/>
                </a:lnTo>
                <a:lnTo>
                  <a:pt x="2299932" y="1865765"/>
                </a:lnTo>
                <a:lnTo>
                  <a:pt x="2314776" y="1823042"/>
                </a:lnTo>
                <a:lnTo>
                  <a:pt x="2323986" y="1777986"/>
                </a:lnTo>
                <a:lnTo>
                  <a:pt x="2327147" y="1731010"/>
                </a:lnTo>
                <a:lnTo>
                  <a:pt x="2327147" y="346202"/>
                </a:lnTo>
                <a:lnTo>
                  <a:pt x="2323986" y="299211"/>
                </a:lnTo>
                <a:lnTo>
                  <a:pt x="2314776" y="254146"/>
                </a:lnTo>
                <a:lnTo>
                  <a:pt x="2299932" y="211419"/>
                </a:lnTo>
                <a:lnTo>
                  <a:pt x="2279866" y="171440"/>
                </a:lnTo>
                <a:lnTo>
                  <a:pt x="2254992" y="134622"/>
                </a:lnTo>
                <a:lnTo>
                  <a:pt x="2225722" y="101377"/>
                </a:lnTo>
                <a:lnTo>
                  <a:pt x="2192471" y="72117"/>
                </a:lnTo>
                <a:lnTo>
                  <a:pt x="2155650" y="47253"/>
                </a:lnTo>
                <a:lnTo>
                  <a:pt x="2115675" y="27197"/>
                </a:lnTo>
                <a:lnTo>
                  <a:pt x="2072956" y="12362"/>
                </a:lnTo>
                <a:lnTo>
                  <a:pt x="2027909" y="3159"/>
                </a:lnTo>
                <a:lnTo>
                  <a:pt x="1980945" y="0"/>
                </a:lnTo>
                <a:close/>
              </a:path>
            </a:pathLst>
          </a:custGeom>
          <a:solidFill>
            <a:srgbClr val="1749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02954" y="4329429"/>
            <a:ext cx="15462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Humanistic</a:t>
            </a:r>
            <a:r>
              <a:rPr sz="1800" b="1" spc="-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e.g., 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health-</a:t>
            </a:r>
            <a:r>
              <a:rPr sz="1800" b="1" spc="-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related </a:t>
            </a:r>
            <a:r>
              <a:rPr sz="18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quality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-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life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92623" y="3729228"/>
            <a:ext cx="2327275" cy="2077720"/>
          </a:xfrm>
          <a:custGeom>
            <a:avLst/>
            <a:gdLst/>
            <a:ahLst/>
            <a:cxnLst/>
            <a:rect l="l" t="t" r="r" b="b"/>
            <a:pathLst>
              <a:path w="2327275" h="2077720">
                <a:moveTo>
                  <a:pt x="1980946" y="0"/>
                </a:moveTo>
                <a:lnTo>
                  <a:pt x="346201" y="0"/>
                </a:lnTo>
                <a:lnTo>
                  <a:pt x="299211" y="3159"/>
                </a:lnTo>
                <a:lnTo>
                  <a:pt x="254146" y="12362"/>
                </a:lnTo>
                <a:lnTo>
                  <a:pt x="211419" y="27197"/>
                </a:lnTo>
                <a:lnTo>
                  <a:pt x="171440" y="47253"/>
                </a:lnTo>
                <a:lnTo>
                  <a:pt x="134622" y="72117"/>
                </a:lnTo>
                <a:lnTo>
                  <a:pt x="101377" y="101377"/>
                </a:lnTo>
                <a:lnTo>
                  <a:pt x="72117" y="134622"/>
                </a:lnTo>
                <a:lnTo>
                  <a:pt x="47253" y="171440"/>
                </a:lnTo>
                <a:lnTo>
                  <a:pt x="27197" y="211419"/>
                </a:lnTo>
                <a:lnTo>
                  <a:pt x="12362" y="254146"/>
                </a:lnTo>
                <a:lnTo>
                  <a:pt x="3159" y="299211"/>
                </a:lnTo>
                <a:lnTo>
                  <a:pt x="0" y="346202"/>
                </a:lnTo>
                <a:lnTo>
                  <a:pt x="0" y="1731010"/>
                </a:lnTo>
                <a:lnTo>
                  <a:pt x="3159" y="1777986"/>
                </a:lnTo>
                <a:lnTo>
                  <a:pt x="12362" y="1823042"/>
                </a:lnTo>
                <a:lnTo>
                  <a:pt x="27197" y="1865765"/>
                </a:lnTo>
                <a:lnTo>
                  <a:pt x="47253" y="1905743"/>
                </a:lnTo>
                <a:lnTo>
                  <a:pt x="72117" y="1942562"/>
                </a:lnTo>
                <a:lnTo>
                  <a:pt x="101377" y="1975810"/>
                </a:lnTo>
                <a:lnTo>
                  <a:pt x="134622" y="2005075"/>
                </a:lnTo>
                <a:lnTo>
                  <a:pt x="171440" y="2029944"/>
                </a:lnTo>
                <a:lnTo>
                  <a:pt x="211419" y="2050005"/>
                </a:lnTo>
                <a:lnTo>
                  <a:pt x="254146" y="2064845"/>
                </a:lnTo>
                <a:lnTo>
                  <a:pt x="299211" y="2074051"/>
                </a:lnTo>
                <a:lnTo>
                  <a:pt x="346201" y="2077212"/>
                </a:lnTo>
                <a:lnTo>
                  <a:pt x="1980946" y="2077212"/>
                </a:lnTo>
                <a:lnTo>
                  <a:pt x="2027909" y="2074051"/>
                </a:lnTo>
                <a:lnTo>
                  <a:pt x="2072956" y="2064845"/>
                </a:lnTo>
                <a:lnTo>
                  <a:pt x="2115675" y="2050005"/>
                </a:lnTo>
                <a:lnTo>
                  <a:pt x="2155650" y="2029944"/>
                </a:lnTo>
                <a:lnTo>
                  <a:pt x="2192471" y="2005075"/>
                </a:lnTo>
                <a:lnTo>
                  <a:pt x="2225722" y="1975810"/>
                </a:lnTo>
                <a:lnTo>
                  <a:pt x="2254992" y="1942562"/>
                </a:lnTo>
                <a:lnTo>
                  <a:pt x="2279866" y="1905743"/>
                </a:lnTo>
                <a:lnTo>
                  <a:pt x="2299932" y="1865765"/>
                </a:lnTo>
                <a:lnTo>
                  <a:pt x="2314776" y="1823042"/>
                </a:lnTo>
                <a:lnTo>
                  <a:pt x="2323986" y="1777986"/>
                </a:lnTo>
                <a:lnTo>
                  <a:pt x="2327148" y="1731010"/>
                </a:lnTo>
                <a:lnTo>
                  <a:pt x="2327148" y="346202"/>
                </a:lnTo>
                <a:lnTo>
                  <a:pt x="2323986" y="299211"/>
                </a:lnTo>
                <a:lnTo>
                  <a:pt x="2314776" y="254146"/>
                </a:lnTo>
                <a:lnTo>
                  <a:pt x="2299932" y="211419"/>
                </a:lnTo>
                <a:lnTo>
                  <a:pt x="2279866" y="171440"/>
                </a:lnTo>
                <a:lnTo>
                  <a:pt x="2254992" y="134622"/>
                </a:lnTo>
                <a:lnTo>
                  <a:pt x="2225722" y="101377"/>
                </a:lnTo>
                <a:lnTo>
                  <a:pt x="2192471" y="72117"/>
                </a:lnTo>
                <a:lnTo>
                  <a:pt x="2155650" y="47253"/>
                </a:lnTo>
                <a:lnTo>
                  <a:pt x="2115675" y="27197"/>
                </a:lnTo>
                <a:lnTo>
                  <a:pt x="2072956" y="12362"/>
                </a:lnTo>
                <a:lnTo>
                  <a:pt x="2027909" y="3159"/>
                </a:lnTo>
                <a:lnTo>
                  <a:pt x="1980946" y="0"/>
                </a:lnTo>
                <a:close/>
              </a:path>
            </a:pathLst>
          </a:custGeom>
          <a:solidFill>
            <a:srgbClr val="1749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73471" y="4329429"/>
            <a:ext cx="18573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Clinical</a:t>
            </a:r>
            <a:r>
              <a:rPr sz="1800" b="1" spc="3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e.g.,</a:t>
            </a:r>
            <a:r>
              <a:rPr sz="1800" b="1" spc="1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3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reduce </a:t>
            </a:r>
            <a:r>
              <a:rPr sz="1800" b="1" spc="-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risk,</a:t>
            </a:r>
            <a:r>
              <a:rPr sz="1800" b="1" spc="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4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length</a:t>
            </a:r>
            <a:r>
              <a:rPr sz="1800" b="1" spc="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stay, </a:t>
            </a:r>
            <a:r>
              <a:rPr sz="1800" b="1" spc="-1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cure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rate,</a:t>
            </a:r>
            <a:r>
              <a:rPr sz="18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mortality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8395" y="2481072"/>
            <a:ext cx="355092" cy="355091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668011" y="2369820"/>
            <a:ext cx="2374900" cy="1005840"/>
            <a:chOff x="4668011" y="2369820"/>
            <a:chExt cx="2374900" cy="100584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8087" y="2369820"/>
              <a:ext cx="699515" cy="7010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1391" y="2404872"/>
              <a:ext cx="652272" cy="6522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75375" y="2982468"/>
              <a:ext cx="377951" cy="3764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22363" y="3057144"/>
              <a:ext cx="320040" cy="3185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68011" y="3012948"/>
              <a:ext cx="345948" cy="3459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375" dirty="0">
                <a:latin typeface="Arial" panose="020B0604020202020204"/>
                <a:cs typeface="Arial" panose="020B0604020202020204"/>
              </a:rPr>
              <a:t>Outline</a:t>
            </a:r>
            <a:endParaRPr sz="6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96617" y="1643856"/>
            <a:ext cx="10515600" cy="3947234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20"/>
              </a:spcBef>
              <a:buChar char="•"/>
              <a:tabLst>
                <a:tab pos="240665" algn="l"/>
              </a:tabLst>
            </a:pPr>
            <a:r>
              <a:rPr spc="-215"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90" dirty="0"/>
              <a:t>outcome</a:t>
            </a:r>
            <a:r>
              <a:rPr spc="-120" dirty="0"/>
              <a:t> </a:t>
            </a:r>
            <a:r>
              <a:rPr spc="-155" dirty="0"/>
              <a:t>used</a:t>
            </a:r>
            <a:r>
              <a:rPr spc="-114" dirty="0"/>
              <a:t> </a:t>
            </a:r>
            <a:r>
              <a:rPr spc="-40" dirty="0"/>
              <a:t>in</a:t>
            </a:r>
            <a:r>
              <a:rPr spc="-110" dirty="0"/>
              <a:t> </a:t>
            </a:r>
            <a:r>
              <a:rPr spc="-70" dirty="0"/>
              <a:t>health</a:t>
            </a:r>
            <a:r>
              <a:rPr spc="-114" dirty="0"/>
              <a:t> economic</a:t>
            </a:r>
            <a:r>
              <a:rPr spc="-120" dirty="0"/>
              <a:t> </a:t>
            </a:r>
            <a:r>
              <a:rPr spc="-10" dirty="0"/>
              <a:t>evaluation</a:t>
            </a: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Char char="•"/>
              <a:tabLst>
                <a:tab pos="240665" algn="l"/>
              </a:tabLst>
            </a:pPr>
            <a:r>
              <a:rPr spc="-120" dirty="0">
                <a:solidFill>
                  <a:schemeClr val="bg1">
                    <a:lumMod val="85000"/>
                  </a:schemeClr>
                </a:solidFill>
              </a:rPr>
              <a:t>Outcome</a:t>
            </a:r>
            <a:r>
              <a:rPr spc="-12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135" dirty="0">
                <a:solidFill>
                  <a:schemeClr val="bg1">
                    <a:lumMod val="85000"/>
                  </a:schemeClr>
                </a:solidFill>
              </a:rPr>
              <a:t>measure</a:t>
            </a:r>
            <a:r>
              <a:rPr spc="-114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40" dirty="0">
                <a:solidFill>
                  <a:schemeClr val="bg1">
                    <a:lumMod val="85000"/>
                  </a:schemeClr>
                </a:solidFill>
              </a:rPr>
              <a:t>in</a:t>
            </a:r>
            <a:r>
              <a:rPr spc="-11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120" dirty="0">
                <a:solidFill>
                  <a:schemeClr val="bg1">
                    <a:lumMod val="85000"/>
                  </a:schemeClr>
                </a:solidFill>
              </a:rPr>
              <a:t>cost </a:t>
            </a:r>
            <a:r>
              <a:rPr spc="-110" dirty="0">
                <a:solidFill>
                  <a:schemeClr val="bg1">
                    <a:lumMod val="85000"/>
                  </a:schemeClr>
                </a:solidFill>
              </a:rPr>
              <a:t>effectiveness</a:t>
            </a:r>
            <a:r>
              <a:rPr spc="-10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10" dirty="0">
                <a:solidFill>
                  <a:schemeClr val="bg1">
                    <a:lumMod val="85000"/>
                  </a:schemeClr>
                </a:solidFill>
              </a:rPr>
              <a:t>analysis</a:t>
            </a:r>
          </a:p>
          <a:p>
            <a:pPr marL="697230" lvl="1" indent="-227330">
              <a:lnSpc>
                <a:spcPct val="100000"/>
              </a:lnSpc>
              <a:spcBef>
                <a:spcPts val="205"/>
              </a:spcBef>
              <a:buChar char="•"/>
              <a:tabLst>
                <a:tab pos="697230" algn="l"/>
              </a:tabLst>
            </a:pPr>
            <a:r>
              <a:rPr sz="2400" spc="-1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Clinical 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outcomes:</a:t>
            </a:r>
            <a:r>
              <a:rPr sz="2400" spc="-1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4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Efficacy</a:t>
            </a: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9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VS</a:t>
            </a: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Effectiveness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15"/>
              </a:spcBef>
              <a:buChar char="•"/>
              <a:tabLst>
                <a:tab pos="697230" algn="l"/>
              </a:tabLst>
            </a:pPr>
            <a:r>
              <a:rPr sz="2400" spc="-6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Intermediate</a:t>
            </a:r>
            <a:r>
              <a:rPr sz="2400" spc="-1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9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VS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3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Final</a:t>
            </a:r>
            <a:r>
              <a:rPr sz="2400" spc="-10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6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outcome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15"/>
              </a:spcBef>
              <a:buChar char="•"/>
              <a:tabLst>
                <a:tab pos="697230" algn="l"/>
              </a:tabLst>
            </a:pP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Measurement</a:t>
            </a:r>
            <a:r>
              <a:rPr sz="2400" spc="-11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1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Treatment </a:t>
            </a:r>
            <a:r>
              <a:rPr sz="2400" spc="-1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effects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710"/>
              </a:spcBef>
              <a:buChar char="•"/>
              <a:tabLst>
                <a:tab pos="239395" algn="l"/>
              </a:tabLst>
            </a:pPr>
            <a:r>
              <a:rPr spc="-120" dirty="0">
                <a:solidFill>
                  <a:schemeClr val="bg1">
                    <a:lumMod val="85000"/>
                  </a:schemeClr>
                </a:solidFill>
              </a:rPr>
              <a:t>Outcome</a:t>
            </a:r>
            <a:r>
              <a:rPr spc="-11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130" dirty="0">
                <a:solidFill>
                  <a:schemeClr val="bg1">
                    <a:lumMod val="85000"/>
                  </a:schemeClr>
                </a:solidFill>
              </a:rPr>
              <a:t>measure</a:t>
            </a:r>
            <a:r>
              <a:rPr spc="-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45" dirty="0">
                <a:solidFill>
                  <a:schemeClr val="bg1">
                    <a:lumMod val="85000"/>
                  </a:schemeClr>
                </a:solidFill>
              </a:rPr>
              <a:t>in</a:t>
            </a:r>
            <a:r>
              <a:rPr spc="-9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120" dirty="0">
                <a:solidFill>
                  <a:schemeClr val="bg1">
                    <a:lumMod val="85000"/>
                  </a:schemeClr>
                </a:solidFill>
              </a:rPr>
              <a:t>cost</a:t>
            </a:r>
            <a:r>
              <a:rPr spc="-11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utility</a:t>
            </a:r>
            <a:r>
              <a:rPr spc="-1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pc="-10" dirty="0">
                <a:solidFill>
                  <a:schemeClr val="bg1">
                    <a:lumMod val="85000"/>
                  </a:schemeClr>
                </a:solidFill>
              </a:rPr>
              <a:t>analysis</a:t>
            </a:r>
          </a:p>
          <a:p>
            <a:pPr marL="697230" lvl="1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697230" algn="l"/>
              </a:tabLst>
            </a:pPr>
            <a:r>
              <a:rPr sz="2400" spc="-8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Quality</a:t>
            </a:r>
            <a:r>
              <a:rPr sz="2400" spc="-1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Year</a:t>
            </a:r>
            <a:r>
              <a:rPr sz="2400" spc="-9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8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(QALY)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00"/>
              </a:spcBef>
              <a:buChar char="•"/>
              <a:tabLst>
                <a:tab pos="697230" algn="l"/>
              </a:tabLst>
            </a:pPr>
            <a:r>
              <a:rPr sz="2400" spc="-8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Disability</a:t>
            </a:r>
            <a:r>
              <a:rPr sz="2400" spc="-1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400" spc="-9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400" spc="-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1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(DALYs)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697230" algn="l"/>
              </a:tabLst>
            </a:pPr>
            <a:r>
              <a:rPr sz="2400" spc="-7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Methods</a:t>
            </a:r>
            <a:r>
              <a:rPr sz="2400" spc="-11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9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assessing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400" spc="-12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400" spc="-8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(VAS,</a:t>
            </a:r>
            <a:r>
              <a:rPr sz="2400" spc="-1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2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SG,</a:t>
            </a:r>
            <a:r>
              <a:rPr sz="2400" spc="-10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7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TTO,</a:t>
            </a:r>
            <a:r>
              <a:rPr sz="2400" spc="-8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7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EQ-</a:t>
            </a:r>
            <a:r>
              <a:rPr sz="2400" spc="-170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5D-</a:t>
            </a:r>
            <a:r>
              <a:rPr sz="2400" spc="-25" dirty="0">
                <a:solidFill>
                  <a:schemeClr val="bg1">
                    <a:lumMod val="85000"/>
                  </a:schemeClr>
                </a:solidFill>
                <a:latin typeface="Arial" panose="020B0604020202020204"/>
                <a:cs typeface="Arial" panose="020B0604020202020204"/>
              </a:rPr>
              <a:t>5L)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5464" y="62610"/>
            <a:ext cx="3130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P.7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3120" y="298031"/>
            <a:ext cx="8705088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55" dirty="0"/>
              <a:t>Unit</a:t>
            </a:r>
            <a:r>
              <a:rPr spc="-225" dirty="0"/>
              <a:t> </a:t>
            </a:r>
            <a:r>
              <a:rPr dirty="0"/>
              <a:t>of</a:t>
            </a:r>
            <a:r>
              <a:rPr spc="-225" dirty="0"/>
              <a:t> </a:t>
            </a:r>
            <a:r>
              <a:rPr spc="-165" dirty="0"/>
              <a:t>outcome</a:t>
            </a:r>
            <a:r>
              <a:rPr spc="-229" dirty="0"/>
              <a:t> </a:t>
            </a:r>
            <a:r>
              <a:rPr spc="-165" dirty="0"/>
              <a:t>measurement </a:t>
            </a:r>
            <a:r>
              <a:rPr spc="-35" dirty="0"/>
              <a:t>in</a:t>
            </a:r>
            <a:r>
              <a:rPr spc="-225" dirty="0"/>
              <a:t> </a:t>
            </a:r>
            <a:r>
              <a:rPr spc="-190" dirty="0"/>
              <a:t>cost-</a:t>
            </a:r>
            <a:r>
              <a:rPr spc="-195" dirty="0"/>
              <a:t>effectiveness</a:t>
            </a:r>
            <a:r>
              <a:rPr spc="-220" dirty="0"/>
              <a:t> </a:t>
            </a:r>
            <a:r>
              <a:rPr spc="-27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4350"/>
            <a:ext cx="54076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32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Clinical</a:t>
            </a:r>
            <a:r>
              <a:rPr sz="32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</a:t>
            </a:r>
            <a:r>
              <a:rPr sz="32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32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natural</a:t>
            </a:r>
            <a:r>
              <a:rPr sz="32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unit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5464" y="62610"/>
            <a:ext cx="3130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P.8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6311" y="2499360"/>
            <a:ext cx="6741159" cy="3992879"/>
            <a:chOff x="2496311" y="2499360"/>
            <a:chExt cx="6741159" cy="399287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6311" y="2499360"/>
              <a:ext cx="4247388" cy="23789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3700" y="2557272"/>
              <a:ext cx="2493263" cy="29900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6155" y="4860036"/>
              <a:ext cx="2447544" cy="16322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71836"/>
              </p:ext>
            </p:extLst>
          </p:nvPr>
        </p:nvGraphicFramePr>
        <p:xfrm>
          <a:off x="1951608" y="1503933"/>
          <a:ext cx="8472170" cy="4980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400" b="1" spc="-95" dirty="0">
                          <a:solidFill>
                            <a:srgbClr val="F1F1F1"/>
                          </a:solidFill>
                          <a:latin typeface="Arial" panose="020B0604020202020204"/>
                          <a:cs typeface="Arial" panose="020B0604020202020204"/>
                        </a:rPr>
                        <a:t>Treatment/</a:t>
                      </a:r>
                      <a:r>
                        <a:rPr sz="2400" b="1" spc="-110" dirty="0">
                          <a:solidFill>
                            <a:srgbClr val="F1F1F1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b="1" spc="-45" dirty="0">
                          <a:solidFill>
                            <a:srgbClr val="F1F1F1"/>
                          </a:solidFill>
                          <a:latin typeface="Arial" panose="020B0604020202020204"/>
                          <a:cs typeface="Arial" panose="020B0604020202020204"/>
                        </a:rPr>
                        <a:t>intervention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38100">
                      <a:solidFill>
                        <a:srgbClr val="F1F1F1"/>
                      </a:solidFill>
                      <a:prstDash val="solid"/>
                    </a:lnB>
                    <a:solidFill>
                      <a:srgbClr val="1749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400" b="1" spc="-55" dirty="0">
                          <a:solidFill>
                            <a:srgbClr val="F1F1F1"/>
                          </a:solidFill>
                          <a:latin typeface="Arial" panose="020B0604020202020204"/>
                          <a:cs typeface="Arial" panose="020B0604020202020204"/>
                        </a:rPr>
                        <a:t>Outcome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38100">
                      <a:solidFill>
                        <a:srgbClr val="F1F1F1"/>
                      </a:solidFill>
                      <a:prstDash val="solid"/>
                    </a:lnB>
                    <a:solidFill>
                      <a:srgbClr val="1749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lang="en-US" sz="2400" spc="-315" dirty="0">
                          <a:latin typeface="Arial" panose="020B0604020202020204"/>
                          <a:cs typeface="Arial" panose="020B0604020202020204"/>
                        </a:rPr>
                        <a:t>Malaria treatment</a:t>
                      </a:r>
                      <a:endParaRPr sz="24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381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CCD0D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400" spc="-100" dirty="0">
                          <a:latin typeface="Arial" panose="020B0604020202020204"/>
                          <a:cs typeface="Arial" panose="020B0604020202020204"/>
                        </a:rPr>
                        <a:t>Number</a:t>
                      </a:r>
                      <a:r>
                        <a:rPr sz="2400" spc="-1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2400" spc="-15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20" dirty="0">
                          <a:latin typeface="Arial" panose="020B0604020202020204"/>
                          <a:cs typeface="Arial" panose="020B0604020202020204"/>
                        </a:rPr>
                        <a:t>cases</a:t>
                      </a:r>
                      <a:r>
                        <a:rPr sz="2400" spc="-1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latin typeface="Arial" panose="020B0604020202020204"/>
                          <a:cs typeface="Arial" panose="020B0604020202020204"/>
                        </a:rPr>
                        <a:t>prevented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381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CCD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820">
                <a:tc>
                  <a:txBody>
                    <a:bodyPr/>
                    <a:lstStyle/>
                    <a:p>
                      <a:pPr marL="91440" marR="7137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0" dirty="0">
                          <a:latin typeface="Arial" panose="020B0604020202020204"/>
                          <a:cs typeface="Arial" panose="020B0604020202020204"/>
                        </a:rPr>
                        <a:t>Hypercholesterolemia </a:t>
                      </a:r>
                      <a:r>
                        <a:rPr sz="2400" spc="-20" dirty="0">
                          <a:latin typeface="Arial" panose="020B0604020202020204"/>
                          <a:cs typeface="Arial" panose="020B0604020202020204"/>
                        </a:rPr>
                        <a:t>drug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25" dirty="0">
                          <a:latin typeface="Arial" panose="020B0604020202020204"/>
                          <a:cs typeface="Arial" panose="020B0604020202020204"/>
                        </a:rPr>
                        <a:t>Life</a:t>
                      </a:r>
                      <a:r>
                        <a:rPr sz="2400" spc="-114" dirty="0">
                          <a:latin typeface="Arial" panose="020B0604020202020204"/>
                          <a:cs typeface="Arial" panose="020B0604020202020204"/>
                        </a:rPr>
                        <a:t> year</a:t>
                      </a:r>
                      <a:r>
                        <a:rPr sz="2400" spc="-1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latin typeface="Arial" panose="020B0604020202020204"/>
                          <a:cs typeface="Arial" panose="020B0604020202020204"/>
                        </a:rPr>
                        <a:t>gained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spc="-43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sz="2400" spc="-1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65" dirty="0">
                          <a:latin typeface="Arial" panose="020B0604020202020204"/>
                          <a:cs typeface="Arial" panose="020B0604020202020204"/>
                        </a:rPr>
                        <a:t>reduction</a:t>
                      </a:r>
                      <a:r>
                        <a:rPr sz="2400" spc="-114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40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2400" spc="-114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340" dirty="0">
                          <a:latin typeface="Arial" panose="020B0604020202020204"/>
                          <a:cs typeface="Arial" panose="020B0604020202020204"/>
                        </a:rPr>
                        <a:t>LDL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spc="-430" dirty="0">
                          <a:latin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sz="2400" spc="-135" dirty="0">
                          <a:latin typeface="Arial" panose="020B0604020202020204"/>
                          <a:cs typeface="Arial" panose="020B0604020202020204"/>
                        </a:rPr>
                        <a:t> increase</a:t>
                      </a:r>
                      <a:r>
                        <a:rPr sz="2400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4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2400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320" dirty="0">
                          <a:latin typeface="Arial" panose="020B0604020202020204"/>
                          <a:cs typeface="Arial" panose="020B0604020202020204"/>
                        </a:rPr>
                        <a:t>HDL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E7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68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55" dirty="0">
                          <a:latin typeface="Arial" panose="020B0604020202020204"/>
                          <a:cs typeface="Arial" panose="020B0604020202020204"/>
                        </a:rPr>
                        <a:t>Glaucoma</a:t>
                      </a:r>
                      <a:r>
                        <a:rPr sz="2400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latin typeface="Arial" panose="020B0604020202020204"/>
                          <a:cs typeface="Arial" panose="020B0604020202020204"/>
                        </a:rPr>
                        <a:t>treatment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CCD0D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346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14" dirty="0">
                          <a:latin typeface="Arial" panose="020B0604020202020204"/>
                          <a:cs typeface="Arial" panose="020B0604020202020204"/>
                        </a:rPr>
                        <a:t>Reduction</a:t>
                      </a:r>
                      <a:r>
                        <a:rPr sz="2400" spc="-1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2400" spc="-1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50" dirty="0">
                          <a:latin typeface="Arial" panose="020B0604020202020204"/>
                          <a:cs typeface="Arial" panose="020B0604020202020204"/>
                        </a:rPr>
                        <a:t>intra-</a:t>
                      </a:r>
                      <a:r>
                        <a:rPr sz="2400" spc="-90" dirty="0">
                          <a:latin typeface="Arial" panose="020B0604020202020204"/>
                          <a:cs typeface="Arial" panose="020B0604020202020204"/>
                        </a:rPr>
                        <a:t>ocular</a:t>
                      </a:r>
                      <a:r>
                        <a:rPr sz="2400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0" dirty="0">
                          <a:latin typeface="Arial" panose="020B0604020202020204"/>
                          <a:cs typeface="Arial" panose="020B0604020202020204"/>
                        </a:rPr>
                        <a:t>pressure, </a:t>
                      </a:r>
                      <a:r>
                        <a:rPr sz="2400" spc="-114" dirty="0">
                          <a:latin typeface="Arial" panose="020B0604020202020204"/>
                          <a:cs typeface="Arial" panose="020B0604020202020204"/>
                        </a:rPr>
                        <a:t>year</a:t>
                      </a:r>
                      <a:r>
                        <a:rPr sz="2400" spc="-1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2400" spc="-1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14" dirty="0">
                          <a:latin typeface="Arial" panose="020B0604020202020204"/>
                          <a:cs typeface="Arial" panose="020B0604020202020204"/>
                        </a:rPr>
                        <a:t>avoided </a:t>
                      </a:r>
                      <a:r>
                        <a:rPr sz="2400" spc="-110" dirty="0">
                          <a:latin typeface="Arial" panose="020B0604020202020204"/>
                          <a:cs typeface="Arial" panose="020B0604020202020204"/>
                        </a:rPr>
                        <a:t>visual</a:t>
                      </a:r>
                      <a:r>
                        <a:rPr sz="2400" spc="-1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latin typeface="Arial" panose="020B0604020202020204"/>
                          <a:cs typeface="Arial" panose="020B0604020202020204"/>
                        </a:rPr>
                        <a:t>disability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CCD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1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130" dirty="0">
                          <a:latin typeface="Arial" panose="020B0604020202020204"/>
                          <a:cs typeface="Arial" panose="020B0604020202020204"/>
                        </a:rPr>
                        <a:t>Osteoporosis</a:t>
                      </a:r>
                      <a:r>
                        <a:rPr sz="2400" spc="-1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latin typeface="Arial" panose="020B0604020202020204"/>
                          <a:cs typeface="Arial" panose="020B0604020202020204"/>
                        </a:rPr>
                        <a:t>treatment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100" dirty="0">
                          <a:latin typeface="Arial" panose="020B0604020202020204"/>
                          <a:cs typeface="Arial" panose="020B0604020202020204"/>
                        </a:rPr>
                        <a:t>Number</a:t>
                      </a:r>
                      <a:r>
                        <a:rPr sz="2400" spc="-1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2400" spc="-1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55" dirty="0">
                          <a:latin typeface="Arial" panose="020B0604020202020204"/>
                          <a:cs typeface="Arial" panose="020B0604020202020204"/>
                        </a:rPr>
                        <a:t>fracture</a:t>
                      </a:r>
                      <a:r>
                        <a:rPr sz="2400" spc="-1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latin typeface="Arial" panose="020B0604020202020204"/>
                          <a:cs typeface="Arial" panose="020B0604020202020204"/>
                        </a:rPr>
                        <a:t>prevented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E7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25" dirty="0">
                          <a:latin typeface="Arial" panose="020B0604020202020204"/>
                          <a:cs typeface="Arial" panose="020B0604020202020204"/>
                        </a:rPr>
                        <a:t>Asthma</a:t>
                      </a:r>
                      <a:r>
                        <a:rPr sz="2400" spc="-1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latin typeface="Arial" panose="020B0604020202020204"/>
                          <a:cs typeface="Arial" panose="020B0604020202020204"/>
                        </a:rPr>
                        <a:t>treatment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CCD0D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65" dirty="0">
                          <a:latin typeface="Arial" panose="020B0604020202020204"/>
                          <a:cs typeface="Arial" panose="020B0604020202020204"/>
                        </a:rPr>
                        <a:t>Episode</a:t>
                      </a:r>
                      <a:r>
                        <a:rPr sz="2400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60" dirty="0">
                          <a:latin typeface="Arial" panose="020B0604020202020204"/>
                          <a:cs typeface="Arial" panose="020B0604020202020204"/>
                        </a:rPr>
                        <a:t>free</a:t>
                      </a:r>
                      <a:r>
                        <a:rPr sz="24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5" dirty="0">
                          <a:latin typeface="Arial" panose="020B0604020202020204"/>
                          <a:cs typeface="Arial" panose="020B0604020202020204"/>
                        </a:rPr>
                        <a:t>day</a:t>
                      </a:r>
                      <a:endParaRPr sz="24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  <a:solidFill>
                      <a:srgbClr val="CCD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30" dirty="0"/>
              <a:t>Examples</a:t>
            </a:r>
            <a:r>
              <a:rPr spc="-229" dirty="0"/>
              <a:t> </a:t>
            </a:r>
            <a:r>
              <a:rPr dirty="0"/>
              <a:t>of</a:t>
            </a:r>
            <a:r>
              <a:rPr spc="-240" dirty="0"/>
              <a:t> </a:t>
            </a:r>
            <a:r>
              <a:rPr spc="-140" dirty="0"/>
              <a:t>“Clinical</a:t>
            </a:r>
            <a:r>
              <a:rPr spc="-225" dirty="0"/>
              <a:t> </a:t>
            </a:r>
            <a:r>
              <a:rPr spc="-40" dirty="0"/>
              <a:t>outcome”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59" dirty="0">
                <a:latin typeface="Arial" panose="020B0604020202020204"/>
                <a:cs typeface="Arial" panose="020B0604020202020204"/>
              </a:rPr>
              <a:t>Pros</a:t>
            </a:r>
            <a:r>
              <a:rPr b="1" spc="-220" dirty="0">
                <a:latin typeface="Arial" panose="020B0604020202020204"/>
                <a:cs typeface="Arial" panose="020B0604020202020204"/>
              </a:rPr>
              <a:t> </a:t>
            </a:r>
            <a:r>
              <a:rPr b="1" spc="-315" dirty="0">
                <a:latin typeface="Arial" panose="020B0604020202020204"/>
                <a:cs typeface="Arial" panose="020B0604020202020204"/>
              </a:rPr>
              <a:t>and</a:t>
            </a:r>
            <a:r>
              <a:rPr b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b="1" spc="-555" dirty="0">
                <a:latin typeface="Arial" panose="020B0604020202020204"/>
                <a:cs typeface="Arial" panose="020B0604020202020204"/>
              </a:rPr>
              <a:t>Cons</a:t>
            </a:r>
            <a:r>
              <a:rPr b="1" spc="-220" dirty="0">
                <a:latin typeface="Arial" panose="020B0604020202020204"/>
                <a:cs typeface="Arial" panose="020B0604020202020204"/>
              </a:rPr>
              <a:t> </a:t>
            </a:r>
            <a:r>
              <a:rPr b="1" spc="-210" dirty="0">
                <a:latin typeface="Arial" panose="020B0604020202020204"/>
                <a:cs typeface="Arial" panose="020B0604020202020204"/>
              </a:rPr>
              <a:t>of</a:t>
            </a:r>
            <a:r>
              <a:rPr b="1" spc="-240" dirty="0">
                <a:latin typeface="Arial" panose="020B0604020202020204"/>
                <a:cs typeface="Arial" panose="020B0604020202020204"/>
              </a:rPr>
              <a:t> </a:t>
            </a:r>
            <a:r>
              <a:rPr b="1" spc="-430" dirty="0">
                <a:latin typeface="Arial" panose="020B0604020202020204"/>
                <a:cs typeface="Arial" panose="020B0604020202020204"/>
              </a:rPr>
              <a:t>using</a:t>
            </a:r>
            <a:r>
              <a:rPr b="1" spc="-220" dirty="0">
                <a:latin typeface="Arial" panose="020B0604020202020204"/>
                <a:cs typeface="Arial" panose="020B0604020202020204"/>
              </a:rPr>
              <a:t> </a:t>
            </a:r>
            <a:r>
              <a:rPr b="1" spc="-340" dirty="0">
                <a:latin typeface="Arial" panose="020B0604020202020204"/>
                <a:cs typeface="Arial" panose="020B0604020202020204"/>
              </a:rPr>
              <a:t>“Clinical”</a:t>
            </a:r>
            <a:r>
              <a:rPr b="1" spc="-245" dirty="0">
                <a:latin typeface="Arial" panose="020B0604020202020204"/>
                <a:cs typeface="Arial" panose="020B0604020202020204"/>
              </a:rPr>
              <a:t> </a:t>
            </a:r>
            <a:r>
              <a:rPr b="1" spc="-380" dirty="0">
                <a:latin typeface="Arial" panose="020B0604020202020204"/>
                <a:cs typeface="Arial" panose="020B0604020202020204"/>
              </a:rPr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4871"/>
            <a:ext cx="10354310" cy="373507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800" u="sng" spc="-455" dirty="0">
                <a:solidFill>
                  <a:srgbClr val="17498B"/>
                </a:solidFill>
                <a:uFill>
                  <a:solidFill>
                    <a:srgbClr val="17498B"/>
                  </a:solidFill>
                </a:uFill>
                <a:latin typeface="Arial" panose="020B0604020202020204"/>
                <a:cs typeface="Arial" panose="020B0604020202020204"/>
              </a:rPr>
              <a:t>PRO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39395" marR="1536700" indent="-227330">
              <a:lnSpc>
                <a:spcPts val="3000"/>
              </a:lnSpc>
              <a:spcBef>
                <a:spcPts val="1085"/>
              </a:spcBef>
              <a:buChar char="•"/>
              <a:tabLst>
                <a:tab pos="241300" algn="l"/>
              </a:tabLst>
            </a:pPr>
            <a:r>
              <a:rPr sz="2800" spc="-3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easily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measured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well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understood</a:t>
            </a:r>
            <a:r>
              <a:rPr sz="28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care 	</a:t>
            </a:r>
            <a:r>
              <a:rPr sz="28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professionals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800" u="sng" spc="-400" dirty="0">
                <a:solidFill>
                  <a:srgbClr val="17498B"/>
                </a:solidFill>
                <a:uFill>
                  <a:solidFill>
                    <a:srgbClr val="17498B"/>
                  </a:solidFill>
                </a:uFill>
                <a:latin typeface="Arial" panose="020B0604020202020204"/>
                <a:cs typeface="Arial" panose="020B0604020202020204"/>
              </a:rPr>
              <a:t>CON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665" indent="-227965">
              <a:lnSpc>
                <a:spcPts val="3190"/>
              </a:lnSpc>
              <a:spcBef>
                <a:spcPts val="670"/>
              </a:spcBef>
              <a:buChar char="•"/>
              <a:tabLst>
                <a:tab pos="240665" algn="l"/>
              </a:tabLst>
            </a:pPr>
            <a:r>
              <a:rPr sz="28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Different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types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“clinical”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can’t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compared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e.g.,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1300">
              <a:lnSpc>
                <a:spcPts val="3190"/>
              </a:lnSpc>
            </a:pPr>
            <a:r>
              <a:rPr sz="2800" spc="75" dirty="0">
                <a:solidFill>
                  <a:srgbClr val="4B8DE1"/>
                </a:solidFill>
                <a:latin typeface="STIX Two Math"/>
                <a:cs typeface="STIX Two Math"/>
              </a:rPr>
              <a:t>𝐶𝑎𝑟𝑑𝑖𝑜𝑣𝑎𝑠𝑐𝑢𝑙𝑎𝑟</a:t>
            </a:r>
            <a:r>
              <a:rPr sz="2800" spc="50" dirty="0">
                <a:solidFill>
                  <a:srgbClr val="4B8DE1"/>
                </a:solidFill>
                <a:latin typeface="STIX Two Math"/>
                <a:cs typeface="STIX Two Math"/>
              </a:rPr>
              <a:t> </a:t>
            </a:r>
            <a:r>
              <a:rPr sz="2800" spc="135" dirty="0">
                <a:solidFill>
                  <a:srgbClr val="4B8DE1"/>
                </a:solidFill>
                <a:latin typeface="STIX Two Math"/>
                <a:cs typeface="STIX Two Math"/>
              </a:rPr>
              <a:t>𝑑𝑖𝑠𝑒𝑎𝑠𝑒</a:t>
            </a:r>
            <a:r>
              <a:rPr sz="2800" spc="185" dirty="0">
                <a:solidFill>
                  <a:srgbClr val="4B8DE1"/>
                </a:solidFill>
                <a:latin typeface="STIX Two Math"/>
                <a:cs typeface="STIX Two Math"/>
              </a:rPr>
              <a:t> </a:t>
            </a:r>
            <a:r>
              <a:rPr sz="2800" spc="60" dirty="0">
                <a:solidFill>
                  <a:srgbClr val="4B8DE1"/>
                </a:solidFill>
                <a:latin typeface="STIX Two Math"/>
                <a:cs typeface="STIX Two Math"/>
              </a:rPr>
              <a:t>≠</a:t>
            </a:r>
            <a:r>
              <a:rPr sz="2800" spc="130" dirty="0">
                <a:solidFill>
                  <a:srgbClr val="4B8DE1"/>
                </a:solidFill>
                <a:latin typeface="STIX Two Math"/>
                <a:cs typeface="STIX Two Math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STIX Two Math"/>
                <a:cs typeface="STIX Two Math"/>
              </a:rPr>
              <a:t>𝐶𝑎𝑛𝑐𝑒𝑟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marR="5080" indent="-227965">
              <a:lnSpc>
                <a:spcPts val="3000"/>
              </a:lnSpc>
              <a:spcBef>
                <a:spcPts val="1075"/>
              </a:spcBef>
              <a:buChar char="•"/>
              <a:tabLst>
                <a:tab pos="241300" algn="l"/>
              </a:tabLst>
            </a:pP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appropriate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drug/intervention</a:t>
            </a:r>
            <a:r>
              <a:rPr sz="28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resulted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aspect 	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outcomes.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2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440" dirty="0">
                <a:latin typeface="Arial" panose="020B0604020202020204"/>
                <a:cs typeface="Arial" panose="020B0604020202020204"/>
              </a:rPr>
              <a:t>Efficacy</a:t>
            </a:r>
            <a:r>
              <a:rPr sz="4800" b="1" spc="-225" dirty="0">
                <a:latin typeface="Arial" panose="020B0604020202020204"/>
                <a:cs typeface="Arial" panose="020B0604020202020204"/>
              </a:rPr>
              <a:t> </a:t>
            </a:r>
            <a:r>
              <a:rPr sz="4800" b="1" spc="-690" dirty="0">
                <a:latin typeface="Arial" panose="020B0604020202020204"/>
                <a:cs typeface="Arial" panose="020B0604020202020204"/>
              </a:rPr>
              <a:t>VS</a:t>
            </a:r>
            <a:r>
              <a:rPr sz="4800" b="1" spc="-235" dirty="0">
                <a:latin typeface="Arial" panose="020B0604020202020204"/>
                <a:cs typeface="Arial" panose="020B0604020202020204"/>
              </a:rPr>
              <a:t> </a:t>
            </a:r>
            <a:r>
              <a:rPr sz="4800" b="1" spc="-415" dirty="0">
                <a:latin typeface="Arial" panose="020B0604020202020204"/>
                <a:cs typeface="Arial" panose="020B0604020202020204"/>
              </a:rPr>
              <a:t>Effectiveness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02638"/>
            <a:ext cx="10330815" cy="35344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30" marR="5080" indent="-227965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  <a:tab pos="1391920" algn="l"/>
                <a:tab pos="8404860" algn="l"/>
              </a:tabLst>
            </a:pP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Efficacy: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2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clinical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derived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patients’</a:t>
            </a:r>
            <a:r>
              <a:rPr sz="24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use</a:t>
            </a:r>
            <a:r>
              <a:rPr sz="24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pharmaceutical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product 	or</a:t>
            </a:r>
            <a:r>
              <a:rPr sz="24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technology, </a:t>
            </a:r>
            <a:r>
              <a:rPr sz="24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typically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Randomized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Control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trial</a:t>
            </a:r>
            <a:r>
              <a:rPr sz="24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24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III.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Main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concern 	</a:t>
            </a:r>
            <a:r>
              <a:rPr sz="24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sng" spc="-1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validity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1300">
              <a:lnSpc>
                <a:spcPct val="100000"/>
              </a:lnSpc>
              <a:spcBef>
                <a:spcPts val="690"/>
              </a:spcBef>
            </a:pPr>
            <a:r>
              <a:rPr sz="2400" i="1" spc="-14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“Can</a:t>
            </a:r>
            <a:r>
              <a:rPr sz="2400" i="1" spc="-114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7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400" i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-6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400" i="1" spc="-114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-1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under</a:t>
            </a:r>
            <a:r>
              <a:rPr sz="2400" i="1" spc="-10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-8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ideal</a:t>
            </a:r>
            <a:r>
              <a:rPr sz="2400" i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-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conditions?”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865"/>
              </a:spcBef>
            </a:pPr>
            <a:endParaRPr sz="2400">
              <a:latin typeface="Arial" panose="020B0604020202020204"/>
              <a:cs typeface="Arial" panose="020B0604020202020204"/>
            </a:endParaRPr>
          </a:p>
          <a:p>
            <a:pPr marL="240030" marR="79375" indent="-227965">
              <a:lnSpc>
                <a:spcPts val="2590"/>
              </a:lnSpc>
              <a:buChar char="•"/>
              <a:tabLst>
                <a:tab pos="241300" algn="l"/>
                <a:tab pos="2065655" algn="l"/>
                <a:tab pos="2251075" algn="l"/>
              </a:tabLst>
            </a:pPr>
            <a:r>
              <a:rPr sz="24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Effectiveness: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How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well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treatment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technology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performs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under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real 	</a:t>
            </a:r>
            <a:r>
              <a:rPr sz="24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conditions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outside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context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randomised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trial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where</a:t>
            </a:r>
            <a:r>
              <a:rPr sz="24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experiment 	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4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longer</a:t>
            </a:r>
            <a:r>
              <a:rPr sz="24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hold.</a:t>
            </a: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Main</a:t>
            </a:r>
            <a:r>
              <a:rPr sz="24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concern</a:t>
            </a:r>
            <a:r>
              <a:rPr sz="24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4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sng" spc="-9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generalizability</a:t>
            </a:r>
            <a:r>
              <a:rPr sz="2400" u="sng" spc="-11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400" u="sng" spc="-3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or</a:t>
            </a:r>
            <a:r>
              <a:rPr sz="2400" u="sng" spc="-11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400" u="sng" spc="-1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transferability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1300">
              <a:lnSpc>
                <a:spcPct val="100000"/>
              </a:lnSpc>
              <a:spcBef>
                <a:spcPts val="690"/>
              </a:spcBef>
            </a:pPr>
            <a:r>
              <a:rPr sz="2400" i="1" spc="-14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“Does</a:t>
            </a:r>
            <a:r>
              <a:rPr sz="2400" i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7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400" i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-6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400" i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-1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under </a:t>
            </a:r>
            <a:r>
              <a:rPr sz="2400" i="1" spc="-7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real</a:t>
            </a:r>
            <a:r>
              <a:rPr sz="2400" i="1" spc="-10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i="1" spc="-4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circumstances?”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5464" y="62610"/>
            <a:ext cx="424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P.11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0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40" dirty="0"/>
              <a:t>Final</a:t>
            </a:r>
            <a:r>
              <a:rPr sz="4500" spc="-210" dirty="0"/>
              <a:t> </a:t>
            </a:r>
            <a:r>
              <a:rPr sz="4500" spc="-715" dirty="0"/>
              <a:t>VS</a:t>
            </a:r>
            <a:r>
              <a:rPr sz="4500" spc="-204" dirty="0"/>
              <a:t> </a:t>
            </a:r>
            <a:r>
              <a:rPr sz="4500" spc="-105" dirty="0"/>
              <a:t>intermediate</a:t>
            </a:r>
            <a:r>
              <a:rPr sz="4500" spc="-180" dirty="0"/>
              <a:t> </a:t>
            </a:r>
            <a:r>
              <a:rPr sz="4500" spc="-110" dirty="0"/>
              <a:t>outcome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916939" y="1737589"/>
            <a:ext cx="10144760" cy="299656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0"/>
              </a:spcBef>
              <a:buChar char="•"/>
              <a:tabLst>
                <a:tab pos="240665" algn="l"/>
                <a:tab pos="7879080" algn="l"/>
              </a:tabLst>
            </a:pPr>
            <a:r>
              <a:rPr sz="28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Final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outcome: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Death,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loss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vision,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MI,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CHD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death,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spc="-4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LYG,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QALY,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5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DALY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8500" lvl="1" indent="-228600">
              <a:lnSpc>
                <a:spcPct val="100000"/>
              </a:lnSpc>
              <a:spcBef>
                <a:spcPts val="210"/>
              </a:spcBef>
              <a:buChar char="•"/>
              <a:tabLst>
                <a:tab pos="698500" algn="l"/>
              </a:tabLst>
            </a:pPr>
            <a:r>
              <a:rPr sz="2600" u="sng" spc="-60" dirty="0">
                <a:solidFill>
                  <a:srgbClr val="F86D46"/>
                </a:solidFill>
                <a:uFill>
                  <a:solidFill>
                    <a:srgbClr val="F86D46"/>
                  </a:solidFill>
                </a:uFill>
                <a:latin typeface="Arial" panose="020B0604020202020204"/>
                <a:cs typeface="Arial" panose="020B0604020202020204"/>
              </a:rPr>
              <a:t>Limitation:</a:t>
            </a:r>
            <a:r>
              <a:rPr sz="26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long</a:t>
            </a:r>
            <a:r>
              <a:rPr sz="2600" spc="-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5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duration;</a:t>
            </a:r>
            <a:r>
              <a:rPr sz="2600" spc="-10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expensive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240030" marR="316865" indent="-227965">
              <a:lnSpc>
                <a:spcPts val="2810"/>
              </a:lnSpc>
              <a:spcBef>
                <a:spcPts val="1410"/>
              </a:spcBef>
              <a:buChar char="•"/>
              <a:tabLst>
                <a:tab pos="241300" algn="l"/>
              </a:tabLst>
            </a:pPr>
            <a:r>
              <a:rPr sz="28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Intermediate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outcome: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CD4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cell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count,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Blood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pressure,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cholesterol 	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level,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microalbuminuria,</a:t>
            </a:r>
            <a:r>
              <a:rPr sz="28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other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laboratory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measures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8500" lvl="1" indent="-228600">
              <a:lnSpc>
                <a:spcPct val="100000"/>
              </a:lnSpc>
              <a:spcBef>
                <a:spcPts val="210"/>
              </a:spcBef>
              <a:buChar char="•"/>
              <a:tabLst>
                <a:tab pos="698500" algn="l"/>
              </a:tabLst>
            </a:pPr>
            <a:r>
              <a:rPr sz="2600" u="sng" spc="-155" dirty="0">
                <a:solidFill>
                  <a:srgbClr val="F86D46"/>
                </a:solidFill>
                <a:uFill>
                  <a:solidFill>
                    <a:srgbClr val="F86D46"/>
                  </a:solidFill>
                </a:uFill>
                <a:latin typeface="Arial" panose="020B0604020202020204"/>
                <a:cs typeface="Arial" panose="020B0604020202020204"/>
              </a:rPr>
              <a:t>Advantages:</a:t>
            </a:r>
            <a:r>
              <a:rPr sz="2600" spc="-1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6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short</a:t>
            </a:r>
            <a:r>
              <a:rPr sz="2600" spc="-10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6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duration,</a:t>
            </a:r>
            <a:r>
              <a:rPr sz="26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600" spc="-10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expensive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698500" marR="250825" lvl="1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698500" algn="l"/>
              </a:tabLst>
            </a:pPr>
            <a:r>
              <a:rPr sz="2600" u="sng" spc="-60" dirty="0">
                <a:solidFill>
                  <a:srgbClr val="F86D46"/>
                </a:solidFill>
                <a:uFill>
                  <a:solidFill>
                    <a:srgbClr val="F86D46"/>
                  </a:solidFill>
                </a:uFill>
                <a:latin typeface="Arial" panose="020B0604020202020204"/>
                <a:cs typeface="Arial" panose="020B0604020202020204"/>
              </a:rPr>
              <a:t>Limitation:</a:t>
            </a:r>
            <a:r>
              <a:rPr sz="2600" spc="-2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Disease</a:t>
            </a:r>
            <a:r>
              <a:rPr sz="2600" spc="-1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process</a:t>
            </a:r>
            <a:r>
              <a:rPr sz="2600" spc="-15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26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affect</a:t>
            </a:r>
            <a:r>
              <a:rPr sz="2600" spc="-13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114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8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clinical</a:t>
            </a:r>
            <a:r>
              <a:rPr sz="2600" spc="-10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outcome</a:t>
            </a:r>
            <a:r>
              <a:rPr sz="26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through </a:t>
            </a:r>
            <a:r>
              <a:rPr sz="2600" spc="-1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600" spc="-1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6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causal</a:t>
            </a:r>
            <a:r>
              <a:rPr sz="26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pathway!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3495" y="0"/>
            <a:ext cx="6480175" cy="6858000"/>
            <a:chOff x="2063495" y="0"/>
            <a:chExt cx="648017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3495" y="0"/>
              <a:ext cx="6480048" cy="42214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9903" y="3645407"/>
              <a:ext cx="5329428" cy="32125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09331" y="3645408"/>
              <a:ext cx="862965" cy="288290"/>
            </a:xfrm>
            <a:custGeom>
              <a:avLst/>
              <a:gdLst/>
              <a:ahLst/>
              <a:cxnLst/>
              <a:rect l="l" t="t" r="r" b="b"/>
              <a:pathLst>
                <a:path w="862965" h="288289">
                  <a:moveTo>
                    <a:pt x="862583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862583" y="288036"/>
                  </a:lnTo>
                  <a:lnTo>
                    <a:pt x="86258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751189" y="1765173"/>
            <a:ext cx="1459230" cy="540385"/>
            <a:chOff x="8751189" y="1765173"/>
            <a:chExt cx="1459230" cy="540385"/>
          </a:xfrm>
        </p:grpSpPr>
        <p:sp>
          <p:nvSpPr>
            <p:cNvPr id="7" name="object 7"/>
            <p:cNvSpPr/>
            <p:nvPr/>
          </p:nvSpPr>
          <p:spPr>
            <a:xfrm>
              <a:off x="8760714" y="1774698"/>
              <a:ext cx="1440180" cy="521334"/>
            </a:xfrm>
            <a:custGeom>
              <a:avLst/>
              <a:gdLst/>
              <a:ahLst/>
              <a:cxnLst/>
              <a:rect l="l" t="t" r="r" b="b"/>
              <a:pathLst>
                <a:path w="1440179" h="521335">
                  <a:moveTo>
                    <a:pt x="1440179" y="0"/>
                  </a:moveTo>
                  <a:lnTo>
                    <a:pt x="0" y="0"/>
                  </a:lnTo>
                  <a:lnTo>
                    <a:pt x="0" y="521208"/>
                  </a:lnTo>
                  <a:lnTo>
                    <a:pt x="1440179" y="521208"/>
                  </a:lnTo>
                  <a:lnTo>
                    <a:pt x="1440179" y="0"/>
                  </a:lnTo>
                  <a:close/>
                </a:path>
              </a:pathLst>
            </a:custGeom>
            <a:solidFill>
              <a:srgbClr val="1749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60714" y="1774698"/>
              <a:ext cx="1440180" cy="521334"/>
            </a:xfrm>
            <a:custGeom>
              <a:avLst/>
              <a:gdLst/>
              <a:ahLst/>
              <a:cxnLst/>
              <a:rect l="l" t="t" r="r" b="b"/>
              <a:pathLst>
                <a:path w="1440179" h="521335">
                  <a:moveTo>
                    <a:pt x="0" y="521208"/>
                  </a:moveTo>
                  <a:lnTo>
                    <a:pt x="1440179" y="521208"/>
                  </a:lnTo>
                  <a:lnTo>
                    <a:pt x="1440179" y="0"/>
                  </a:lnTo>
                  <a:lnTo>
                    <a:pt x="0" y="0"/>
                  </a:lnTo>
                  <a:lnTo>
                    <a:pt x="0" y="521208"/>
                  </a:lnTo>
                  <a:close/>
                </a:path>
              </a:pathLst>
            </a:custGeom>
            <a:ln w="1904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169045" y="1794510"/>
            <a:ext cx="6476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0714" y="1774698"/>
            <a:ext cx="1440180" cy="52133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1440" marR="104140">
              <a:lnSpc>
                <a:spcPct val="100000"/>
              </a:lnSpc>
              <a:spcBef>
                <a:spcPts val="260"/>
              </a:spcBef>
              <a:tabLst>
                <a:tab pos="1059180" algn="l"/>
                <a:tab pos="1195705" algn="l"/>
              </a:tabLst>
            </a:pP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400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400" spc="2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400" spc="2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400" spc="2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400" spc="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	e</a:t>
            </a:r>
            <a:r>
              <a:rPr sz="1400" spc="2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d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400" spc="2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400" spc="2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400" spc="1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400" spc="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400" spc="2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1400" spc="-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51189" y="4572380"/>
            <a:ext cx="1459230" cy="543560"/>
            <a:chOff x="8751189" y="4572380"/>
            <a:chExt cx="1459230" cy="543560"/>
          </a:xfrm>
        </p:grpSpPr>
        <p:sp>
          <p:nvSpPr>
            <p:cNvPr id="12" name="object 12"/>
            <p:cNvSpPr/>
            <p:nvPr/>
          </p:nvSpPr>
          <p:spPr>
            <a:xfrm>
              <a:off x="8760714" y="4581905"/>
              <a:ext cx="1440180" cy="524510"/>
            </a:xfrm>
            <a:custGeom>
              <a:avLst/>
              <a:gdLst/>
              <a:ahLst/>
              <a:cxnLst/>
              <a:rect l="l" t="t" r="r" b="b"/>
              <a:pathLst>
                <a:path w="1440179" h="524510">
                  <a:moveTo>
                    <a:pt x="1440179" y="0"/>
                  </a:moveTo>
                  <a:lnTo>
                    <a:pt x="0" y="0"/>
                  </a:lnTo>
                  <a:lnTo>
                    <a:pt x="0" y="524256"/>
                  </a:lnTo>
                  <a:lnTo>
                    <a:pt x="1440179" y="524256"/>
                  </a:lnTo>
                  <a:lnTo>
                    <a:pt x="1440179" y="0"/>
                  </a:lnTo>
                  <a:close/>
                </a:path>
              </a:pathLst>
            </a:custGeom>
            <a:solidFill>
              <a:srgbClr val="1749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60714" y="4581905"/>
              <a:ext cx="1440180" cy="524510"/>
            </a:xfrm>
            <a:custGeom>
              <a:avLst/>
              <a:gdLst/>
              <a:ahLst/>
              <a:cxnLst/>
              <a:rect l="l" t="t" r="r" b="b"/>
              <a:pathLst>
                <a:path w="1440179" h="524510">
                  <a:moveTo>
                    <a:pt x="0" y="524256"/>
                  </a:moveTo>
                  <a:lnTo>
                    <a:pt x="1440179" y="524256"/>
                  </a:lnTo>
                  <a:lnTo>
                    <a:pt x="1440179" y="0"/>
                  </a:lnTo>
                  <a:lnTo>
                    <a:pt x="0" y="0"/>
                  </a:lnTo>
                  <a:lnTo>
                    <a:pt x="0" y="524256"/>
                  </a:lnTo>
                  <a:close/>
                </a:path>
              </a:pathLst>
            </a:custGeom>
            <a:ln w="1905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60714" y="4581905"/>
            <a:ext cx="1440180" cy="5245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400" spc="1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400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400" spc="21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400" spc="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l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>
              <a:lnSpc>
                <a:spcPct val="100000"/>
              </a:lnSpc>
              <a:tabLst>
                <a:tab pos="1196340" algn="l"/>
              </a:tabLst>
            </a:pP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400" spc="2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400" spc="2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400" spc="1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400" spc="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400" spc="2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4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400" spc="-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88323" y="2924555"/>
            <a:ext cx="1882139" cy="79247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8539733" y="4304538"/>
            <a:ext cx="1882139" cy="1233170"/>
          </a:xfrm>
          <a:custGeom>
            <a:avLst/>
            <a:gdLst/>
            <a:ahLst/>
            <a:cxnLst/>
            <a:rect l="l" t="t" r="r" b="b"/>
            <a:pathLst>
              <a:path w="1882140" h="1233170">
                <a:moveTo>
                  <a:pt x="0" y="616457"/>
                </a:moveTo>
                <a:lnTo>
                  <a:pt x="6805" y="541942"/>
                </a:lnTo>
                <a:lnTo>
                  <a:pt x="26695" y="470065"/>
                </a:lnTo>
                <a:lnTo>
                  <a:pt x="58882" y="401345"/>
                </a:lnTo>
                <a:lnTo>
                  <a:pt x="79340" y="368329"/>
                </a:lnTo>
                <a:lnTo>
                  <a:pt x="102578" y="336295"/>
                </a:lnTo>
                <a:lnTo>
                  <a:pt x="128495" y="305307"/>
                </a:lnTo>
                <a:lnTo>
                  <a:pt x="156995" y="275431"/>
                </a:lnTo>
                <a:lnTo>
                  <a:pt x="187978" y="246731"/>
                </a:lnTo>
                <a:lnTo>
                  <a:pt x="221345" y="219270"/>
                </a:lnTo>
                <a:lnTo>
                  <a:pt x="256999" y="193115"/>
                </a:lnTo>
                <a:lnTo>
                  <a:pt x="294841" y="168328"/>
                </a:lnTo>
                <a:lnTo>
                  <a:pt x="334773" y="144974"/>
                </a:lnTo>
                <a:lnTo>
                  <a:pt x="376695" y="123118"/>
                </a:lnTo>
                <a:lnTo>
                  <a:pt x="420509" y="102825"/>
                </a:lnTo>
                <a:lnTo>
                  <a:pt x="466118" y="84158"/>
                </a:lnTo>
                <a:lnTo>
                  <a:pt x="513422" y="67183"/>
                </a:lnTo>
                <a:lnTo>
                  <a:pt x="562322" y="51963"/>
                </a:lnTo>
                <a:lnTo>
                  <a:pt x="612722" y="38564"/>
                </a:lnTo>
                <a:lnTo>
                  <a:pt x="664521" y="27049"/>
                </a:lnTo>
                <a:lnTo>
                  <a:pt x="717622" y="17483"/>
                </a:lnTo>
                <a:lnTo>
                  <a:pt x="771925" y="9931"/>
                </a:lnTo>
                <a:lnTo>
                  <a:pt x="827334" y="4456"/>
                </a:lnTo>
                <a:lnTo>
                  <a:pt x="883748" y="1124"/>
                </a:lnTo>
                <a:lnTo>
                  <a:pt x="941070" y="0"/>
                </a:lnTo>
                <a:lnTo>
                  <a:pt x="998391" y="1124"/>
                </a:lnTo>
                <a:lnTo>
                  <a:pt x="1054805" y="4456"/>
                </a:lnTo>
                <a:lnTo>
                  <a:pt x="1110214" y="9931"/>
                </a:lnTo>
                <a:lnTo>
                  <a:pt x="1164517" y="17483"/>
                </a:lnTo>
                <a:lnTo>
                  <a:pt x="1217618" y="27049"/>
                </a:lnTo>
                <a:lnTo>
                  <a:pt x="1269417" y="38564"/>
                </a:lnTo>
                <a:lnTo>
                  <a:pt x="1319817" y="51963"/>
                </a:lnTo>
                <a:lnTo>
                  <a:pt x="1368717" y="67183"/>
                </a:lnTo>
                <a:lnTo>
                  <a:pt x="1416021" y="84158"/>
                </a:lnTo>
                <a:lnTo>
                  <a:pt x="1461630" y="102825"/>
                </a:lnTo>
                <a:lnTo>
                  <a:pt x="1505444" y="123118"/>
                </a:lnTo>
                <a:lnTo>
                  <a:pt x="1547366" y="144974"/>
                </a:lnTo>
                <a:lnTo>
                  <a:pt x="1587298" y="168328"/>
                </a:lnTo>
                <a:lnTo>
                  <a:pt x="1625140" y="193115"/>
                </a:lnTo>
                <a:lnTo>
                  <a:pt x="1660794" y="219270"/>
                </a:lnTo>
                <a:lnTo>
                  <a:pt x="1694161" y="246731"/>
                </a:lnTo>
                <a:lnTo>
                  <a:pt x="1725144" y="275431"/>
                </a:lnTo>
                <a:lnTo>
                  <a:pt x="1753644" y="305307"/>
                </a:lnTo>
                <a:lnTo>
                  <a:pt x="1779561" y="336295"/>
                </a:lnTo>
                <a:lnTo>
                  <a:pt x="1802799" y="368329"/>
                </a:lnTo>
                <a:lnTo>
                  <a:pt x="1823257" y="401345"/>
                </a:lnTo>
                <a:lnTo>
                  <a:pt x="1840839" y="435278"/>
                </a:lnTo>
                <a:lnTo>
                  <a:pt x="1866976" y="505641"/>
                </a:lnTo>
                <a:lnTo>
                  <a:pt x="1880422" y="578902"/>
                </a:lnTo>
                <a:lnTo>
                  <a:pt x="1882140" y="616457"/>
                </a:lnTo>
                <a:lnTo>
                  <a:pt x="1880422" y="654013"/>
                </a:lnTo>
                <a:lnTo>
                  <a:pt x="1866976" y="727274"/>
                </a:lnTo>
                <a:lnTo>
                  <a:pt x="1840839" y="797637"/>
                </a:lnTo>
                <a:lnTo>
                  <a:pt x="1823257" y="831570"/>
                </a:lnTo>
                <a:lnTo>
                  <a:pt x="1802799" y="864586"/>
                </a:lnTo>
                <a:lnTo>
                  <a:pt x="1779561" y="896620"/>
                </a:lnTo>
                <a:lnTo>
                  <a:pt x="1753644" y="927607"/>
                </a:lnTo>
                <a:lnTo>
                  <a:pt x="1725144" y="957484"/>
                </a:lnTo>
                <a:lnTo>
                  <a:pt x="1694161" y="986184"/>
                </a:lnTo>
                <a:lnTo>
                  <a:pt x="1660794" y="1013645"/>
                </a:lnTo>
                <a:lnTo>
                  <a:pt x="1625140" y="1039800"/>
                </a:lnTo>
                <a:lnTo>
                  <a:pt x="1587298" y="1064587"/>
                </a:lnTo>
                <a:lnTo>
                  <a:pt x="1547366" y="1087941"/>
                </a:lnTo>
                <a:lnTo>
                  <a:pt x="1505444" y="1109797"/>
                </a:lnTo>
                <a:lnTo>
                  <a:pt x="1461630" y="1130090"/>
                </a:lnTo>
                <a:lnTo>
                  <a:pt x="1416021" y="1148757"/>
                </a:lnTo>
                <a:lnTo>
                  <a:pt x="1368717" y="1165732"/>
                </a:lnTo>
                <a:lnTo>
                  <a:pt x="1319817" y="1180952"/>
                </a:lnTo>
                <a:lnTo>
                  <a:pt x="1269417" y="1194351"/>
                </a:lnTo>
                <a:lnTo>
                  <a:pt x="1217618" y="1205866"/>
                </a:lnTo>
                <a:lnTo>
                  <a:pt x="1164517" y="1215432"/>
                </a:lnTo>
                <a:lnTo>
                  <a:pt x="1110214" y="1222984"/>
                </a:lnTo>
                <a:lnTo>
                  <a:pt x="1054805" y="1228459"/>
                </a:lnTo>
                <a:lnTo>
                  <a:pt x="998391" y="1231791"/>
                </a:lnTo>
                <a:lnTo>
                  <a:pt x="941070" y="1232916"/>
                </a:lnTo>
                <a:lnTo>
                  <a:pt x="883748" y="1231791"/>
                </a:lnTo>
                <a:lnTo>
                  <a:pt x="827334" y="1228459"/>
                </a:lnTo>
                <a:lnTo>
                  <a:pt x="771925" y="1222984"/>
                </a:lnTo>
                <a:lnTo>
                  <a:pt x="717622" y="1215432"/>
                </a:lnTo>
                <a:lnTo>
                  <a:pt x="664521" y="1205866"/>
                </a:lnTo>
                <a:lnTo>
                  <a:pt x="612722" y="1194351"/>
                </a:lnTo>
                <a:lnTo>
                  <a:pt x="562322" y="1180952"/>
                </a:lnTo>
                <a:lnTo>
                  <a:pt x="513422" y="1165732"/>
                </a:lnTo>
                <a:lnTo>
                  <a:pt x="466118" y="1148757"/>
                </a:lnTo>
                <a:lnTo>
                  <a:pt x="420509" y="1130090"/>
                </a:lnTo>
                <a:lnTo>
                  <a:pt x="376695" y="1109797"/>
                </a:lnTo>
                <a:lnTo>
                  <a:pt x="334773" y="1087941"/>
                </a:lnTo>
                <a:lnTo>
                  <a:pt x="294841" y="1064587"/>
                </a:lnTo>
                <a:lnTo>
                  <a:pt x="256999" y="1039800"/>
                </a:lnTo>
                <a:lnTo>
                  <a:pt x="221345" y="1013645"/>
                </a:lnTo>
                <a:lnTo>
                  <a:pt x="187978" y="986184"/>
                </a:lnTo>
                <a:lnTo>
                  <a:pt x="156995" y="957484"/>
                </a:lnTo>
                <a:lnTo>
                  <a:pt x="128495" y="927607"/>
                </a:lnTo>
                <a:lnTo>
                  <a:pt x="102578" y="896620"/>
                </a:lnTo>
                <a:lnTo>
                  <a:pt x="79340" y="864586"/>
                </a:lnTo>
                <a:lnTo>
                  <a:pt x="58882" y="831570"/>
                </a:lnTo>
                <a:lnTo>
                  <a:pt x="41300" y="797637"/>
                </a:lnTo>
                <a:lnTo>
                  <a:pt x="15163" y="727274"/>
                </a:lnTo>
                <a:lnTo>
                  <a:pt x="1717" y="654013"/>
                </a:lnTo>
                <a:lnTo>
                  <a:pt x="0" y="616457"/>
                </a:lnTo>
                <a:close/>
              </a:path>
            </a:pathLst>
          </a:custGeom>
          <a:ln w="28575">
            <a:solidFill>
              <a:srgbClr val="F86D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75" dirty="0">
                <a:latin typeface="Arial" panose="020B0604020202020204"/>
                <a:cs typeface="Arial" panose="020B0604020202020204"/>
              </a:rPr>
              <a:t>Measurement</a:t>
            </a:r>
            <a:r>
              <a:rPr sz="4800" b="1" spc="-235" dirty="0">
                <a:latin typeface="Arial" panose="020B0604020202020204"/>
                <a:cs typeface="Arial" panose="020B0604020202020204"/>
              </a:rPr>
              <a:t> of </a:t>
            </a:r>
            <a:r>
              <a:rPr sz="4800" b="1" spc="-290" dirty="0">
                <a:latin typeface="Arial" panose="020B0604020202020204"/>
                <a:cs typeface="Arial" panose="020B0604020202020204"/>
              </a:rPr>
              <a:t>Treatment</a:t>
            </a:r>
            <a:r>
              <a:rPr sz="4800" b="1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4800" b="1" spc="-330" dirty="0">
                <a:latin typeface="Arial" panose="020B0604020202020204"/>
                <a:cs typeface="Arial" panose="020B0604020202020204"/>
              </a:rPr>
              <a:t>effects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03012"/>
            <a:ext cx="9673590" cy="29540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0"/>
              </a:spcBef>
              <a:buChar char="•"/>
              <a:tabLst>
                <a:tab pos="240665" algn="l"/>
              </a:tabLst>
            </a:pPr>
            <a:r>
              <a:rPr sz="32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Outcomes</a:t>
            </a:r>
            <a:r>
              <a:rPr sz="32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2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32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treatment</a:t>
            </a:r>
            <a:r>
              <a:rPr sz="32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32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prevention</a:t>
            </a:r>
            <a:r>
              <a:rPr sz="32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interventions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325"/>
              </a:spcBef>
              <a:buChar char="•"/>
              <a:tabLst>
                <a:tab pos="697230" algn="l"/>
              </a:tabLst>
            </a:pPr>
            <a:r>
              <a:rPr sz="2800" spc="-1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Relative</a:t>
            </a:r>
            <a:r>
              <a:rPr sz="2800" spc="-1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risk</a:t>
            </a:r>
            <a:r>
              <a:rPr sz="28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3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800" spc="-229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Risk</a:t>
            </a:r>
            <a:r>
              <a:rPr sz="28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ratio</a:t>
            </a:r>
            <a:r>
              <a:rPr sz="2800" spc="-13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(RR)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ts val="3330"/>
              </a:lnSpc>
              <a:spcBef>
                <a:spcPts val="485"/>
              </a:spcBef>
              <a:buChar char="•"/>
              <a:tabLst>
                <a:tab pos="697230" algn="l"/>
              </a:tabLst>
            </a:pPr>
            <a:r>
              <a:rPr sz="2800" spc="-2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Odds</a:t>
            </a:r>
            <a:r>
              <a:rPr sz="2800" spc="-7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ratio</a:t>
            </a:r>
            <a:r>
              <a:rPr sz="2800" spc="-114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8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(OR)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665" indent="-227965">
              <a:lnSpc>
                <a:spcPts val="3810"/>
              </a:lnSpc>
              <a:buChar char="•"/>
              <a:tabLst>
                <a:tab pos="240665" algn="l"/>
              </a:tabLst>
            </a:pPr>
            <a:r>
              <a:rPr sz="32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Outcomes</a:t>
            </a:r>
            <a:r>
              <a:rPr sz="32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200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32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screening</a:t>
            </a:r>
            <a:r>
              <a:rPr sz="32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32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diagnosis</a:t>
            </a:r>
            <a:r>
              <a:rPr sz="32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interventions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545"/>
              </a:spcBef>
              <a:buChar char="•"/>
              <a:tabLst>
                <a:tab pos="697230" algn="l"/>
              </a:tabLst>
            </a:pPr>
            <a:r>
              <a:rPr sz="2800" spc="-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Sensitivity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65"/>
              </a:spcBef>
              <a:buChar char="•"/>
              <a:tabLst>
                <a:tab pos="697230" algn="l"/>
              </a:tabLst>
            </a:pPr>
            <a:r>
              <a:rPr sz="28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Specificity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67676"/>
                </a:solidFill>
                <a:latin typeface="Arial" panose="020B0604020202020204"/>
                <a:cs typeface="Arial" panose="020B0604020202020204"/>
              </a:rPr>
              <a:t>14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25" dirty="0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3439" y="1741677"/>
            <a:ext cx="10256521" cy="49622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165" indent="-227965">
              <a:lnSpc>
                <a:spcPts val="3205"/>
              </a:lnSpc>
              <a:spcBef>
                <a:spcPts val="95"/>
              </a:spcBef>
              <a:buChar char="•"/>
              <a:tabLst>
                <a:tab pos="304165" algn="l"/>
              </a:tabLst>
            </a:pPr>
            <a:r>
              <a:rPr sz="4200" spc="-225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Relative</a:t>
            </a:r>
            <a:r>
              <a:rPr sz="4200" spc="-195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200" spc="-172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risk</a:t>
            </a:r>
            <a:r>
              <a:rPr sz="4200" spc="-179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200" spc="-472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(RR)</a:t>
            </a:r>
            <a:r>
              <a:rPr sz="4200" spc="-157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4200" spc="-157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: probability of an event occurring in an exposed group to the probability of the same event occurring in a non-exposed group</a:t>
            </a:r>
          </a:p>
          <a:p>
            <a:pPr marL="304165" indent="-227965">
              <a:lnSpc>
                <a:spcPts val="3205"/>
              </a:lnSpc>
              <a:spcBef>
                <a:spcPts val="95"/>
              </a:spcBef>
              <a:buChar char="•"/>
              <a:tabLst>
                <a:tab pos="304165" algn="l"/>
              </a:tabLst>
            </a:pPr>
            <a:endParaRPr lang="en-US" sz="4200" spc="-157" baseline="-33000" dirty="0">
              <a:solidFill>
                <a:srgbClr val="4B8DE1"/>
              </a:solidFill>
              <a:latin typeface="Arial" panose="020B0604020202020204"/>
              <a:cs typeface="Arial" panose="020B0604020202020204"/>
            </a:endParaRPr>
          </a:p>
          <a:p>
            <a:pPr marL="76200">
              <a:lnSpc>
                <a:spcPts val="3205"/>
              </a:lnSpc>
              <a:spcBef>
                <a:spcPts val="95"/>
              </a:spcBef>
              <a:tabLst>
                <a:tab pos="304165" algn="l"/>
              </a:tabLst>
            </a:pPr>
            <a:r>
              <a:rPr lang="en-US" sz="4200" spc="-157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				</a:t>
            </a:r>
            <a:r>
              <a:rPr sz="4200" spc="89" baseline="-33000" dirty="0">
                <a:solidFill>
                  <a:srgbClr val="4B8DE1"/>
                </a:solidFill>
                <a:latin typeface="STIX Two Math"/>
                <a:cs typeface="STIX Two Math"/>
              </a:rPr>
              <a:t>=</a:t>
            </a:r>
            <a:r>
              <a:rPr sz="4200" spc="217" baseline="-33000" dirty="0">
                <a:solidFill>
                  <a:srgbClr val="4B8DE1"/>
                </a:solidFill>
                <a:latin typeface="STIX Two Math"/>
                <a:cs typeface="STIX Two Math"/>
              </a:rPr>
              <a:t> </a:t>
            </a:r>
            <a:r>
              <a:rPr sz="2800" u="sng" spc="-145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Incidence</a:t>
            </a:r>
            <a:r>
              <a:rPr sz="2800" u="sng" spc="-114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800" u="sng" spc="-35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in</a:t>
            </a:r>
            <a:r>
              <a:rPr sz="2800" u="sng" spc="-114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800" u="sng" spc="-4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treatment</a:t>
            </a:r>
            <a:r>
              <a:rPr sz="2800" u="sng" spc="-12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800" u="sng" spc="-1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group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3385185">
              <a:lnSpc>
                <a:spcPts val="3205"/>
              </a:lnSpc>
            </a:pP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Incidence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control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group</a:t>
            </a:r>
            <a:endParaRPr lang="en-US" sz="2800" spc="-10" dirty="0">
              <a:solidFill>
                <a:srgbClr val="4B8DE1"/>
              </a:solidFill>
              <a:latin typeface="Arial" panose="020B0604020202020204"/>
              <a:cs typeface="Arial" panose="020B0604020202020204"/>
            </a:endParaRPr>
          </a:p>
          <a:p>
            <a:pPr marL="3385185">
              <a:lnSpc>
                <a:spcPts val="3205"/>
              </a:lnSpc>
            </a:pPr>
            <a:endParaRPr sz="2800" dirty="0">
              <a:latin typeface="Arial" panose="020B0604020202020204"/>
              <a:cs typeface="Arial" panose="020B0604020202020204"/>
            </a:endParaRPr>
          </a:p>
          <a:p>
            <a:pPr marL="303530" indent="-227330">
              <a:lnSpc>
                <a:spcPts val="3205"/>
              </a:lnSpc>
              <a:buChar char="•"/>
              <a:tabLst>
                <a:tab pos="303530" algn="l"/>
              </a:tabLst>
            </a:pPr>
            <a:r>
              <a:rPr sz="4200" spc="-345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Odds</a:t>
            </a:r>
            <a:r>
              <a:rPr sz="4200" spc="-150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200" spc="-75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ratio</a:t>
            </a:r>
            <a:r>
              <a:rPr sz="4200" spc="-195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200" spc="-390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(OR)</a:t>
            </a:r>
            <a:r>
              <a:rPr lang="en-US" sz="4200" spc="-390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: measures the association of an outcome by comparing the odds of an outcome occurring in an exposed group compared to non-exposed</a:t>
            </a:r>
          </a:p>
          <a:p>
            <a:pPr marL="303530" indent="-227330">
              <a:lnSpc>
                <a:spcPts val="3205"/>
              </a:lnSpc>
              <a:buChar char="•"/>
              <a:tabLst>
                <a:tab pos="303530" algn="l"/>
              </a:tabLst>
            </a:pPr>
            <a:endParaRPr lang="en-US" sz="4200" spc="-390" baseline="-33000" dirty="0">
              <a:solidFill>
                <a:srgbClr val="4B8DE1"/>
              </a:solidFill>
              <a:latin typeface="Arial" panose="020B0604020202020204"/>
              <a:cs typeface="Arial" panose="020B0604020202020204"/>
            </a:endParaRPr>
          </a:p>
          <a:p>
            <a:pPr marL="2819400" lvl="6">
              <a:lnSpc>
                <a:spcPts val="3205"/>
              </a:lnSpc>
              <a:tabLst>
                <a:tab pos="303530" algn="l"/>
              </a:tabLst>
            </a:pPr>
            <a:r>
              <a:rPr sz="4200" spc="-187" baseline="-33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200" spc="89" baseline="-33000" dirty="0">
                <a:solidFill>
                  <a:srgbClr val="4B8DE1"/>
                </a:solidFill>
                <a:latin typeface="STIX Two Math"/>
                <a:cs typeface="STIX Two Math"/>
              </a:rPr>
              <a:t>=</a:t>
            </a:r>
            <a:r>
              <a:rPr sz="4200" spc="209" baseline="-33000" dirty="0">
                <a:solidFill>
                  <a:srgbClr val="4B8DE1"/>
                </a:solidFill>
                <a:latin typeface="STIX Two Math"/>
                <a:cs typeface="STIX Two Math"/>
              </a:rPr>
              <a:t> </a:t>
            </a:r>
            <a:r>
              <a:rPr sz="2800" i="1" u="sng" spc="-25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Odds</a:t>
            </a:r>
            <a:r>
              <a:rPr sz="2800" i="1" u="sng" spc="-12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800" i="1" u="sng" spc="-65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in</a:t>
            </a:r>
            <a:r>
              <a:rPr sz="2800" i="1" u="sng" spc="-125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800" i="1" u="sng" spc="-45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treatment</a:t>
            </a:r>
            <a:r>
              <a:rPr sz="2800" i="1" u="sng" spc="-105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800" i="1" u="sng" spc="-1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group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3199130">
              <a:lnSpc>
                <a:spcPts val="3205"/>
              </a:lnSpc>
            </a:pPr>
            <a:r>
              <a:rPr sz="2800" i="1" spc="-2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Odds</a:t>
            </a:r>
            <a:r>
              <a:rPr sz="2800" i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i="1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800" i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i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control</a:t>
            </a:r>
            <a:r>
              <a:rPr sz="2800" i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i="1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group</a:t>
            </a:r>
            <a:endParaRPr sz="28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2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330" dirty="0">
                <a:latin typeface="Arial" panose="020B0604020202020204"/>
                <a:cs typeface="Arial" panose="020B0604020202020204"/>
              </a:rPr>
              <a:t>Sensitivity</a:t>
            </a:r>
            <a:r>
              <a:rPr sz="48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4800" b="1" spc="-345" dirty="0">
                <a:latin typeface="Arial" panose="020B0604020202020204"/>
                <a:cs typeface="Arial" panose="020B0604020202020204"/>
              </a:rPr>
              <a:t>and</a:t>
            </a:r>
            <a:r>
              <a:rPr sz="4800" b="1" spc="-235" dirty="0">
                <a:latin typeface="Arial" panose="020B0604020202020204"/>
                <a:cs typeface="Arial" panose="020B0604020202020204"/>
              </a:rPr>
              <a:t> </a:t>
            </a:r>
            <a:r>
              <a:rPr sz="4800" b="1" spc="-360" dirty="0">
                <a:latin typeface="Arial" panose="020B0604020202020204"/>
                <a:cs typeface="Arial" panose="020B0604020202020204"/>
              </a:rPr>
              <a:t>Specificity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67676"/>
                </a:solidFill>
                <a:latin typeface="Arial" panose="020B0604020202020204"/>
                <a:cs typeface="Arial" panose="020B0604020202020204"/>
              </a:rPr>
              <a:t>16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41718" y="5894196"/>
            <a:ext cx="1414780" cy="15240"/>
          </a:xfrm>
          <a:custGeom>
            <a:avLst/>
            <a:gdLst/>
            <a:ahLst/>
            <a:cxnLst/>
            <a:rect l="l" t="t" r="r" b="b"/>
            <a:pathLst>
              <a:path w="1414779" h="15239">
                <a:moveTo>
                  <a:pt x="1414272" y="0"/>
                </a:moveTo>
                <a:lnTo>
                  <a:pt x="0" y="0"/>
                </a:lnTo>
                <a:lnTo>
                  <a:pt x="0" y="15239"/>
                </a:lnTo>
                <a:lnTo>
                  <a:pt x="1414272" y="15239"/>
                </a:lnTo>
                <a:lnTo>
                  <a:pt x="1414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61170" y="5903340"/>
            <a:ext cx="1887220" cy="15240"/>
          </a:xfrm>
          <a:custGeom>
            <a:avLst/>
            <a:gdLst/>
            <a:ahLst/>
            <a:cxnLst/>
            <a:rect l="l" t="t" r="r" b="b"/>
            <a:pathLst>
              <a:path w="1887220" h="15239">
                <a:moveTo>
                  <a:pt x="1886711" y="0"/>
                </a:moveTo>
                <a:lnTo>
                  <a:pt x="0" y="0"/>
                </a:lnTo>
                <a:lnTo>
                  <a:pt x="0" y="15240"/>
                </a:lnTo>
                <a:lnTo>
                  <a:pt x="1886711" y="15240"/>
                </a:lnTo>
                <a:lnTo>
                  <a:pt x="1886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31850" y="1588642"/>
          <a:ext cx="10517505" cy="45834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9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ts val="3165"/>
                        </a:lnSpc>
                      </a:pPr>
                      <a:r>
                        <a:rPr sz="2800" b="1" spc="-640" dirty="0">
                          <a:latin typeface="Arial" panose="020B0604020202020204"/>
                          <a:cs typeface="Arial" panose="020B0604020202020204"/>
                        </a:rPr>
                        <a:t>Gold</a:t>
                      </a:r>
                      <a:r>
                        <a:rPr sz="2800" b="1" spc="-1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b="1" spc="-605" dirty="0">
                          <a:latin typeface="Arial" panose="020B0604020202020204"/>
                          <a:cs typeface="Arial" panose="020B0604020202020204"/>
                        </a:rPr>
                        <a:t>standard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3095"/>
                        </a:lnSpc>
                      </a:pPr>
                      <a:r>
                        <a:rPr sz="2800" spc="-520" dirty="0">
                          <a:latin typeface="Arial" panose="020B0604020202020204"/>
                          <a:cs typeface="Arial" panose="020B0604020202020204"/>
                        </a:rPr>
                        <a:t>Disease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095"/>
                        </a:lnSpc>
                      </a:pPr>
                      <a:r>
                        <a:rPr sz="2800" spc="-630" dirty="0">
                          <a:latin typeface="Arial" panose="020B0604020202020204"/>
                          <a:cs typeface="Arial" panose="020B0604020202020204"/>
                        </a:rPr>
                        <a:t>No</a:t>
                      </a:r>
                      <a:r>
                        <a:rPr sz="2800" spc="-254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90" dirty="0">
                          <a:latin typeface="Arial" panose="020B0604020202020204"/>
                          <a:cs typeface="Arial" panose="020B0604020202020204"/>
                        </a:rPr>
                        <a:t>disease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3095"/>
                        </a:lnSpc>
                      </a:pPr>
                      <a:r>
                        <a:rPr sz="2800" spc="-475" dirty="0">
                          <a:latin typeface="Arial" panose="020B0604020202020204"/>
                          <a:cs typeface="Arial" panose="020B0604020202020204"/>
                        </a:rPr>
                        <a:t>Total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4">
                <a:tc rowSpan="2">
                  <a:txBody>
                    <a:bodyPr/>
                    <a:lstStyle/>
                    <a:p>
                      <a:pPr marL="240030">
                        <a:lnSpc>
                          <a:spcPts val="3170"/>
                        </a:lnSpc>
                      </a:pPr>
                      <a:r>
                        <a:rPr sz="2800" b="1" spc="-570" dirty="0">
                          <a:latin typeface="Arial" panose="020B0604020202020204"/>
                          <a:cs typeface="Arial" panose="020B0604020202020204"/>
                        </a:rPr>
                        <a:t>Test</a:t>
                      </a:r>
                      <a:r>
                        <a:rPr sz="2800" b="1" spc="-1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b="1" spc="-550" dirty="0">
                          <a:latin typeface="Arial" panose="020B0604020202020204"/>
                          <a:cs typeface="Arial" panose="020B0604020202020204"/>
                        </a:rPr>
                        <a:t>result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95"/>
                        </a:lnSpc>
                      </a:pPr>
                      <a:r>
                        <a:rPr sz="2800" spc="-459" dirty="0">
                          <a:latin typeface="Arial" panose="020B0604020202020204"/>
                          <a:cs typeface="Arial" panose="020B0604020202020204"/>
                        </a:rPr>
                        <a:t>Positive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095"/>
                        </a:lnSpc>
                      </a:pPr>
                      <a:r>
                        <a:rPr sz="2800" spc="-60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spc="-500" dirty="0">
                          <a:latin typeface="Arial" panose="020B0604020202020204"/>
                          <a:cs typeface="Arial" panose="020B0604020202020204"/>
                        </a:rPr>
                        <a:t>(True</a:t>
                      </a:r>
                      <a:r>
                        <a:rPr sz="2800" spc="-2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09" dirty="0">
                          <a:latin typeface="Arial" panose="020B0604020202020204"/>
                          <a:cs typeface="Arial" panose="020B0604020202020204"/>
                        </a:rPr>
                        <a:t>positive)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1D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3095"/>
                        </a:lnSpc>
                      </a:pPr>
                      <a:r>
                        <a:rPr sz="2800" spc="-50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spc="-484" dirty="0">
                          <a:latin typeface="Arial" panose="020B0604020202020204"/>
                          <a:cs typeface="Arial" panose="020B0604020202020204"/>
                        </a:rPr>
                        <a:t>(False</a:t>
                      </a:r>
                      <a:r>
                        <a:rPr sz="2800" spc="-2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09" dirty="0">
                          <a:latin typeface="Arial" panose="020B0604020202020204"/>
                          <a:cs typeface="Arial" panose="020B0604020202020204"/>
                        </a:rPr>
                        <a:t>positive)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1D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095"/>
                        </a:lnSpc>
                      </a:pPr>
                      <a:r>
                        <a:rPr sz="2800" spc="-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800" spc="-27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45" dirty="0">
                          <a:latin typeface="Arial" panose="020B0604020202020204"/>
                          <a:cs typeface="Arial" panose="020B0604020202020204"/>
                        </a:rPr>
                        <a:t>+</a:t>
                      </a:r>
                      <a:r>
                        <a:rPr sz="2800" spc="-254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50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95"/>
                        </a:lnSpc>
                      </a:pPr>
                      <a:r>
                        <a:rPr sz="2800" spc="-490" dirty="0">
                          <a:latin typeface="Arial" panose="020B0604020202020204"/>
                          <a:cs typeface="Arial" panose="020B0604020202020204"/>
                        </a:rPr>
                        <a:t>Negative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95"/>
                        </a:lnSpc>
                      </a:pPr>
                      <a:r>
                        <a:rPr sz="2800" spc="-445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spc="-484" dirty="0">
                          <a:latin typeface="Arial" panose="020B0604020202020204"/>
                          <a:cs typeface="Arial" panose="020B0604020202020204"/>
                        </a:rPr>
                        <a:t>(False</a:t>
                      </a:r>
                      <a:r>
                        <a:rPr sz="2800" spc="-2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59" dirty="0">
                          <a:latin typeface="Arial" panose="020B0604020202020204"/>
                          <a:cs typeface="Arial" panose="020B0604020202020204"/>
                        </a:rPr>
                        <a:t>negative)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1D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3095"/>
                        </a:lnSpc>
                      </a:pPr>
                      <a:r>
                        <a:rPr sz="2800" spc="-505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spc="-500" dirty="0">
                          <a:latin typeface="Arial" panose="020B0604020202020204"/>
                          <a:cs typeface="Arial" panose="020B0604020202020204"/>
                        </a:rPr>
                        <a:t>(True</a:t>
                      </a:r>
                      <a:r>
                        <a:rPr sz="2800" spc="-2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59" dirty="0">
                          <a:latin typeface="Arial" panose="020B0604020202020204"/>
                          <a:cs typeface="Arial" panose="020B0604020202020204"/>
                        </a:rPr>
                        <a:t>negative)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1D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095"/>
                        </a:lnSpc>
                      </a:pPr>
                      <a:r>
                        <a:rPr sz="2800" spc="-395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2800" spc="-27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45" dirty="0">
                          <a:latin typeface="Arial" panose="020B0604020202020204"/>
                          <a:cs typeface="Arial" panose="020B0604020202020204"/>
                        </a:rPr>
                        <a:t>+</a:t>
                      </a:r>
                      <a:r>
                        <a:rPr sz="2800" spc="-254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505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0"/>
                        </a:lnSpc>
                      </a:pPr>
                      <a:r>
                        <a:rPr sz="2800" spc="-475" dirty="0">
                          <a:latin typeface="Arial" panose="020B0604020202020204"/>
                          <a:cs typeface="Arial" panose="020B0604020202020204"/>
                        </a:rPr>
                        <a:t>Total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0"/>
                        </a:lnSpc>
                      </a:pPr>
                      <a:r>
                        <a:rPr sz="2800" spc="-5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800" spc="-27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45" dirty="0">
                          <a:latin typeface="Arial" panose="020B0604020202020204"/>
                          <a:cs typeface="Arial" panose="020B0604020202020204"/>
                        </a:rPr>
                        <a:t>+</a:t>
                      </a:r>
                      <a:r>
                        <a:rPr sz="2800" spc="-254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45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3100"/>
                        </a:lnSpc>
                      </a:pPr>
                      <a:r>
                        <a:rPr sz="2800" spc="-455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2800" spc="-27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445" dirty="0">
                          <a:latin typeface="Arial" panose="020B0604020202020204"/>
                          <a:cs typeface="Arial" panose="020B0604020202020204"/>
                        </a:rPr>
                        <a:t>+</a:t>
                      </a:r>
                      <a:r>
                        <a:rPr sz="2800" spc="-2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spc="-515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7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9725">
                        <a:lnSpc>
                          <a:spcPts val="1445"/>
                        </a:lnSpc>
                      </a:pPr>
                      <a:r>
                        <a:rPr sz="1800" spc="-50" dirty="0">
                          <a:latin typeface="STIX Two Math"/>
                          <a:cs typeface="STIX Two Math"/>
                        </a:rPr>
                        <a:t>𝑎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92075">
                        <a:lnSpc>
                          <a:spcPts val="1285"/>
                        </a:lnSpc>
                      </a:pPr>
                      <a:r>
                        <a:rPr sz="1800" dirty="0">
                          <a:latin typeface="STIX Two Math"/>
                          <a:cs typeface="STIX Two Math"/>
                        </a:rPr>
                        <a:t>Sensitivity</a:t>
                      </a:r>
                      <a:r>
                        <a:rPr sz="1800" spc="190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-50" dirty="0">
                          <a:latin typeface="STIX Two Math"/>
                          <a:cs typeface="STIX Two Math"/>
                        </a:rPr>
                        <a:t>=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1417955">
                        <a:lnSpc>
                          <a:spcPts val="1350"/>
                        </a:lnSpc>
                      </a:pPr>
                      <a:r>
                        <a:rPr sz="1800" dirty="0">
                          <a:latin typeface="STIX Two Math"/>
                          <a:cs typeface="STIX Two Math"/>
                        </a:rPr>
                        <a:t>𝑎</a:t>
                      </a:r>
                      <a:r>
                        <a:rPr sz="1800" spc="30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dirty="0">
                          <a:latin typeface="STIX Two Math"/>
                          <a:cs typeface="STIX Two Math"/>
                        </a:rPr>
                        <a:t>+</a:t>
                      </a:r>
                      <a:r>
                        <a:rPr sz="1800" spc="-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25" dirty="0">
                          <a:latin typeface="STIX Two Math"/>
                          <a:cs typeface="STIX Two Math"/>
                        </a:rPr>
                        <a:t>𝑐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326390">
                        <a:lnSpc>
                          <a:spcPts val="1435"/>
                        </a:lnSpc>
                      </a:pPr>
                      <a:r>
                        <a:rPr sz="1800" spc="85" dirty="0">
                          <a:latin typeface="STIX Two Math"/>
                          <a:cs typeface="STIX Two Math"/>
                        </a:rPr>
                        <a:t>𝑡𝑟𝑢𝑒</a:t>
                      </a:r>
                      <a:r>
                        <a:rPr sz="1800" spc="1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60" dirty="0">
                          <a:latin typeface="STIX Two Math"/>
                          <a:cs typeface="STIX Two Math"/>
                        </a:rPr>
                        <a:t>𝑝𝑜𝑠𝑖𝑡𝑖𝑣𝑒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92075">
                        <a:lnSpc>
                          <a:spcPts val="1285"/>
                        </a:lnSpc>
                      </a:pPr>
                      <a:r>
                        <a:rPr sz="1800" spc="-50" dirty="0">
                          <a:latin typeface="STIX Two Math"/>
                          <a:cs typeface="STIX Two Math"/>
                        </a:rPr>
                        <a:t>=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603885">
                        <a:lnSpc>
                          <a:spcPts val="1680"/>
                        </a:lnSpc>
                      </a:pPr>
                      <a:r>
                        <a:rPr sz="1800" spc="70" dirty="0">
                          <a:latin typeface="STIX Two Math"/>
                          <a:cs typeface="STIX Two Math"/>
                        </a:rPr>
                        <a:t>𝑑𝑖𝑠𝑒𝑎𝑠𝑒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5120">
                        <a:lnSpc>
                          <a:spcPts val="1765"/>
                        </a:lnSpc>
                        <a:spcBef>
                          <a:spcPts val="80"/>
                        </a:spcBef>
                      </a:pPr>
                      <a:r>
                        <a:rPr sz="1800" spc="-50" dirty="0">
                          <a:latin typeface="STIX Two Math"/>
                          <a:cs typeface="STIX Two Math"/>
                        </a:rPr>
                        <a:t>𝑑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92075">
                        <a:lnSpc>
                          <a:spcPts val="1285"/>
                        </a:lnSpc>
                      </a:pPr>
                      <a:r>
                        <a:rPr sz="1800" dirty="0">
                          <a:latin typeface="STIX Two Math"/>
                          <a:cs typeface="STIX Two Math"/>
                        </a:rPr>
                        <a:t>Specificity</a:t>
                      </a:r>
                      <a:r>
                        <a:rPr sz="1800" spc="8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-50" dirty="0">
                          <a:latin typeface="STIX Two Math"/>
                          <a:cs typeface="STIX Two Math"/>
                        </a:rPr>
                        <a:t>=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1395095">
                        <a:lnSpc>
                          <a:spcPts val="1350"/>
                        </a:lnSpc>
                      </a:pPr>
                      <a:r>
                        <a:rPr sz="1800" dirty="0">
                          <a:latin typeface="STIX Two Math"/>
                          <a:cs typeface="STIX Two Math"/>
                        </a:rPr>
                        <a:t>b</a:t>
                      </a:r>
                      <a:r>
                        <a:rPr sz="1800" spc="20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dirty="0">
                          <a:latin typeface="STIX Two Math"/>
                          <a:cs typeface="STIX Two Math"/>
                        </a:rPr>
                        <a:t>+</a:t>
                      </a:r>
                      <a:r>
                        <a:rPr sz="1800" spc="2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-50" dirty="0">
                          <a:latin typeface="STIX Two Math"/>
                          <a:cs typeface="STIX Two Math"/>
                        </a:rPr>
                        <a:t>𝑑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326390">
                        <a:lnSpc>
                          <a:spcPts val="1830"/>
                        </a:lnSpc>
                      </a:pPr>
                      <a:r>
                        <a:rPr sz="1800" spc="85" dirty="0">
                          <a:latin typeface="STIX Two Math"/>
                          <a:cs typeface="STIX Two Math"/>
                        </a:rPr>
                        <a:t>𝑡𝑟𝑢𝑒</a:t>
                      </a:r>
                      <a:r>
                        <a:rPr sz="1800" spc="1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75" dirty="0">
                          <a:latin typeface="STIX Two Math"/>
                          <a:cs typeface="STIX Two Math"/>
                        </a:rPr>
                        <a:t>𝑛𝑒𝑔𝑎𝑡𝑖𝑣𝑒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92075">
                        <a:lnSpc>
                          <a:spcPts val="2140"/>
                        </a:lnSpc>
                        <a:spcBef>
                          <a:spcPts val="405"/>
                        </a:spcBef>
                        <a:tabLst>
                          <a:tab pos="490855" algn="l"/>
                        </a:tabLst>
                      </a:pPr>
                      <a:r>
                        <a:rPr sz="2700" spc="-75" baseline="37000" dirty="0">
                          <a:latin typeface="STIX Two Math"/>
                          <a:cs typeface="STIX Two Math"/>
                        </a:rPr>
                        <a:t>=</a:t>
                      </a:r>
                      <a:r>
                        <a:rPr sz="2700" baseline="37000" dirty="0">
                          <a:latin typeface="STIX Two Math"/>
                          <a:cs typeface="STIX Two Math"/>
                        </a:rPr>
                        <a:t>	</a:t>
                      </a:r>
                      <a:r>
                        <a:rPr sz="1800" dirty="0">
                          <a:latin typeface="STIX Two Math"/>
                          <a:cs typeface="STIX Two Math"/>
                        </a:rPr>
                        <a:t>𝑛𝑜</a:t>
                      </a:r>
                      <a:r>
                        <a:rPr sz="1800" spc="114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70" dirty="0">
                          <a:latin typeface="STIX Two Math"/>
                          <a:cs typeface="STIX Two Math"/>
                        </a:rPr>
                        <a:t>𝑑𝑖𝑠𝑒𝑎𝑠𝑒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0">
                        <a:lnSpc>
                          <a:spcPts val="1765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STIX Two Math"/>
                          <a:cs typeface="STIX Two Math"/>
                        </a:rPr>
                        <a:t>𝑎</a:t>
                      </a:r>
                      <a:r>
                        <a:rPr sz="1800" spc="4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dirty="0">
                          <a:latin typeface="STIX Two Math"/>
                          <a:cs typeface="STIX Two Math"/>
                        </a:rPr>
                        <a:t>+</a:t>
                      </a:r>
                      <a:r>
                        <a:rPr sz="1800" spc="-1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-50" dirty="0">
                          <a:latin typeface="STIX Two Math"/>
                          <a:cs typeface="STIX Two Math"/>
                        </a:rPr>
                        <a:t>𝑑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92075">
                        <a:lnSpc>
                          <a:spcPts val="1285"/>
                        </a:lnSpc>
                      </a:pPr>
                      <a:r>
                        <a:rPr sz="1800" dirty="0">
                          <a:latin typeface="STIX Two Math"/>
                          <a:cs typeface="STIX Two Math"/>
                        </a:rPr>
                        <a:t>Accuracy</a:t>
                      </a:r>
                      <a:r>
                        <a:rPr sz="1800" spc="-7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-50" dirty="0">
                          <a:latin typeface="STIX Two Math"/>
                          <a:cs typeface="STIX Two Math"/>
                        </a:rPr>
                        <a:t>=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1282700">
                        <a:lnSpc>
                          <a:spcPts val="1385"/>
                        </a:lnSpc>
                      </a:pPr>
                      <a:r>
                        <a:rPr sz="1800" dirty="0">
                          <a:latin typeface="STIX Two Math"/>
                          <a:cs typeface="STIX Two Math"/>
                        </a:rPr>
                        <a:t>a</a:t>
                      </a:r>
                      <a:r>
                        <a:rPr sz="1800" spc="10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dirty="0">
                          <a:latin typeface="STIX Two Math"/>
                          <a:cs typeface="STIX Two Math"/>
                        </a:rPr>
                        <a:t>+ b</a:t>
                      </a:r>
                      <a:r>
                        <a:rPr sz="1800" spc="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dirty="0">
                          <a:latin typeface="STIX Two Math"/>
                          <a:cs typeface="STIX Two Math"/>
                        </a:rPr>
                        <a:t>+</a:t>
                      </a:r>
                      <a:r>
                        <a:rPr sz="1800" spc="10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75" dirty="0">
                          <a:latin typeface="STIX Two Math"/>
                          <a:cs typeface="STIX Two Math"/>
                        </a:rPr>
                        <a:t>𝑐</a:t>
                      </a:r>
                      <a:r>
                        <a:rPr sz="1800" spc="60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dirty="0">
                          <a:latin typeface="STIX Two Math"/>
                          <a:cs typeface="STIX Two Math"/>
                        </a:rPr>
                        <a:t>+ </a:t>
                      </a:r>
                      <a:r>
                        <a:rPr sz="1800" spc="-50" dirty="0">
                          <a:latin typeface="STIX Two Math"/>
                          <a:cs typeface="STIX Two Math"/>
                        </a:rPr>
                        <a:t>𝑑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327025">
                        <a:lnSpc>
                          <a:spcPts val="1865"/>
                        </a:lnSpc>
                      </a:pPr>
                      <a:r>
                        <a:rPr sz="1800" spc="90" dirty="0">
                          <a:latin typeface="STIX Two Math"/>
                          <a:cs typeface="STIX Two Math"/>
                        </a:rPr>
                        <a:t>𝑐𝑜𝑟𝑟𝑒𝑐𝑡</a:t>
                      </a:r>
                      <a:r>
                        <a:rPr sz="1800" spc="35" dirty="0">
                          <a:latin typeface="STIX Two Math"/>
                          <a:cs typeface="STIX Two Math"/>
                        </a:rPr>
                        <a:t> </a:t>
                      </a:r>
                      <a:r>
                        <a:rPr sz="1800" spc="45" dirty="0">
                          <a:latin typeface="STIX Two Math"/>
                          <a:cs typeface="STIX Two Math"/>
                        </a:rPr>
                        <a:t>𝑝𝑟𝑒𝑑𝑖𝑐𝑡𝑖𝑜𝑛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  <a:p>
                      <a:pPr marL="92075">
                        <a:lnSpc>
                          <a:spcPts val="2070"/>
                        </a:lnSpc>
                        <a:spcBef>
                          <a:spcPts val="405"/>
                        </a:spcBef>
                        <a:tabLst>
                          <a:tab pos="1016000" algn="l"/>
                        </a:tabLst>
                      </a:pPr>
                      <a:r>
                        <a:rPr sz="2700" spc="-75" baseline="37000" dirty="0">
                          <a:latin typeface="STIX Two Math"/>
                          <a:cs typeface="STIX Two Math"/>
                        </a:rPr>
                        <a:t>=</a:t>
                      </a:r>
                      <a:r>
                        <a:rPr sz="2700" baseline="37000" dirty="0">
                          <a:latin typeface="STIX Two Math"/>
                          <a:cs typeface="STIX Two Math"/>
                        </a:rPr>
                        <a:t>	</a:t>
                      </a:r>
                      <a:r>
                        <a:rPr sz="1800" spc="50" dirty="0">
                          <a:latin typeface="STIX Two Math"/>
                          <a:cs typeface="STIX Two Math"/>
                        </a:rPr>
                        <a:t>𝑡𝑜𝑡𝑎𝑙</a:t>
                      </a:r>
                      <a:endParaRPr sz="1800">
                        <a:latin typeface="STIX Two Math"/>
                        <a:cs typeface="STIX Two Math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513451" y="5327269"/>
            <a:ext cx="518159" cy="15240"/>
          </a:xfrm>
          <a:custGeom>
            <a:avLst/>
            <a:gdLst/>
            <a:ahLst/>
            <a:cxnLst/>
            <a:rect l="l" t="t" r="r" b="b"/>
            <a:pathLst>
              <a:path w="518160" h="15239">
                <a:moveTo>
                  <a:pt x="518160" y="0"/>
                </a:moveTo>
                <a:lnTo>
                  <a:pt x="0" y="0"/>
                </a:lnTo>
                <a:lnTo>
                  <a:pt x="0" y="15239"/>
                </a:lnTo>
                <a:lnTo>
                  <a:pt x="518160" y="15239"/>
                </a:lnTo>
                <a:lnTo>
                  <a:pt x="5181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22266" y="5843904"/>
            <a:ext cx="1332230" cy="15240"/>
          </a:xfrm>
          <a:custGeom>
            <a:avLst/>
            <a:gdLst/>
            <a:ahLst/>
            <a:cxnLst/>
            <a:rect l="l" t="t" r="r" b="b"/>
            <a:pathLst>
              <a:path w="1332229" h="15239">
                <a:moveTo>
                  <a:pt x="1331976" y="0"/>
                </a:moveTo>
                <a:lnTo>
                  <a:pt x="0" y="0"/>
                </a:lnTo>
                <a:lnTo>
                  <a:pt x="0" y="15240"/>
                </a:lnTo>
                <a:lnTo>
                  <a:pt x="1331976" y="15240"/>
                </a:lnTo>
                <a:lnTo>
                  <a:pt x="1331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0043" y="5377560"/>
            <a:ext cx="538480" cy="15240"/>
          </a:xfrm>
          <a:custGeom>
            <a:avLst/>
            <a:gdLst/>
            <a:ahLst/>
            <a:cxnLst/>
            <a:rect l="l" t="t" r="r" b="b"/>
            <a:pathLst>
              <a:path w="538479" h="15239">
                <a:moveTo>
                  <a:pt x="537972" y="0"/>
                </a:moveTo>
                <a:lnTo>
                  <a:pt x="0" y="0"/>
                </a:lnTo>
                <a:lnTo>
                  <a:pt x="0" y="15239"/>
                </a:lnTo>
                <a:lnTo>
                  <a:pt x="537972" y="15239"/>
                </a:lnTo>
                <a:lnTo>
                  <a:pt x="537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16718" y="5377560"/>
            <a:ext cx="1306195" cy="15240"/>
          </a:xfrm>
          <a:custGeom>
            <a:avLst/>
            <a:gdLst/>
            <a:ahLst/>
            <a:cxnLst/>
            <a:rect l="l" t="t" r="r" b="b"/>
            <a:pathLst>
              <a:path w="1306195" h="15239">
                <a:moveTo>
                  <a:pt x="1306067" y="0"/>
                </a:moveTo>
                <a:lnTo>
                  <a:pt x="0" y="0"/>
                </a:lnTo>
                <a:lnTo>
                  <a:pt x="0" y="15239"/>
                </a:lnTo>
                <a:lnTo>
                  <a:pt x="1306067" y="15239"/>
                </a:lnTo>
                <a:lnTo>
                  <a:pt x="1306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375" dirty="0">
                <a:latin typeface="Arial" panose="020B0604020202020204"/>
                <a:cs typeface="Arial" panose="020B0604020202020204"/>
              </a:rPr>
              <a:t>Outline</a:t>
            </a:r>
            <a:endParaRPr sz="6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20"/>
              </a:spcBef>
              <a:buChar char="•"/>
              <a:tabLst>
                <a:tab pos="240665" algn="l"/>
              </a:tabLst>
            </a:pPr>
            <a:r>
              <a:rPr spc="-215"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90" dirty="0"/>
              <a:t>outcome</a:t>
            </a:r>
            <a:r>
              <a:rPr spc="-120" dirty="0"/>
              <a:t> </a:t>
            </a:r>
            <a:r>
              <a:rPr spc="-155" dirty="0"/>
              <a:t>used</a:t>
            </a:r>
            <a:r>
              <a:rPr spc="-114" dirty="0"/>
              <a:t> </a:t>
            </a:r>
            <a:r>
              <a:rPr spc="-40" dirty="0"/>
              <a:t>in</a:t>
            </a:r>
            <a:r>
              <a:rPr spc="-110" dirty="0"/>
              <a:t> </a:t>
            </a:r>
            <a:r>
              <a:rPr spc="-70" dirty="0"/>
              <a:t>health</a:t>
            </a:r>
            <a:r>
              <a:rPr spc="-114" dirty="0"/>
              <a:t> economic</a:t>
            </a:r>
            <a:r>
              <a:rPr spc="-120" dirty="0"/>
              <a:t> </a:t>
            </a:r>
            <a:r>
              <a:rPr spc="-10" dirty="0"/>
              <a:t>evaluation</a:t>
            </a: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Char char="•"/>
              <a:tabLst>
                <a:tab pos="240665" algn="l"/>
              </a:tabLst>
            </a:pPr>
            <a:r>
              <a:rPr spc="-120" dirty="0"/>
              <a:t>Outcome</a:t>
            </a:r>
            <a:r>
              <a:rPr spc="-125" dirty="0"/>
              <a:t> </a:t>
            </a:r>
            <a:r>
              <a:rPr spc="-135" dirty="0"/>
              <a:t>measure</a:t>
            </a:r>
            <a:r>
              <a:rPr spc="-114" dirty="0"/>
              <a:t> </a:t>
            </a:r>
            <a:r>
              <a:rPr spc="-40" dirty="0"/>
              <a:t>in</a:t>
            </a:r>
            <a:r>
              <a:rPr spc="-110" dirty="0"/>
              <a:t> </a:t>
            </a:r>
            <a:r>
              <a:rPr spc="-120" dirty="0"/>
              <a:t>cost </a:t>
            </a:r>
            <a:r>
              <a:rPr spc="-110" dirty="0"/>
              <a:t>effectiveness</a:t>
            </a:r>
            <a:r>
              <a:rPr spc="-105" dirty="0"/>
              <a:t> </a:t>
            </a:r>
            <a:r>
              <a:rPr spc="-10" dirty="0"/>
              <a:t>analysis</a:t>
            </a:r>
          </a:p>
          <a:p>
            <a:pPr marL="697230" lvl="1" indent="-227330">
              <a:lnSpc>
                <a:spcPct val="100000"/>
              </a:lnSpc>
              <a:spcBef>
                <a:spcPts val="205"/>
              </a:spcBef>
              <a:buChar char="•"/>
              <a:tabLst>
                <a:tab pos="697230" algn="l"/>
              </a:tabLst>
            </a:pPr>
            <a:r>
              <a:rPr sz="2400" spc="-14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Efficacy</a:t>
            </a:r>
            <a:r>
              <a:rPr sz="2400" spc="-11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9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VS</a:t>
            </a:r>
            <a:r>
              <a:rPr sz="2400" spc="-10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Effectiveness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15"/>
              </a:spcBef>
              <a:buChar char="•"/>
              <a:tabLst>
                <a:tab pos="697230" algn="l"/>
              </a:tabLst>
            </a:pPr>
            <a:r>
              <a:rPr sz="2400" spc="-6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Intermediate</a:t>
            </a:r>
            <a:r>
              <a:rPr sz="2400" spc="-12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9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VS</a:t>
            </a:r>
            <a:r>
              <a:rPr sz="2400" spc="-10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3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Final</a:t>
            </a:r>
            <a:r>
              <a:rPr sz="2400" spc="-10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6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0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outcome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15"/>
              </a:spcBef>
              <a:buChar char="•"/>
              <a:tabLst>
                <a:tab pos="697230" algn="l"/>
              </a:tabLst>
            </a:pPr>
            <a:r>
              <a:rPr sz="2400" spc="-9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Measurement</a:t>
            </a:r>
            <a:r>
              <a:rPr sz="2400" spc="-11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spc="-95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1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Treatment </a:t>
            </a:r>
            <a:r>
              <a:rPr sz="2400" spc="-10" dirty="0">
                <a:solidFill>
                  <a:srgbClr val="D0CECE"/>
                </a:solidFill>
                <a:latin typeface="Arial" panose="020B0604020202020204"/>
                <a:cs typeface="Arial" panose="020B0604020202020204"/>
              </a:rPr>
              <a:t>effects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710"/>
              </a:spcBef>
              <a:buChar char="•"/>
              <a:tabLst>
                <a:tab pos="239395" algn="l"/>
              </a:tabLst>
            </a:pPr>
            <a:r>
              <a:rPr spc="-120" dirty="0">
                <a:solidFill>
                  <a:srgbClr val="4B8DE1"/>
                </a:solidFill>
              </a:rPr>
              <a:t>Outcome</a:t>
            </a:r>
            <a:r>
              <a:rPr spc="-110" dirty="0">
                <a:solidFill>
                  <a:srgbClr val="4B8DE1"/>
                </a:solidFill>
              </a:rPr>
              <a:t> </a:t>
            </a:r>
            <a:r>
              <a:rPr spc="-130" dirty="0">
                <a:solidFill>
                  <a:srgbClr val="4B8DE1"/>
                </a:solidFill>
              </a:rPr>
              <a:t>measure</a:t>
            </a:r>
            <a:r>
              <a:rPr spc="-100" dirty="0">
                <a:solidFill>
                  <a:srgbClr val="4B8DE1"/>
                </a:solidFill>
              </a:rPr>
              <a:t> </a:t>
            </a:r>
            <a:r>
              <a:rPr spc="-45" dirty="0">
                <a:solidFill>
                  <a:srgbClr val="4B8DE1"/>
                </a:solidFill>
              </a:rPr>
              <a:t>in</a:t>
            </a:r>
            <a:r>
              <a:rPr spc="-90" dirty="0">
                <a:solidFill>
                  <a:srgbClr val="4B8DE1"/>
                </a:solidFill>
              </a:rPr>
              <a:t> </a:t>
            </a:r>
            <a:r>
              <a:rPr spc="-120" dirty="0">
                <a:solidFill>
                  <a:srgbClr val="4B8DE1"/>
                </a:solidFill>
              </a:rPr>
              <a:t>cost</a:t>
            </a:r>
            <a:r>
              <a:rPr spc="-110" dirty="0">
                <a:solidFill>
                  <a:srgbClr val="4B8DE1"/>
                </a:solidFill>
              </a:rPr>
              <a:t> </a:t>
            </a:r>
            <a:r>
              <a:rPr dirty="0">
                <a:solidFill>
                  <a:srgbClr val="4B8DE1"/>
                </a:solidFill>
              </a:rPr>
              <a:t>utility</a:t>
            </a:r>
            <a:r>
              <a:rPr spc="-100" dirty="0">
                <a:solidFill>
                  <a:srgbClr val="4B8DE1"/>
                </a:solidFill>
              </a:rPr>
              <a:t> </a:t>
            </a:r>
            <a:r>
              <a:rPr spc="-10" dirty="0">
                <a:solidFill>
                  <a:srgbClr val="4B8DE1"/>
                </a:solidFill>
              </a:rPr>
              <a:t>analysis</a:t>
            </a:r>
          </a:p>
          <a:p>
            <a:pPr marL="697230" lvl="1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697230" algn="l"/>
              </a:tabLst>
            </a:pPr>
            <a:r>
              <a:rPr sz="2400" spc="-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Quality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Year</a:t>
            </a:r>
            <a:r>
              <a:rPr sz="2400" spc="-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(QALY)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00"/>
              </a:spcBef>
              <a:buChar char="•"/>
              <a:tabLst>
                <a:tab pos="697230" algn="l"/>
              </a:tabLst>
            </a:pPr>
            <a:r>
              <a:rPr sz="2400" spc="-8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Disability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400" spc="-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400" spc="-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(DALYs)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697230" algn="l"/>
              </a:tabLst>
            </a:pPr>
            <a:r>
              <a:rPr sz="2400" spc="-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Methods</a:t>
            </a: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assessing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400" spc="-1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400" spc="-8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(VAS,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SG,</a:t>
            </a:r>
            <a:r>
              <a:rPr sz="2400" spc="-1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7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TTO,</a:t>
            </a:r>
            <a:r>
              <a:rPr sz="2400" spc="-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EQ-</a:t>
            </a:r>
            <a:r>
              <a:rPr sz="24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5D-</a:t>
            </a:r>
            <a:r>
              <a:rPr sz="24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5L)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705"/>
              </a:spcBef>
              <a:buChar char="•"/>
              <a:tabLst>
                <a:tab pos="239395" algn="l"/>
              </a:tabLst>
            </a:pPr>
            <a:r>
              <a:rPr spc="-60" dirty="0">
                <a:solidFill>
                  <a:srgbClr val="FF0000"/>
                </a:solidFill>
              </a:rPr>
              <a:t>Exercise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05464" y="62610"/>
            <a:ext cx="424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P.17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7169150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b="1" spc="-200" dirty="0">
                <a:latin typeface="Arial" panose="020B0604020202020204"/>
                <a:cs typeface="Arial" panose="020B0604020202020204"/>
              </a:rPr>
              <a:t>Unit</a:t>
            </a:r>
            <a:r>
              <a:rPr b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b="1" spc="-215" dirty="0">
                <a:latin typeface="Arial" panose="020B0604020202020204"/>
                <a:cs typeface="Arial" panose="020B0604020202020204"/>
              </a:rPr>
              <a:t>of</a:t>
            </a:r>
            <a:r>
              <a:rPr b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b="1" spc="-320" dirty="0">
                <a:latin typeface="Arial" panose="020B0604020202020204"/>
                <a:cs typeface="Arial" panose="020B0604020202020204"/>
              </a:rPr>
              <a:t>outcome</a:t>
            </a:r>
            <a:r>
              <a:rPr b="1" spc="-225" dirty="0">
                <a:latin typeface="Arial" panose="020B0604020202020204"/>
                <a:cs typeface="Arial" panose="020B0604020202020204"/>
              </a:rPr>
              <a:t> </a:t>
            </a:r>
            <a:r>
              <a:rPr b="1" spc="-305" dirty="0">
                <a:latin typeface="Arial" panose="020B0604020202020204"/>
                <a:cs typeface="Arial" panose="020B0604020202020204"/>
              </a:rPr>
              <a:t>measurement</a:t>
            </a:r>
          </a:p>
          <a:p>
            <a:pPr marL="12700">
              <a:lnSpc>
                <a:spcPts val="5015"/>
              </a:lnSpc>
            </a:pPr>
            <a:r>
              <a:rPr b="1" spc="-240" dirty="0">
                <a:latin typeface="Arial" panose="020B0604020202020204"/>
                <a:cs typeface="Arial" panose="020B0604020202020204"/>
              </a:rPr>
              <a:t>in</a:t>
            </a:r>
            <a:r>
              <a:rPr b="1" spc="-210" dirty="0">
                <a:latin typeface="Arial" panose="020B0604020202020204"/>
                <a:cs typeface="Arial" panose="020B0604020202020204"/>
              </a:rPr>
              <a:t> </a:t>
            </a:r>
            <a:r>
              <a:rPr b="1" spc="-360" dirty="0">
                <a:latin typeface="Arial" panose="020B0604020202020204"/>
                <a:cs typeface="Arial" panose="020B0604020202020204"/>
              </a:rPr>
              <a:t>cost-</a:t>
            </a:r>
            <a:r>
              <a:rPr b="1" spc="-155" dirty="0">
                <a:latin typeface="Arial" panose="020B0604020202020204"/>
                <a:cs typeface="Arial" panose="020B0604020202020204"/>
              </a:rPr>
              <a:t>utility</a:t>
            </a:r>
            <a:r>
              <a:rPr b="1" spc="-250" dirty="0">
                <a:latin typeface="Arial" panose="020B0604020202020204"/>
                <a:cs typeface="Arial" panose="020B0604020202020204"/>
              </a:rPr>
              <a:t> </a:t>
            </a:r>
            <a:r>
              <a:rPr b="1" spc="-390" dirty="0">
                <a:latin typeface="Arial" panose="020B0604020202020204"/>
                <a:cs typeface="Arial" panose="020B0604020202020204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1757478"/>
            <a:ext cx="6003290" cy="14363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•"/>
              <a:tabLst>
                <a:tab pos="239395" algn="l"/>
              </a:tabLst>
            </a:pPr>
            <a:r>
              <a:rPr sz="3200" b="1" spc="-3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3200" b="1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Unit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185"/>
              </a:spcBef>
              <a:buFont typeface="Arial" panose="020B0604020202020204"/>
              <a:buChar char="•"/>
              <a:tabLst>
                <a:tab pos="697230" algn="l"/>
              </a:tabLst>
            </a:pPr>
            <a:r>
              <a:rPr sz="2800" b="1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Quality-</a:t>
            </a:r>
            <a:r>
              <a:rPr sz="2800" b="1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800" b="1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8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5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8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3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(QALYs)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145"/>
              </a:spcBef>
              <a:buFont typeface="Arial" panose="020B0604020202020204"/>
              <a:buChar char="•"/>
              <a:tabLst>
                <a:tab pos="697230" algn="l"/>
              </a:tabLst>
            </a:pPr>
            <a:r>
              <a:rPr sz="2800" b="1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Disability</a:t>
            </a:r>
            <a:r>
              <a:rPr sz="28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8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8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5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8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3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(DALYs)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1941576"/>
            <a:ext cx="3276600" cy="35920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770" dirty="0">
                <a:latin typeface="Arial" panose="020B0604020202020204"/>
                <a:cs typeface="Arial" panose="020B0604020202020204"/>
              </a:rPr>
              <a:t>QA</a:t>
            </a:r>
            <a:r>
              <a:rPr sz="6000" b="1" spc="-1540" dirty="0">
                <a:latin typeface="Arial" panose="020B0604020202020204"/>
                <a:cs typeface="Arial" panose="020B0604020202020204"/>
              </a:rPr>
              <a:t>L</a:t>
            </a:r>
            <a:r>
              <a:rPr sz="6000" b="1" spc="-770" dirty="0">
                <a:latin typeface="Arial" panose="020B0604020202020204"/>
                <a:cs typeface="Arial" panose="020B0604020202020204"/>
              </a:rPr>
              <a:t>Y</a:t>
            </a:r>
            <a:r>
              <a:rPr sz="6000" b="1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505" dirty="0">
                <a:latin typeface="Arial" panose="020B0604020202020204"/>
                <a:cs typeface="Arial" panose="020B0604020202020204"/>
              </a:rPr>
              <a:t>vs.</a:t>
            </a:r>
            <a:r>
              <a:rPr sz="6000" b="1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980" dirty="0">
                <a:latin typeface="Arial" panose="020B0604020202020204"/>
                <a:cs typeface="Arial" panose="020B0604020202020204"/>
              </a:rPr>
              <a:t>D</a:t>
            </a:r>
            <a:r>
              <a:rPr sz="6000" b="1" spc="-795" dirty="0">
                <a:latin typeface="Arial" panose="020B0604020202020204"/>
                <a:cs typeface="Arial" panose="020B0604020202020204"/>
              </a:rPr>
              <a:t>A</a:t>
            </a:r>
            <a:r>
              <a:rPr sz="6000" b="1" spc="-1575" dirty="0">
                <a:latin typeface="Arial" panose="020B0604020202020204"/>
                <a:cs typeface="Arial" panose="020B0604020202020204"/>
              </a:rPr>
              <a:t>L</a:t>
            </a:r>
            <a:r>
              <a:rPr sz="6000" b="1" spc="-795" dirty="0">
                <a:latin typeface="Arial" panose="020B0604020202020204"/>
                <a:cs typeface="Arial" panose="020B0604020202020204"/>
              </a:rPr>
              <a:t>Y</a:t>
            </a:r>
            <a:endParaRPr sz="6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75205"/>
            <a:ext cx="6816090" cy="286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332740" indent="-228600" algn="r">
              <a:lnSpc>
                <a:spcPct val="100000"/>
              </a:lnSpc>
              <a:spcBef>
                <a:spcPts val="100"/>
              </a:spcBef>
              <a:buChar char="•"/>
              <a:tabLst>
                <a:tab pos="228600" algn="l"/>
              </a:tabLst>
            </a:pPr>
            <a:r>
              <a:rPr sz="36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Quality</a:t>
            </a:r>
            <a:r>
              <a:rPr sz="3600" spc="-1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3600" spc="-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3600" spc="-1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3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Years:</a:t>
            </a:r>
            <a:r>
              <a:rPr sz="36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5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QALYs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227965" marR="372745" lvl="1" indent="-227965" algn="r">
              <a:lnSpc>
                <a:spcPct val="100000"/>
              </a:lnSpc>
              <a:spcBef>
                <a:spcPts val="60"/>
              </a:spcBef>
              <a:buChar char="•"/>
              <a:tabLst>
                <a:tab pos="227965" algn="l"/>
              </a:tabLst>
            </a:pPr>
            <a:r>
              <a:rPr sz="36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3600" spc="-1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2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3600" spc="-19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600" spc="-17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2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3600" spc="-17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14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healthy</a:t>
            </a:r>
            <a:r>
              <a:rPr sz="3600" spc="-2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5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3600" spc="-18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lived.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lvl="1">
              <a:lnSpc>
                <a:spcPct val="100000"/>
              </a:lnSpc>
              <a:spcBef>
                <a:spcPts val="815"/>
              </a:spcBef>
              <a:buClr>
                <a:srgbClr val="F86D46"/>
              </a:buClr>
              <a:buFont typeface="Arial" panose="020B0604020202020204"/>
              <a:buChar char="•"/>
            </a:pPr>
            <a:endParaRPr sz="3600">
              <a:latin typeface="Arial" panose="020B0604020202020204"/>
              <a:cs typeface="Arial" panose="020B0604020202020204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6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Disability</a:t>
            </a:r>
            <a:r>
              <a:rPr sz="3600" spc="-1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3600" spc="-1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Life </a:t>
            </a:r>
            <a:r>
              <a:rPr sz="3600" spc="-3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Years:</a:t>
            </a:r>
            <a:r>
              <a:rPr sz="36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5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DALYs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697865" lvl="1" indent="-227965">
              <a:lnSpc>
                <a:spcPct val="100000"/>
              </a:lnSpc>
              <a:spcBef>
                <a:spcPts val="70"/>
              </a:spcBef>
              <a:buChar char="•"/>
              <a:tabLst>
                <a:tab pos="697865" algn="l"/>
              </a:tabLst>
            </a:pPr>
            <a:r>
              <a:rPr sz="36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3600" spc="-19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2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3600" spc="-2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600" spc="-1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healthy</a:t>
            </a:r>
            <a:r>
              <a:rPr sz="3600" spc="-204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3600" spc="-204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lost.</a:t>
            </a:r>
            <a:endParaRPr sz="3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984" y="2576906"/>
            <a:ext cx="18618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715" dirty="0"/>
              <a:t>QA</a:t>
            </a:r>
            <a:r>
              <a:rPr sz="6000" spc="-1395" dirty="0"/>
              <a:t>L</a:t>
            </a:r>
            <a:r>
              <a:rPr sz="6000" spc="-1165" dirty="0"/>
              <a:t>Y</a:t>
            </a:r>
            <a:r>
              <a:rPr sz="6000" spc="-705" dirty="0"/>
              <a:t>s</a:t>
            </a:r>
            <a:endParaRPr sz="6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370" dirty="0">
                <a:latin typeface="Arial" panose="020B0604020202020204"/>
                <a:cs typeface="Arial" panose="020B0604020202020204"/>
              </a:rPr>
              <a:t>Concept</a:t>
            </a:r>
            <a:r>
              <a:rPr sz="4300" b="1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4300" b="1" spc="-215" dirty="0">
                <a:latin typeface="Arial" panose="020B0604020202020204"/>
                <a:cs typeface="Arial" panose="020B0604020202020204"/>
              </a:rPr>
              <a:t>of</a:t>
            </a:r>
            <a:r>
              <a:rPr sz="43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4300" b="1" spc="-225" dirty="0">
                <a:latin typeface="Arial" panose="020B0604020202020204"/>
                <a:cs typeface="Arial" panose="020B0604020202020204"/>
              </a:rPr>
              <a:t>Quality-</a:t>
            </a:r>
            <a:r>
              <a:rPr sz="4300" b="1" spc="-290" dirty="0">
                <a:latin typeface="Arial" panose="020B0604020202020204"/>
                <a:cs typeface="Arial" panose="020B0604020202020204"/>
              </a:rPr>
              <a:t>adjusted</a:t>
            </a:r>
            <a:r>
              <a:rPr sz="4300" b="1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4300" b="1" spc="-185" dirty="0">
                <a:latin typeface="Arial" panose="020B0604020202020204"/>
                <a:cs typeface="Arial" panose="020B0604020202020204"/>
              </a:rPr>
              <a:t>life</a:t>
            </a:r>
            <a:r>
              <a:rPr sz="4300" b="1" spc="-195" dirty="0">
                <a:latin typeface="Arial" panose="020B0604020202020204"/>
                <a:cs typeface="Arial" panose="020B0604020202020204"/>
              </a:rPr>
              <a:t> </a:t>
            </a:r>
            <a:r>
              <a:rPr sz="4300" b="1" spc="-365" dirty="0">
                <a:latin typeface="Arial" panose="020B0604020202020204"/>
                <a:cs typeface="Arial" panose="020B0604020202020204"/>
              </a:rPr>
              <a:t>years</a:t>
            </a:r>
            <a:r>
              <a:rPr sz="4300" b="1" spc="-195" dirty="0">
                <a:latin typeface="Arial" panose="020B0604020202020204"/>
                <a:cs typeface="Arial" panose="020B0604020202020204"/>
              </a:rPr>
              <a:t> </a:t>
            </a:r>
            <a:r>
              <a:rPr sz="4300" b="1" spc="-450" dirty="0">
                <a:latin typeface="Arial" panose="020B0604020202020204"/>
                <a:cs typeface="Arial" panose="020B0604020202020204"/>
              </a:rPr>
              <a:t>(QA</a:t>
            </a:r>
            <a:r>
              <a:rPr sz="4300" b="1" spc="-980" dirty="0">
                <a:latin typeface="Arial" panose="020B0604020202020204"/>
                <a:cs typeface="Arial" panose="020B0604020202020204"/>
              </a:rPr>
              <a:t>L</a:t>
            </a:r>
            <a:r>
              <a:rPr sz="4300" b="1" spc="-795" dirty="0">
                <a:latin typeface="Arial" panose="020B0604020202020204"/>
                <a:cs typeface="Arial" panose="020B0604020202020204"/>
              </a:rPr>
              <a:t>Y</a:t>
            </a:r>
            <a:r>
              <a:rPr sz="4300" b="1" spc="-450" dirty="0">
                <a:latin typeface="Arial" panose="020B0604020202020204"/>
                <a:cs typeface="Arial" panose="020B0604020202020204"/>
              </a:rPr>
              <a:t>s)</a:t>
            </a:r>
            <a:endParaRPr sz="4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324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67676"/>
                </a:solidFill>
                <a:latin typeface="Arial" panose="020B0604020202020204"/>
                <a:cs typeface="Arial" panose="020B0604020202020204"/>
              </a:rPr>
              <a:t>21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61559" y="3625596"/>
            <a:ext cx="2296795" cy="1430020"/>
            <a:chOff x="4861559" y="3625596"/>
            <a:chExt cx="2296795" cy="1430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1559" y="3625596"/>
              <a:ext cx="2296667" cy="14295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8615" y="3706368"/>
              <a:ext cx="2161032" cy="12755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87467" y="3651504"/>
              <a:ext cx="2194560" cy="1327785"/>
            </a:xfrm>
            <a:custGeom>
              <a:avLst/>
              <a:gdLst/>
              <a:ahLst/>
              <a:cxnLst/>
              <a:rect l="l" t="t" r="r" b="b"/>
              <a:pathLst>
                <a:path w="2194559" h="1327785">
                  <a:moveTo>
                    <a:pt x="1097280" y="0"/>
                  </a:moveTo>
                  <a:lnTo>
                    <a:pt x="1037072" y="982"/>
                  </a:lnTo>
                  <a:lnTo>
                    <a:pt x="977713" y="3894"/>
                  </a:lnTo>
                  <a:lnTo>
                    <a:pt x="919287" y="8687"/>
                  </a:lnTo>
                  <a:lnTo>
                    <a:pt x="861877" y="15309"/>
                  </a:lnTo>
                  <a:lnTo>
                    <a:pt x="805568" y="23710"/>
                  </a:lnTo>
                  <a:lnTo>
                    <a:pt x="750441" y="33838"/>
                  </a:lnTo>
                  <a:lnTo>
                    <a:pt x="696583" y="45645"/>
                  </a:lnTo>
                  <a:lnTo>
                    <a:pt x="644075" y="59077"/>
                  </a:lnTo>
                  <a:lnTo>
                    <a:pt x="593002" y="74086"/>
                  </a:lnTo>
                  <a:lnTo>
                    <a:pt x="543447" y="90621"/>
                  </a:lnTo>
                  <a:lnTo>
                    <a:pt x="495493" y="108631"/>
                  </a:lnTo>
                  <a:lnTo>
                    <a:pt x="449226" y="128064"/>
                  </a:lnTo>
                  <a:lnTo>
                    <a:pt x="404728" y="148872"/>
                  </a:lnTo>
                  <a:lnTo>
                    <a:pt x="362082" y="171002"/>
                  </a:lnTo>
                  <a:lnTo>
                    <a:pt x="321373" y="194405"/>
                  </a:lnTo>
                  <a:lnTo>
                    <a:pt x="282684" y="219029"/>
                  </a:lnTo>
                  <a:lnTo>
                    <a:pt x="246099" y="244825"/>
                  </a:lnTo>
                  <a:lnTo>
                    <a:pt x="211701" y="271741"/>
                  </a:lnTo>
                  <a:lnTo>
                    <a:pt x="179575" y="299727"/>
                  </a:lnTo>
                  <a:lnTo>
                    <a:pt x="149803" y="328732"/>
                  </a:lnTo>
                  <a:lnTo>
                    <a:pt x="122470" y="358706"/>
                  </a:lnTo>
                  <a:lnTo>
                    <a:pt x="97658" y="389597"/>
                  </a:lnTo>
                  <a:lnTo>
                    <a:pt x="75453" y="421356"/>
                  </a:lnTo>
                  <a:lnTo>
                    <a:pt x="39193" y="487274"/>
                  </a:lnTo>
                  <a:lnTo>
                    <a:pt x="14360" y="556053"/>
                  </a:lnTo>
                  <a:lnTo>
                    <a:pt x="1623" y="627289"/>
                  </a:lnTo>
                  <a:lnTo>
                    <a:pt x="0" y="663702"/>
                  </a:lnTo>
                  <a:lnTo>
                    <a:pt x="1623" y="700114"/>
                  </a:lnTo>
                  <a:lnTo>
                    <a:pt x="14360" y="771350"/>
                  </a:lnTo>
                  <a:lnTo>
                    <a:pt x="39193" y="840129"/>
                  </a:lnTo>
                  <a:lnTo>
                    <a:pt x="75453" y="906047"/>
                  </a:lnTo>
                  <a:lnTo>
                    <a:pt x="97658" y="937806"/>
                  </a:lnTo>
                  <a:lnTo>
                    <a:pt x="122470" y="968697"/>
                  </a:lnTo>
                  <a:lnTo>
                    <a:pt x="149803" y="998671"/>
                  </a:lnTo>
                  <a:lnTo>
                    <a:pt x="179575" y="1027676"/>
                  </a:lnTo>
                  <a:lnTo>
                    <a:pt x="211701" y="1055662"/>
                  </a:lnTo>
                  <a:lnTo>
                    <a:pt x="246099" y="1082578"/>
                  </a:lnTo>
                  <a:lnTo>
                    <a:pt x="282684" y="1108374"/>
                  </a:lnTo>
                  <a:lnTo>
                    <a:pt x="321373" y="1132998"/>
                  </a:lnTo>
                  <a:lnTo>
                    <a:pt x="362082" y="1156401"/>
                  </a:lnTo>
                  <a:lnTo>
                    <a:pt x="404728" y="1178531"/>
                  </a:lnTo>
                  <a:lnTo>
                    <a:pt x="449226" y="1199339"/>
                  </a:lnTo>
                  <a:lnTo>
                    <a:pt x="495493" y="1218772"/>
                  </a:lnTo>
                  <a:lnTo>
                    <a:pt x="543447" y="1236782"/>
                  </a:lnTo>
                  <a:lnTo>
                    <a:pt x="593002" y="1253317"/>
                  </a:lnTo>
                  <a:lnTo>
                    <a:pt x="644075" y="1268326"/>
                  </a:lnTo>
                  <a:lnTo>
                    <a:pt x="696583" y="1281758"/>
                  </a:lnTo>
                  <a:lnTo>
                    <a:pt x="750441" y="1293565"/>
                  </a:lnTo>
                  <a:lnTo>
                    <a:pt x="805568" y="1303693"/>
                  </a:lnTo>
                  <a:lnTo>
                    <a:pt x="861877" y="1312094"/>
                  </a:lnTo>
                  <a:lnTo>
                    <a:pt x="919287" y="1318716"/>
                  </a:lnTo>
                  <a:lnTo>
                    <a:pt x="977713" y="1323509"/>
                  </a:lnTo>
                  <a:lnTo>
                    <a:pt x="1037072" y="1326421"/>
                  </a:lnTo>
                  <a:lnTo>
                    <a:pt x="1097280" y="1327404"/>
                  </a:lnTo>
                  <a:lnTo>
                    <a:pt x="1157487" y="1326421"/>
                  </a:lnTo>
                  <a:lnTo>
                    <a:pt x="1216846" y="1323509"/>
                  </a:lnTo>
                  <a:lnTo>
                    <a:pt x="1275272" y="1318716"/>
                  </a:lnTo>
                  <a:lnTo>
                    <a:pt x="1332682" y="1312094"/>
                  </a:lnTo>
                  <a:lnTo>
                    <a:pt x="1388991" y="1303693"/>
                  </a:lnTo>
                  <a:lnTo>
                    <a:pt x="1444118" y="1293565"/>
                  </a:lnTo>
                  <a:lnTo>
                    <a:pt x="1497976" y="1281758"/>
                  </a:lnTo>
                  <a:lnTo>
                    <a:pt x="1550484" y="1268326"/>
                  </a:lnTo>
                  <a:lnTo>
                    <a:pt x="1601557" y="1253317"/>
                  </a:lnTo>
                  <a:lnTo>
                    <a:pt x="1651112" y="1236782"/>
                  </a:lnTo>
                  <a:lnTo>
                    <a:pt x="1699066" y="1218772"/>
                  </a:lnTo>
                  <a:lnTo>
                    <a:pt x="1745333" y="1199339"/>
                  </a:lnTo>
                  <a:lnTo>
                    <a:pt x="1789831" y="1178531"/>
                  </a:lnTo>
                  <a:lnTo>
                    <a:pt x="1832477" y="1156401"/>
                  </a:lnTo>
                  <a:lnTo>
                    <a:pt x="1873186" y="1132998"/>
                  </a:lnTo>
                  <a:lnTo>
                    <a:pt x="1911875" y="1108374"/>
                  </a:lnTo>
                  <a:lnTo>
                    <a:pt x="1948460" y="1082578"/>
                  </a:lnTo>
                  <a:lnTo>
                    <a:pt x="1982858" y="1055662"/>
                  </a:lnTo>
                  <a:lnTo>
                    <a:pt x="2014984" y="1027676"/>
                  </a:lnTo>
                  <a:lnTo>
                    <a:pt x="2044756" y="998671"/>
                  </a:lnTo>
                  <a:lnTo>
                    <a:pt x="2072089" y="968697"/>
                  </a:lnTo>
                  <a:lnTo>
                    <a:pt x="2096901" y="937806"/>
                  </a:lnTo>
                  <a:lnTo>
                    <a:pt x="2119106" y="906047"/>
                  </a:lnTo>
                  <a:lnTo>
                    <a:pt x="2155366" y="840129"/>
                  </a:lnTo>
                  <a:lnTo>
                    <a:pt x="2180199" y="771350"/>
                  </a:lnTo>
                  <a:lnTo>
                    <a:pt x="2192936" y="700114"/>
                  </a:lnTo>
                  <a:lnTo>
                    <a:pt x="2194560" y="663702"/>
                  </a:lnTo>
                  <a:lnTo>
                    <a:pt x="2192936" y="627289"/>
                  </a:lnTo>
                  <a:lnTo>
                    <a:pt x="2180199" y="556053"/>
                  </a:lnTo>
                  <a:lnTo>
                    <a:pt x="2155366" y="487274"/>
                  </a:lnTo>
                  <a:lnTo>
                    <a:pt x="2119106" y="421356"/>
                  </a:lnTo>
                  <a:lnTo>
                    <a:pt x="2096901" y="389597"/>
                  </a:lnTo>
                  <a:lnTo>
                    <a:pt x="2072089" y="358706"/>
                  </a:lnTo>
                  <a:lnTo>
                    <a:pt x="2044756" y="328732"/>
                  </a:lnTo>
                  <a:lnTo>
                    <a:pt x="2014984" y="299727"/>
                  </a:lnTo>
                  <a:lnTo>
                    <a:pt x="1982858" y="271741"/>
                  </a:lnTo>
                  <a:lnTo>
                    <a:pt x="1948460" y="244825"/>
                  </a:lnTo>
                  <a:lnTo>
                    <a:pt x="1911875" y="219029"/>
                  </a:lnTo>
                  <a:lnTo>
                    <a:pt x="1873186" y="194405"/>
                  </a:lnTo>
                  <a:lnTo>
                    <a:pt x="1832477" y="171002"/>
                  </a:lnTo>
                  <a:lnTo>
                    <a:pt x="1789831" y="148872"/>
                  </a:lnTo>
                  <a:lnTo>
                    <a:pt x="1745333" y="128064"/>
                  </a:lnTo>
                  <a:lnTo>
                    <a:pt x="1699066" y="108631"/>
                  </a:lnTo>
                  <a:lnTo>
                    <a:pt x="1651112" y="90621"/>
                  </a:lnTo>
                  <a:lnTo>
                    <a:pt x="1601557" y="74086"/>
                  </a:lnTo>
                  <a:lnTo>
                    <a:pt x="1550484" y="59077"/>
                  </a:lnTo>
                  <a:lnTo>
                    <a:pt x="1497976" y="45645"/>
                  </a:lnTo>
                  <a:lnTo>
                    <a:pt x="1444118" y="33838"/>
                  </a:lnTo>
                  <a:lnTo>
                    <a:pt x="1388991" y="23710"/>
                  </a:lnTo>
                  <a:lnTo>
                    <a:pt x="1332682" y="15309"/>
                  </a:lnTo>
                  <a:lnTo>
                    <a:pt x="1275272" y="8687"/>
                  </a:lnTo>
                  <a:lnTo>
                    <a:pt x="1216846" y="3894"/>
                  </a:lnTo>
                  <a:lnTo>
                    <a:pt x="1157487" y="982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78882" y="3852798"/>
            <a:ext cx="14154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85" dirty="0">
                <a:latin typeface="Arial" panose="020B0604020202020204"/>
                <a:cs typeface="Arial" panose="020B0604020202020204"/>
              </a:rPr>
              <a:t>QA</a:t>
            </a:r>
            <a:r>
              <a:rPr sz="4400" b="1" spc="-1155" dirty="0">
                <a:latin typeface="Arial" panose="020B0604020202020204"/>
                <a:cs typeface="Arial" panose="020B0604020202020204"/>
              </a:rPr>
              <a:t>L</a:t>
            </a:r>
            <a:r>
              <a:rPr sz="4400" b="1" spc="-944" dirty="0">
                <a:latin typeface="Arial" panose="020B0604020202020204"/>
                <a:cs typeface="Arial" panose="020B0604020202020204"/>
              </a:rPr>
              <a:t>Y</a:t>
            </a:r>
            <a:r>
              <a:rPr sz="4400" b="1" spc="-585" dirty="0">
                <a:latin typeface="Arial" panose="020B0604020202020204"/>
                <a:cs typeface="Arial" panose="020B0604020202020204"/>
              </a:rPr>
              <a:t>s</a:t>
            </a:r>
            <a:endParaRPr sz="4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82723" y="1737360"/>
            <a:ext cx="3221990" cy="2164080"/>
            <a:chOff x="1982723" y="1737360"/>
            <a:chExt cx="3221990" cy="21640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8727" y="2557272"/>
              <a:ext cx="1665731" cy="13441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18483" y="2582926"/>
              <a:ext cx="1564640" cy="1243965"/>
            </a:xfrm>
            <a:custGeom>
              <a:avLst/>
              <a:gdLst/>
              <a:ahLst/>
              <a:cxnLst/>
              <a:rect l="l" t="t" r="r" b="b"/>
              <a:pathLst>
                <a:path w="1564639" h="1243964">
                  <a:moveTo>
                    <a:pt x="205612" y="0"/>
                  </a:moveTo>
                  <a:lnTo>
                    <a:pt x="0" y="293624"/>
                  </a:lnTo>
                  <a:lnTo>
                    <a:pt x="1216914" y="1145667"/>
                  </a:lnTo>
                  <a:lnTo>
                    <a:pt x="1148333" y="1243584"/>
                  </a:lnTo>
                  <a:lnTo>
                    <a:pt x="1564386" y="1170178"/>
                  </a:lnTo>
                  <a:lnTo>
                    <a:pt x="1490979" y="754252"/>
                  </a:lnTo>
                  <a:lnTo>
                    <a:pt x="1422527" y="852043"/>
                  </a:lnTo>
                  <a:lnTo>
                    <a:pt x="205612" y="0"/>
                  </a:lnTo>
                  <a:close/>
                </a:path>
              </a:pathLst>
            </a:custGeom>
            <a:solidFill>
              <a:srgbClr val="FCC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8067" y="1810512"/>
              <a:ext cx="2403348" cy="16946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2723" y="1737360"/>
              <a:ext cx="2324100" cy="14752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48839" y="1836420"/>
              <a:ext cx="2301240" cy="1592580"/>
            </a:xfrm>
            <a:custGeom>
              <a:avLst/>
              <a:gdLst/>
              <a:ahLst/>
              <a:cxnLst/>
              <a:rect l="l" t="t" r="r" b="b"/>
              <a:pathLst>
                <a:path w="2301240" h="1592579">
                  <a:moveTo>
                    <a:pt x="2141982" y="0"/>
                  </a:moveTo>
                  <a:lnTo>
                    <a:pt x="159258" y="0"/>
                  </a:lnTo>
                  <a:lnTo>
                    <a:pt x="108898" y="8113"/>
                  </a:lnTo>
                  <a:lnTo>
                    <a:pt x="65178" y="30711"/>
                  </a:lnTo>
                  <a:lnTo>
                    <a:pt x="30711" y="65178"/>
                  </a:lnTo>
                  <a:lnTo>
                    <a:pt x="8113" y="108898"/>
                  </a:lnTo>
                  <a:lnTo>
                    <a:pt x="0" y="159257"/>
                  </a:lnTo>
                  <a:lnTo>
                    <a:pt x="0" y="1433321"/>
                  </a:lnTo>
                  <a:lnTo>
                    <a:pt x="8113" y="1483681"/>
                  </a:lnTo>
                  <a:lnTo>
                    <a:pt x="30711" y="1527401"/>
                  </a:lnTo>
                  <a:lnTo>
                    <a:pt x="65178" y="1561868"/>
                  </a:lnTo>
                  <a:lnTo>
                    <a:pt x="108898" y="1584466"/>
                  </a:lnTo>
                  <a:lnTo>
                    <a:pt x="159258" y="1592579"/>
                  </a:lnTo>
                  <a:lnTo>
                    <a:pt x="2141982" y="1592579"/>
                  </a:lnTo>
                  <a:lnTo>
                    <a:pt x="2192341" y="1584466"/>
                  </a:lnTo>
                  <a:lnTo>
                    <a:pt x="2236061" y="1561868"/>
                  </a:lnTo>
                  <a:lnTo>
                    <a:pt x="2270528" y="1527401"/>
                  </a:lnTo>
                  <a:lnTo>
                    <a:pt x="2293126" y="1483681"/>
                  </a:lnTo>
                  <a:lnTo>
                    <a:pt x="2301240" y="1433321"/>
                  </a:lnTo>
                  <a:lnTo>
                    <a:pt x="2301240" y="159257"/>
                  </a:lnTo>
                  <a:lnTo>
                    <a:pt x="2293126" y="108898"/>
                  </a:lnTo>
                  <a:lnTo>
                    <a:pt x="2270528" y="65178"/>
                  </a:lnTo>
                  <a:lnTo>
                    <a:pt x="2236061" y="30711"/>
                  </a:lnTo>
                  <a:lnTo>
                    <a:pt x="2192341" y="8113"/>
                  </a:lnTo>
                  <a:lnTo>
                    <a:pt x="2141982" y="0"/>
                  </a:lnTo>
                  <a:close/>
                </a:path>
              </a:pathLst>
            </a:custGeom>
            <a:solidFill>
              <a:srgbClr val="FDE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35835" y="1834972"/>
            <a:ext cx="1848485" cy="1113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>
              <a:lnSpc>
                <a:spcPts val="3320"/>
              </a:lnSpc>
              <a:spcBef>
                <a:spcPts val="95"/>
              </a:spcBef>
            </a:pPr>
            <a:r>
              <a:rPr sz="2800" b="1" spc="-290" dirty="0">
                <a:latin typeface="Arial" panose="020B0604020202020204"/>
                <a:cs typeface="Arial" panose="020B0604020202020204"/>
              </a:rPr>
              <a:t>QUANTITY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marR="409575" indent="-227330">
              <a:lnSpc>
                <a:spcPts val="2400"/>
              </a:lnSpc>
              <a:spcBef>
                <a:spcPts val="4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1" spc="-200" dirty="0">
                <a:latin typeface="Arial" panose="020B0604020202020204"/>
                <a:cs typeface="Arial" panose="020B0604020202020204"/>
              </a:rPr>
              <a:t>Life</a:t>
            </a:r>
            <a:r>
              <a:rPr sz="24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00" dirty="0">
                <a:latin typeface="Arial" panose="020B0604020202020204"/>
                <a:cs typeface="Arial" panose="020B0604020202020204"/>
              </a:rPr>
              <a:t>years 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gained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91883" y="1722120"/>
            <a:ext cx="3820795" cy="2156460"/>
            <a:chOff x="6691883" y="1722120"/>
            <a:chExt cx="3820795" cy="215646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1883" y="2467356"/>
              <a:ext cx="1693164" cy="14112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17664" y="2493391"/>
              <a:ext cx="1591945" cy="1310005"/>
            </a:xfrm>
            <a:custGeom>
              <a:avLst/>
              <a:gdLst/>
              <a:ahLst/>
              <a:cxnLst/>
              <a:rect l="l" t="t" r="r" b="b"/>
              <a:pathLst>
                <a:path w="1591945" h="1310004">
                  <a:moveTo>
                    <a:pt x="1378077" y="0"/>
                  </a:moveTo>
                  <a:lnTo>
                    <a:pt x="132714" y="925957"/>
                  </a:lnTo>
                  <a:lnTo>
                    <a:pt x="61467" y="830199"/>
                  </a:lnTo>
                  <a:lnTo>
                    <a:pt x="0" y="1248029"/>
                  </a:lnTo>
                  <a:lnTo>
                    <a:pt x="417956" y="1309497"/>
                  </a:lnTo>
                  <a:lnTo>
                    <a:pt x="346582" y="1213612"/>
                  </a:lnTo>
                  <a:lnTo>
                    <a:pt x="1591944" y="287528"/>
                  </a:lnTo>
                  <a:lnTo>
                    <a:pt x="1378077" y="0"/>
                  </a:lnTo>
                  <a:close/>
                </a:path>
              </a:pathLst>
            </a:custGeom>
            <a:solidFill>
              <a:srgbClr val="FCC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7515" y="1783080"/>
              <a:ext cx="2848355" cy="20726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72171" y="1722120"/>
              <a:ext cx="3040379" cy="21335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583423" y="1808988"/>
              <a:ext cx="2746375" cy="1971039"/>
            </a:xfrm>
            <a:custGeom>
              <a:avLst/>
              <a:gdLst/>
              <a:ahLst/>
              <a:cxnLst/>
              <a:rect l="l" t="t" r="r" b="b"/>
              <a:pathLst>
                <a:path w="2746375" h="1971039">
                  <a:moveTo>
                    <a:pt x="2549144" y="0"/>
                  </a:moveTo>
                  <a:lnTo>
                    <a:pt x="197103" y="0"/>
                  </a:lnTo>
                  <a:lnTo>
                    <a:pt x="151915" y="5206"/>
                  </a:lnTo>
                  <a:lnTo>
                    <a:pt x="110430" y="20037"/>
                  </a:lnTo>
                  <a:lnTo>
                    <a:pt x="73833" y="43307"/>
                  </a:lnTo>
                  <a:lnTo>
                    <a:pt x="43307" y="73833"/>
                  </a:lnTo>
                  <a:lnTo>
                    <a:pt x="20037" y="110430"/>
                  </a:lnTo>
                  <a:lnTo>
                    <a:pt x="5206" y="151915"/>
                  </a:lnTo>
                  <a:lnTo>
                    <a:pt x="0" y="197103"/>
                  </a:lnTo>
                  <a:lnTo>
                    <a:pt x="0" y="1773427"/>
                  </a:lnTo>
                  <a:lnTo>
                    <a:pt x="5206" y="1818616"/>
                  </a:lnTo>
                  <a:lnTo>
                    <a:pt x="20037" y="1860101"/>
                  </a:lnTo>
                  <a:lnTo>
                    <a:pt x="43307" y="1896698"/>
                  </a:lnTo>
                  <a:lnTo>
                    <a:pt x="73833" y="1927224"/>
                  </a:lnTo>
                  <a:lnTo>
                    <a:pt x="110430" y="1950494"/>
                  </a:lnTo>
                  <a:lnTo>
                    <a:pt x="151915" y="1965325"/>
                  </a:lnTo>
                  <a:lnTo>
                    <a:pt x="197103" y="1970532"/>
                  </a:lnTo>
                  <a:lnTo>
                    <a:pt x="2549144" y="1970532"/>
                  </a:lnTo>
                  <a:lnTo>
                    <a:pt x="2594332" y="1965325"/>
                  </a:lnTo>
                  <a:lnTo>
                    <a:pt x="2635817" y="1950494"/>
                  </a:lnTo>
                  <a:lnTo>
                    <a:pt x="2672414" y="1927224"/>
                  </a:lnTo>
                  <a:lnTo>
                    <a:pt x="2702940" y="1896698"/>
                  </a:lnTo>
                  <a:lnTo>
                    <a:pt x="2726210" y="1860101"/>
                  </a:lnTo>
                  <a:lnTo>
                    <a:pt x="2741041" y="1818616"/>
                  </a:lnTo>
                  <a:lnTo>
                    <a:pt x="2746248" y="1773427"/>
                  </a:lnTo>
                  <a:lnTo>
                    <a:pt x="2746248" y="197103"/>
                  </a:lnTo>
                  <a:lnTo>
                    <a:pt x="2741041" y="151915"/>
                  </a:lnTo>
                  <a:lnTo>
                    <a:pt x="2726210" y="110430"/>
                  </a:lnTo>
                  <a:lnTo>
                    <a:pt x="2702940" y="73833"/>
                  </a:lnTo>
                  <a:lnTo>
                    <a:pt x="2672414" y="43307"/>
                  </a:lnTo>
                  <a:lnTo>
                    <a:pt x="2635817" y="20037"/>
                  </a:lnTo>
                  <a:lnTo>
                    <a:pt x="2594332" y="5206"/>
                  </a:lnTo>
                  <a:lnTo>
                    <a:pt x="2549144" y="0"/>
                  </a:lnTo>
                  <a:close/>
                </a:path>
              </a:pathLst>
            </a:custGeom>
            <a:solidFill>
              <a:srgbClr val="FDE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83500" y="1819401"/>
            <a:ext cx="2515870" cy="1771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">
              <a:lnSpc>
                <a:spcPts val="3225"/>
              </a:lnSpc>
              <a:spcBef>
                <a:spcPts val="95"/>
              </a:spcBef>
            </a:pPr>
            <a:r>
              <a:rPr sz="2800" b="1" spc="-330" dirty="0">
                <a:latin typeface="Arial" panose="020B0604020202020204"/>
                <a:cs typeface="Arial" panose="020B0604020202020204"/>
              </a:rPr>
              <a:t>QUALITY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ts val="2600"/>
              </a:lnSpc>
              <a:buFont typeface="Arial" panose="020B0604020202020204"/>
              <a:buChar char="•"/>
              <a:tabLst>
                <a:tab pos="239395" algn="l"/>
              </a:tabLst>
            </a:pPr>
            <a:r>
              <a:rPr sz="2400" b="1" spc="-185" dirty="0">
                <a:latin typeface="Arial" panose="020B0604020202020204"/>
                <a:cs typeface="Arial" panose="020B0604020202020204"/>
              </a:rPr>
              <a:t>Pain-</a:t>
            </a:r>
            <a:r>
              <a:rPr sz="2400" b="1" spc="-45" dirty="0">
                <a:latin typeface="Arial" panose="020B0604020202020204"/>
                <a:cs typeface="Arial" panose="020B0604020202020204"/>
              </a:rPr>
              <a:t>reduction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ts val="2690"/>
              </a:lnSpc>
              <a:buFont typeface="Arial" panose="020B0604020202020204"/>
              <a:buChar char="•"/>
              <a:tabLst>
                <a:tab pos="239395" algn="l"/>
              </a:tabLst>
            </a:pPr>
            <a:r>
              <a:rPr sz="2400" b="1" spc="-345" dirty="0">
                <a:latin typeface="Arial" panose="020B0604020202020204"/>
                <a:cs typeface="Arial" panose="020B0604020202020204"/>
              </a:rPr>
              <a:t>Less</a:t>
            </a:r>
            <a:r>
              <a:rPr sz="24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10" dirty="0">
                <a:latin typeface="Arial" panose="020B0604020202020204"/>
                <a:cs typeface="Arial" panose="020B0604020202020204"/>
              </a:rPr>
              <a:t>side</a:t>
            </a:r>
            <a:r>
              <a:rPr sz="24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effect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0030" marR="5080" indent="-227330">
              <a:lnSpc>
                <a:spcPts val="2400"/>
              </a:lnSpc>
              <a:spcBef>
                <a:spcPts val="43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1" spc="-130" dirty="0">
                <a:latin typeface="Arial" panose="020B0604020202020204"/>
                <a:cs typeface="Arial" panose="020B0604020202020204"/>
              </a:rPr>
              <a:t>Ability</a:t>
            </a:r>
            <a:r>
              <a:rPr sz="24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95" dirty="0">
                <a:latin typeface="Arial" panose="020B0604020202020204"/>
                <a:cs typeface="Arial" panose="020B0604020202020204"/>
              </a:rPr>
              <a:t>to</a:t>
            </a:r>
            <a:r>
              <a:rPr sz="24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30" dirty="0">
                <a:latin typeface="Arial" panose="020B0604020202020204"/>
                <a:cs typeface="Arial" panose="020B0604020202020204"/>
              </a:rPr>
              <a:t>perform 	</a:t>
            </a:r>
            <a:r>
              <a:rPr sz="2400" b="1" spc="-160" dirty="0">
                <a:latin typeface="Arial" panose="020B0604020202020204"/>
                <a:cs typeface="Arial" panose="020B0604020202020204"/>
              </a:rPr>
              <a:t>self-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care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33827" y="5548884"/>
            <a:ext cx="7324725" cy="469900"/>
          </a:xfrm>
          <a:custGeom>
            <a:avLst/>
            <a:gdLst/>
            <a:ahLst/>
            <a:cxnLst/>
            <a:rect l="l" t="t" r="r" b="b"/>
            <a:pathLst>
              <a:path w="7324725" h="469900">
                <a:moveTo>
                  <a:pt x="7246112" y="0"/>
                </a:moveTo>
                <a:lnTo>
                  <a:pt x="78232" y="0"/>
                </a:lnTo>
                <a:lnTo>
                  <a:pt x="47791" y="6151"/>
                </a:lnTo>
                <a:lnTo>
                  <a:pt x="22923" y="22923"/>
                </a:lnTo>
                <a:lnTo>
                  <a:pt x="6151" y="47791"/>
                </a:lnTo>
                <a:lnTo>
                  <a:pt x="0" y="78231"/>
                </a:lnTo>
                <a:lnTo>
                  <a:pt x="0" y="391159"/>
                </a:lnTo>
                <a:lnTo>
                  <a:pt x="6151" y="421611"/>
                </a:lnTo>
                <a:lnTo>
                  <a:pt x="22923" y="446478"/>
                </a:lnTo>
                <a:lnTo>
                  <a:pt x="47791" y="463244"/>
                </a:lnTo>
                <a:lnTo>
                  <a:pt x="78232" y="469391"/>
                </a:lnTo>
                <a:lnTo>
                  <a:pt x="7246112" y="469391"/>
                </a:lnTo>
                <a:lnTo>
                  <a:pt x="7276552" y="463244"/>
                </a:lnTo>
                <a:lnTo>
                  <a:pt x="7301420" y="446478"/>
                </a:lnTo>
                <a:lnTo>
                  <a:pt x="7318192" y="421611"/>
                </a:lnTo>
                <a:lnTo>
                  <a:pt x="7324344" y="391159"/>
                </a:lnTo>
                <a:lnTo>
                  <a:pt x="7324344" y="78231"/>
                </a:lnTo>
                <a:lnTo>
                  <a:pt x="7318192" y="47791"/>
                </a:lnTo>
                <a:lnTo>
                  <a:pt x="7301420" y="22923"/>
                </a:lnTo>
                <a:lnTo>
                  <a:pt x="7276552" y="6151"/>
                </a:lnTo>
                <a:lnTo>
                  <a:pt x="7246112" y="0"/>
                </a:lnTo>
                <a:close/>
              </a:path>
            </a:pathLst>
          </a:custGeom>
          <a:solidFill>
            <a:srgbClr val="F4F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341114" y="5549290"/>
            <a:ext cx="3510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415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EFFECTS</a:t>
            </a:r>
            <a:r>
              <a:rPr sz="24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25" dirty="0">
                <a:latin typeface="Arial" panose="020B0604020202020204"/>
                <a:cs typeface="Arial" panose="020B0604020202020204"/>
              </a:rPr>
              <a:t>of</a:t>
            </a:r>
            <a:r>
              <a:rPr sz="24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10" dirty="0">
                <a:latin typeface="Arial" panose="020B0604020202020204"/>
                <a:cs typeface="Arial" panose="020B0604020202020204"/>
              </a:rPr>
              <a:t>the</a:t>
            </a:r>
            <a:r>
              <a:rPr sz="24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10" dirty="0">
                <a:latin typeface="Arial" panose="020B0604020202020204"/>
                <a:cs typeface="Arial" panose="020B0604020202020204"/>
              </a:rPr>
              <a:t>intervention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12891" y="5007864"/>
            <a:ext cx="699770" cy="571500"/>
            <a:chOff x="5612891" y="5007864"/>
            <a:chExt cx="699770" cy="571500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12891" y="5007864"/>
              <a:ext cx="699515" cy="5715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693663" y="5033772"/>
              <a:ext cx="597535" cy="469900"/>
            </a:xfrm>
            <a:custGeom>
              <a:avLst/>
              <a:gdLst/>
              <a:ahLst/>
              <a:cxnLst/>
              <a:rect l="l" t="t" r="r" b="b"/>
              <a:pathLst>
                <a:path w="597535" h="469900">
                  <a:moveTo>
                    <a:pt x="477900" y="0"/>
                  </a:moveTo>
                  <a:lnTo>
                    <a:pt x="119507" y="0"/>
                  </a:lnTo>
                  <a:lnTo>
                    <a:pt x="119507" y="234695"/>
                  </a:lnTo>
                  <a:lnTo>
                    <a:pt x="0" y="234695"/>
                  </a:lnTo>
                  <a:lnTo>
                    <a:pt x="298703" y="469391"/>
                  </a:lnTo>
                  <a:lnTo>
                    <a:pt x="597408" y="234695"/>
                  </a:lnTo>
                  <a:lnTo>
                    <a:pt x="477900" y="234695"/>
                  </a:lnTo>
                  <a:lnTo>
                    <a:pt x="477900" y="0"/>
                  </a:lnTo>
                  <a:close/>
                </a:path>
              </a:pathLst>
            </a:custGeom>
            <a:solidFill>
              <a:srgbClr val="FCC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687" y="588355"/>
            <a:ext cx="11851005" cy="5593080"/>
            <a:chOff x="170687" y="588355"/>
            <a:chExt cx="11851005" cy="5593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687" y="588355"/>
              <a:ext cx="11850075" cy="5384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835895" y="5765291"/>
              <a:ext cx="2185670" cy="416559"/>
            </a:xfrm>
            <a:custGeom>
              <a:avLst/>
              <a:gdLst/>
              <a:ahLst/>
              <a:cxnLst/>
              <a:rect l="l" t="t" r="r" b="b"/>
              <a:pathLst>
                <a:path w="2185670" h="416560">
                  <a:moveTo>
                    <a:pt x="2185416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2185416" y="416051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5321" y="2671648"/>
            <a:ext cx="1369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715" dirty="0">
                <a:latin typeface="Arial" panose="020B0604020202020204"/>
                <a:cs typeface="Arial" panose="020B0604020202020204"/>
              </a:rPr>
              <a:t>D</a:t>
            </a:r>
            <a:r>
              <a:rPr b="1" spc="-580" dirty="0">
                <a:latin typeface="Arial" panose="020B0604020202020204"/>
                <a:cs typeface="Arial" panose="020B0604020202020204"/>
              </a:rPr>
              <a:t>A</a:t>
            </a:r>
            <a:r>
              <a:rPr b="1" spc="-1155" dirty="0">
                <a:latin typeface="Arial" panose="020B0604020202020204"/>
                <a:cs typeface="Arial" panose="020B0604020202020204"/>
              </a:rPr>
              <a:t>L</a:t>
            </a:r>
            <a:r>
              <a:rPr b="1" spc="-940" dirty="0">
                <a:latin typeface="Arial" panose="020B0604020202020204"/>
                <a:cs typeface="Arial" panose="020B0604020202020204"/>
              </a:rPr>
              <a:t>Y</a:t>
            </a:r>
            <a:r>
              <a:rPr b="1" spc="-580" dirty="0">
                <a:latin typeface="Arial" panose="020B0604020202020204"/>
                <a:cs typeface="Arial" panose="020B0604020202020204"/>
              </a:rPr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26" y="6479108"/>
            <a:ext cx="174117" cy="1258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About</a:t>
            </a:r>
            <a:r>
              <a:rPr spc="-204" dirty="0"/>
              <a:t> </a:t>
            </a:r>
            <a:r>
              <a:rPr spc="-60" dirty="0"/>
              <a:t>the</a:t>
            </a:r>
            <a:r>
              <a:rPr spc="-210" dirty="0"/>
              <a:t> </a:t>
            </a:r>
            <a:r>
              <a:rPr spc="-215" dirty="0"/>
              <a:t>Global</a:t>
            </a:r>
            <a:r>
              <a:rPr spc="-195" dirty="0"/>
              <a:t> </a:t>
            </a:r>
            <a:r>
              <a:rPr spc="-220" dirty="0"/>
              <a:t>Burden </a:t>
            </a:r>
            <a:r>
              <a:rPr spc="-345" dirty="0"/>
              <a:t>Disease</a:t>
            </a:r>
            <a:r>
              <a:rPr spc="-210" dirty="0"/>
              <a:t> </a:t>
            </a:r>
            <a:r>
              <a:rPr spc="-415" dirty="0"/>
              <a:t>(GBD)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26" y="6479108"/>
            <a:ext cx="178117" cy="124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91096" y="6507886"/>
            <a:ext cx="1257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30" dirty="0">
                <a:latin typeface="Arial" panose="020B0604020202020204"/>
                <a:cs typeface="Arial" panose="020B0604020202020204"/>
              </a:rPr>
              <a:t>Source:</a:t>
            </a:r>
            <a:r>
              <a:rPr sz="1800" i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135" dirty="0">
                <a:latin typeface="Arial" panose="020B0604020202020204"/>
                <a:cs typeface="Arial" panose="020B0604020202020204"/>
              </a:rPr>
              <a:t>WHO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4895" y="1239138"/>
            <a:ext cx="10768965" cy="5126990"/>
            <a:chOff x="714895" y="1239138"/>
            <a:chExt cx="10768965" cy="5126990"/>
          </a:xfrm>
        </p:grpSpPr>
        <p:sp>
          <p:nvSpPr>
            <p:cNvPr id="6" name="object 6"/>
            <p:cNvSpPr/>
            <p:nvPr/>
          </p:nvSpPr>
          <p:spPr>
            <a:xfrm>
              <a:off x="721245" y="1245488"/>
              <a:ext cx="1074420" cy="5114290"/>
            </a:xfrm>
            <a:custGeom>
              <a:avLst/>
              <a:gdLst/>
              <a:ahLst/>
              <a:cxnLst/>
              <a:rect l="l" t="t" r="r" b="b"/>
              <a:pathLst>
                <a:path w="1074420" h="5114290">
                  <a:moveTo>
                    <a:pt x="15290" y="0"/>
                  </a:moveTo>
                  <a:lnTo>
                    <a:pt x="49168" y="34337"/>
                  </a:lnTo>
                  <a:lnTo>
                    <a:pt x="82495" y="69011"/>
                  </a:lnTo>
                  <a:lnTo>
                    <a:pt x="115271" y="104016"/>
                  </a:lnTo>
                  <a:lnTo>
                    <a:pt x="147497" y="139347"/>
                  </a:lnTo>
                  <a:lnTo>
                    <a:pt x="179171" y="174998"/>
                  </a:lnTo>
                  <a:lnTo>
                    <a:pt x="210294" y="210964"/>
                  </a:lnTo>
                  <a:lnTo>
                    <a:pt x="240867" y="247239"/>
                  </a:lnTo>
                  <a:lnTo>
                    <a:pt x="270889" y="283817"/>
                  </a:lnTo>
                  <a:lnTo>
                    <a:pt x="300360" y="320694"/>
                  </a:lnTo>
                  <a:lnTo>
                    <a:pt x="329280" y="357863"/>
                  </a:lnTo>
                  <a:lnTo>
                    <a:pt x="357649" y="395319"/>
                  </a:lnTo>
                  <a:lnTo>
                    <a:pt x="385468" y="433057"/>
                  </a:lnTo>
                  <a:lnTo>
                    <a:pt x="412735" y="471070"/>
                  </a:lnTo>
                  <a:lnTo>
                    <a:pt x="439452" y="509355"/>
                  </a:lnTo>
                  <a:lnTo>
                    <a:pt x="465618" y="547904"/>
                  </a:lnTo>
                  <a:lnTo>
                    <a:pt x="491233" y="586712"/>
                  </a:lnTo>
                  <a:lnTo>
                    <a:pt x="516297" y="625775"/>
                  </a:lnTo>
                  <a:lnTo>
                    <a:pt x="540810" y="665086"/>
                  </a:lnTo>
                  <a:lnTo>
                    <a:pt x="564772" y="704640"/>
                  </a:lnTo>
                  <a:lnTo>
                    <a:pt x="588184" y="744431"/>
                  </a:lnTo>
                  <a:lnTo>
                    <a:pt x="611045" y="784454"/>
                  </a:lnTo>
                  <a:lnTo>
                    <a:pt x="633354" y="824703"/>
                  </a:lnTo>
                  <a:lnTo>
                    <a:pt x="655113" y="865173"/>
                  </a:lnTo>
                  <a:lnTo>
                    <a:pt x="676321" y="905859"/>
                  </a:lnTo>
                  <a:lnTo>
                    <a:pt x="696979" y="946754"/>
                  </a:lnTo>
                  <a:lnTo>
                    <a:pt x="717085" y="987853"/>
                  </a:lnTo>
                  <a:lnTo>
                    <a:pt x="736640" y="1029152"/>
                  </a:lnTo>
                  <a:lnTo>
                    <a:pt x="755645" y="1070643"/>
                  </a:lnTo>
                  <a:lnTo>
                    <a:pt x="774099" y="1112322"/>
                  </a:lnTo>
                  <a:lnTo>
                    <a:pt x="792002" y="1154184"/>
                  </a:lnTo>
                  <a:lnTo>
                    <a:pt x="809354" y="1196221"/>
                  </a:lnTo>
                  <a:lnTo>
                    <a:pt x="826155" y="1238430"/>
                  </a:lnTo>
                  <a:lnTo>
                    <a:pt x="842405" y="1280805"/>
                  </a:lnTo>
                  <a:lnTo>
                    <a:pt x="858105" y="1323340"/>
                  </a:lnTo>
                  <a:lnTo>
                    <a:pt x="873253" y="1366029"/>
                  </a:lnTo>
                  <a:lnTo>
                    <a:pt x="887851" y="1408868"/>
                  </a:lnTo>
                  <a:lnTo>
                    <a:pt x="901898" y="1451849"/>
                  </a:lnTo>
                  <a:lnTo>
                    <a:pt x="915394" y="1494969"/>
                  </a:lnTo>
                  <a:lnTo>
                    <a:pt x="928339" y="1538222"/>
                  </a:lnTo>
                  <a:lnTo>
                    <a:pt x="940734" y="1581601"/>
                  </a:lnTo>
                  <a:lnTo>
                    <a:pt x="952577" y="1625102"/>
                  </a:lnTo>
                  <a:lnTo>
                    <a:pt x="963870" y="1668719"/>
                  </a:lnTo>
                  <a:lnTo>
                    <a:pt x="974612" y="1712446"/>
                  </a:lnTo>
                  <a:lnTo>
                    <a:pt x="984802" y="1756278"/>
                  </a:lnTo>
                  <a:lnTo>
                    <a:pt x="994443" y="1800209"/>
                  </a:lnTo>
                  <a:lnTo>
                    <a:pt x="1003532" y="1844235"/>
                  </a:lnTo>
                  <a:lnTo>
                    <a:pt x="1012070" y="1888348"/>
                  </a:lnTo>
                  <a:lnTo>
                    <a:pt x="1020057" y="1932545"/>
                  </a:lnTo>
                  <a:lnTo>
                    <a:pt x="1027494" y="1976818"/>
                  </a:lnTo>
                  <a:lnTo>
                    <a:pt x="1034380" y="2021164"/>
                  </a:lnTo>
                  <a:lnTo>
                    <a:pt x="1040715" y="2065576"/>
                  </a:lnTo>
                  <a:lnTo>
                    <a:pt x="1046499" y="2110048"/>
                  </a:lnTo>
                  <a:lnTo>
                    <a:pt x="1051732" y="2154576"/>
                  </a:lnTo>
                  <a:lnTo>
                    <a:pt x="1056414" y="2199153"/>
                  </a:lnTo>
                  <a:lnTo>
                    <a:pt x="1060546" y="2243775"/>
                  </a:lnTo>
                  <a:lnTo>
                    <a:pt x="1064126" y="2288435"/>
                  </a:lnTo>
                  <a:lnTo>
                    <a:pt x="1067156" y="2333128"/>
                  </a:lnTo>
                  <a:lnTo>
                    <a:pt x="1069635" y="2377849"/>
                  </a:lnTo>
                  <a:lnTo>
                    <a:pt x="1071563" y="2422592"/>
                  </a:lnTo>
                  <a:lnTo>
                    <a:pt x="1072940" y="2467352"/>
                  </a:lnTo>
                  <a:lnTo>
                    <a:pt x="1073766" y="2512122"/>
                  </a:lnTo>
                  <a:lnTo>
                    <a:pt x="1074042" y="2556898"/>
                  </a:lnTo>
                  <a:lnTo>
                    <a:pt x="1073766" y="2601675"/>
                  </a:lnTo>
                  <a:lnTo>
                    <a:pt x="1072940" y="2646445"/>
                  </a:lnTo>
                  <a:lnTo>
                    <a:pt x="1071563" y="2691205"/>
                  </a:lnTo>
                  <a:lnTo>
                    <a:pt x="1069635" y="2735948"/>
                  </a:lnTo>
                  <a:lnTo>
                    <a:pt x="1067156" y="2780669"/>
                  </a:lnTo>
                  <a:lnTo>
                    <a:pt x="1064126" y="2825363"/>
                  </a:lnTo>
                  <a:lnTo>
                    <a:pt x="1060546" y="2870023"/>
                  </a:lnTo>
                  <a:lnTo>
                    <a:pt x="1056414" y="2914645"/>
                  </a:lnTo>
                  <a:lnTo>
                    <a:pt x="1051732" y="2959222"/>
                  </a:lnTo>
                  <a:lnTo>
                    <a:pt x="1046499" y="3003750"/>
                  </a:lnTo>
                  <a:lnTo>
                    <a:pt x="1040715" y="3048223"/>
                  </a:lnTo>
                  <a:lnTo>
                    <a:pt x="1034380" y="3092635"/>
                  </a:lnTo>
                  <a:lnTo>
                    <a:pt x="1027494" y="3136981"/>
                  </a:lnTo>
                  <a:lnTo>
                    <a:pt x="1020057" y="3181255"/>
                  </a:lnTo>
                  <a:lnTo>
                    <a:pt x="1012070" y="3225451"/>
                  </a:lnTo>
                  <a:lnTo>
                    <a:pt x="1003532" y="3269565"/>
                  </a:lnTo>
                  <a:lnTo>
                    <a:pt x="994443" y="3313591"/>
                  </a:lnTo>
                  <a:lnTo>
                    <a:pt x="984802" y="3357523"/>
                  </a:lnTo>
                  <a:lnTo>
                    <a:pt x="974612" y="3401355"/>
                  </a:lnTo>
                  <a:lnTo>
                    <a:pt x="963870" y="3445083"/>
                  </a:lnTo>
                  <a:lnTo>
                    <a:pt x="952577" y="3488700"/>
                  </a:lnTo>
                  <a:lnTo>
                    <a:pt x="940734" y="3532202"/>
                  </a:lnTo>
                  <a:lnTo>
                    <a:pt x="928339" y="3575582"/>
                  </a:lnTo>
                  <a:lnTo>
                    <a:pt x="915394" y="3618835"/>
                  </a:lnTo>
                  <a:lnTo>
                    <a:pt x="901898" y="3661955"/>
                  </a:lnTo>
                  <a:lnTo>
                    <a:pt x="887851" y="3704938"/>
                  </a:lnTo>
                  <a:lnTo>
                    <a:pt x="873253" y="3747777"/>
                  </a:lnTo>
                  <a:lnTo>
                    <a:pt x="858105" y="3790467"/>
                  </a:lnTo>
                  <a:lnTo>
                    <a:pt x="842405" y="3833002"/>
                  </a:lnTo>
                  <a:lnTo>
                    <a:pt x="826155" y="3875378"/>
                  </a:lnTo>
                  <a:lnTo>
                    <a:pt x="809354" y="3917587"/>
                  </a:lnTo>
                  <a:lnTo>
                    <a:pt x="792002" y="3959626"/>
                  </a:lnTo>
                  <a:lnTo>
                    <a:pt x="774099" y="4001488"/>
                  </a:lnTo>
                  <a:lnTo>
                    <a:pt x="755645" y="4043168"/>
                  </a:lnTo>
                  <a:lnTo>
                    <a:pt x="736640" y="4084660"/>
                  </a:lnTo>
                  <a:lnTo>
                    <a:pt x="717085" y="4125959"/>
                  </a:lnTo>
                  <a:lnTo>
                    <a:pt x="696979" y="4167060"/>
                  </a:lnTo>
                  <a:lnTo>
                    <a:pt x="676321" y="4207956"/>
                  </a:lnTo>
                  <a:lnTo>
                    <a:pt x="655113" y="4248642"/>
                  </a:lnTo>
                  <a:lnTo>
                    <a:pt x="633354" y="4289114"/>
                  </a:lnTo>
                  <a:lnTo>
                    <a:pt x="611045" y="4329364"/>
                  </a:lnTo>
                  <a:lnTo>
                    <a:pt x="588184" y="4369388"/>
                  </a:lnTo>
                  <a:lnTo>
                    <a:pt x="564772" y="4409180"/>
                  </a:lnTo>
                  <a:lnTo>
                    <a:pt x="540810" y="4448735"/>
                  </a:lnTo>
                  <a:lnTo>
                    <a:pt x="516297" y="4488047"/>
                  </a:lnTo>
                  <a:lnTo>
                    <a:pt x="491233" y="4527111"/>
                  </a:lnTo>
                  <a:lnTo>
                    <a:pt x="465618" y="4565921"/>
                  </a:lnTo>
                  <a:lnTo>
                    <a:pt x="439452" y="4604471"/>
                  </a:lnTo>
                  <a:lnTo>
                    <a:pt x="412735" y="4642756"/>
                  </a:lnTo>
                  <a:lnTo>
                    <a:pt x="385468" y="4680771"/>
                  </a:lnTo>
                  <a:lnTo>
                    <a:pt x="357649" y="4718510"/>
                  </a:lnTo>
                  <a:lnTo>
                    <a:pt x="329280" y="4755968"/>
                  </a:lnTo>
                  <a:lnTo>
                    <a:pt x="300360" y="4793138"/>
                  </a:lnTo>
                  <a:lnTo>
                    <a:pt x="270889" y="4830016"/>
                  </a:lnTo>
                  <a:lnTo>
                    <a:pt x="240867" y="4866596"/>
                  </a:lnTo>
                  <a:lnTo>
                    <a:pt x="210294" y="4902872"/>
                  </a:lnTo>
                  <a:lnTo>
                    <a:pt x="179171" y="4938839"/>
                  </a:lnTo>
                  <a:lnTo>
                    <a:pt x="147497" y="4974492"/>
                  </a:lnTo>
                  <a:lnTo>
                    <a:pt x="115271" y="5009824"/>
                  </a:lnTo>
                  <a:lnTo>
                    <a:pt x="82495" y="5044831"/>
                  </a:lnTo>
                  <a:lnTo>
                    <a:pt x="49168" y="5079506"/>
                  </a:lnTo>
                  <a:lnTo>
                    <a:pt x="15290" y="5113845"/>
                  </a:lnTo>
                  <a:lnTo>
                    <a:pt x="0" y="5098542"/>
                  </a:lnTo>
                  <a:lnTo>
                    <a:pt x="33946" y="5064129"/>
                  </a:lnTo>
                  <a:lnTo>
                    <a:pt x="67336" y="5029377"/>
                  </a:lnTo>
                  <a:lnTo>
                    <a:pt x="100169" y="4994290"/>
                  </a:lnTo>
                  <a:lnTo>
                    <a:pt x="132446" y="4958874"/>
                  </a:lnTo>
                  <a:lnTo>
                    <a:pt x="164166" y="4923135"/>
                  </a:lnTo>
                  <a:lnTo>
                    <a:pt x="195330" y="4887078"/>
                  </a:lnTo>
                  <a:lnTo>
                    <a:pt x="225938" y="4850710"/>
                  </a:lnTo>
                  <a:lnTo>
                    <a:pt x="255989" y="4814035"/>
                  </a:lnTo>
                  <a:lnTo>
                    <a:pt x="285483" y="4777059"/>
                  </a:lnTo>
                  <a:lnTo>
                    <a:pt x="314421" y="4739788"/>
                  </a:lnTo>
                  <a:lnTo>
                    <a:pt x="342802" y="4702228"/>
                  </a:lnTo>
                  <a:lnTo>
                    <a:pt x="370627" y="4664384"/>
                  </a:lnTo>
                  <a:lnTo>
                    <a:pt x="397896" y="4626261"/>
                  </a:lnTo>
                  <a:lnTo>
                    <a:pt x="424608" y="4587866"/>
                  </a:lnTo>
                  <a:lnTo>
                    <a:pt x="450763" y="4549204"/>
                  </a:lnTo>
                  <a:lnTo>
                    <a:pt x="476362" y="4510280"/>
                  </a:lnTo>
                  <a:lnTo>
                    <a:pt x="501404" y="4471101"/>
                  </a:lnTo>
                  <a:lnTo>
                    <a:pt x="525890" y="4431671"/>
                  </a:lnTo>
                  <a:lnTo>
                    <a:pt x="549820" y="4391997"/>
                  </a:lnTo>
                  <a:lnTo>
                    <a:pt x="573193" y="4352084"/>
                  </a:lnTo>
                  <a:lnTo>
                    <a:pt x="596009" y="4311938"/>
                  </a:lnTo>
                  <a:lnTo>
                    <a:pt x="618269" y="4271564"/>
                  </a:lnTo>
                  <a:lnTo>
                    <a:pt x="639972" y="4230968"/>
                  </a:lnTo>
                  <a:lnTo>
                    <a:pt x="661119" y="4190156"/>
                  </a:lnTo>
                  <a:lnTo>
                    <a:pt x="681710" y="4149133"/>
                  </a:lnTo>
                  <a:lnTo>
                    <a:pt x="701744" y="4107904"/>
                  </a:lnTo>
                  <a:lnTo>
                    <a:pt x="721221" y="4066477"/>
                  </a:lnTo>
                  <a:lnTo>
                    <a:pt x="740142" y="4024855"/>
                  </a:lnTo>
                  <a:lnTo>
                    <a:pt x="758507" y="3983045"/>
                  </a:lnTo>
                  <a:lnTo>
                    <a:pt x="776315" y="3941052"/>
                  </a:lnTo>
                  <a:lnTo>
                    <a:pt x="793566" y="3898882"/>
                  </a:lnTo>
                  <a:lnTo>
                    <a:pt x="810261" y="3856540"/>
                  </a:lnTo>
                  <a:lnTo>
                    <a:pt x="826399" y="3814033"/>
                  </a:lnTo>
                  <a:lnTo>
                    <a:pt x="841981" y="3771366"/>
                  </a:lnTo>
                  <a:lnTo>
                    <a:pt x="857007" y="3728544"/>
                  </a:lnTo>
                  <a:lnTo>
                    <a:pt x="871476" y="3685573"/>
                  </a:lnTo>
                  <a:lnTo>
                    <a:pt x="885388" y="3642458"/>
                  </a:lnTo>
                  <a:lnTo>
                    <a:pt x="898744" y="3599206"/>
                  </a:lnTo>
                  <a:lnTo>
                    <a:pt x="911544" y="3555822"/>
                  </a:lnTo>
                  <a:lnTo>
                    <a:pt x="923787" y="3512311"/>
                  </a:lnTo>
                  <a:lnTo>
                    <a:pt x="935473" y="3468680"/>
                  </a:lnTo>
                  <a:lnTo>
                    <a:pt x="946603" y="3424933"/>
                  </a:lnTo>
                  <a:lnTo>
                    <a:pt x="957176" y="3381077"/>
                  </a:lnTo>
                  <a:lnTo>
                    <a:pt x="967193" y="3337116"/>
                  </a:lnTo>
                  <a:lnTo>
                    <a:pt x="976654" y="3293058"/>
                  </a:lnTo>
                  <a:lnTo>
                    <a:pt x="985558" y="3248906"/>
                  </a:lnTo>
                  <a:lnTo>
                    <a:pt x="993905" y="3204668"/>
                  </a:lnTo>
                  <a:lnTo>
                    <a:pt x="1001696" y="3160347"/>
                  </a:lnTo>
                  <a:lnTo>
                    <a:pt x="1008931" y="3115951"/>
                  </a:lnTo>
                  <a:lnTo>
                    <a:pt x="1015609" y="3071485"/>
                  </a:lnTo>
                  <a:lnTo>
                    <a:pt x="1021730" y="3026954"/>
                  </a:lnTo>
                  <a:lnTo>
                    <a:pt x="1027295" y="2982364"/>
                  </a:lnTo>
                  <a:lnTo>
                    <a:pt x="1032304" y="2937721"/>
                  </a:lnTo>
                  <a:lnTo>
                    <a:pt x="1036756" y="2893030"/>
                  </a:lnTo>
                  <a:lnTo>
                    <a:pt x="1040651" y="2848296"/>
                  </a:lnTo>
                  <a:lnTo>
                    <a:pt x="1043990" y="2803527"/>
                  </a:lnTo>
                  <a:lnTo>
                    <a:pt x="1046773" y="2758726"/>
                  </a:lnTo>
                  <a:lnTo>
                    <a:pt x="1048999" y="2713900"/>
                  </a:lnTo>
                  <a:lnTo>
                    <a:pt x="1050668" y="2669054"/>
                  </a:lnTo>
                  <a:lnTo>
                    <a:pt x="1051781" y="2624194"/>
                  </a:lnTo>
                  <a:lnTo>
                    <a:pt x="1052338" y="2579326"/>
                  </a:lnTo>
                  <a:lnTo>
                    <a:pt x="1052338" y="2534455"/>
                  </a:lnTo>
                  <a:lnTo>
                    <a:pt x="1051781" y="2489587"/>
                  </a:lnTo>
                  <a:lnTo>
                    <a:pt x="1050668" y="2444727"/>
                  </a:lnTo>
                  <a:lnTo>
                    <a:pt x="1048999" y="2399881"/>
                  </a:lnTo>
                  <a:lnTo>
                    <a:pt x="1046773" y="2355055"/>
                  </a:lnTo>
                  <a:lnTo>
                    <a:pt x="1043990" y="2310254"/>
                  </a:lnTo>
                  <a:lnTo>
                    <a:pt x="1040651" y="2265485"/>
                  </a:lnTo>
                  <a:lnTo>
                    <a:pt x="1036756" y="2220751"/>
                  </a:lnTo>
                  <a:lnTo>
                    <a:pt x="1032304" y="2176060"/>
                  </a:lnTo>
                  <a:lnTo>
                    <a:pt x="1027295" y="2131417"/>
                  </a:lnTo>
                  <a:lnTo>
                    <a:pt x="1021730" y="2086827"/>
                  </a:lnTo>
                  <a:lnTo>
                    <a:pt x="1015609" y="2042296"/>
                  </a:lnTo>
                  <a:lnTo>
                    <a:pt x="1008931" y="1997830"/>
                  </a:lnTo>
                  <a:lnTo>
                    <a:pt x="1001696" y="1953434"/>
                  </a:lnTo>
                  <a:lnTo>
                    <a:pt x="993905" y="1909113"/>
                  </a:lnTo>
                  <a:lnTo>
                    <a:pt x="985558" y="1864875"/>
                  </a:lnTo>
                  <a:lnTo>
                    <a:pt x="976654" y="1820723"/>
                  </a:lnTo>
                  <a:lnTo>
                    <a:pt x="967193" y="1776665"/>
                  </a:lnTo>
                  <a:lnTo>
                    <a:pt x="957176" y="1732704"/>
                  </a:lnTo>
                  <a:lnTo>
                    <a:pt x="946603" y="1688848"/>
                  </a:lnTo>
                  <a:lnTo>
                    <a:pt x="935473" y="1645101"/>
                  </a:lnTo>
                  <a:lnTo>
                    <a:pt x="923787" y="1601470"/>
                  </a:lnTo>
                  <a:lnTo>
                    <a:pt x="911544" y="1557959"/>
                  </a:lnTo>
                  <a:lnTo>
                    <a:pt x="898744" y="1514575"/>
                  </a:lnTo>
                  <a:lnTo>
                    <a:pt x="885388" y="1471323"/>
                  </a:lnTo>
                  <a:lnTo>
                    <a:pt x="871476" y="1428208"/>
                  </a:lnTo>
                  <a:lnTo>
                    <a:pt x="857007" y="1385237"/>
                  </a:lnTo>
                  <a:lnTo>
                    <a:pt x="841981" y="1342415"/>
                  </a:lnTo>
                  <a:lnTo>
                    <a:pt x="826399" y="1299748"/>
                  </a:lnTo>
                  <a:lnTo>
                    <a:pt x="810261" y="1257241"/>
                  </a:lnTo>
                  <a:lnTo>
                    <a:pt x="793566" y="1214899"/>
                  </a:lnTo>
                  <a:lnTo>
                    <a:pt x="776315" y="1172729"/>
                  </a:lnTo>
                  <a:lnTo>
                    <a:pt x="758507" y="1130736"/>
                  </a:lnTo>
                  <a:lnTo>
                    <a:pt x="740142" y="1088926"/>
                  </a:lnTo>
                  <a:lnTo>
                    <a:pt x="721221" y="1047304"/>
                  </a:lnTo>
                  <a:lnTo>
                    <a:pt x="701744" y="1005877"/>
                  </a:lnTo>
                  <a:lnTo>
                    <a:pt x="681710" y="964648"/>
                  </a:lnTo>
                  <a:lnTo>
                    <a:pt x="661119" y="923625"/>
                  </a:lnTo>
                  <a:lnTo>
                    <a:pt x="639972" y="882813"/>
                  </a:lnTo>
                  <a:lnTo>
                    <a:pt x="618269" y="842217"/>
                  </a:lnTo>
                  <a:lnTo>
                    <a:pt x="596009" y="801843"/>
                  </a:lnTo>
                  <a:lnTo>
                    <a:pt x="573193" y="761697"/>
                  </a:lnTo>
                  <a:lnTo>
                    <a:pt x="549820" y="721784"/>
                  </a:lnTo>
                  <a:lnTo>
                    <a:pt x="525890" y="682110"/>
                  </a:lnTo>
                  <a:lnTo>
                    <a:pt x="501404" y="642680"/>
                  </a:lnTo>
                  <a:lnTo>
                    <a:pt x="476362" y="603501"/>
                  </a:lnTo>
                  <a:lnTo>
                    <a:pt x="450763" y="564577"/>
                  </a:lnTo>
                  <a:lnTo>
                    <a:pt x="424608" y="525915"/>
                  </a:lnTo>
                  <a:lnTo>
                    <a:pt x="397896" y="487520"/>
                  </a:lnTo>
                  <a:lnTo>
                    <a:pt x="370627" y="449397"/>
                  </a:lnTo>
                  <a:lnTo>
                    <a:pt x="342802" y="411553"/>
                  </a:lnTo>
                  <a:lnTo>
                    <a:pt x="314421" y="373993"/>
                  </a:lnTo>
                  <a:lnTo>
                    <a:pt x="285483" y="336722"/>
                  </a:lnTo>
                  <a:lnTo>
                    <a:pt x="255989" y="299746"/>
                  </a:lnTo>
                  <a:lnTo>
                    <a:pt x="225938" y="263071"/>
                  </a:lnTo>
                  <a:lnTo>
                    <a:pt x="195330" y="226703"/>
                  </a:lnTo>
                  <a:lnTo>
                    <a:pt x="164166" y="190646"/>
                  </a:lnTo>
                  <a:lnTo>
                    <a:pt x="132446" y="154907"/>
                  </a:lnTo>
                  <a:lnTo>
                    <a:pt x="100169" y="119491"/>
                  </a:lnTo>
                  <a:lnTo>
                    <a:pt x="67336" y="84404"/>
                  </a:lnTo>
                  <a:lnTo>
                    <a:pt x="33946" y="49652"/>
                  </a:lnTo>
                  <a:lnTo>
                    <a:pt x="0" y="15239"/>
                  </a:lnTo>
                  <a:lnTo>
                    <a:pt x="15290" y="0"/>
                  </a:lnTo>
                  <a:close/>
                </a:path>
              </a:pathLst>
            </a:custGeom>
            <a:ln w="12700">
              <a:solidFill>
                <a:srgbClr val="5C6F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45108" y="1528572"/>
              <a:ext cx="10232390" cy="828040"/>
            </a:xfrm>
            <a:custGeom>
              <a:avLst/>
              <a:gdLst/>
              <a:ahLst/>
              <a:cxnLst/>
              <a:rect l="l" t="t" r="r" b="b"/>
              <a:pathLst>
                <a:path w="10232390" h="828039">
                  <a:moveTo>
                    <a:pt x="10232136" y="0"/>
                  </a:moveTo>
                  <a:lnTo>
                    <a:pt x="0" y="0"/>
                  </a:lnTo>
                  <a:lnTo>
                    <a:pt x="0" y="827531"/>
                  </a:lnTo>
                  <a:lnTo>
                    <a:pt x="10232136" y="827531"/>
                  </a:lnTo>
                  <a:lnTo>
                    <a:pt x="10232136" y="0"/>
                  </a:lnTo>
                  <a:close/>
                </a:path>
              </a:pathLst>
            </a:custGeom>
            <a:solidFill>
              <a:srgbClr val="0D34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45108" y="1528572"/>
              <a:ext cx="10232390" cy="828040"/>
            </a:xfrm>
            <a:custGeom>
              <a:avLst/>
              <a:gdLst/>
              <a:ahLst/>
              <a:cxnLst/>
              <a:rect l="l" t="t" r="r" b="b"/>
              <a:pathLst>
                <a:path w="10232390" h="828039">
                  <a:moveTo>
                    <a:pt x="0" y="827531"/>
                  </a:moveTo>
                  <a:lnTo>
                    <a:pt x="10232136" y="827531"/>
                  </a:lnTo>
                  <a:lnTo>
                    <a:pt x="10232136" y="0"/>
                  </a:lnTo>
                  <a:lnTo>
                    <a:pt x="0" y="0"/>
                  </a:lnTo>
                  <a:lnTo>
                    <a:pt x="0" y="827531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88363" y="1766442"/>
            <a:ext cx="8651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First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5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conducted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in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1990</a:t>
            </a:r>
            <a:r>
              <a:rPr sz="1800" b="1" spc="-5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the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14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Bank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run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up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to 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14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1800" b="1" spc="-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Development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3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Report.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2122" y="1420113"/>
            <a:ext cx="10761980" cy="2181860"/>
            <a:chOff x="722122" y="1420113"/>
            <a:chExt cx="10761980" cy="2181860"/>
          </a:xfrm>
        </p:grpSpPr>
        <p:sp>
          <p:nvSpPr>
            <p:cNvPr id="11" name="object 11"/>
            <p:cNvSpPr/>
            <p:nvPr/>
          </p:nvSpPr>
          <p:spPr>
            <a:xfrm>
              <a:off x="728472" y="1426463"/>
              <a:ext cx="1033780" cy="1031875"/>
            </a:xfrm>
            <a:custGeom>
              <a:avLst/>
              <a:gdLst/>
              <a:ahLst/>
              <a:cxnLst/>
              <a:rect l="l" t="t" r="r" b="b"/>
              <a:pathLst>
                <a:path w="1033780" h="1031875">
                  <a:moveTo>
                    <a:pt x="516636" y="0"/>
                  </a:moveTo>
                  <a:lnTo>
                    <a:pt x="469611" y="2108"/>
                  </a:lnTo>
                  <a:lnTo>
                    <a:pt x="423769" y="8313"/>
                  </a:lnTo>
                  <a:lnTo>
                    <a:pt x="379293" y="18430"/>
                  </a:lnTo>
                  <a:lnTo>
                    <a:pt x="336364" y="32279"/>
                  </a:lnTo>
                  <a:lnTo>
                    <a:pt x="295165" y="49677"/>
                  </a:lnTo>
                  <a:lnTo>
                    <a:pt x="255879" y="70442"/>
                  </a:lnTo>
                  <a:lnTo>
                    <a:pt x="218688" y="94391"/>
                  </a:lnTo>
                  <a:lnTo>
                    <a:pt x="183773" y="121343"/>
                  </a:lnTo>
                  <a:lnTo>
                    <a:pt x="151318" y="151114"/>
                  </a:lnTo>
                  <a:lnTo>
                    <a:pt x="121506" y="183522"/>
                  </a:lnTo>
                  <a:lnTo>
                    <a:pt x="94517" y="218386"/>
                  </a:lnTo>
                  <a:lnTo>
                    <a:pt x="70535" y="255524"/>
                  </a:lnTo>
                  <a:lnTo>
                    <a:pt x="49743" y="294751"/>
                  </a:lnTo>
                  <a:lnTo>
                    <a:pt x="32321" y="335888"/>
                  </a:lnTo>
                  <a:lnTo>
                    <a:pt x="18454" y="378751"/>
                  </a:lnTo>
                  <a:lnTo>
                    <a:pt x="8323" y="423157"/>
                  </a:lnTo>
                  <a:lnTo>
                    <a:pt x="2111" y="468926"/>
                  </a:lnTo>
                  <a:lnTo>
                    <a:pt x="0" y="515874"/>
                  </a:lnTo>
                  <a:lnTo>
                    <a:pt x="2111" y="562821"/>
                  </a:lnTo>
                  <a:lnTo>
                    <a:pt x="8323" y="608590"/>
                  </a:lnTo>
                  <a:lnTo>
                    <a:pt x="18454" y="652996"/>
                  </a:lnTo>
                  <a:lnTo>
                    <a:pt x="32321" y="695859"/>
                  </a:lnTo>
                  <a:lnTo>
                    <a:pt x="49743" y="736996"/>
                  </a:lnTo>
                  <a:lnTo>
                    <a:pt x="70535" y="776224"/>
                  </a:lnTo>
                  <a:lnTo>
                    <a:pt x="94517" y="813361"/>
                  </a:lnTo>
                  <a:lnTo>
                    <a:pt x="121506" y="848225"/>
                  </a:lnTo>
                  <a:lnTo>
                    <a:pt x="151318" y="880633"/>
                  </a:lnTo>
                  <a:lnTo>
                    <a:pt x="183773" y="910404"/>
                  </a:lnTo>
                  <a:lnTo>
                    <a:pt x="218688" y="937356"/>
                  </a:lnTo>
                  <a:lnTo>
                    <a:pt x="255879" y="961305"/>
                  </a:lnTo>
                  <a:lnTo>
                    <a:pt x="295165" y="982070"/>
                  </a:lnTo>
                  <a:lnTo>
                    <a:pt x="336364" y="999468"/>
                  </a:lnTo>
                  <a:lnTo>
                    <a:pt x="379293" y="1013317"/>
                  </a:lnTo>
                  <a:lnTo>
                    <a:pt x="423769" y="1023434"/>
                  </a:lnTo>
                  <a:lnTo>
                    <a:pt x="469611" y="1029639"/>
                  </a:lnTo>
                  <a:lnTo>
                    <a:pt x="516636" y="1031748"/>
                  </a:lnTo>
                  <a:lnTo>
                    <a:pt x="563666" y="1029639"/>
                  </a:lnTo>
                  <a:lnTo>
                    <a:pt x="609512" y="1023434"/>
                  </a:lnTo>
                  <a:lnTo>
                    <a:pt x="653991" y="1013317"/>
                  </a:lnTo>
                  <a:lnTo>
                    <a:pt x="696922" y="999468"/>
                  </a:lnTo>
                  <a:lnTo>
                    <a:pt x="738122" y="982070"/>
                  </a:lnTo>
                  <a:lnTo>
                    <a:pt x="777409" y="961305"/>
                  </a:lnTo>
                  <a:lnTo>
                    <a:pt x="814600" y="937356"/>
                  </a:lnTo>
                  <a:lnTo>
                    <a:pt x="849513" y="910404"/>
                  </a:lnTo>
                  <a:lnTo>
                    <a:pt x="881967" y="880633"/>
                  </a:lnTo>
                  <a:lnTo>
                    <a:pt x="911778" y="848225"/>
                  </a:lnTo>
                  <a:lnTo>
                    <a:pt x="938764" y="813361"/>
                  </a:lnTo>
                  <a:lnTo>
                    <a:pt x="962744" y="776224"/>
                  </a:lnTo>
                  <a:lnTo>
                    <a:pt x="983535" y="736996"/>
                  </a:lnTo>
                  <a:lnTo>
                    <a:pt x="1000954" y="695859"/>
                  </a:lnTo>
                  <a:lnTo>
                    <a:pt x="1014819" y="652996"/>
                  </a:lnTo>
                  <a:lnTo>
                    <a:pt x="1024949" y="608590"/>
                  </a:lnTo>
                  <a:lnTo>
                    <a:pt x="1031161" y="562821"/>
                  </a:lnTo>
                  <a:lnTo>
                    <a:pt x="1033272" y="515874"/>
                  </a:lnTo>
                  <a:lnTo>
                    <a:pt x="1031161" y="468926"/>
                  </a:lnTo>
                  <a:lnTo>
                    <a:pt x="1024949" y="423157"/>
                  </a:lnTo>
                  <a:lnTo>
                    <a:pt x="1014819" y="378751"/>
                  </a:lnTo>
                  <a:lnTo>
                    <a:pt x="1000954" y="335888"/>
                  </a:lnTo>
                  <a:lnTo>
                    <a:pt x="983535" y="294751"/>
                  </a:lnTo>
                  <a:lnTo>
                    <a:pt x="962744" y="255524"/>
                  </a:lnTo>
                  <a:lnTo>
                    <a:pt x="938764" y="218386"/>
                  </a:lnTo>
                  <a:lnTo>
                    <a:pt x="911778" y="183522"/>
                  </a:lnTo>
                  <a:lnTo>
                    <a:pt x="881967" y="151114"/>
                  </a:lnTo>
                  <a:lnTo>
                    <a:pt x="849513" y="121343"/>
                  </a:lnTo>
                  <a:lnTo>
                    <a:pt x="814600" y="94391"/>
                  </a:lnTo>
                  <a:lnTo>
                    <a:pt x="777409" y="70442"/>
                  </a:lnTo>
                  <a:lnTo>
                    <a:pt x="738122" y="49677"/>
                  </a:lnTo>
                  <a:lnTo>
                    <a:pt x="696922" y="32279"/>
                  </a:lnTo>
                  <a:lnTo>
                    <a:pt x="653991" y="18430"/>
                  </a:lnTo>
                  <a:lnTo>
                    <a:pt x="609512" y="8313"/>
                  </a:lnTo>
                  <a:lnTo>
                    <a:pt x="563666" y="2108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8472" y="1426463"/>
              <a:ext cx="1033780" cy="1031875"/>
            </a:xfrm>
            <a:custGeom>
              <a:avLst/>
              <a:gdLst/>
              <a:ahLst/>
              <a:cxnLst/>
              <a:rect l="l" t="t" r="r" b="b"/>
              <a:pathLst>
                <a:path w="1033780" h="1031875">
                  <a:moveTo>
                    <a:pt x="0" y="515874"/>
                  </a:moveTo>
                  <a:lnTo>
                    <a:pt x="2111" y="468926"/>
                  </a:lnTo>
                  <a:lnTo>
                    <a:pt x="8323" y="423157"/>
                  </a:lnTo>
                  <a:lnTo>
                    <a:pt x="18454" y="378751"/>
                  </a:lnTo>
                  <a:lnTo>
                    <a:pt x="32321" y="335888"/>
                  </a:lnTo>
                  <a:lnTo>
                    <a:pt x="49743" y="294751"/>
                  </a:lnTo>
                  <a:lnTo>
                    <a:pt x="70535" y="255524"/>
                  </a:lnTo>
                  <a:lnTo>
                    <a:pt x="94517" y="218386"/>
                  </a:lnTo>
                  <a:lnTo>
                    <a:pt x="121506" y="183522"/>
                  </a:lnTo>
                  <a:lnTo>
                    <a:pt x="151318" y="151114"/>
                  </a:lnTo>
                  <a:lnTo>
                    <a:pt x="183773" y="121343"/>
                  </a:lnTo>
                  <a:lnTo>
                    <a:pt x="218688" y="94391"/>
                  </a:lnTo>
                  <a:lnTo>
                    <a:pt x="255879" y="70442"/>
                  </a:lnTo>
                  <a:lnTo>
                    <a:pt x="295165" y="49677"/>
                  </a:lnTo>
                  <a:lnTo>
                    <a:pt x="336364" y="32279"/>
                  </a:lnTo>
                  <a:lnTo>
                    <a:pt x="379293" y="18430"/>
                  </a:lnTo>
                  <a:lnTo>
                    <a:pt x="423769" y="8313"/>
                  </a:lnTo>
                  <a:lnTo>
                    <a:pt x="469611" y="2108"/>
                  </a:lnTo>
                  <a:lnTo>
                    <a:pt x="516636" y="0"/>
                  </a:lnTo>
                  <a:lnTo>
                    <a:pt x="563666" y="2108"/>
                  </a:lnTo>
                  <a:lnTo>
                    <a:pt x="609512" y="8313"/>
                  </a:lnTo>
                  <a:lnTo>
                    <a:pt x="653991" y="18430"/>
                  </a:lnTo>
                  <a:lnTo>
                    <a:pt x="696922" y="32279"/>
                  </a:lnTo>
                  <a:lnTo>
                    <a:pt x="738122" y="49677"/>
                  </a:lnTo>
                  <a:lnTo>
                    <a:pt x="777409" y="70442"/>
                  </a:lnTo>
                  <a:lnTo>
                    <a:pt x="814600" y="94391"/>
                  </a:lnTo>
                  <a:lnTo>
                    <a:pt x="849513" y="121343"/>
                  </a:lnTo>
                  <a:lnTo>
                    <a:pt x="881967" y="151114"/>
                  </a:lnTo>
                  <a:lnTo>
                    <a:pt x="911778" y="183522"/>
                  </a:lnTo>
                  <a:lnTo>
                    <a:pt x="938764" y="218386"/>
                  </a:lnTo>
                  <a:lnTo>
                    <a:pt x="962744" y="255524"/>
                  </a:lnTo>
                  <a:lnTo>
                    <a:pt x="983535" y="294751"/>
                  </a:lnTo>
                  <a:lnTo>
                    <a:pt x="1000954" y="335888"/>
                  </a:lnTo>
                  <a:lnTo>
                    <a:pt x="1014819" y="378751"/>
                  </a:lnTo>
                  <a:lnTo>
                    <a:pt x="1024949" y="423157"/>
                  </a:lnTo>
                  <a:lnTo>
                    <a:pt x="1031161" y="468926"/>
                  </a:lnTo>
                  <a:lnTo>
                    <a:pt x="1033272" y="515874"/>
                  </a:lnTo>
                  <a:lnTo>
                    <a:pt x="1031161" y="562821"/>
                  </a:lnTo>
                  <a:lnTo>
                    <a:pt x="1024949" y="608590"/>
                  </a:lnTo>
                  <a:lnTo>
                    <a:pt x="1014819" y="652996"/>
                  </a:lnTo>
                  <a:lnTo>
                    <a:pt x="1000954" y="695859"/>
                  </a:lnTo>
                  <a:lnTo>
                    <a:pt x="983535" y="736996"/>
                  </a:lnTo>
                  <a:lnTo>
                    <a:pt x="962744" y="776224"/>
                  </a:lnTo>
                  <a:lnTo>
                    <a:pt x="938764" y="813361"/>
                  </a:lnTo>
                  <a:lnTo>
                    <a:pt x="911778" y="848225"/>
                  </a:lnTo>
                  <a:lnTo>
                    <a:pt x="881967" y="880633"/>
                  </a:lnTo>
                  <a:lnTo>
                    <a:pt x="849513" y="910404"/>
                  </a:lnTo>
                  <a:lnTo>
                    <a:pt x="814600" y="937356"/>
                  </a:lnTo>
                  <a:lnTo>
                    <a:pt x="777409" y="961305"/>
                  </a:lnTo>
                  <a:lnTo>
                    <a:pt x="738122" y="982070"/>
                  </a:lnTo>
                  <a:lnTo>
                    <a:pt x="696922" y="999468"/>
                  </a:lnTo>
                  <a:lnTo>
                    <a:pt x="653991" y="1013317"/>
                  </a:lnTo>
                  <a:lnTo>
                    <a:pt x="609512" y="1023434"/>
                  </a:lnTo>
                  <a:lnTo>
                    <a:pt x="563666" y="1029639"/>
                  </a:lnTo>
                  <a:lnTo>
                    <a:pt x="516636" y="1031748"/>
                  </a:lnTo>
                  <a:lnTo>
                    <a:pt x="469611" y="1029639"/>
                  </a:lnTo>
                  <a:lnTo>
                    <a:pt x="423769" y="1023434"/>
                  </a:lnTo>
                  <a:lnTo>
                    <a:pt x="379293" y="1013317"/>
                  </a:lnTo>
                  <a:lnTo>
                    <a:pt x="336364" y="999468"/>
                  </a:lnTo>
                  <a:lnTo>
                    <a:pt x="295165" y="982070"/>
                  </a:lnTo>
                  <a:lnTo>
                    <a:pt x="255879" y="961305"/>
                  </a:lnTo>
                  <a:lnTo>
                    <a:pt x="218688" y="937356"/>
                  </a:lnTo>
                  <a:lnTo>
                    <a:pt x="183773" y="910404"/>
                  </a:lnTo>
                  <a:lnTo>
                    <a:pt x="151318" y="880633"/>
                  </a:lnTo>
                  <a:lnTo>
                    <a:pt x="121506" y="848225"/>
                  </a:lnTo>
                  <a:lnTo>
                    <a:pt x="94517" y="813361"/>
                  </a:lnTo>
                  <a:lnTo>
                    <a:pt x="70535" y="776224"/>
                  </a:lnTo>
                  <a:lnTo>
                    <a:pt x="49743" y="736996"/>
                  </a:lnTo>
                  <a:lnTo>
                    <a:pt x="32321" y="695859"/>
                  </a:lnTo>
                  <a:lnTo>
                    <a:pt x="18454" y="652996"/>
                  </a:lnTo>
                  <a:lnTo>
                    <a:pt x="8323" y="608590"/>
                  </a:lnTo>
                  <a:lnTo>
                    <a:pt x="2111" y="562821"/>
                  </a:lnTo>
                  <a:lnTo>
                    <a:pt x="0" y="515874"/>
                  </a:lnTo>
                  <a:close/>
                </a:path>
              </a:pathLst>
            </a:custGeom>
            <a:ln w="12700">
              <a:solidFill>
                <a:srgbClr val="0D34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19072" y="2769108"/>
              <a:ext cx="9758680" cy="826135"/>
            </a:xfrm>
            <a:custGeom>
              <a:avLst/>
              <a:gdLst/>
              <a:ahLst/>
              <a:cxnLst/>
              <a:rect l="l" t="t" r="r" b="b"/>
              <a:pathLst>
                <a:path w="9758680" h="826135">
                  <a:moveTo>
                    <a:pt x="9758172" y="0"/>
                  </a:moveTo>
                  <a:lnTo>
                    <a:pt x="0" y="0"/>
                  </a:lnTo>
                  <a:lnTo>
                    <a:pt x="0" y="826008"/>
                  </a:lnTo>
                  <a:lnTo>
                    <a:pt x="9758172" y="826008"/>
                  </a:lnTo>
                  <a:lnTo>
                    <a:pt x="9758172" y="0"/>
                  </a:lnTo>
                  <a:close/>
                </a:path>
              </a:pathLst>
            </a:custGeom>
            <a:solidFill>
              <a:srgbClr val="426A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19072" y="2769108"/>
              <a:ext cx="9758680" cy="826135"/>
            </a:xfrm>
            <a:custGeom>
              <a:avLst/>
              <a:gdLst/>
              <a:ahLst/>
              <a:cxnLst/>
              <a:rect l="l" t="t" r="r" b="b"/>
              <a:pathLst>
                <a:path w="9758680" h="826135">
                  <a:moveTo>
                    <a:pt x="0" y="826008"/>
                  </a:moveTo>
                  <a:lnTo>
                    <a:pt x="9758172" y="826008"/>
                  </a:lnTo>
                  <a:lnTo>
                    <a:pt x="9758172" y="0"/>
                  </a:lnTo>
                  <a:lnTo>
                    <a:pt x="0" y="0"/>
                  </a:lnTo>
                  <a:lnTo>
                    <a:pt x="0" y="826008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62326" y="2881121"/>
            <a:ext cx="8657590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5"/>
              </a:spcBef>
            </a:pPr>
            <a:r>
              <a:rPr sz="1800" b="1" spc="-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initiative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“quantified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effects</a:t>
            </a:r>
            <a:r>
              <a:rPr sz="1800" b="1" spc="-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-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1800" b="1" spc="-5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than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1800" b="1" spc="-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diseases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3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injuries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800" b="1" spc="-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eight </a:t>
            </a:r>
            <a:r>
              <a:rPr sz="1800" b="1" spc="-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regions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1990”.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96086" y="2659126"/>
            <a:ext cx="10287635" cy="2183130"/>
            <a:chOff x="1196086" y="2659126"/>
            <a:chExt cx="10287635" cy="2183130"/>
          </a:xfrm>
        </p:grpSpPr>
        <p:sp>
          <p:nvSpPr>
            <p:cNvPr id="17" name="object 17"/>
            <p:cNvSpPr/>
            <p:nvPr/>
          </p:nvSpPr>
          <p:spPr>
            <a:xfrm>
              <a:off x="1202436" y="2665476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80" h="1033779">
                  <a:moveTo>
                    <a:pt x="516636" y="0"/>
                  </a:moveTo>
                  <a:lnTo>
                    <a:pt x="469605" y="2110"/>
                  </a:lnTo>
                  <a:lnTo>
                    <a:pt x="423759" y="8322"/>
                  </a:lnTo>
                  <a:lnTo>
                    <a:pt x="379280" y="18452"/>
                  </a:lnTo>
                  <a:lnTo>
                    <a:pt x="336349" y="32317"/>
                  </a:lnTo>
                  <a:lnTo>
                    <a:pt x="295149" y="49736"/>
                  </a:lnTo>
                  <a:lnTo>
                    <a:pt x="255862" y="70527"/>
                  </a:lnTo>
                  <a:lnTo>
                    <a:pt x="218671" y="94507"/>
                  </a:lnTo>
                  <a:lnTo>
                    <a:pt x="183758" y="121493"/>
                  </a:lnTo>
                  <a:lnTo>
                    <a:pt x="151304" y="151304"/>
                  </a:lnTo>
                  <a:lnTo>
                    <a:pt x="121493" y="183758"/>
                  </a:lnTo>
                  <a:lnTo>
                    <a:pt x="94507" y="218671"/>
                  </a:lnTo>
                  <a:lnTo>
                    <a:pt x="70527" y="255862"/>
                  </a:lnTo>
                  <a:lnTo>
                    <a:pt x="49736" y="295149"/>
                  </a:lnTo>
                  <a:lnTo>
                    <a:pt x="32317" y="336349"/>
                  </a:lnTo>
                  <a:lnTo>
                    <a:pt x="18452" y="379280"/>
                  </a:lnTo>
                  <a:lnTo>
                    <a:pt x="8322" y="423759"/>
                  </a:lnTo>
                  <a:lnTo>
                    <a:pt x="2110" y="469605"/>
                  </a:lnTo>
                  <a:lnTo>
                    <a:pt x="0" y="516636"/>
                  </a:lnTo>
                  <a:lnTo>
                    <a:pt x="2110" y="563666"/>
                  </a:lnTo>
                  <a:lnTo>
                    <a:pt x="8322" y="609512"/>
                  </a:lnTo>
                  <a:lnTo>
                    <a:pt x="18452" y="653991"/>
                  </a:lnTo>
                  <a:lnTo>
                    <a:pt x="32317" y="696922"/>
                  </a:lnTo>
                  <a:lnTo>
                    <a:pt x="49736" y="738122"/>
                  </a:lnTo>
                  <a:lnTo>
                    <a:pt x="70527" y="777409"/>
                  </a:lnTo>
                  <a:lnTo>
                    <a:pt x="94507" y="814600"/>
                  </a:lnTo>
                  <a:lnTo>
                    <a:pt x="121493" y="849513"/>
                  </a:lnTo>
                  <a:lnTo>
                    <a:pt x="151304" y="881967"/>
                  </a:lnTo>
                  <a:lnTo>
                    <a:pt x="183758" y="911778"/>
                  </a:lnTo>
                  <a:lnTo>
                    <a:pt x="218671" y="938764"/>
                  </a:lnTo>
                  <a:lnTo>
                    <a:pt x="255862" y="962744"/>
                  </a:lnTo>
                  <a:lnTo>
                    <a:pt x="295149" y="983535"/>
                  </a:lnTo>
                  <a:lnTo>
                    <a:pt x="336349" y="1000954"/>
                  </a:lnTo>
                  <a:lnTo>
                    <a:pt x="379280" y="1014819"/>
                  </a:lnTo>
                  <a:lnTo>
                    <a:pt x="423759" y="1024949"/>
                  </a:lnTo>
                  <a:lnTo>
                    <a:pt x="469605" y="1031161"/>
                  </a:lnTo>
                  <a:lnTo>
                    <a:pt x="516636" y="1033272"/>
                  </a:lnTo>
                  <a:lnTo>
                    <a:pt x="563666" y="1031161"/>
                  </a:lnTo>
                  <a:lnTo>
                    <a:pt x="609512" y="1024949"/>
                  </a:lnTo>
                  <a:lnTo>
                    <a:pt x="653991" y="1014819"/>
                  </a:lnTo>
                  <a:lnTo>
                    <a:pt x="696922" y="1000954"/>
                  </a:lnTo>
                  <a:lnTo>
                    <a:pt x="738122" y="983535"/>
                  </a:lnTo>
                  <a:lnTo>
                    <a:pt x="777409" y="962744"/>
                  </a:lnTo>
                  <a:lnTo>
                    <a:pt x="814600" y="938764"/>
                  </a:lnTo>
                  <a:lnTo>
                    <a:pt x="849513" y="911778"/>
                  </a:lnTo>
                  <a:lnTo>
                    <a:pt x="881967" y="881967"/>
                  </a:lnTo>
                  <a:lnTo>
                    <a:pt x="911778" y="849513"/>
                  </a:lnTo>
                  <a:lnTo>
                    <a:pt x="938764" y="814600"/>
                  </a:lnTo>
                  <a:lnTo>
                    <a:pt x="962744" y="777409"/>
                  </a:lnTo>
                  <a:lnTo>
                    <a:pt x="983535" y="738122"/>
                  </a:lnTo>
                  <a:lnTo>
                    <a:pt x="1000954" y="696922"/>
                  </a:lnTo>
                  <a:lnTo>
                    <a:pt x="1014819" y="653991"/>
                  </a:lnTo>
                  <a:lnTo>
                    <a:pt x="1024949" y="609512"/>
                  </a:lnTo>
                  <a:lnTo>
                    <a:pt x="1031161" y="563666"/>
                  </a:lnTo>
                  <a:lnTo>
                    <a:pt x="1033271" y="516636"/>
                  </a:lnTo>
                  <a:lnTo>
                    <a:pt x="1031161" y="469605"/>
                  </a:lnTo>
                  <a:lnTo>
                    <a:pt x="1024949" y="423759"/>
                  </a:lnTo>
                  <a:lnTo>
                    <a:pt x="1014819" y="379280"/>
                  </a:lnTo>
                  <a:lnTo>
                    <a:pt x="1000954" y="336349"/>
                  </a:lnTo>
                  <a:lnTo>
                    <a:pt x="983535" y="295149"/>
                  </a:lnTo>
                  <a:lnTo>
                    <a:pt x="962744" y="255862"/>
                  </a:lnTo>
                  <a:lnTo>
                    <a:pt x="938764" y="218671"/>
                  </a:lnTo>
                  <a:lnTo>
                    <a:pt x="911778" y="183758"/>
                  </a:lnTo>
                  <a:lnTo>
                    <a:pt x="881967" y="151304"/>
                  </a:lnTo>
                  <a:lnTo>
                    <a:pt x="849513" y="121493"/>
                  </a:lnTo>
                  <a:lnTo>
                    <a:pt x="814600" y="94507"/>
                  </a:lnTo>
                  <a:lnTo>
                    <a:pt x="777409" y="70527"/>
                  </a:lnTo>
                  <a:lnTo>
                    <a:pt x="738122" y="49736"/>
                  </a:lnTo>
                  <a:lnTo>
                    <a:pt x="696922" y="32317"/>
                  </a:lnTo>
                  <a:lnTo>
                    <a:pt x="653991" y="18452"/>
                  </a:lnTo>
                  <a:lnTo>
                    <a:pt x="609512" y="8322"/>
                  </a:lnTo>
                  <a:lnTo>
                    <a:pt x="563666" y="2110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2436" y="2665476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80" h="1033779">
                  <a:moveTo>
                    <a:pt x="0" y="516636"/>
                  </a:moveTo>
                  <a:lnTo>
                    <a:pt x="2110" y="469605"/>
                  </a:lnTo>
                  <a:lnTo>
                    <a:pt x="8322" y="423759"/>
                  </a:lnTo>
                  <a:lnTo>
                    <a:pt x="18452" y="379280"/>
                  </a:lnTo>
                  <a:lnTo>
                    <a:pt x="32317" y="336349"/>
                  </a:lnTo>
                  <a:lnTo>
                    <a:pt x="49736" y="295149"/>
                  </a:lnTo>
                  <a:lnTo>
                    <a:pt x="70527" y="255862"/>
                  </a:lnTo>
                  <a:lnTo>
                    <a:pt x="94507" y="218671"/>
                  </a:lnTo>
                  <a:lnTo>
                    <a:pt x="121493" y="183758"/>
                  </a:lnTo>
                  <a:lnTo>
                    <a:pt x="151304" y="151304"/>
                  </a:lnTo>
                  <a:lnTo>
                    <a:pt x="183758" y="121493"/>
                  </a:lnTo>
                  <a:lnTo>
                    <a:pt x="218671" y="94507"/>
                  </a:lnTo>
                  <a:lnTo>
                    <a:pt x="255862" y="70527"/>
                  </a:lnTo>
                  <a:lnTo>
                    <a:pt x="295149" y="49736"/>
                  </a:lnTo>
                  <a:lnTo>
                    <a:pt x="336349" y="32317"/>
                  </a:lnTo>
                  <a:lnTo>
                    <a:pt x="379280" y="18452"/>
                  </a:lnTo>
                  <a:lnTo>
                    <a:pt x="423759" y="8322"/>
                  </a:lnTo>
                  <a:lnTo>
                    <a:pt x="469605" y="2110"/>
                  </a:lnTo>
                  <a:lnTo>
                    <a:pt x="516636" y="0"/>
                  </a:lnTo>
                  <a:lnTo>
                    <a:pt x="563666" y="2110"/>
                  </a:lnTo>
                  <a:lnTo>
                    <a:pt x="609512" y="8322"/>
                  </a:lnTo>
                  <a:lnTo>
                    <a:pt x="653991" y="18452"/>
                  </a:lnTo>
                  <a:lnTo>
                    <a:pt x="696922" y="32317"/>
                  </a:lnTo>
                  <a:lnTo>
                    <a:pt x="738122" y="49736"/>
                  </a:lnTo>
                  <a:lnTo>
                    <a:pt x="777409" y="70527"/>
                  </a:lnTo>
                  <a:lnTo>
                    <a:pt x="814600" y="94507"/>
                  </a:lnTo>
                  <a:lnTo>
                    <a:pt x="849513" y="121493"/>
                  </a:lnTo>
                  <a:lnTo>
                    <a:pt x="881967" y="151304"/>
                  </a:lnTo>
                  <a:lnTo>
                    <a:pt x="911778" y="183758"/>
                  </a:lnTo>
                  <a:lnTo>
                    <a:pt x="938764" y="218671"/>
                  </a:lnTo>
                  <a:lnTo>
                    <a:pt x="962744" y="255862"/>
                  </a:lnTo>
                  <a:lnTo>
                    <a:pt x="983535" y="295149"/>
                  </a:lnTo>
                  <a:lnTo>
                    <a:pt x="1000954" y="336349"/>
                  </a:lnTo>
                  <a:lnTo>
                    <a:pt x="1014819" y="379280"/>
                  </a:lnTo>
                  <a:lnTo>
                    <a:pt x="1024949" y="423759"/>
                  </a:lnTo>
                  <a:lnTo>
                    <a:pt x="1031161" y="469605"/>
                  </a:lnTo>
                  <a:lnTo>
                    <a:pt x="1033271" y="516636"/>
                  </a:lnTo>
                  <a:lnTo>
                    <a:pt x="1031161" y="563666"/>
                  </a:lnTo>
                  <a:lnTo>
                    <a:pt x="1024949" y="609512"/>
                  </a:lnTo>
                  <a:lnTo>
                    <a:pt x="1014819" y="653991"/>
                  </a:lnTo>
                  <a:lnTo>
                    <a:pt x="1000954" y="696922"/>
                  </a:lnTo>
                  <a:lnTo>
                    <a:pt x="983535" y="738122"/>
                  </a:lnTo>
                  <a:lnTo>
                    <a:pt x="962744" y="777409"/>
                  </a:lnTo>
                  <a:lnTo>
                    <a:pt x="938764" y="814600"/>
                  </a:lnTo>
                  <a:lnTo>
                    <a:pt x="911778" y="849513"/>
                  </a:lnTo>
                  <a:lnTo>
                    <a:pt x="881967" y="881967"/>
                  </a:lnTo>
                  <a:lnTo>
                    <a:pt x="849513" y="911778"/>
                  </a:lnTo>
                  <a:lnTo>
                    <a:pt x="814600" y="938764"/>
                  </a:lnTo>
                  <a:lnTo>
                    <a:pt x="777409" y="962744"/>
                  </a:lnTo>
                  <a:lnTo>
                    <a:pt x="738122" y="983535"/>
                  </a:lnTo>
                  <a:lnTo>
                    <a:pt x="696922" y="1000954"/>
                  </a:lnTo>
                  <a:lnTo>
                    <a:pt x="653991" y="1014819"/>
                  </a:lnTo>
                  <a:lnTo>
                    <a:pt x="609512" y="1024949"/>
                  </a:lnTo>
                  <a:lnTo>
                    <a:pt x="563666" y="1031161"/>
                  </a:lnTo>
                  <a:lnTo>
                    <a:pt x="516636" y="1033272"/>
                  </a:lnTo>
                  <a:lnTo>
                    <a:pt x="469605" y="1031161"/>
                  </a:lnTo>
                  <a:lnTo>
                    <a:pt x="423759" y="1024949"/>
                  </a:lnTo>
                  <a:lnTo>
                    <a:pt x="379280" y="1014819"/>
                  </a:lnTo>
                  <a:lnTo>
                    <a:pt x="336349" y="1000954"/>
                  </a:lnTo>
                  <a:lnTo>
                    <a:pt x="295149" y="983535"/>
                  </a:lnTo>
                  <a:lnTo>
                    <a:pt x="255862" y="962744"/>
                  </a:lnTo>
                  <a:lnTo>
                    <a:pt x="218671" y="938764"/>
                  </a:lnTo>
                  <a:lnTo>
                    <a:pt x="183758" y="911778"/>
                  </a:lnTo>
                  <a:lnTo>
                    <a:pt x="151304" y="881967"/>
                  </a:lnTo>
                  <a:lnTo>
                    <a:pt x="121493" y="849513"/>
                  </a:lnTo>
                  <a:lnTo>
                    <a:pt x="94507" y="814600"/>
                  </a:lnTo>
                  <a:lnTo>
                    <a:pt x="70527" y="777409"/>
                  </a:lnTo>
                  <a:lnTo>
                    <a:pt x="49736" y="738122"/>
                  </a:lnTo>
                  <a:lnTo>
                    <a:pt x="32317" y="696922"/>
                  </a:lnTo>
                  <a:lnTo>
                    <a:pt x="18452" y="653991"/>
                  </a:lnTo>
                  <a:lnTo>
                    <a:pt x="8322" y="609512"/>
                  </a:lnTo>
                  <a:lnTo>
                    <a:pt x="2110" y="563666"/>
                  </a:lnTo>
                  <a:lnTo>
                    <a:pt x="0" y="516636"/>
                  </a:lnTo>
                  <a:close/>
                </a:path>
              </a:pathLst>
            </a:custGeom>
            <a:ln w="12700">
              <a:solidFill>
                <a:srgbClr val="426A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19072" y="4009644"/>
              <a:ext cx="9758680" cy="826135"/>
            </a:xfrm>
            <a:custGeom>
              <a:avLst/>
              <a:gdLst/>
              <a:ahLst/>
              <a:cxnLst/>
              <a:rect l="l" t="t" r="r" b="b"/>
              <a:pathLst>
                <a:path w="9758680" h="826135">
                  <a:moveTo>
                    <a:pt x="9758172" y="0"/>
                  </a:moveTo>
                  <a:lnTo>
                    <a:pt x="0" y="0"/>
                  </a:lnTo>
                  <a:lnTo>
                    <a:pt x="0" y="826008"/>
                  </a:lnTo>
                  <a:lnTo>
                    <a:pt x="9758172" y="826008"/>
                  </a:lnTo>
                  <a:lnTo>
                    <a:pt x="9758172" y="0"/>
                  </a:lnTo>
                  <a:close/>
                </a:path>
              </a:pathLst>
            </a:custGeom>
            <a:solidFill>
              <a:srgbClr val="B4B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19072" y="4009644"/>
              <a:ext cx="9758680" cy="826135"/>
            </a:xfrm>
            <a:custGeom>
              <a:avLst/>
              <a:gdLst/>
              <a:ahLst/>
              <a:cxnLst/>
              <a:rect l="l" t="t" r="r" b="b"/>
              <a:pathLst>
                <a:path w="9758680" h="826135">
                  <a:moveTo>
                    <a:pt x="0" y="826008"/>
                  </a:moveTo>
                  <a:lnTo>
                    <a:pt x="9758172" y="826008"/>
                  </a:lnTo>
                  <a:lnTo>
                    <a:pt x="9758172" y="0"/>
                  </a:lnTo>
                  <a:lnTo>
                    <a:pt x="0" y="0"/>
                  </a:lnTo>
                  <a:lnTo>
                    <a:pt x="0" y="826008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362326" y="4121277"/>
            <a:ext cx="907351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5"/>
              </a:spcBef>
            </a:pPr>
            <a:r>
              <a:rPr sz="1800" b="1" spc="-1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First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study</a:t>
            </a:r>
            <a:r>
              <a:rPr sz="18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5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conducted</a:t>
            </a:r>
            <a:r>
              <a:rPr sz="1800" b="1" spc="-1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WHO/Harvard</a:t>
            </a:r>
            <a:r>
              <a:rPr sz="1800" b="1" spc="-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School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Public</a:t>
            </a:r>
            <a:r>
              <a:rPr sz="18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Health.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Now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sz="1800" b="1" spc="32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5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Institute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Health 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Metrics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3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4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Evaluation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00" b="1" spc="-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University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-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Washington</a:t>
            </a: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5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WHO</a:t>
            </a:r>
            <a:r>
              <a:rPr sz="1800" b="1" spc="-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3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800" b="1" spc="-7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other</a:t>
            </a:r>
            <a:r>
              <a:rPr sz="1800" b="1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partners.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96086" y="3899661"/>
            <a:ext cx="10287635" cy="2183130"/>
            <a:chOff x="1196086" y="3899661"/>
            <a:chExt cx="10287635" cy="2183130"/>
          </a:xfrm>
        </p:grpSpPr>
        <p:sp>
          <p:nvSpPr>
            <p:cNvPr id="23" name="object 23"/>
            <p:cNvSpPr/>
            <p:nvPr/>
          </p:nvSpPr>
          <p:spPr>
            <a:xfrm>
              <a:off x="1202436" y="3906011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80" h="1033779">
                  <a:moveTo>
                    <a:pt x="516636" y="0"/>
                  </a:moveTo>
                  <a:lnTo>
                    <a:pt x="469605" y="2110"/>
                  </a:lnTo>
                  <a:lnTo>
                    <a:pt x="423759" y="8322"/>
                  </a:lnTo>
                  <a:lnTo>
                    <a:pt x="379280" y="18452"/>
                  </a:lnTo>
                  <a:lnTo>
                    <a:pt x="336349" y="32317"/>
                  </a:lnTo>
                  <a:lnTo>
                    <a:pt x="295149" y="49736"/>
                  </a:lnTo>
                  <a:lnTo>
                    <a:pt x="255862" y="70527"/>
                  </a:lnTo>
                  <a:lnTo>
                    <a:pt x="218671" y="94507"/>
                  </a:lnTo>
                  <a:lnTo>
                    <a:pt x="183758" y="121493"/>
                  </a:lnTo>
                  <a:lnTo>
                    <a:pt x="151304" y="151304"/>
                  </a:lnTo>
                  <a:lnTo>
                    <a:pt x="121493" y="183758"/>
                  </a:lnTo>
                  <a:lnTo>
                    <a:pt x="94507" y="218671"/>
                  </a:lnTo>
                  <a:lnTo>
                    <a:pt x="70527" y="255862"/>
                  </a:lnTo>
                  <a:lnTo>
                    <a:pt x="49736" y="295149"/>
                  </a:lnTo>
                  <a:lnTo>
                    <a:pt x="32317" y="336349"/>
                  </a:lnTo>
                  <a:lnTo>
                    <a:pt x="18452" y="379280"/>
                  </a:lnTo>
                  <a:lnTo>
                    <a:pt x="8322" y="423759"/>
                  </a:lnTo>
                  <a:lnTo>
                    <a:pt x="2110" y="469605"/>
                  </a:lnTo>
                  <a:lnTo>
                    <a:pt x="0" y="516636"/>
                  </a:lnTo>
                  <a:lnTo>
                    <a:pt x="2110" y="563666"/>
                  </a:lnTo>
                  <a:lnTo>
                    <a:pt x="8322" y="609512"/>
                  </a:lnTo>
                  <a:lnTo>
                    <a:pt x="18452" y="653991"/>
                  </a:lnTo>
                  <a:lnTo>
                    <a:pt x="32317" y="696922"/>
                  </a:lnTo>
                  <a:lnTo>
                    <a:pt x="49736" y="738122"/>
                  </a:lnTo>
                  <a:lnTo>
                    <a:pt x="70527" y="777409"/>
                  </a:lnTo>
                  <a:lnTo>
                    <a:pt x="94507" y="814600"/>
                  </a:lnTo>
                  <a:lnTo>
                    <a:pt x="121493" y="849513"/>
                  </a:lnTo>
                  <a:lnTo>
                    <a:pt x="151304" y="881967"/>
                  </a:lnTo>
                  <a:lnTo>
                    <a:pt x="183758" y="911778"/>
                  </a:lnTo>
                  <a:lnTo>
                    <a:pt x="218671" y="938764"/>
                  </a:lnTo>
                  <a:lnTo>
                    <a:pt x="255862" y="962744"/>
                  </a:lnTo>
                  <a:lnTo>
                    <a:pt x="295149" y="983535"/>
                  </a:lnTo>
                  <a:lnTo>
                    <a:pt x="336349" y="1000954"/>
                  </a:lnTo>
                  <a:lnTo>
                    <a:pt x="379280" y="1014819"/>
                  </a:lnTo>
                  <a:lnTo>
                    <a:pt x="423759" y="1024949"/>
                  </a:lnTo>
                  <a:lnTo>
                    <a:pt x="469605" y="1031161"/>
                  </a:lnTo>
                  <a:lnTo>
                    <a:pt x="516636" y="1033271"/>
                  </a:lnTo>
                  <a:lnTo>
                    <a:pt x="563666" y="1031161"/>
                  </a:lnTo>
                  <a:lnTo>
                    <a:pt x="609512" y="1024949"/>
                  </a:lnTo>
                  <a:lnTo>
                    <a:pt x="653991" y="1014819"/>
                  </a:lnTo>
                  <a:lnTo>
                    <a:pt x="696922" y="1000954"/>
                  </a:lnTo>
                  <a:lnTo>
                    <a:pt x="738122" y="983535"/>
                  </a:lnTo>
                  <a:lnTo>
                    <a:pt x="777409" y="962744"/>
                  </a:lnTo>
                  <a:lnTo>
                    <a:pt x="814600" y="938764"/>
                  </a:lnTo>
                  <a:lnTo>
                    <a:pt x="849513" y="911778"/>
                  </a:lnTo>
                  <a:lnTo>
                    <a:pt x="881967" y="881967"/>
                  </a:lnTo>
                  <a:lnTo>
                    <a:pt x="911778" y="849513"/>
                  </a:lnTo>
                  <a:lnTo>
                    <a:pt x="938764" y="814600"/>
                  </a:lnTo>
                  <a:lnTo>
                    <a:pt x="962744" y="777409"/>
                  </a:lnTo>
                  <a:lnTo>
                    <a:pt x="983535" y="738122"/>
                  </a:lnTo>
                  <a:lnTo>
                    <a:pt x="1000954" y="696922"/>
                  </a:lnTo>
                  <a:lnTo>
                    <a:pt x="1014819" y="653991"/>
                  </a:lnTo>
                  <a:lnTo>
                    <a:pt x="1024949" y="609512"/>
                  </a:lnTo>
                  <a:lnTo>
                    <a:pt x="1031161" y="563666"/>
                  </a:lnTo>
                  <a:lnTo>
                    <a:pt x="1033271" y="516636"/>
                  </a:lnTo>
                  <a:lnTo>
                    <a:pt x="1031161" y="469605"/>
                  </a:lnTo>
                  <a:lnTo>
                    <a:pt x="1024949" y="423759"/>
                  </a:lnTo>
                  <a:lnTo>
                    <a:pt x="1014819" y="379280"/>
                  </a:lnTo>
                  <a:lnTo>
                    <a:pt x="1000954" y="336349"/>
                  </a:lnTo>
                  <a:lnTo>
                    <a:pt x="983535" y="295149"/>
                  </a:lnTo>
                  <a:lnTo>
                    <a:pt x="962744" y="255862"/>
                  </a:lnTo>
                  <a:lnTo>
                    <a:pt x="938764" y="218671"/>
                  </a:lnTo>
                  <a:lnTo>
                    <a:pt x="911778" y="183758"/>
                  </a:lnTo>
                  <a:lnTo>
                    <a:pt x="881967" y="151304"/>
                  </a:lnTo>
                  <a:lnTo>
                    <a:pt x="849513" y="121493"/>
                  </a:lnTo>
                  <a:lnTo>
                    <a:pt x="814600" y="94507"/>
                  </a:lnTo>
                  <a:lnTo>
                    <a:pt x="777409" y="70527"/>
                  </a:lnTo>
                  <a:lnTo>
                    <a:pt x="738122" y="49736"/>
                  </a:lnTo>
                  <a:lnTo>
                    <a:pt x="696922" y="32317"/>
                  </a:lnTo>
                  <a:lnTo>
                    <a:pt x="653991" y="18452"/>
                  </a:lnTo>
                  <a:lnTo>
                    <a:pt x="609512" y="8322"/>
                  </a:lnTo>
                  <a:lnTo>
                    <a:pt x="563666" y="2110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02436" y="3906011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80" h="1033779">
                  <a:moveTo>
                    <a:pt x="0" y="516636"/>
                  </a:moveTo>
                  <a:lnTo>
                    <a:pt x="2110" y="469605"/>
                  </a:lnTo>
                  <a:lnTo>
                    <a:pt x="8322" y="423759"/>
                  </a:lnTo>
                  <a:lnTo>
                    <a:pt x="18452" y="379280"/>
                  </a:lnTo>
                  <a:lnTo>
                    <a:pt x="32317" y="336349"/>
                  </a:lnTo>
                  <a:lnTo>
                    <a:pt x="49736" y="295149"/>
                  </a:lnTo>
                  <a:lnTo>
                    <a:pt x="70527" y="255862"/>
                  </a:lnTo>
                  <a:lnTo>
                    <a:pt x="94507" y="218671"/>
                  </a:lnTo>
                  <a:lnTo>
                    <a:pt x="121493" y="183758"/>
                  </a:lnTo>
                  <a:lnTo>
                    <a:pt x="151304" y="151304"/>
                  </a:lnTo>
                  <a:lnTo>
                    <a:pt x="183758" y="121493"/>
                  </a:lnTo>
                  <a:lnTo>
                    <a:pt x="218671" y="94507"/>
                  </a:lnTo>
                  <a:lnTo>
                    <a:pt x="255862" y="70527"/>
                  </a:lnTo>
                  <a:lnTo>
                    <a:pt x="295149" y="49736"/>
                  </a:lnTo>
                  <a:lnTo>
                    <a:pt x="336349" y="32317"/>
                  </a:lnTo>
                  <a:lnTo>
                    <a:pt x="379280" y="18452"/>
                  </a:lnTo>
                  <a:lnTo>
                    <a:pt x="423759" y="8322"/>
                  </a:lnTo>
                  <a:lnTo>
                    <a:pt x="469605" y="2110"/>
                  </a:lnTo>
                  <a:lnTo>
                    <a:pt x="516636" y="0"/>
                  </a:lnTo>
                  <a:lnTo>
                    <a:pt x="563666" y="2110"/>
                  </a:lnTo>
                  <a:lnTo>
                    <a:pt x="609512" y="8322"/>
                  </a:lnTo>
                  <a:lnTo>
                    <a:pt x="653991" y="18452"/>
                  </a:lnTo>
                  <a:lnTo>
                    <a:pt x="696922" y="32317"/>
                  </a:lnTo>
                  <a:lnTo>
                    <a:pt x="738122" y="49736"/>
                  </a:lnTo>
                  <a:lnTo>
                    <a:pt x="777409" y="70527"/>
                  </a:lnTo>
                  <a:lnTo>
                    <a:pt x="814600" y="94507"/>
                  </a:lnTo>
                  <a:lnTo>
                    <a:pt x="849513" y="121493"/>
                  </a:lnTo>
                  <a:lnTo>
                    <a:pt x="881967" y="151304"/>
                  </a:lnTo>
                  <a:lnTo>
                    <a:pt x="911778" y="183758"/>
                  </a:lnTo>
                  <a:lnTo>
                    <a:pt x="938764" y="218671"/>
                  </a:lnTo>
                  <a:lnTo>
                    <a:pt x="962744" y="255862"/>
                  </a:lnTo>
                  <a:lnTo>
                    <a:pt x="983535" y="295149"/>
                  </a:lnTo>
                  <a:lnTo>
                    <a:pt x="1000954" y="336349"/>
                  </a:lnTo>
                  <a:lnTo>
                    <a:pt x="1014819" y="379280"/>
                  </a:lnTo>
                  <a:lnTo>
                    <a:pt x="1024949" y="423759"/>
                  </a:lnTo>
                  <a:lnTo>
                    <a:pt x="1031161" y="469605"/>
                  </a:lnTo>
                  <a:lnTo>
                    <a:pt x="1033271" y="516636"/>
                  </a:lnTo>
                  <a:lnTo>
                    <a:pt x="1031161" y="563666"/>
                  </a:lnTo>
                  <a:lnTo>
                    <a:pt x="1024949" y="609512"/>
                  </a:lnTo>
                  <a:lnTo>
                    <a:pt x="1014819" y="653991"/>
                  </a:lnTo>
                  <a:lnTo>
                    <a:pt x="1000954" y="696922"/>
                  </a:lnTo>
                  <a:lnTo>
                    <a:pt x="983535" y="738122"/>
                  </a:lnTo>
                  <a:lnTo>
                    <a:pt x="962744" y="777409"/>
                  </a:lnTo>
                  <a:lnTo>
                    <a:pt x="938764" y="814600"/>
                  </a:lnTo>
                  <a:lnTo>
                    <a:pt x="911778" y="849513"/>
                  </a:lnTo>
                  <a:lnTo>
                    <a:pt x="881967" y="881967"/>
                  </a:lnTo>
                  <a:lnTo>
                    <a:pt x="849513" y="911778"/>
                  </a:lnTo>
                  <a:lnTo>
                    <a:pt x="814600" y="938764"/>
                  </a:lnTo>
                  <a:lnTo>
                    <a:pt x="777409" y="962744"/>
                  </a:lnTo>
                  <a:lnTo>
                    <a:pt x="738122" y="983535"/>
                  </a:lnTo>
                  <a:lnTo>
                    <a:pt x="696922" y="1000954"/>
                  </a:lnTo>
                  <a:lnTo>
                    <a:pt x="653991" y="1014819"/>
                  </a:lnTo>
                  <a:lnTo>
                    <a:pt x="609512" y="1024949"/>
                  </a:lnTo>
                  <a:lnTo>
                    <a:pt x="563666" y="1031161"/>
                  </a:lnTo>
                  <a:lnTo>
                    <a:pt x="516636" y="1033271"/>
                  </a:lnTo>
                  <a:lnTo>
                    <a:pt x="469605" y="1031161"/>
                  </a:lnTo>
                  <a:lnTo>
                    <a:pt x="423759" y="1024949"/>
                  </a:lnTo>
                  <a:lnTo>
                    <a:pt x="379280" y="1014819"/>
                  </a:lnTo>
                  <a:lnTo>
                    <a:pt x="336349" y="1000954"/>
                  </a:lnTo>
                  <a:lnTo>
                    <a:pt x="295149" y="983535"/>
                  </a:lnTo>
                  <a:lnTo>
                    <a:pt x="255862" y="962744"/>
                  </a:lnTo>
                  <a:lnTo>
                    <a:pt x="218671" y="938764"/>
                  </a:lnTo>
                  <a:lnTo>
                    <a:pt x="183758" y="911778"/>
                  </a:lnTo>
                  <a:lnTo>
                    <a:pt x="151304" y="881967"/>
                  </a:lnTo>
                  <a:lnTo>
                    <a:pt x="121493" y="849513"/>
                  </a:lnTo>
                  <a:lnTo>
                    <a:pt x="94507" y="814600"/>
                  </a:lnTo>
                  <a:lnTo>
                    <a:pt x="70527" y="777409"/>
                  </a:lnTo>
                  <a:lnTo>
                    <a:pt x="49736" y="738122"/>
                  </a:lnTo>
                  <a:lnTo>
                    <a:pt x="32317" y="696922"/>
                  </a:lnTo>
                  <a:lnTo>
                    <a:pt x="18452" y="653991"/>
                  </a:lnTo>
                  <a:lnTo>
                    <a:pt x="8322" y="609512"/>
                  </a:lnTo>
                  <a:lnTo>
                    <a:pt x="2110" y="563666"/>
                  </a:lnTo>
                  <a:lnTo>
                    <a:pt x="0" y="516636"/>
                  </a:lnTo>
                  <a:close/>
                </a:path>
              </a:pathLst>
            </a:custGeom>
            <a:ln w="12700">
              <a:solidFill>
                <a:srgbClr val="B4B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45108" y="5248655"/>
              <a:ext cx="10232390" cy="828040"/>
            </a:xfrm>
            <a:custGeom>
              <a:avLst/>
              <a:gdLst/>
              <a:ahLst/>
              <a:cxnLst/>
              <a:rect l="l" t="t" r="r" b="b"/>
              <a:pathLst>
                <a:path w="10232390" h="828039">
                  <a:moveTo>
                    <a:pt x="10232136" y="0"/>
                  </a:moveTo>
                  <a:lnTo>
                    <a:pt x="0" y="0"/>
                  </a:lnTo>
                  <a:lnTo>
                    <a:pt x="0" y="827532"/>
                  </a:lnTo>
                  <a:lnTo>
                    <a:pt x="10232136" y="827532"/>
                  </a:lnTo>
                  <a:lnTo>
                    <a:pt x="10232136" y="0"/>
                  </a:lnTo>
                  <a:close/>
                </a:path>
              </a:pathLst>
            </a:custGeom>
            <a:solidFill>
              <a:srgbClr val="426A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45108" y="5248655"/>
              <a:ext cx="10232390" cy="828040"/>
            </a:xfrm>
            <a:custGeom>
              <a:avLst/>
              <a:gdLst/>
              <a:ahLst/>
              <a:cxnLst/>
              <a:rect l="l" t="t" r="r" b="b"/>
              <a:pathLst>
                <a:path w="10232390" h="828039">
                  <a:moveTo>
                    <a:pt x="0" y="827532"/>
                  </a:moveTo>
                  <a:lnTo>
                    <a:pt x="10232136" y="827532"/>
                  </a:lnTo>
                  <a:lnTo>
                    <a:pt x="10232136" y="0"/>
                  </a:lnTo>
                  <a:lnTo>
                    <a:pt x="0" y="0"/>
                  </a:lnTo>
                  <a:lnTo>
                    <a:pt x="0" y="827532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88363" y="5487111"/>
            <a:ext cx="3169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Most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recent</a:t>
            </a:r>
            <a:r>
              <a:rPr sz="1800" b="1" spc="-10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14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update</a:t>
            </a:r>
            <a:r>
              <a:rPr sz="18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-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3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2021.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2122" y="5138673"/>
            <a:ext cx="1046480" cy="1046480"/>
            <a:chOff x="722122" y="5138673"/>
            <a:chExt cx="1046480" cy="1046480"/>
          </a:xfrm>
        </p:grpSpPr>
        <p:sp>
          <p:nvSpPr>
            <p:cNvPr id="29" name="object 29"/>
            <p:cNvSpPr/>
            <p:nvPr/>
          </p:nvSpPr>
          <p:spPr>
            <a:xfrm>
              <a:off x="728472" y="5145023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80" h="1033779">
                  <a:moveTo>
                    <a:pt x="516636" y="0"/>
                  </a:moveTo>
                  <a:lnTo>
                    <a:pt x="469611" y="2110"/>
                  </a:lnTo>
                  <a:lnTo>
                    <a:pt x="423769" y="8322"/>
                  </a:lnTo>
                  <a:lnTo>
                    <a:pt x="379293" y="18452"/>
                  </a:lnTo>
                  <a:lnTo>
                    <a:pt x="336364" y="32317"/>
                  </a:lnTo>
                  <a:lnTo>
                    <a:pt x="295165" y="49736"/>
                  </a:lnTo>
                  <a:lnTo>
                    <a:pt x="255879" y="70527"/>
                  </a:lnTo>
                  <a:lnTo>
                    <a:pt x="218688" y="94507"/>
                  </a:lnTo>
                  <a:lnTo>
                    <a:pt x="183773" y="121493"/>
                  </a:lnTo>
                  <a:lnTo>
                    <a:pt x="151318" y="151304"/>
                  </a:lnTo>
                  <a:lnTo>
                    <a:pt x="121506" y="183758"/>
                  </a:lnTo>
                  <a:lnTo>
                    <a:pt x="94517" y="218671"/>
                  </a:lnTo>
                  <a:lnTo>
                    <a:pt x="70535" y="255862"/>
                  </a:lnTo>
                  <a:lnTo>
                    <a:pt x="49743" y="295149"/>
                  </a:lnTo>
                  <a:lnTo>
                    <a:pt x="32321" y="336349"/>
                  </a:lnTo>
                  <a:lnTo>
                    <a:pt x="18454" y="379280"/>
                  </a:lnTo>
                  <a:lnTo>
                    <a:pt x="8323" y="423759"/>
                  </a:lnTo>
                  <a:lnTo>
                    <a:pt x="2111" y="469605"/>
                  </a:lnTo>
                  <a:lnTo>
                    <a:pt x="0" y="516635"/>
                  </a:lnTo>
                  <a:lnTo>
                    <a:pt x="2111" y="563660"/>
                  </a:lnTo>
                  <a:lnTo>
                    <a:pt x="8323" y="609502"/>
                  </a:lnTo>
                  <a:lnTo>
                    <a:pt x="18454" y="653978"/>
                  </a:lnTo>
                  <a:lnTo>
                    <a:pt x="32321" y="696907"/>
                  </a:lnTo>
                  <a:lnTo>
                    <a:pt x="49743" y="738106"/>
                  </a:lnTo>
                  <a:lnTo>
                    <a:pt x="70535" y="777392"/>
                  </a:lnTo>
                  <a:lnTo>
                    <a:pt x="94517" y="814583"/>
                  </a:lnTo>
                  <a:lnTo>
                    <a:pt x="121506" y="849498"/>
                  </a:lnTo>
                  <a:lnTo>
                    <a:pt x="151318" y="881953"/>
                  </a:lnTo>
                  <a:lnTo>
                    <a:pt x="183773" y="911765"/>
                  </a:lnTo>
                  <a:lnTo>
                    <a:pt x="218688" y="938754"/>
                  </a:lnTo>
                  <a:lnTo>
                    <a:pt x="255879" y="962736"/>
                  </a:lnTo>
                  <a:lnTo>
                    <a:pt x="295165" y="983528"/>
                  </a:lnTo>
                  <a:lnTo>
                    <a:pt x="336364" y="1000950"/>
                  </a:lnTo>
                  <a:lnTo>
                    <a:pt x="379293" y="1014817"/>
                  </a:lnTo>
                  <a:lnTo>
                    <a:pt x="423769" y="1024948"/>
                  </a:lnTo>
                  <a:lnTo>
                    <a:pt x="469611" y="1031160"/>
                  </a:lnTo>
                  <a:lnTo>
                    <a:pt x="516636" y="1033271"/>
                  </a:lnTo>
                  <a:lnTo>
                    <a:pt x="563666" y="1031160"/>
                  </a:lnTo>
                  <a:lnTo>
                    <a:pt x="609512" y="1024948"/>
                  </a:lnTo>
                  <a:lnTo>
                    <a:pt x="653991" y="1014817"/>
                  </a:lnTo>
                  <a:lnTo>
                    <a:pt x="696922" y="1000950"/>
                  </a:lnTo>
                  <a:lnTo>
                    <a:pt x="738122" y="983528"/>
                  </a:lnTo>
                  <a:lnTo>
                    <a:pt x="777409" y="962736"/>
                  </a:lnTo>
                  <a:lnTo>
                    <a:pt x="814600" y="938754"/>
                  </a:lnTo>
                  <a:lnTo>
                    <a:pt x="849513" y="911765"/>
                  </a:lnTo>
                  <a:lnTo>
                    <a:pt x="881967" y="881953"/>
                  </a:lnTo>
                  <a:lnTo>
                    <a:pt x="911778" y="849498"/>
                  </a:lnTo>
                  <a:lnTo>
                    <a:pt x="938764" y="814583"/>
                  </a:lnTo>
                  <a:lnTo>
                    <a:pt x="962744" y="777392"/>
                  </a:lnTo>
                  <a:lnTo>
                    <a:pt x="983535" y="738106"/>
                  </a:lnTo>
                  <a:lnTo>
                    <a:pt x="1000954" y="696907"/>
                  </a:lnTo>
                  <a:lnTo>
                    <a:pt x="1014819" y="653978"/>
                  </a:lnTo>
                  <a:lnTo>
                    <a:pt x="1024949" y="609502"/>
                  </a:lnTo>
                  <a:lnTo>
                    <a:pt x="1031161" y="563660"/>
                  </a:lnTo>
                  <a:lnTo>
                    <a:pt x="1033272" y="516635"/>
                  </a:lnTo>
                  <a:lnTo>
                    <a:pt x="1031161" y="469605"/>
                  </a:lnTo>
                  <a:lnTo>
                    <a:pt x="1024949" y="423759"/>
                  </a:lnTo>
                  <a:lnTo>
                    <a:pt x="1014819" y="379280"/>
                  </a:lnTo>
                  <a:lnTo>
                    <a:pt x="1000954" y="336349"/>
                  </a:lnTo>
                  <a:lnTo>
                    <a:pt x="983535" y="295149"/>
                  </a:lnTo>
                  <a:lnTo>
                    <a:pt x="962744" y="255862"/>
                  </a:lnTo>
                  <a:lnTo>
                    <a:pt x="938764" y="218671"/>
                  </a:lnTo>
                  <a:lnTo>
                    <a:pt x="911778" y="183758"/>
                  </a:lnTo>
                  <a:lnTo>
                    <a:pt x="881967" y="151304"/>
                  </a:lnTo>
                  <a:lnTo>
                    <a:pt x="849513" y="121493"/>
                  </a:lnTo>
                  <a:lnTo>
                    <a:pt x="814600" y="94507"/>
                  </a:lnTo>
                  <a:lnTo>
                    <a:pt x="777409" y="70527"/>
                  </a:lnTo>
                  <a:lnTo>
                    <a:pt x="738122" y="49736"/>
                  </a:lnTo>
                  <a:lnTo>
                    <a:pt x="696922" y="32317"/>
                  </a:lnTo>
                  <a:lnTo>
                    <a:pt x="653991" y="18452"/>
                  </a:lnTo>
                  <a:lnTo>
                    <a:pt x="609512" y="8322"/>
                  </a:lnTo>
                  <a:lnTo>
                    <a:pt x="563666" y="2110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8472" y="5145023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80" h="1033779">
                  <a:moveTo>
                    <a:pt x="0" y="516635"/>
                  </a:moveTo>
                  <a:lnTo>
                    <a:pt x="2111" y="469605"/>
                  </a:lnTo>
                  <a:lnTo>
                    <a:pt x="8323" y="423759"/>
                  </a:lnTo>
                  <a:lnTo>
                    <a:pt x="18454" y="379280"/>
                  </a:lnTo>
                  <a:lnTo>
                    <a:pt x="32321" y="336349"/>
                  </a:lnTo>
                  <a:lnTo>
                    <a:pt x="49743" y="295149"/>
                  </a:lnTo>
                  <a:lnTo>
                    <a:pt x="70535" y="255862"/>
                  </a:lnTo>
                  <a:lnTo>
                    <a:pt x="94517" y="218671"/>
                  </a:lnTo>
                  <a:lnTo>
                    <a:pt x="121506" y="183758"/>
                  </a:lnTo>
                  <a:lnTo>
                    <a:pt x="151318" y="151304"/>
                  </a:lnTo>
                  <a:lnTo>
                    <a:pt x="183773" y="121493"/>
                  </a:lnTo>
                  <a:lnTo>
                    <a:pt x="218688" y="94507"/>
                  </a:lnTo>
                  <a:lnTo>
                    <a:pt x="255879" y="70527"/>
                  </a:lnTo>
                  <a:lnTo>
                    <a:pt x="295165" y="49736"/>
                  </a:lnTo>
                  <a:lnTo>
                    <a:pt x="336364" y="32317"/>
                  </a:lnTo>
                  <a:lnTo>
                    <a:pt x="379293" y="18452"/>
                  </a:lnTo>
                  <a:lnTo>
                    <a:pt x="423769" y="8322"/>
                  </a:lnTo>
                  <a:lnTo>
                    <a:pt x="469611" y="2110"/>
                  </a:lnTo>
                  <a:lnTo>
                    <a:pt x="516636" y="0"/>
                  </a:lnTo>
                  <a:lnTo>
                    <a:pt x="563666" y="2110"/>
                  </a:lnTo>
                  <a:lnTo>
                    <a:pt x="609512" y="8322"/>
                  </a:lnTo>
                  <a:lnTo>
                    <a:pt x="653991" y="18452"/>
                  </a:lnTo>
                  <a:lnTo>
                    <a:pt x="696922" y="32317"/>
                  </a:lnTo>
                  <a:lnTo>
                    <a:pt x="738122" y="49736"/>
                  </a:lnTo>
                  <a:lnTo>
                    <a:pt x="777409" y="70527"/>
                  </a:lnTo>
                  <a:lnTo>
                    <a:pt x="814600" y="94507"/>
                  </a:lnTo>
                  <a:lnTo>
                    <a:pt x="849513" y="121493"/>
                  </a:lnTo>
                  <a:lnTo>
                    <a:pt x="881967" y="151304"/>
                  </a:lnTo>
                  <a:lnTo>
                    <a:pt x="911778" y="183758"/>
                  </a:lnTo>
                  <a:lnTo>
                    <a:pt x="938764" y="218671"/>
                  </a:lnTo>
                  <a:lnTo>
                    <a:pt x="962744" y="255862"/>
                  </a:lnTo>
                  <a:lnTo>
                    <a:pt x="983535" y="295149"/>
                  </a:lnTo>
                  <a:lnTo>
                    <a:pt x="1000954" y="336349"/>
                  </a:lnTo>
                  <a:lnTo>
                    <a:pt x="1014819" y="379280"/>
                  </a:lnTo>
                  <a:lnTo>
                    <a:pt x="1024949" y="423759"/>
                  </a:lnTo>
                  <a:lnTo>
                    <a:pt x="1031161" y="469605"/>
                  </a:lnTo>
                  <a:lnTo>
                    <a:pt x="1033272" y="516635"/>
                  </a:lnTo>
                  <a:lnTo>
                    <a:pt x="1031161" y="563660"/>
                  </a:lnTo>
                  <a:lnTo>
                    <a:pt x="1024949" y="609502"/>
                  </a:lnTo>
                  <a:lnTo>
                    <a:pt x="1014819" y="653978"/>
                  </a:lnTo>
                  <a:lnTo>
                    <a:pt x="1000954" y="696907"/>
                  </a:lnTo>
                  <a:lnTo>
                    <a:pt x="983535" y="738106"/>
                  </a:lnTo>
                  <a:lnTo>
                    <a:pt x="962744" y="777392"/>
                  </a:lnTo>
                  <a:lnTo>
                    <a:pt x="938764" y="814583"/>
                  </a:lnTo>
                  <a:lnTo>
                    <a:pt x="911778" y="849498"/>
                  </a:lnTo>
                  <a:lnTo>
                    <a:pt x="881967" y="881953"/>
                  </a:lnTo>
                  <a:lnTo>
                    <a:pt x="849513" y="911765"/>
                  </a:lnTo>
                  <a:lnTo>
                    <a:pt x="814600" y="938754"/>
                  </a:lnTo>
                  <a:lnTo>
                    <a:pt x="777409" y="962736"/>
                  </a:lnTo>
                  <a:lnTo>
                    <a:pt x="738122" y="983528"/>
                  </a:lnTo>
                  <a:lnTo>
                    <a:pt x="696922" y="1000950"/>
                  </a:lnTo>
                  <a:lnTo>
                    <a:pt x="653991" y="1014817"/>
                  </a:lnTo>
                  <a:lnTo>
                    <a:pt x="609512" y="1024948"/>
                  </a:lnTo>
                  <a:lnTo>
                    <a:pt x="563666" y="1031160"/>
                  </a:lnTo>
                  <a:lnTo>
                    <a:pt x="516636" y="1033271"/>
                  </a:lnTo>
                  <a:lnTo>
                    <a:pt x="469611" y="1031160"/>
                  </a:lnTo>
                  <a:lnTo>
                    <a:pt x="423769" y="1024948"/>
                  </a:lnTo>
                  <a:lnTo>
                    <a:pt x="379293" y="1014817"/>
                  </a:lnTo>
                  <a:lnTo>
                    <a:pt x="336364" y="1000950"/>
                  </a:lnTo>
                  <a:lnTo>
                    <a:pt x="295165" y="983528"/>
                  </a:lnTo>
                  <a:lnTo>
                    <a:pt x="255879" y="962736"/>
                  </a:lnTo>
                  <a:lnTo>
                    <a:pt x="218688" y="938754"/>
                  </a:lnTo>
                  <a:lnTo>
                    <a:pt x="183773" y="911765"/>
                  </a:lnTo>
                  <a:lnTo>
                    <a:pt x="151318" y="881953"/>
                  </a:lnTo>
                  <a:lnTo>
                    <a:pt x="121506" y="849498"/>
                  </a:lnTo>
                  <a:lnTo>
                    <a:pt x="94517" y="814583"/>
                  </a:lnTo>
                  <a:lnTo>
                    <a:pt x="70535" y="777392"/>
                  </a:lnTo>
                  <a:lnTo>
                    <a:pt x="49743" y="738106"/>
                  </a:lnTo>
                  <a:lnTo>
                    <a:pt x="32321" y="696907"/>
                  </a:lnTo>
                  <a:lnTo>
                    <a:pt x="18454" y="653978"/>
                  </a:lnTo>
                  <a:lnTo>
                    <a:pt x="8323" y="609502"/>
                  </a:lnTo>
                  <a:lnTo>
                    <a:pt x="2111" y="563660"/>
                  </a:lnTo>
                  <a:lnTo>
                    <a:pt x="0" y="516635"/>
                  </a:lnTo>
                  <a:close/>
                </a:path>
              </a:pathLst>
            </a:custGeom>
            <a:ln w="12700">
              <a:solidFill>
                <a:srgbClr val="426A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7270" y="381381"/>
            <a:ext cx="13341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5" dirty="0"/>
              <a:t>DALYs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270" y="1247013"/>
            <a:ext cx="10085070" cy="21037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466725" indent="-228600">
              <a:lnSpc>
                <a:spcPts val="2810"/>
              </a:lnSpc>
              <a:spcBef>
                <a:spcPts val="455"/>
              </a:spcBef>
              <a:buChar char="•"/>
              <a:tabLst>
                <a:tab pos="241300" algn="l"/>
              </a:tabLst>
            </a:pPr>
            <a:r>
              <a:rPr sz="26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Disability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adjusted</a:t>
            </a:r>
            <a:r>
              <a:rPr sz="26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6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(DALYs):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“a</a:t>
            </a:r>
            <a:r>
              <a:rPr sz="26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single</a:t>
            </a:r>
            <a:r>
              <a:rPr sz="26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measure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quantify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6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burden</a:t>
            </a:r>
            <a:r>
              <a:rPr sz="26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diseases,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injuries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and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risk </a:t>
            </a:r>
            <a:r>
              <a:rPr sz="26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factors”.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sz="26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Compares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losses</a:t>
            </a:r>
            <a:r>
              <a:rPr sz="26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6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against</a:t>
            </a:r>
            <a:r>
              <a:rPr sz="26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reference</a:t>
            </a:r>
            <a:r>
              <a:rPr sz="26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6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(1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6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death,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0=</a:t>
            </a:r>
            <a:r>
              <a:rPr sz="26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perfect health)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Char char="•"/>
              <a:tabLst>
                <a:tab pos="241300" algn="l"/>
              </a:tabLst>
            </a:pPr>
            <a:r>
              <a:rPr sz="26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Calculation: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6873" y="3380994"/>
            <a:ext cx="2580640" cy="460375"/>
          </a:xfrm>
          <a:prstGeom prst="rect">
            <a:avLst/>
          </a:prstGeom>
          <a:ln w="38100">
            <a:solidFill>
              <a:srgbClr val="F86D46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345"/>
              </a:spcBef>
            </a:pPr>
            <a:r>
              <a:rPr sz="2600" spc="-4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DALY</a:t>
            </a:r>
            <a:r>
              <a:rPr sz="26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6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40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YLL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4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YLD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26" y="6479108"/>
            <a:ext cx="173596" cy="125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6058" y="3807053"/>
            <a:ext cx="9939655" cy="245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0" marR="842645" algn="ctr">
              <a:lnSpc>
                <a:spcPct val="122000"/>
              </a:lnSpc>
              <a:spcBef>
                <a:spcPts val="100"/>
              </a:spcBef>
            </a:pPr>
            <a:r>
              <a:rPr sz="26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Where: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40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YLL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lost,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YLD</a:t>
            </a:r>
            <a:r>
              <a:rPr sz="26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6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6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lived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disability And: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ctr">
              <a:lnSpc>
                <a:spcPts val="3810"/>
              </a:lnSpc>
              <a:spcBef>
                <a:spcPts val="235"/>
              </a:spcBef>
            </a:pPr>
            <a:r>
              <a:rPr sz="2600" spc="-40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YLL</a:t>
            </a:r>
            <a:r>
              <a:rPr sz="26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6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Number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deaths</a:t>
            </a:r>
            <a:r>
              <a:rPr sz="26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life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expectancy</a:t>
            </a:r>
            <a:r>
              <a:rPr sz="26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1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age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 </a:t>
            </a:r>
            <a:r>
              <a:rPr sz="2600" spc="-3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YLD</a:t>
            </a:r>
            <a:r>
              <a:rPr sz="26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6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Number</a:t>
            </a:r>
            <a:r>
              <a:rPr sz="26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prevalent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cases</a:t>
            </a:r>
            <a:r>
              <a:rPr sz="26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6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Disability</a:t>
            </a:r>
            <a:r>
              <a:rPr sz="26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weights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R="233680" algn="r">
              <a:lnSpc>
                <a:spcPct val="100000"/>
              </a:lnSpc>
              <a:spcBef>
                <a:spcPts val="1495"/>
              </a:spcBef>
            </a:pPr>
            <a:r>
              <a:rPr sz="1800" i="1" spc="-125" dirty="0">
                <a:latin typeface="Arial" panose="020B0604020202020204"/>
                <a:cs typeface="Arial" panose="020B0604020202020204"/>
              </a:rPr>
              <a:t>Source:</a:t>
            </a:r>
            <a:r>
              <a:rPr sz="1800" i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25" dirty="0">
                <a:latin typeface="Arial" panose="020B0604020202020204"/>
                <a:cs typeface="Arial" panose="020B0604020202020204"/>
              </a:rPr>
              <a:t>WHO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617" y="352453"/>
            <a:ext cx="10515600" cy="893706"/>
          </a:xfrm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Application</a:t>
            </a:r>
            <a:r>
              <a:rPr spc="-215" dirty="0"/>
              <a:t> </a:t>
            </a:r>
            <a:r>
              <a:rPr dirty="0"/>
              <a:t>of</a:t>
            </a:r>
            <a:r>
              <a:rPr spc="-225" dirty="0"/>
              <a:t> </a:t>
            </a:r>
            <a:r>
              <a:rPr spc="-695" dirty="0"/>
              <a:t>DALYs</a:t>
            </a:r>
            <a:r>
              <a:rPr spc="-210" dirty="0"/>
              <a:t> </a:t>
            </a:r>
            <a:endParaRPr spc="-61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9745345" cy="335152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</a:tabLst>
            </a:pPr>
            <a:r>
              <a:rPr sz="2800" spc="-2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Used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measure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economic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evaluations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39395" marR="338455" indent="-227330">
              <a:lnSpc>
                <a:spcPts val="3030"/>
              </a:lnSpc>
              <a:spcBef>
                <a:spcPts val="1045"/>
              </a:spcBef>
              <a:buChar char="•"/>
              <a:tabLst>
                <a:tab pos="241300" algn="l"/>
              </a:tabLst>
            </a:pPr>
            <a:r>
              <a:rPr sz="28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Interpretation: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Interventions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increase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number</a:t>
            </a:r>
            <a:r>
              <a:rPr sz="28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DALYs 	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averted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better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(live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less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disability)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665" indent="-227965">
              <a:lnSpc>
                <a:spcPct val="100000"/>
              </a:lnSpc>
              <a:spcBef>
                <a:spcPts val="610"/>
              </a:spcBef>
              <a:buChar char="•"/>
              <a:tabLst>
                <a:tab pos="240665" algn="l"/>
              </a:tabLst>
            </a:pPr>
            <a:r>
              <a:rPr sz="2800" spc="-3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Easy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0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use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countries</a:t>
            </a:r>
            <a:r>
              <a:rPr sz="28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where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there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local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QALYs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sz="2800" spc="-2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Tools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usability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decision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making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marR="5080" indent="-227965">
              <a:lnSpc>
                <a:spcPts val="3020"/>
              </a:lnSpc>
              <a:spcBef>
                <a:spcPts val="1060"/>
              </a:spcBef>
              <a:buChar char="•"/>
              <a:tabLst>
                <a:tab pos="241300" algn="l"/>
              </a:tabLst>
            </a:pPr>
            <a:r>
              <a:rPr sz="2800" spc="-4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DALYs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enable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comparisons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burden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different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0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diseases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 	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conditions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within</a:t>
            </a:r>
            <a:r>
              <a:rPr sz="28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population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26" y="6479108"/>
            <a:ext cx="176377" cy="1258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94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5" dirty="0"/>
              <a:t>Kenya’s</a:t>
            </a:r>
            <a:r>
              <a:rPr spc="-220" dirty="0"/>
              <a:t> </a:t>
            </a:r>
            <a:r>
              <a:rPr spc="-285" dirty="0"/>
              <a:t>disease</a:t>
            </a:r>
            <a:r>
              <a:rPr spc="-250" dirty="0"/>
              <a:t> </a:t>
            </a:r>
            <a:r>
              <a:rPr spc="-160" dirty="0"/>
              <a:t>burden</a:t>
            </a:r>
            <a:r>
              <a:rPr spc="-225" dirty="0"/>
              <a:t> </a:t>
            </a:r>
            <a:r>
              <a:rPr spc="-35" dirty="0"/>
              <a:t>in</a:t>
            </a:r>
            <a:r>
              <a:rPr spc="-220" dirty="0"/>
              <a:t> </a:t>
            </a:r>
            <a:r>
              <a:rPr spc="-125" dirty="0"/>
              <a:t>2021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26" y="6479108"/>
            <a:ext cx="174548" cy="124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4890" y="6229603"/>
            <a:ext cx="6134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25" dirty="0">
                <a:latin typeface="Arial" panose="020B0604020202020204"/>
                <a:cs typeface="Arial" panose="020B0604020202020204"/>
              </a:rPr>
              <a:t>Source:</a:t>
            </a:r>
            <a:r>
              <a:rPr sz="1800" i="1" spc="25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u="sng" spc="-4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https://www.healthdata.org/research-</a:t>
            </a:r>
            <a:r>
              <a:rPr sz="1800" i="1" u="sng" spc="-6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analysis/health-</a:t>
            </a:r>
            <a:r>
              <a:rPr sz="1800" i="1" u="sng" spc="-2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by-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i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location/profiles/kenya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987" y="1406652"/>
            <a:ext cx="10860023" cy="48021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94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5" dirty="0"/>
              <a:t>Kenya’s</a:t>
            </a:r>
            <a:r>
              <a:rPr spc="-220" dirty="0"/>
              <a:t> </a:t>
            </a:r>
            <a:r>
              <a:rPr spc="-285" dirty="0"/>
              <a:t>disease</a:t>
            </a:r>
            <a:r>
              <a:rPr spc="-250" dirty="0"/>
              <a:t> </a:t>
            </a:r>
            <a:r>
              <a:rPr spc="-160" dirty="0"/>
              <a:t>burden</a:t>
            </a:r>
            <a:r>
              <a:rPr spc="-225" dirty="0"/>
              <a:t> </a:t>
            </a:r>
            <a:r>
              <a:rPr spc="-35" dirty="0"/>
              <a:t>in</a:t>
            </a:r>
            <a:r>
              <a:rPr spc="-220" dirty="0"/>
              <a:t> </a:t>
            </a:r>
            <a:r>
              <a:rPr spc="-125" dirty="0"/>
              <a:t>2021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26" y="6479108"/>
            <a:ext cx="176377" cy="125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4916" y="1426463"/>
            <a:ext cx="8202168" cy="47823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4890" y="6229603"/>
            <a:ext cx="6134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25" dirty="0">
                <a:latin typeface="Arial" panose="020B0604020202020204"/>
                <a:cs typeface="Arial" panose="020B0604020202020204"/>
              </a:rPr>
              <a:t>Source:</a:t>
            </a:r>
            <a:r>
              <a:rPr sz="1800" i="1" spc="25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u="sng" spc="-4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4"/>
              </a:rPr>
              <a:t>https://www.healthdata.org/research-</a:t>
            </a:r>
            <a:r>
              <a:rPr sz="1800" i="1" u="sng" spc="-6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4"/>
              </a:rPr>
              <a:t>analysis/health-</a:t>
            </a:r>
            <a:r>
              <a:rPr sz="1800" i="1" u="sng" spc="-2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4"/>
              </a:rPr>
              <a:t>by-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i="1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4"/>
              </a:rPr>
              <a:t>location/profiles/kenya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770" dirty="0">
                <a:latin typeface="Arial" panose="020B0604020202020204"/>
                <a:cs typeface="Arial" panose="020B0604020202020204"/>
              </a:rPr>
              <a:t>QA</a:t>
            </a:r>
            <a:r>
              <a:rPr sz="6000" b="1" spc="-1540" dirty="0">
                <a:latin typeface="Arial" panose="020B0604020202020204"/>
                <a:cs typeface="Arial" panose="020B0604020202020204"/>
              </a:rPr>
              <a:t>L</a:t>
            </a:r>
            <a:r>
              <a:rPr sz="6000" b="1" spc="-770" dirty="0">
                <a:latin typeface="Arial" panose="020B0604020202020204"/>
                <a:cs typeface="Arial" panose="020B0604020202020204"/>
              </a:rPr>
              <a:t>Y</a:t>
            </a:r>
            <a:r>
              <a:rPr sz="6000" b="1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505" dirty="0">
                <a:latin typeface="Arial" panose="020B0604020202020204"/>
                <a:cs typeface="Arial" panose="020B0604020202020204"/>
              </a:rPr>
              <a:t>vs.</a:t>
            </a:r>
            <a:r>
              <a:rPr sz="6000" b="1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980" dirty="0">
                <a:latin typeface="Arial" panose="020B0604020202020204"/>
                <a:cs typeface="Arial" panose="020B0604020202020204"/>
              </a:rPr>
              <a:t>D</a:t>
            </a:r>
            <a:r>
              <a:rPr sz="6000" b="1" spc="-795" dirty="0">
                <a:latin typeface="Arial" panose="020B0604020202020204"/>
                <a:cs typeface="Arial" panose="020B0604020202020204"/>
              </a:rPr>
              <a:t>A</a:t>
            </a:r>
            <a:r>
              <a:rPr sz="6000" b="1" spc="-1575" dirty="0">
                <a:latin typeface="Arial" panose="020B0604020202020204"/>
                <a:cs typeface="Arial" panose="020B0604020202020204"/>
              </a:rPr>
              <a:t>L</a:t>
            </a:r>
            <a:r>
              <a:rPr sz="6000" b="1" spc="-795" dirty="0">
                <a:latin typeface="Arial" panose="020B0604020202020204"/>
                <a:cs typeface="Arial" panose="020B0604020202020204"/>
              </a:rPr>
              <a:t>Y</a:t>
            </a:r>
            <a:endParaRPr sz="6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192385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30" marR="734060" indent="-227965">
              <a:lnSpc>
                <a:spcPts val="3020"/>
              </a:lnSpc>
              <a:spcBef>
                <a:spcPts val="480"/>
              </a:spcBef>
              <a:buChar char="•"/>
              <a:tabLst>
                <a:tab pos="241300" algn="l"/>
              </a:tabLst>
            </a:pPr>
            <a:r>
              <a:rPr sz="2800" spc="-43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QALYs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DALYs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both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valuable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metrics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evaluating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 	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outcomes,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its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unique</a:t>
            </a:r>
            <a:r>
              <a:rPr sz="2800" spc="-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applications</a:t>
            </a:r>
            <a:r>
              <a:rPr sz="28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advantages.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marR="5080" indent="-227965">
              <a:lnSpc>
                <a:spcPts val="3020"/>
              </a:lnSpc>
              <a:spcBef>
                <a:spcPts val="1015"/>
              </a:spcBef>
              <a:buChar char="•"/>
              <a:tabLst>
                <a:tab pos="241300" algn="l"/>
              </a:tabLst>
            </a:pPr>
            <a:r>
              <a:rPr sz="2800" spc="-43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QALYs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suited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individual-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28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evaluations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cost-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utility 	</a:t>
            </a:r>
            <a:r>
              <a:rPr sz="28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analysis.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marR="142875" indent="-227965">
              <a:lnSpc>
                <a:spcPct val="90000"/>
              </a:lnSpc>
              <a:spcBef>
                <a:spcPts val="960"/>
              </a:spcBef>
              <a:buChar char="•"/>
              <a:tabLst>
                <a:tab pos="241300" algn="l"/>
              </a:tabLst>
            </a:pPr>
            <a:r>
              <a:rPr sz="2800" spc="-4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DALYs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more </a:t>
            </a:r>
            <a:r>
              <a:rPr sz="28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suited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population-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1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assessments</a:t>
            </a:r>
            <a:r>
              <a:rPr sz="28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global 	</a:t>
            </a:r>
            <a:r>
              <a:rPr sz="28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policy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commonly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used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global </a:t>
            </a:r>
            <a:r>
              <a:rPr sz="28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organizations </a:t>
            </a:r>
            <a:r>
              <a:rPr sz="28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like 	</a:t>
            </a:r>
            <a:r>
              <a:rPr sz="28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Organization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(WHO)</a:t>
            </a:r>
            <a:r>
              <a:rPr sz="28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8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prioritize</a:t>
            </a:r>
            <a:r>
              <a:rPr sz="28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healthcare 	</a:t>
            </a:r>
            <a:r>
              <a:rPr sz="28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resources</a:t>
            </a:r>
            <a:r>
              <a:rPr sz="28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policies.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75" dirty="0">
                <a:latin typeface="Arial" panose="020B0604020202020204"/>
                <a:cs typeface="Arial" panose="020B0604020202020204"/>
              </a:rPr>
              <a:t>Utility:</a:t>
            </a:r>
            <a:r>
              <a:rPr b="1" spc="-195" dirty="0">
                <a:latin typeface="Arial" panose="020B0604020202020204"/>
                <a:cs typeface="Arial" panose="020B0604020202020204"/>
              </a:rPr>
              <a:t> </a:t>
            </a:r>
            <a:r>
              <a:rPr b="1" spc="-280" dirty="0">
                <a:latin typeface="Arial" panose="020B0604020202020204"/>
                <a:cs typeface="Arial" panose="020B0604020202020204"/>
              </a:rPr>
              <a:t>Valuation</a:t>
            </a:r>
            <a:r>
              <a:rPr b="1" spc="-170" dirty="0">
                <a:latin typeface="Arial" panose="020B0604020202020204"/>
                <a:cs typeface="Arial" panose="020B0604020202020204"/>
              </a:rPr>
              <a:t> </a:t>
            </a:r>
            <a:r>
              <a:rPr b="1" spc="-340" dirty="0">
                <a:latin typeface="Arial" panose="020B0604020202020204"/>
                <a:cs typeface="Arial" panose="020B0604020202020204"/>
              </a:rPr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67676"/>
                </a:solidFill>
                <a:latin typeface="Arial" panose="020B0604020202020204"/>
                <a:cs typeface="Arial" panose="020B0604020202020204"/>
              </a:rPr>
              <a:t>30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8200" y="1825751"/>
            <a:ext cx="5181600" cy="2811780"/>
            <a:chOff x="838200" y="1825751"/>
            <a:chExt cx="5181600" cy="2811780"/>
          </a:xfrm>
        </p:grpSpPr>
        <p:sp>
          <p:nvSpPr>
            <p:cNvPr id="5" name="object 5"/>
            <p:cNvSpPr/>
            <p:nvPr/>
          </p:nvSpPr>
          <p:spPr>
            <a:xfrm>
              <a:off x="838200" y="2203703"/>
              <a:ext cx="5181600" cy="2433955"/>
            </a:xfrm>
            <a:custGeom>
              <a:avLst/>
              <a:gdLst/>
              <a:ahLst/>
              <a:cxnLst/>
              <a:rect l="l" t="t" r="r" b="b"/>
              <a:pathLst>
                <a:path w="5181600" h="2433954">
                  <a:moveTo>
                    <a:pt x="5181600" y="0"/>
                  </a:moveTo>
                  <a:lnTo>
                    <a:pt x="0" y="0"/>
                  </a:lnTo>
                  <a:lnTo>
                    <a:pt x="0" y="2433828"/>
                  </a:lnTo>
                  <a:lnTo>
                    <a:pt x="5181600" y="2433828"/>
                  </a:lnTo>
                  <a:lnTo>
                    <a:pt x="5181600" y="0"/>
                  </a:lnTo>
                  <a:close/>
                </a:path>
              </a:pathLst>
            </a:custGeom>
            <a:solidFill>
              <a:srgbClr val="FAF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200" y="1825751"/>
              <a:ext cx="5181600" cy="485140"/>
            </a:xfrm>
            <a:custGeom>
              <a:avLst/>
              <a:gdLst/>
              <a:ahLst/>
              <a:cxnLst/>
              <a:rect l="l" t="t" r="r" b="b"/>
              <a:pathLst>
                <a:path w="5181600" h="485139">
                  <a:moveTo>
                    <a:pt x="5100828" y="0"/>
                  </a:moveTo>
                  <a:lnTo>
                    <a:pt x="80772" y="0"/>
                  </a:lnTo>
                  <a:lnTo>
                    <a:pt x="49329" y="6351"/>
                  </a:lnTo>
                  <a:lnTo>
                    <a:pt x="23655" y="23669"/>
                  </a:lnTo>
                  <a:lnTo>
                    <a:pt x="6346" y="49345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6346" y="435286"/>
                  </a:lnTo>
                  <a:lnTo>
                    <a:pt x="23655" y="460962"/>
                  </a:lnTo>
                  <a:lnTo>
                    <a:pt x="49329" y="478280"/>
                  </a:lnTo>
                  <a:lnTo>
                    <a:pt x="80772" y="484632"/>
                  </a:lnTo>
                  <a:lnTo>
                    <a:pt x="5100828" y="484632"/>
                  </a:lnTo>
                  <a:lnTo>
                    <a:pt x="5132254" y="478280"/>
                  </a:lnTo>
                  <a:lnTo>
                    <a:pt x="5157930" y="460962"/>
                  </a:lnTo>
                  <a:lnTo>
                    <a:pt x="5175248" y="435286"/>
                  </a:lnTo>
                  <a:lnTo>
                    <a:pt x="5181600" y="403860"/>
                  </a:lnTo>
                  <a:lnTo>
                    <a:pt x="5181600" y="80772"/>
                  </a:lnTo>
                  <a:lnTo>
                    <a:pt x="5175248" y="49345"/>
                  </a:lnTo>
                  <a:lnTo>
                    <a:pt x="5157930" y="23669"/>
                  </a:lnTo>
                  <a:lnTo>
                    <a:pt x="5132254" y="6351"/>
                  </a:lnTo>
                  <a:lnTo>
                    <a:pt x="5100828" y="0"/>
                  </a:lnTo>
                  <a:close/>
                </a:path>
              </a:pathLst>
            </a:custGeom>
            <a:solidFill>
              <a:srgbClr val="F8F1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172200" y="1825751"/>
            <a:ext cx="5181600" cy="2811780"/>
            <a:chOff x="6172200" y="1825751"/>
            <a:chExt cx="5181600" cy="2811780"/>
          </a:xfrm>
        </p:grpSpPr>
        <p:sp>
          <p:nvSpPr>
            <p:cNvPr id="8" name="object 8"/>
            <p:cNvSpPr/>
            <p:nvPr/>
          </p:nvSpPr>
          <p:spPr>
            <a:xfrm>
              <a:off x="6172200" y="2203703"/>
              <a:ext cx="5181600" cy="2433955"/>
            </a:xfrm>
            <a:custGeom>
              <a:avLst/>
              <a:gdLst/>
              <a:ahLst/>
              <a:cxnLst/>
              <a:rect l="l" t="t" r="r" b="b"/>
              <a:pathLst>
                <a:path w="5181600" h="2433954">
                  <a:moveTo>
                    <a:pt x="5181600" y="0"/>
                  </a:moveTo>
                  <a:lnTo>
                    <a:pt x="0" y="0"/>
                  </a:lnTo>
                  <a:lnTo>
                    <a:pt x="0" y="2433828"/>
                  </a:lnTo>
                  <a:lnTo>
                    <a:pt x="5181600" y="2433828"/>
                  </a:lnTo>
                  <a:lnTo>
                    <a:pt x="5181600" y="0"/>
                  </a:lnTo>
                  <a:close/>
                </a:path>
              </a:pathLst>
            </a:custGeom>
            <a:solidFill>
              <a:srgbClr val="FDE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72200" y="1825751"/>
              <a:ext cx="5181600" cy="485140"/>
            </a:xfrm>
            <a:custGeom>
              <a:avLst/>
              <a:gdLst/>
              <a:ahLst/>
              <a:cxnLst/>
              <a:rect l="l" t="t" r="r" b="b"/>
              <a:pathLst>
                <a:path w="5181600" h="485139">
                  <a:moveTo>
                    <a:pt x="5100828" y="0"/>
                  </a:moveTo>
                  <a:lnTo>
                    <a:pt x="80772" y="0"/>
                  </a:lnTo>
                  <a:lnTo>
                    <a:pt x="49345" y="6351"/>
                  </a:lnTo>
                  <a:lnTo>
                    <a:pt x="23669" y="23669"/>
                  </a:lnTo>
                  <a:lnTo>
                    <a:pt x="6351" y="49345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6351" y="435286"/>
                  </a:lnTo>
                  <a:lnTo>
                    <a:pt x="23669" y="460962"/>
                  </a:lnTo>
                  <a:lnTo>
                    <a:pt x="49345" y="478280"/>
                  </a:lnTo>
                  <a:lnTo>
                    <a:pt x="80772" y="484632"/>
                  </a:lnTo>
                  <a:lnTo>
                    <a:pt x="5100828" y="484632"/>
                  </a:lnTo>
                  <a:lnTo>
                    <a:pt x="5132254" y="478280"/>
                  </a:lnTo>
                  <a:lnTo>
                    <a:pt x="5157930" y="460962"/>
                  </a:lnTo>
                  <a:lnTo>
                    <a:pt x="5175248" y="435286"/>
                  </a:lnTo>
                  <a:lnTo>
                    <a:pt x="5181600" y="403860"/>
                  </a:lnTo>
                  <a:lnTo>
                    <a:pt x="5181600" y="80772"/>
                  </a:lnTo>
                  <a:lnTo>
                    <a:pt x="5175248" y="49345"/>
                  </a:lnTo>
                  <a:lnTo>
                    <a:pt x="5157930" y="23669"/>
                  </a:lnTo>
                  <a:lnTo>
                    <a:pt x="5132254" y="6351"/>
                  </a:lnTo>
                  <a:lnTo>
                    <a:pt x="5100828" y="0"/>
                  </a:lnTo>
                  <a:close/>
                </a:path>
              </a:pathLst>
            </a:custGeom>
            <a:solidFill>
              <a:srgbClr val="FCC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74394" y="2273824"/>
            <a:ext cx="4276725" cy="136969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270"/>
              </a:spcBef>
              <a:buFont typeface="Arial" panose="020B0604020202020204"/>
              <a:buChar char="•"/>
              <a:tabLst>
                <a:tab pos="239395" algn="l"/>
              </a:tabLst>
            </a:pPr>
            <a:r>
              <a:rPr sz="2800" b="1" spc="-215" dirty="0">
                <a:latin typeface="Arial" panose="020B0604020202020204"/>
                <a:cs typeface="Arial" panose="020B0604020202020204"/>
              </a:rPr>
              <a:t>Visual</a:t>
            </a:r>
            <a:r>
              <a:rPr sz="2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225" dirty="0">
                <a:latin typeface="Arial" panose="020B0604020202020204"/>
                <a:cs typeface="Arial" panose="020B0604020202020204"/>
              </a:rPr>
              <a:t>analogue</a:t>
            </a:r>
            <a:r>
              <a:rPr sz="2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265" dirty="0">
                <a:latin typeface="Arial" panose="020B0604020202020204"/>
                <a:cs typeface="Arial" panose="020B0604020202020204"/>
              </a:rPr>
              <a:t>scale</a:t>
            </a:r>
            <a:r>
              <a:rPr sz="2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305" dirty="0">
                <a:latin typeface="Arial" panose="020B0604020202020204"/>
                <a:cs typeface="Arial" panose="020B0604020202020204"/>
              </a:rPr>
              <a:t>(VAS)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175"/>
              </a:spcBef>
              <a:buFont typeface="Arial" panose="020B0604020202020204"/>
              <a:buChar char="•"/>
              <a:tabLst>
                <a:tab pos="239395" algn="l"/>
              </a:tabLst>
            </a:pPr>
            <a:r>
              <a:rPr sz="2800" b="1" spc="-229" dirty="0">
                <a:latin typeface="Arial" panose="020B0604020202020204"/>
                <a:cs typeface="Arial" panose="020B0604020202020204"/>
              </a:rPr>
              <a:t>Standard</a:t>
            </a:r>
            <a:r>
              <a:rPr sz="2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235" dirty="0">
                <a:latin typeface="Arial" panose="020B0604020202020204"/>
                <a:cs typeface="Arial" panose="020B0604020202020204"/>
              </a:rPr>
              <a:t>gamble</a:t>
            </a:r>
            <a:r>
              <a:rPr sz="2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305" dirty="0">
                <a:latin typeface="Arial" panose="020B0604020202020204"/>
                <a:cs typeface="Arial" panose="020B0604020202020204"/>
              </a:rPr>
              <a:t>(SG)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155"/>
              </a:spcBef>
              <a:buFont typeface="Arial" panose="020B0604020202020204"/>
              <a:buChar char="•"/>
              <a:tabLst>
                <a:tab pos="239395" algn="l"/>
              </a:tabLst>
            </a:pPr>
            <a:r>
              <a:rPr sz="2800" b="1" spc="-204" dirty="0">
                <a:latin typeface="Arial" panose="020B0604020202020204"/>
                <a:cs typeface="Arial" panose="020B0604020202020204"/>
              </a:rPr>
              <a:t>Time</a:t>
            </a:r>
            <a:r>
              <a:rPr sz="2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145" dirty="0">
                <a:latin typeface="Arial" panose="020B0604020202020204"/>
                <a:cs typeface="Arial" panose="020B0604020202020204"/>
              </a:rPr>
              <a:t>trade-</a:t>
            </a:r>
            <a:r>
              <a:rPr sz="2800" b="1" spc="-114" dirty="0">
                <a:latin typeface="Arial" panose="020B0604020202020204"/>
                <a:cs typeface="Arial" panose="020B0604020202020204"/>
              </a:rPr>
              <a:t>off</a:t>
            </a:r>
            <a:r>
              <a:rPr sz="28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30" dirty="0">
                <a:latin typeface="Arial" panose="020B0604020202020204"/>
                <a:cs typeface="Arial" panose="020B0604020202020204"/>
              </a:rPr>
              <a:t>(TTO)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1784350"/>
            <a:ext cx="84156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  <a:tab pos="5347335" algn="l"/>
              </a:tabLst>
            </a:pPr>
            <a:r>
              <a:rPr sz="3200" spc="-105" dirty="0">
                <a:latin typeface="Arial" panose="020B0604020202020204"/>
                <a:cs typeface="Arial" panose="020B0604020202020204"/>
              </a:rPr>
              <a:t>Direct</a:t>
            </a:r>
            <a:r>
              <a:rPr sz="32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0" dirty="0">
                <a:latin typeface="Arial" panose="020B0604020202020204"/>
                <a:cs typeface="Arial" panose="020B0604020202020204"/>
              </a:rPr>
              <a:t>methods</a:t>
            </a:r>
            <a:r>
              <a:rPr sz="3200" dirty="0">
                <a:latin typeface="Arial" panose="020B0604020202020204"/>
                <a:cs typeface="Arial" panose="020B0604020202020204"/>
              </a:rPr>
              <a:t>	</a:t>
            </a:r>
            <a:r>
              <a:rPr sz="3200" spc="-20" dirty="0">
                <a:latin typeface="Arial" panose="020B0604020202020204"/>
                <a:cs typeface="Arial" panose="020B0604020202020204"/>
              </a:rPr>
              <a:t>•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Indirect</a:t>
            </a:r>
            <a:r>
              <a:rPr sz="3200" spc="-16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95" dirty="0">
                <a:latin typeface="Arial" panose="020B0604020202020204"/>
                <a:cs typeface="Arial" panose="020B0604020202020204"/>
              </a:rPr>
              <a:t>methods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9029" y="2273824"/>
            <a:ext cx="4116070" cy="22364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270"/>
              </a:spcBef>
              <a:buChar char="•"/>
              <a:tabLst>
                <a:tab pos="239395" algn="l"/>
              </a:tabLst>
            </a:pPr>
            <a:r>
              <a:rPr sz="2800" spc="-155" dirty="0">
                <a:latin typeface="Arial" panose="020B0604020202020204"/>
                <a:cs typeface="Arial" panose="020B0604020202020204"/>
              </a:rPr>
              <a:t>Preference-</a:t>
            </a:r>
            <a:r>
              <a:rPr sz="2800" spc="-195" dirty="0">
                <a:latin typeface="Arial" panose="020B0604020202020204"/>
                <a:cs typeface="Arial" panose="020B0604020202020204"/>
              </a:rPr>
              <a:t>based</a:t>
            </a:r>
            <a:r>
              <a:rPr sz="28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35" dirty="0">
                <a:latin typeface="Arial" panose="020B0604020202020204"/>
                <a:cs typeface="Arial" panose="020B0604020202020204"/>
              </a:rPr>
              <a:t>measure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175"/>
              </a:spcBef>
              <a:buFont typeface="Arial" panose="020B0604020202020204"/>
              <a:buChar char="•"/>
              <a:tabLst>
                <a:tab pos="697230" algn="l"/>
              </a:tabLst>
            </a:pPr>
            <a:r>
              <a:rPr sz="2800" b="1" spc="-305" dirty="0">
                <a:latin typeface="Arial" panose="020B0604020202020204"/>
                <a:cs typeface="Arial" panose="020B0604020202020204"/>
              </a:rPr>
              <a:t>EQ-</a:t>
            </a:r>
            <a:r>
              <a:rPr sz="2800" b="1" spc="-180" dirty="0">
                <a:latin typeface="Arial" panose="020B0604020202020204"/>
                <a:cs typeface="Arial" panose="020B0604020202020204"/>
              </a:rPr>
              <a:t>5D-</a:t>
            </a:r>
            <a:r>
              <a:rPr sz="2800" b="1" spc="-375" dirty="0">
                <a:latin typeface="Arial" panose="020B0604020202020204"/>
                <a:cs typeface="Arial" panose="020B0604020202020204"/>
              </a:rPr>
              <a:t>5L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ct val="100000"/>
              </a:lnSpc>
              <a:spcBef>
                <a:spcPts val="155"/>
              </a:spcBef>
              <a:buChar char="•"/>
              <a:tabLst>
                <a:tab pos="697230" algn="l"/>
              </a:tabLst>
            </a:pPr>
            <a:r>
              <a:rPr sz="2800" spc="-380" dirty="0">
                <a:latin typeface="Arial" panose="020B0604020202020204"/>
                <a:cs typeface="Arial" panose="020B0604020202020204"/>
              </a:rPr>
              <a:t>SF-</a:t>
            </a:r>
            <a:r>
              <a:rPr sz="2800" spc="-25" dirty="0">
                <a:latin typeface="Arial" panose="020B0604020202020204"/>
                <a:cs typeface="Arial" panose="020B0604020202020204"/>
              </a:rPr>
              <a:t>6D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ts val="3330"/>
              </a:lnSpc>
              <a:spcBef>
                <a:spcPts val="165"/>
              </a:spcBef>
              <a:buChar char="•"/>
              <a:tabLst>
                <a:tab pos="697230" algn="l"/>
              </a:tabLst>
            </a:pPr>
            <a:r>
              <a:rPr sz="2800" spc="-20" dirty="0">
                <a:latin typeface="Arial" panose="020B0604020202020204"/>
                <a:cs typeface="Arial" panose="020B0604020202020204"/>
              </a:rPr>
              <a:t>HUI3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ts val="3330"/>
              </a:lnSpc>
              <a:buChar char="•"/>
              <a:tabLst>
                <a:tab pos="239395" algn="l"/>
              </a:tabLst>
            </a:pPr>
            <a:r>
              <a:rPr sz="2800" spc="-125" dirty="0">
                <a:latin typeface="Arial" panose="020B0604020202020204"/>
                <a:cs typeface="Arial" panose="020B0604020202020204"/>
              </a:rPr>
              <a:t>Mapping</a:t>
            </a:r>
            <a:r>
              <a:rPr sz="28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55" dirty="0">
                <a:latin typeface="Arial" panose="020B0604020202020204"/>
                <a:cs typeface="Arial" panose="020B0604020202020204"/>
              </a:rPr>
              <a:t>(crosswalk)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47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>
                <a:solidFill>
                  <a:srgbClr val="333E50"/>
                </a:solidFill>
              </a:rPr>
              <a:t>Visual</a:t>
            </a:r>
            <a:r>
              <a:rPr spc="-180" dirty="0">
                <a:solidFill>
                  <a:srgbClr val="333E50"/>
                </a:solidFill>
              </a:rPr>
              <a:t> </a:t>
            </a:r>
            <a:r>
              <a:rPr spc="-245" dirty="0">
                <a:solidFill>
                  <a:srgbClr val="333E50"/>
                </a:solidFill>
              </a:rPr>
              <a:t>Analogue</a:t>
            </a:r>
            <a:r>
              <a:rPr spc="-185" dirty="0">
                <a:solidFill>
                  <a:srgbClr val="333E50"/>
                </a:solidFill>
              </a:rPr>
              <a:t> </a:t>
            </a:r>
            <a:r>
              <a:rPr spc="-405" dirty="0">
                <a:solidFill>
                  <a:srgbClr val="333E50"/>
                </a:solidFill>
              </a:rPr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591" y="1757274"/>
            <a:ext cx="5846445" cy="206311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030" indent="-227330">
              <a:lnSpc>
                <a:spcPct val="100000"/>
              </a:lnSpc>
              <a:spcBef>
                <a:spcPts val="380"/>
              </a:spcBef>
              <a:buChar char="•"/>
              <a:tabLst>
                <a:tab pos="239395" algn="l"/>
              </a:tabLst>
            </a:pPr>
            <a:r>
              <a:rPr sz="2800" spc="-25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Scale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100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245"/>
              </a:spcBef>
              <a:buChar char="•"/>
              <a:tabLst>
                <a:tab pos="239395" algn="l"/>
              </a:tabLst>
            </a:pPr>
            <a:r>
              <a:rPr sz="24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perfect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opinion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239395" algn="l"/>
              </a:tabLst>
            </a:pPr>
            <a:r>
              <a:rPr sz="24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worst</a:t>
            </a:r>
            <a:r>
              <a:rPr sz="24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4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4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opinion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200"/>
              </a:spcBef>
              <a:buChar char="•"/>
              <a:tabLst>
                <a:tab pos="239395" algn="l"/>
              </a:tabLst>
            </a:pPr>
            <a:r>
              <a:rPr sz="2400" spc="-3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where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24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rate</a:t>
            </a:r>
            <a:r>
              <a:rPr sz="24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400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0030" indent="-227330">
              <a:lnSpc>
                <a:spcPct val="100000"/>
              </a:lnSpc>
              <a:spcBef>
                <a:spcPts val="220"/>
              </a:spcBef>
              <a:buChar char="•"/>
              <a:tabLst>
                <a:tab pos="239395" algn="l"/>
              </a:tabLst>
            </a:pPr>
            <a:r>
              <a:rPr sz="24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4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400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X/100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5464" y="62610"/>
            <a:ext cx="424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P.31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5104" y="4538471"/>
            <a:ext cx="2717800" cy="524510"/>
          </a:xfrm>
          <a:prstGeom prst="rect">
            <a:avLst/>
          </a:prstGeom>
          <a:solidFill>
            <a:srgbClr val="44536A"/>
          </a:solidFill>
        </p:spPr>
        <p:txBody>
          <a:bodyPr vert="horz" wrap="square" lIns="0" tIns="23495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185"/>
              </a:spcBef>
            </a:pPr>
            <a:r>
              <a:rPr sz="2800" b="1" spc="-21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800" b="1" spc="-145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54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800" b="1" spc="-125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2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X/100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7195" y="1036319"/>
            <a:ext cx="992124" cy="48097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53678" y="520446"/>
            <a:ext cx="952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60" dirty="0">
                <a:latin typeface="Arial" panose="020B0604020202020204"/>
                <a:cs typeface="Arial" panose="020B0604020202020204"/>
              </a:rPr>
              <a:t>Perfect</a:t>
            </a:r>
            <a:r>
              <a:rPr sz="16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229" dirty="0">
                <a:latin typeface="Arial" panose="020B0604020202020204"/>
                <a:cs typeface="Arial" panose="020B0604020202020204"/>
              </a:rPr>
              <a:t>health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46921" y="5800750"/>
            <a:ext cx="1311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40" dirty="0">
                <a:latin typeface="Arial" panose="020B0604020202020204"/>
                <a:cs typeface="Arial" panose="020B0604020202020204"/>
              </a:rPr>
              <a:t>Worst</a:t>
            </a:r>
            <a:r>
              <a:rPr sz="16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254" dirty="0">
                <a:latin typeface="Arial" panose="020B0604020202020204"/>
                <a:cs typeface="Arial" panose="020B0604020202020204"/>
              </a:rPr>
              <a:t>state</a:t>
            </a:r>
            <a:r>
              <a:rPr sz="16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285" dirty="0">
                <a:latin typeface="Arial" panose="020B0604020202020204"/>
                <a:cs typeface="Arial" panose="020B0604020202020204"/>
              </a:rPr>
              <a:t>=</a:t>
            </a:r>
            <a:r>
              <a:rPr sz="16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270" dirty="0">
                <a:latin typeface="Arial" panose="020B0604020202020204"/>
                <a:cs typeface="Arial" panose="020B0604020202020204"/>
              </a:rPr>
              <a:t>death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80931" y="1851786"/>
            <a:ext cx="422275" cy="417830"/>
            <a:chOff x="8980931" y="1851786"/>
            <a:chExt cx="422275" cy="417830"/>
          </a:xfrm>
        </p:grpSpPr>
        <p:sp>
          <p:nvSpPr>
            <p:cNvPr id="10" name="object 10"/>
            <p:cNvSpPr/>
            <p:nvPr/>
          </p:nvSpPr>
          <p:spPr>
            <a:xfrm>
              <a:off x="8987281" y="1858136"/>
              <a:ext cx="409575" cy="405130"/>
            </a:xfrm>
            <a:custGeom>
              <a:avLst/>
              <a:gdLst/>
              <a:ahLst/>
              <a:cxnLst/>
              <a:rect l="l" t="t" r="r" b="b"/>
              <a:pathLst>
                <a:path w="409575" h="405130">
                  <a:moveTo>
                    <a:pt x="312800" y="0"/>
                  </a:moveTo>
                  <a:lnTo>
                    <a:pt x="204724" y="105537"/>
                  </a:lnTo>
                  <a:lnTo>
                    <a:pt x="96647" y="0"/>
                  </a:lnTo>
                  <a:lnTo>
                    <a:pt x="0" y="98933"/>
                  </a:lnTo>
                  <a:lnTo>
                    <a:pt x="105791" y="202311"/>
                  </a:lnTo>
                  <a:lnTo>
                    <a:pt x="0" y="305688"/>
                  </a:lnTo>
                  <a:lnTo>
                    <a:pt x="96647" y="404622"/>
                  </a:lnTo>
                  <a:lnTo>
                    <a:pt x="204724" y="299085"/>
                  </a:lnTo>
                  <a:lnTo>
                    <a:pt x="312800" y="404622"/>
                  </a:lnTo>
                  <a:lnTo>
                    <a:pt x="409448" y="305688"/>
                  </a:lnTo>
                  <a:lnTo>
                    <a:pt x="303657" y="202311"/>
                  </a:lnTo>
                  <a:lnTo>
                    <a:pt x="409448" y="98933"/>
                  </a:lnTo>
                  <a:lnTo>
                    <a:pt x="312800" y="0"/>
                  </a:lnTo>
                  <a:close/>
                </a:path>
              </a:pathLst>
            </a:custGeom>
            <a:solidFill>
              <a:srgbClr val="1749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87281" y="1858136"/>
              <a:ext cx="409575" cy="405130"/>
            </a:xfrm>
            <a:custGeom>
              <a:avLst/>
              <a:gdLst/>
              <a:ahLst/>
              <a:cxnLst/>
              <a:rect l="l" t="t" r="r" b="b"/>
              <a:pathLst>
                <a:path w="409575" h="405130">
                  <a:moveTo>
                    <a:pt x="0" y="98933"/>
                  </a:moveTo>
                  <a:lnTo>
                    <a:pt x="96647" y="0"/>
                  </a:lnTo>
                  <a:lnTo>
                    <a:pt x="204724" y="105537"/>
                  </a:lnTo>
                  <a:lnTo>
                    <a:pt x="312800" y="0"/>
                  </a:lnTo>
                  <a:lnTo>
                    <a:pt x="409448" y="98933"/>
                  </a:lnTo>
                  <a:lnTo>
                    <a:pt x="303657" y="202311"/>
                  </a:lnTo>
                  <a:lnTo>
                    <a:pt x="409448" y="305688"/>
                  </a:lnTo>
                  <a:lnTo>
                    <a:pt x="312800" y="404622"/>
                  </a:lnTo>
                  <a:lnTo>
                    <a:pt x="204724" y="299085"/>
                  </a:lnTo>
                  <a:lnTo>
                    <a:pt x="96647" y="404622"/>
                  </a:lnTo>
                  <a:lnTo>
                    <a:pt x="0" y="305688"/>
                  </a:lnTo>
                  <a:lnTo>
                    <a:pt x="105791" y="202311"/>
                  </a:lnTo>
                  <a:lnTo>
                    <a:pt x="0" y="98933"/>
                  </a:lnTo>
                  <a:close/>
                </a:path>
              </a:pathLst>
            </a:custGeom>
            <a:ln w="12699">
              <a:solidFill>
                <a:srgbClr val="041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709909" y="2742691"/>
            <a:ext cx="10591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0" dirty="0">
                <a:latin typeface="Arial" panose="020B0604020202020204"/>
                <a:cs typeface="Arial" panose="020B0604020202020204"/>
              </a:rPr>
              <a:t>X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65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35" dirty="0">
                <a:latin typeface="Arial" panose="020B0604020202020204"/>
                <a:cs typeface="Arial" panose="020B0604020202020204"/>
              </a:rPr>
              <a:t>80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800" spc="-165" dirty="0">
                <a:latin typeface="Arial" panose="020B0604020202020204"/>
                <a:cs typeface="Arial" panose="020B0604020202020204"/>
              </a:rPr>
              <a:t>U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65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35" dirty="0">
                <a:latin typeface="Arial" panose="020B0604020202020204"/>
                <a:cs typeface="Arial" panose="020B0604020202020204"/>
              </a:rPr>
              <a:t>80/100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20980">
              <a:lnSpc>
                <a:spcPct val="100000"/>
              </a:lnSpc>
            </a:pPr>
            <a:r>
              <a:rPr sz="1800" spc="-165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0.8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42040" y="1839214"/>
            <a:ext cx="18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20" dirty="0">
                <a:latin typeface="Arial" panose="020B0604020202020204"/>
                <a:cs typeface="Arial" panose="020B0604020202020204"/>
              </a:rPr>
              <a:t>X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052050" y="1985517"/>
            <a:ext cx="892175" cy="151765"/>
            <a:chOff x="10052050" y="1985517"/>
            <a:chExt cx="892175" cy="151765"/>
          </a:xfrm>
        </p:grpSpPr>
        <p:sp>
          <p:nvSpPr>
            <p:cNvPr id="15" name="object 15"/>
            <p:cNvSpPr/>
            <p:nvPr/>
          </p:nvSpPr>
          <p:spPr>
            <a:xfrm>
              <a:off x="10058400" y="1991867"/>
              <a:ext cx="879475" cy="139065"/>
            </a:xfrm>
            <a:custGeom>
              <a:avLst/>
              <a:gdLst/>
              <a:ahLst/>
              <a:cxnLst/>
              <a:rect l="l" t="t" r="r" b="b"/>
              <a:pathLst>
                <a:path w="879475" h="139064">
                  <a:moveTo>
                    <a:pt x="69342" y="0"/>
                  </a:moveTo>
                  <a:lnTo>
                    <a:pt x="0" y="69342"/>
                  </a:lnTo>
                  <a:lnTo>
                    <a:pt x="69342" y="138684"/>
                  </a:lnTo>
                  <a:lnTo>
                    <a:pt x="69342" y="104012"/>
                  </a:lnTo>
                  <a:lnTo>
                    <a:pt x="879348" y="104012"/>
                  </a:lnTo>
                  <a:lnTo>
                    <a:pt x="879348" y="34671"/>
                  </a:lnTo>
                  <a:lnTo>
                    <a:pt x="69342" y="34671"/>
                  </a:lnTo>
                  <a:lnTo>
                    <a:pt x="69342" y="0"/>
                  </a:lnTo>
                  <a:close/>
                </a:path>
              </a:pathLst>
            </a:custGeom>
            <a:solidFill>
              <a:srgbClr val="1749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58400" y="1991867"/>
              <a:ext cx="879475" cy="139065"/>
            </a:xfrm>
            <a:custGeom>
              <a:avLst/>
              <a:gdLst/>
              <a:ahLst/>
              <a:cxnLst/>
              <a:rect l="l" t="t" r="r" b="b"/>
              <a:pathLst>
                <a:path w="879475" h="139064">
                  <a:moveTo>
                    <a:pt x="0" y="69342"/>
                  </a:moveTo>
                  <a:lnTo>
                    <a:pt x="69342" y="0"/>
                  </a:lnTo>
                  <a:lnTo>
                    <a:pt x="69342" y="34671"/>
                  </a:lnTo>
                  <a:lnTo>
                    <a:pt x="879348" y="34671"/>
                  </a:lnTo>
                  <a:lnTo>
                    <a:pt x="879348" y="104012"/>
                  </a:lnTo>
                  <a:lnTo>
                    <a:pt x="69342" y="104012"/>
                  </a:lnTo>
                  <a:lnTo>
                    <a:pt x="69342" y="138684"/>
                  </a:lnTo>
                  <a:lnTo>
                    <a:pt x="0" y="69342"/>
                  </a:lnTo>
                  <a:close/>
                </a:path>
              </a:pathLst>
            </a:custGeom>
            <a:ln w="12700">
              <a:solidFill>
                <a:srgbClr val="041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8E4958F-CDC6-6F8A-9850-CED99B3E842C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29</a:t>
            </a:fld>
            <a:endParaRPr lang="en-K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1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Standard</a:t>
            </a:r>
            <a:r>
              <a:rPr spc="-165" dirty="0"/>
              <a:t> </a:t>
            </a:r>
            <a:r>
              <a:rPr spc="-200" dirty="0"/>
              <a:t>gamble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05464" y="62610"/>
            <a:ext cx="424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P.32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81365" y="5269801"/>
            <a:ext cx="4832985" cy="730885"/>
            <a:chOff x="1781365" y="5269801"/>
            <a:chExt cx="4832985" cy="730885"/>
          </a:xfrm>
        </p:grpSpPr>
        <p:sp>
          <p:nvSpPr>
            <p:cNvPr id="5" name="object 5"/>
            <p:cNvSpPr/>
            <p:nvPr/>
          </p:nvSpPr>
          <p:spPr>
            <a:xfrm>
              <a:off x="1786127" y="5274564"/>
              <a:ext cx="4823460" cy="721360"/>
            </a:xfrm>
            <a:custGeom>
              <a:avLst/>
              <a:gdLst/>
              <a:ahLst/>
              <a:cxnLst/>
              <a:rect l="l" t="t" r="r" b="b"/>
              <a:pathLst>
                <a:path w="4823459" h="721360">
                  <a:moveTo>
                    <a:pt x="4703318" y="0"/>
                  </a:moveTo>
                  <a:lnTo>
                    <a:pt x="120142" y="0"/>
                  </a:lnTo>
                  <a:lnTo>
                    <a:pt x="73402" y="9449"/>
                  </a:lnTo>
                  <a:lnTo>
                    <a:pt x="35210" y="35210"/>
                  </a:lnTo>
                  <a:lnTo>
                    <a:pt x="9449" y="73402"/>
                  </a:lnTo>
                  <a:lnTo>
                    <a:pt x="0" y="120142"/>
                  </a:lnTo>
                  <a:lnTo>
                    <a:pt x="0" y="600710"/>
                  </a:lnTo>
                  <a:lnTo>
                    <a:pt x="9449" y="647476"/>
                  </a:lnTo>
                  <a:lnTo>
                    <a:pt x="35210" y="685665"/>
                  </a:lnTo>
                  <a:lnTo>
                    <a:pt x="73402" y="711411"/>
                  </a:lnTo>
                  <a:lnTo>
                    <a:pt x="120142" y="720852"/>
                  </a:lnTo>
                  <a:lnTo>
                    <a:pt x="4703318" y="720852"/>
                  </a:lnTo>
                  <a:lnTo>
                    <a:pt x="4750057" y="711411"/>
                  </a:lnTo>
                  <a:lnTo>
                    <a:pt x="4788249" y="685665"/>
                  </a:lnTo>
                  <a:lnTo>
                    <a:pt x="4814010" y="647476"/>
                  </a:lnTo>
                  <a:lnTo>
                    <a:pt x="4823460" y="600710"/>
                  </a:lnTo>
                  <a:lnTo>
                    <a:pt x="4823460" y="120142"/>
                  </a:lnTo>
                  <a:lnTo>
                    <a:pt x="4814010" y="73402"/>
                  </a:lnTo>
                  <a:lnTo>
                    <a:pt x="4788249" y="35210"/>
                  </a:lnTo>
                  <a:lnTo>
                    <a:pt x="4750057" y="9449"/>
                  </a:lnTo>
                  <a:lnTo>
                    <a:pt x="4703318" y="0"/>
                  </a:lnTo>
                  <a:close/>
                </a:path>
              </a:pathLst>
            </a:custGeom>
            <a:solidFill>
              <a:srgbClr val="4B8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86127" y="5274564"/>
              <a:ext cx="4823460" cy="721360"/>
            </a:xfrm>
            <a:custGeom>
              <a:avLst/>
              <a:gdLst/>
              <a:ahLst/>
              <a:cxnLst/>
              <a:rect l="l" t="t" r="r" b="b"/>
              <a:pathLst>
                <a:path w="4823459" h="721360">
                  <a:moveTo>
                    <a:pt x="0" y="120142"/>
                  </a:moveTo>
                  <a:lnTo>
                    <a:pt x="9449" y="73402"/>
                  </a:lnTo>
                  <a:lnTo>
                    <a:pt x="35210" y="35210"/>
                  </a:lnTo>
                  <a:lnTo>
                    <a:pt x="73402" y="9449"/>
                  </a:lnTo>
                  <a:lnTo>
                    <a:pt x="120142" y="0"/>
                  </a:lnTo>
                  <a:lnTo>
                    <a:pt x="4703318" y="0"/>
                  </a:lnTo>
                  <a:lnTo>
                    <a:pt x="4750057" y="9449"/>
                  </a:lnTo>
                  <a:lnTo>
                    <a:pt x="4788249" y="35210"/>
                  </a:lnTo>
                  <a:lnTo>
                    <a:pt x="4814010" y="73402"/>
                  </a:lnTo>
                  <a:lnTo>
                    <a:pt x="4823460" y="120142"/>
                  </a:lnTo>
                  <a:lnTo>
                    <a:pt x="4823460" y="600710"/>
                  </a:lnTo>
                  <a:lnTo>
                    <a:pt x="4814010" y="647476"/>
                  </a:lnTo>
                  <a:lnTo>
                    <a:pt x="4788249" y="685665"/>
                  </a:lnTo>
                  <a:lnTo>
                    <a:pt x="4750057" y="711411"/>
                  </a:lnTo>
                  <a:lnTo>
                    <a:pt x="4703318" y="720852"/>
                  </a:lnTo>
                  <a:lnTo>
                    <a:pt x="120142" y="720852"/>
                  </a:lnTo>
                  <a:lnTo>
                    <a:pt x="73402" y="711411"/>
                  </a:lnTo>
                  <a:lnTo>
                    <a:pt x="35210" y="685665"/>
                  </a:lnTo>
                  <a:lnTo>
                    <a:pt x="9449" y="647476"/>
                  </a:lnTo>
                  <a:lnTo>
                    <a:pt x="0" y="600710"/>
                  </a:lnTo>
                  <a:lnTo>
                    <a:pt x="0" y="12014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6939" y="1538871"/>
            <a:ext cx="10170795" cy="426275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b="1" spc="-17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b="1" spc="-8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5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subject</a:t>
            </a:r>
            <a:r>
              <a:rPr sz="2000" b="1" spc="-10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0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000" b="1" spc="-7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4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offered</a:t>
            </a:r>
            <a:r>
              <a:rPr sz="2000" b="1" spc="-6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spc="-7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alternatives</a:t>
            </a:r>
            <a:r>
              <a:rPr sz="2000" b="1" spc="-6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8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b="1" spc="-9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04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choose</a:t>
            </a:r>
            <a:r>
              <a:rPr sz="2000" b="1" spc="-9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from: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270"/>
              </a:lnSpc>
              <a:spcBef>
                <a:spcPts val="755"/>
              </a:spcBef>
              <a:tabLst>
                <a:tab pos="1152525" algn="l"/>
              </a:tabLst>
            </a:pPr>
            <a:r>
              <a:rPr sz="2000" b="1" u="sng" spc="-204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 panose="020B0604020202020204"/>
                <a:cs typeface="Arial" panose="020B0604020202020204"/>
              </a:rPr>
              <a:t>Choice</a:t>
            </a:r>
            <a:r>
              <a:rPr sz="2000" b="1" u="sng" spc="-8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000" b="1" u="sng" spc="-2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Tahoma" panose="020B0604030504040204"/>
                <a:cs typeface="Tahoma" panose="020B0604030504040204"/>
              </a:rPr>
              <a:t>:</a:t>
            </a:r>
            <a:r>
              <a:rPr sz="2000" b="1" dirty="0">
                <a:solidFill>
                  <a:srgbClr val="006600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2000" b="1" spc="-25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gamble</a:t>
            </a:r>
            <a:r>
              <a:rPr sz="2000" b="1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0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probability</a:t>
            </a:r>
            <a:r>
              <a:rPr sz="20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achieving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perfect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0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000" b="1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probability</a:t>
            </a:r>
            <a:r>
              <a:rPr sz="20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1−p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241300">
              <a:lnSpc>
                <a:spcPts val="2270"/>
              </a:lnSpc>
            </a:pP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immediate</a:t>
            </a:r>
            <a:r>
              <a:rPr sz="2000" b="1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death.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241300" marR="5080" indent="-229235">
              <a:lnSpc>
                <a:spcPts val="2270"/>
              </a:lnSpc>
              <a:spcBef>
                <a:spcPts val="845"/>
              </a:spcBef>
            </a:pPr>
            <a:r>
              <a:rPr sz="2000" b="1" u="sng" spc="-20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 panose="020B0604020202020204"/>
                <a:cs typeface="Arial" panose="020B0604020202020204"/>
              </a:rPr>
              <a:t>Choice</a:t>
            </a:r>
            <a:r>
              <a:rPr sz="2000" b="1" u="sng" spc="-8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000" b="1" u="sng" spc="-17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 panose="020B0604020202020204"/>
                <a:cs typeface="Arial" panose="020B0604020202020204"/>
              </a:rPr>
              <a:t>B</a:t>
            </a:r>
            <a:r>
              <a:rPr sz="2000" b="1" spc="-170" dirty="0">
                <a:solidFill>
                  <a:srgbClr val="006600"/>
                </a:solidFill>
                <a:latin typeface="Tahoma" panose="020B0604030504040204"/>
                <a:cs typeface="Tahoma" panose="020B0604030504040204"/>
              </a:rPr>
              <a:t>:</a:t>
            </a:r>
            <a:r>
              <a:rPr sz="2000" b="1" spc="20" dirty="0">
                <a:solidFill>
                  <a:srgbClr val="0066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30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-85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certain</a:t>
            </a:r>
            <a:r>
              <a:rPr sz="2000" b="1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living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chronic</a:t>
            </a:r>
            <a:r>
              <a:rPr sz="20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(e.g.,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dialysis)</a:t>
            </a:r>
            <a:r>
              <a:rPr sz="20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rest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their life.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 marL="241300" marR="172720" indent="-229235">
              <a:lnSpc>
                <a:spcPct val="91000"/>
              </a:lnSpc>
            </a:pPr>
            <a:r>
              <a:rPr sz="20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Probability</a:t>
            </a:r>
            <a:r>
              <a:rPr sz="2000" b="1" spc="3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varied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(0.8,</a:t>
            </a:r>
            <a:r>
              <a:rPr sz="20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0.7,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3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…,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0.5,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0.45,</a:t>
            </a:r>
            <a:r>
              <a:rPr sz="20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3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…)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until</a:t>
            </a:r>
            <a:r>
              <a:rPr sz="20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respondent</a:t>
            </a:r>
            <a:r>
              <a:rPr sz="20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000" b="1" u="sng" spc="-9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000" b="1" u="sng" spc="-10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indifferent</a:t>
            </a:r>
            <a:r>
              <a:rPr sz="2000" b="1" u="sng" spc="-120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between </a:t>
            </a:r>
            <a:r>
              <a:rPr sz="2000" b="1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b="1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certain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outcome</a:t>
            </a:r>
            <a:r>
              <a:rPr sz="20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gamble.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indifference</a:t>
            </a:r>
            <a:r>
              <a:rPr sz="2000" b="1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probability,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p,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0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5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the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000" b="1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</a:t>
            </a:r>
            <a:r>
              <a:rPr sz="20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(0)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0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full</a:t>
            </a:r>
            <a:r>
              <a:rPr sz="20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 </a:t>
            </a:r>
            <a:r>
              <a:rPr sz="2000" b="1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(1).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97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 marL="1356360">
              <a:lnSpc>
                <a:spcPct val="100000"/>
              </a:lnSpc>
            </a:pPr>
            <a:r>
              <a:rPr sz="28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800" spc="-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800" spc="-14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14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800" spc="-14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spc="-13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4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800" spc="-1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8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P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D84614-C039-281D-8F78-6F8347B3F687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30</a:t>
            </a:fld>
            <a:endParaRPr lang="en-K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38400" y="3771900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38400" y="2324100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0" y="457200"/>
                </a:moveTo>
                <a:lnTo>
                  <a:pt x="0" y="1143000"/>
                </a:lnTo>
              </a:path>
              <a:path w="3429000" h="1143000">
                <a:moveTo>
                  <a:pt x="0" y="457200"/>
                </a:moveTo>
                <a:lnTo>
                  <a:pt x="1905000" y="457200"/>
                </a:lnTo>
              </a:path>
              <a:path w="3429000" h="1143000">
                <a:moveTo>
                  <a:pt x="1905000" y="0"/>
                </a:moveTo>
                <a:lnTo>
                  <a:pt x="1905000" y="990600"/>
                </a:lnTo>
              </a:path>
              <a:path w="3429000" h="1143000">
                <a:moveTo>
                  <a:pt x="1905000" y="0"/>
                </a:moveTo>
                <a:lnTo>
                  <a:pt x="3429000" y="0"/>
                </a:lnTo>
              </a:path>
              <a:path w="3429000" h="1143000">
                <a:moveTo>
                  <a:pt x="1905000" y="990600"/>
                </a:moveTo>
                <a:lnTo>
                  <a:pt x="3429000" y="990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38400" y="4457700"/>
            <a:ext cx="3429000" cy="0"/>
          </a:xfrm>
          <a:custGeom>
            <a:avLst/>
            <a:gdLst/>
            <a:ahLst/>
            <a:cxnLst/>
            <a:rect l="l" t="t" r="r" b="b"/>
            <a:pathLst>
              <a:path w="3429000">
                <a:moveTo>
                  <a:pt x="0" y="0"/>
                </a:moveTo>
                <a:lnTo>
                  <a:pt x="3429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57437" y="3462337"/>
            <a:ext cx="161925" cy="314325"/>
            <a:chOff x="2357437" y="3462337"/>
            <a:chExt cx="161925" cy="314325"/>
          </a:xfrm>
        </p:grpSpPr>
        <p:sp>
          <p:nvSpPr>
            <p:cNvPr id="6" name="object 6"/>
            <p:cNvSpPr/>
            <p:nvPr/>
          </p:nvSpPr>
          <p:spPr>
            <a:xfrm>
              <a:off x="2362200" y="34671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62200" y="34671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304800"/>
                  </a:moveTo>
                  <a:lnTo>
                    <a:pt x="152400" y="3048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FF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224337" y="2624137"/>
            <a:ext cx="238125" cy="314325"/>
            <a:chOff x="4224337" y="2624137"/>
            <a:chExt cx="238125" cy="314325"/>
          </a:xfrm>
        </p:grpSpPr>
        <p:sp>
          <p:nvSpPr>
            <p:cNvPr id="9" name="object 9"/>
            <p:cNvSpPr/>
            <p:nvPr/>
          </p:nvSpPr>
          <p:spPr>
            <a:xfrm>
              <a:off x="4229100" y="26289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14300" y="0"/>
                  </a:moveTo>
                  <a:lnTo>
                    <a:pt x="46798" y="29394"/>
                  </a:lnTo>
                  <a:lnTo>
                    <a:pt x="22055" y="62380"/>
                  </a:lnTo>
                  <a:lnTo>
                    <a:pt x="5827" y="104217"/>
                  </a:lnTo>
                  <a:lnTo>
                    <a:pt x="0" y="152400"/>
                  </a:lnTo>
                  <a:lnTo>
                    <a:pt x="5827" y="200582"/>
                  </a:lnTo>
                  <a:lnTo>
                    <a:pt x="22055" y="242419"/>
                  </a:lnTo>
                  <a:lnTo>
                    <a:pt x="46798" y="275405"/>
                  </a:lnTo>
                  <a:lnTo>
                    <a:pt x="78175" y="297033"/>
                  </a:lnTo>
                  <a:lnTo>
                    <a:pt x="114300" y="304800"/>
                  </a:lnTo>
                  <a:lnTo>
                    <a:pt x="150424" y="297033"/>
                  </a:lnTo>
                  <a:lnTo>
                    <a:pt x="181801" y="275405"/>
                  </a:lnTo>
                  <a:lnTo>
                    <a:pt x="206544" y="242419"/>
                  </a:lnTo>
                  <a:lnTo>
                    <a:pt x="222772" y="200582"/>
                  </a:lnTo>
                  <a:lnTo>
                    <a:pt x="228600" y="152400"/>
                  </a:lnTo>
                  <a:lnTo>
                    <a:pt x="222772" y="104217"/>
                  </a:lnTo>
                  <a:lnTo>
                    <a:pt x="206544" y="62380"/>
                  </a:lnTo>
                  <a:lnTo>
                    <a:pt x="181801" y="29394"/>
                  </a:lnTo>
                  <a:lnTo>
                    <a:pt x="150424" y="7766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29100" y="26289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152400"/>
                  </a:moveTo>
                  <a:lnTo>
                    <a:pt x="5827" y="104217"/>
                  </a:lnTo>
                  <a:lnTo>
                    <a:pt x="22055" y="62380"/>
                  </a:lnTo>
                  <a:lnTo>
                    <a:pt x="46798" y="29394"/>
                  </a:lnTo>
                  <a:lnTo>
                    <a:pt x="78175" y="7766"/>
                  </a:lnTo>
                  <a:lnTo>
                    <a:pt x="114300" y="0"/>
                  </a:lnTo>
                  <a:lnTo>
                    <a:pt x="150424" y="7766"/>
                  </a:lnTo>
                  <a:lnTo>
                    <a:pt x="181801" y="29394"/>
                  </a:lnTo>
                  <a:lnTo>
                    <a:pt x="206544" y="62380"/>
                  </a:lnTo>
                  <a:lnTo>
                    <a:pt x="222772" y="104217"/>
                  </a:lnTo>
                  <a:lnTo>
                    <a:pt x="228600" y="152400"/>
                  </a:lnTo>
                  <a:lnTo>
                    <a:pt x="222772" y="200582"/>
                  </a:lnTo>
                  <a:lnTo>
                    <a:pt x="206544" y="242419"/>
                  </a:lnTo>
                  <a:lnTo>
                    <a:pt x="181801" y="275405"/>
                  </a:lnTo>
                  <a:lnTo>
                    <a:pt x="150424" y="297033"/>
                  </a:lnTo>
                  <a:lnTo>
                    <a:pt x="114300" y="304800"/>
                  </a:lnTo>
                  <a:lnTo>
                    <a:pt x="78175" y="297033"/>
                  </a:lnTo>
                  <a:lnTo>
                    <a:pt x="46798" y="275405"/>
                  </a:lnTo>
                  <a:lnTo>
                    <a:pt x="22055" y="242419"/>
                  </a:lnTo>
                  <a:lnTo>
                    <a:pt x="5827" y="200582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FF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41194" y="4522089"/>
            <a:ext cx="1873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Alternative</a:t>
            </a:r>
            <a:r>
              <a:rPr sz="2400" b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4994" y="2235834"/>
            <a:ext cx="1940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7680" algn="l"/>
              </a:tabLst>
            </a:pPr>
            <a:r>
              <a:rPr sz="2400" b="1" spc="-10" dirty="0">
                <a:latin typeface="Arial" panose="020B0604020202020204"/>
                <a:cs typeface="Arial" panose="020B0604020202020204"/>
              </a:rPr>
              <a:t>Alternative</a:t>
            </a:r>
            <a:r>
              <a:rPr sz="2400" b="1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a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828" y="4280357"/>
            <a:ext cx="32486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Chronic</a:t>
            </a:r>
            <a:r>
              <a:rPr sz="24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health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state</a:t>
            </a:r>
            <a:r>
              <a:rPr sz="24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A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8028" y="2146808"/>
            <a:ext cx="2041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Perfect</a:t>
            </a:r>
            <a:r>
              <a:rPr sz="24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health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04228" y="3061461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 panose="020B0604020202020204"/>
                <a:cs typeface="Arial" panose="020B0604020202020204"/>
              </a:rPr>
              <a:t>Death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2952" y="2299208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(p)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27575" y="3290061"/>
            <a:ext cx="68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Arial" panose="020B0604020202020204"/>
                <a:cs typeface="Arial" panose="020B0604020202020204"/>
              </a:rPr>
              <a:t>(1-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p)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53" rIns="0" bIns="0" rtlCol="0">
            <a:spAutoFit/>
          </a:bodyPr>
          <a:lstStyle/>
          <a:p>
            <a:pPr marL="2571750">
              <a:lnSpc>
                <a:spcPct val="100000"/>
              </a:lnSpc>
              <a:spcBef>
                <a:spcPts val="100"/>
              </a:spcBef>
            </a:pPr>
            <a:r>
              <a:rPr sz="6000" b="1" spc="-470" dirty="0">
                <a:latin typeface="Arial" panose="020B0604020202020204"/>
                <a:cs typeface="Arial" panose="020B0604020202020204"/>
              </a:rPr>
              <a:t>Standard</a:t>
            </a:r>
            <a:r>
              <a:rPr sz="6000" b="1" spc="-285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455" dirty="0">
                <a:latin typeface="Arial" panose="020B0604020202020204"/>
                <a:cs typeface="Arial" panose="020B0604020202020204"/>
              </a:rPr>
              <a:t>Gamble</a:t>
            </a:r>
            <a:endParaRPr sz="6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7061" y="5236273"/>
            <a:ext cx="5266055" cy="586105"/>
            <a:chOff x="2397061" y="5236273"/>
            <a:chExt cx="5266055" cy="586105"/>
          </a:xfrm>
        </p:grpSpPr>
        <p:sp>
          <p:nvSpPr>
            <p:cNvPr id="20" name="object 20"/>
            <p:cNvSpPr/>
            <p:nvPr/>
          </p:nvSpPr>
          <p:spPr>
            <a:xfrm>
              <a:off x="2401823" y="5241035"/>
              <a:ext cx="5256530" cy="576580"/>
            </a:xfrm>
            <a:custGeom>
              <a:avLst/>
              <a:gdLst/>
              <a:ahLst/>
              <a:cxnLst/>
              <a:rect l="l" t="t" r="r" b="b"/>
              <a:pathLst>
                <a:path w="5256530" h="576579">
                  <a:moveTo>
                    <a:pt x="5160264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1"/>
                  </a:lnTo>
                  <a:lnTo>
                    <a:pt x="0" y="480059"/>
                  </a:lnTo>
                  <a:lnTo>
                    <a:pt x="7536" y="517430"/>
                  </a:lnTo>
                  <a:lnTo>
                    <a:pt x="28098" y="547949"/>
                  </a:lnTo>
                  <a:lnTo>
                    <a:pt x="58614" y="568526"/>
                  </a:lnTo>
                  <a:lnTo>
                    <a:pt x="96012" y="576072"/>
                  </a:lnTo>
                  <a:lnTo>
                    <a:pt x="5160264" y="576072"/>
                  </a:lnTo>
                  <a:lnTo>
                    <a:pt x="5197661" y="568526"/>
                  </a:lnTo>
                  <a:lnTo>
                    <a:pt x="5228177" y="547949"/>
                  </a:lnTo>
                  <a:lnTo>
                    <a:pt x="5248739" y="517430"/>
                  </a:lnTo>
                  <a:lnTo>
                    <a:pt x="5256276" y="480059"/>
                  </a:lnTo>
                  <a:lnTo>
                    <a:pt x="5256276" y="96011"/>
                  </a:lnTo>
                  <a:lnTo>
                    <a:pt x="5248739" y="58614"/>
                  </a:lnTo>
                  <a:lnTo>
                    <a:pt x="5228177" y="28098"/>
                  </a:lnTo>
                  <a:lnTo>
                    <a:pt x="5197661" y="7536"/>
                  </a:lnTo>
                  <a:lnTo>
                    <a:pt x="5160264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01823" y="5241035"/>
              <a:ext cx="5256530" cy="576580"/>
            </a:xfrm>
            <a:custGeom>
              <a:avLst/>
              <a:gdLst/>
              <a:ahLst/>
              <a:cxnLst/>
              <a:rect l="l" t="t" r="r" b="b"/>
              <a:pathLst>
                <a:path w="5256530" h="576579">
                  <a:moveTo>
                    <a:pt x="0" y="96011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5160264" y="0"/>
                  </a:lnTo>
                  <a:lnTo>
                    <a:pt x="5197661" y="7536"/>
                  </a:lnTo>
                  <a:lnTo>
                    <a:pt x="5228177" y="28098"/>
                  </a:lnTo>
                  <a:lnTo>
                    <a:pt x="5248739" y="58614"/>
                  </a:lnTo>
                  <a:lnTo>
                    <a:pt x="5256276" y="96011"/>
                  </a:lnTo>
                  <a:lnTo>
                    <a:pt x="5256276" y="480059"/>
                  </a:lnTo>
                  <a:lnTo>
                    <a:pt x="5248739" y="517430"/>
                  </a:lnTo>
                  <a:lnTo>
                    <a:pt x="5228177" y="547949"/>
                  </a:lnTo>
                  <a:lnTo>
                    <a:pt x="5197661" y="568526"/>
                  </a:lnTo>
                  <a:lnTo>
                    <a:pt x="5160264" y="576072"/>
                  </a:lnTo>
                  <a:lnTo>
                    <a:pt x="96012" y="576072"/>
                  </a:lnTo>
                  <a:lnTo>
                    <a:pt x="58614" y="568526"/>
                  </a:lnTo>
                  <a:lnTo>
                    <a:pt x="28098" y="547949"/>
                  </a:lnTo>
                  <a:lnTo>
                    <a:pt x="7536" y="517430"/>
                  </a:lnTo>
                  <a:lnTo>
                    <a:pt x="0" y="480059"/>
                  </a:lnTo>
                  <a:lnTo>
                    <a:pt x="0" y="9601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860929" y="5314289"/>
            <a:ext cx="4594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2400" b="1" spc="-105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(of</a:t>
            </a:r>
            <a:r>
              <a:rPr sz="2400" b="1" spc="-114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1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chronic</a:t>
            </a:r>
            <a:r>
              <a:rPr sz="2400" b="1" spc="-13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b="1" spc="-11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5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400" b="1" spc="-95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85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A)</a:t>
            </a:r>
            <a:r>
              <a:rPr sz="2400" b="1" spc="-114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1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05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0" dirty="0">
                <a:solidFill>
                  <a:srgbClr val="F6F3BD"/>
                </a:solidFill>
                <a:latin typeface="Arial" panose="020B0604020202020204"/>
                <a:cs typeface="Arial" panose="020B0604020202020204"/>
              </a:rPr>
              <a:t>p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C89BF5FB-4A39-027F-7C1A-B1B1448B7AEC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31</a:t>
            </a:fld>
            <a:endParaRPr lang="en-K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58546"/>
            <a:ext cx="45796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425" dirty="0">
                <a:latin typeface="Arial" panose="020B0604020202020204"/>
                <a:cs typeface="Arial" panose="020B0604020202020204"/>
              </a:rPr>
              <a:t>Time</a:t>
            </a:r>
            <a:r>
              <a:rPr sz="6000" b="1" spc="-300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265" dirty="0">
                <a:latin typeface="Arial" panose="020B0604020202020204"/>
                <a:cs typeface="Arial" panose="020B0604020202020204"/>
              </a:rPr>
              <a:t>trade-</a:t>
            </a:r>
            <a:r>
              <a:rPr sz="6000" b="1" spc="-175" dirty="0">
                <a:latin typeface="Arial" panose="020B0604020202020204"/>
                <a:cs typeface="Arial" panose="020B0604020202020204"/>
              </a:rPr>
              <a:t>off</a:t>
            </a:r>
            <a:endParaRPr sz="6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10877" y="5230177"/>
            <a:ext cx="5770245" cy="728980"/>
            <a:chOff x="3210877" y="5230177"/>
            <a:chExt cx="5770245" cy="728980"/>
          </a:xfrm>
        </p:grpSpPr>
        <p:sp>
          <p:nvSpPr>
            <p:cNvPr id="4" name="object 4"/>
            <p:cNvSpPr/>
            <p:nvPr/>
          </p:nvSpPr>
          <p:spPr>
            <a:xfrm>
              <a:off x="3215639" y="5234940"/>
              <a:ext cx="5760720" cy="719455"/>
            </a:xfrm>
            <a:custGeom>
              <a:avLst/>
              <a:gdLst/>
              <a:ahLst/>
              <a:cxnLst/>
              <a:rect l="l" t="t" r="r" b="b"/>
              <a:pathLst>
                <a:path w="5760720" h="719454">
                  <a:moveTo>
                    <a:pt x="5640832" y="0"/>
                  </a:moveTo>
                  <a:lnTo>
                    <a:pt x="119887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8"/>
                  </a:lnTo>
                  <a:lnTo>
                    <a:pt x="0" y="599440"/>
                  </a:lnTo>
                  <a:lnTo>
                    <a:pt x="9427" y="646102"/>
                  </a:lnTo>
                  <a:lnTo>
                    <a:pt x="35131" y="684210"/>
                  </a:lnTo>
                  <a:lnTo>
                    <a:pt x="73241" y="709905"/>
                  </a:lnTo>
                  <a:lnTo>
                    <a:pt x="119887" y="719328"/>
                  </a:lnTo>
                  <a:lnTo>
                    <a:pt x="5640832" y="719328"/>
                  </a:lnTo>
                  <a:lnTo>
                    <a:pt x="5687478" y="709905"/>
                  </a:lnTo>
                  <a:lnTo>
                    <a:pt x="5725588" y="684210"/>
                  </a:lnTo>
                  <a:lnTo>
                    <a:pt x="5751292" y="646102"/>
                  </a:lnTo>
                  <a:lnTo>
                    <a:pt x="5760720" y="599440"/>
                  </a:lnTo>
                  <a:lnTo>
                    <a:pt x="5760720" y="119888"/>
                  </a:lnTo>
                  <a:lnTo>
                    <a:pt x="5751292" y="73241"/>
                  </a:lnTo>
                  <a:lnTo>
                    <a:pt x="5725588" y="35131"/>
                  </a:lnTo>
                  <a:lnTo>
                    <a:pt x="5687478" y="9427"/>
                  </a:lnTo>
                  <a:lnTo>
                    <a:pt x="5640832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5639" y="5234940"/>
              <a:ext cx="5760720" cy="719455"/>
            </a:xfrm>
            <a:custGeom>
              <a:avLst/>
              <a:gdLst/>
              <a:ahLst/>
              <a:cxnLst/>
              <a:rect l="l" t="t" r="r" b="b"/>
              <a:pathLst>
                <a:path w="5760720" h="719454">
                  <a:moveTo>
                    <a:pt x="0" y="119888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7" y="0"/>
                  </a:lnTo>
                  <a:lnTo>
                    <a:pt x="5640832" y="0"/>
                  </a:lnTo>
                  <a:lnTo>
                    <a:pt x="5687478" y="9427"/>
                  </a:lnTo>
                  <a:lnTo>
                    <a:pt x="5725588" y="35131"/>
                  </a:lnTo>
                  <a:lnTo>
                    <a:pt x="5751292" y="73241"/>
                  </a:lnTo>
                  <a:lnTo>
                    <a:pt x="5760720" y="119888"/>
                  </a:lnTo>
                  <a:lnTo>
                    <a:pt x="5760720" y="599440"/>
                  </a:lnTo>
                  <a:lnTo>
                    <a:pt x="5751292" y="646102"/>
                  </a:lnTo>
                  <a:lnTo>
                    <a:pt x="5725588" y="684210"/>
                  </a:lnTo>
                  <a:lnTo>
                    <a:pt x="5687478" y="709905"/>
                  </a:lnTo>
                  <a:lnTo>
                    <a:pt x="5640832" y="719328"/>
                  </a:lnTo>
                  <a:lnTo>
                    <a:pt x="119887" y="719328"/>
                  </a:lnTo>
                  <a:lnTo>
                    <a:pt x="73241" y="709905"/>
                  </a:lnTo>
                  <a:lnTo>
                    <a:pt x="35131" y="684210"/>
                  </a:lnTo>
                  <a:lnTo>
                    <a:pt x="9427" y="646102"/>
                  </a:lnTo>
                  <a:lnTo>
                    <a:pt x="0" y="599440"/>
                  </a:lnTo>
                  <a:lnTo>
                    <a:pt x="0" y="1198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6939" y="1711198"/>
            <a:ext cx="10212070" cy="41128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b="1" spc="-2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b="1" spc="-114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8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subject</a:t>
            </a:r>
            <a:r>
              <a:rPr sz="2400" b="1" spc="-1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9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400" b="1" spc="-1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asked</a:t>
            </a:r>
            <a:r>
              <a:rPr sz="2400" b="1" spc="-1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9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400" b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3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choose</a:t>
            </a:r>
            <a:r>
              <a:rPr sz="2400" b="1" spc="-12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2400" b="1" spc="-11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40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b="1" spc="-9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85" dirty="0">
                <a:solidFill>
                  <a:srgbClr val="0A9100"/>
                </a:solidFill>
                <a:latin typeface="Arial" panose="020B0604020202020204"/>
                <a:cs typeface="Arial" panose="020B0604020202020204"/>
              </a:rPr>
              <a:t>choices: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u="sng" spc="-240" dirty="0">
                <a:solidFill>
                  <a:srgbClr val="003300"/>
                </a:solidFill>
                <a:uFill>
                  <a:solidFill>
                    <a:srgbClr val="003300"/>
                  </a:solidFill>
                </a:uFill>
                <a:latin typeface="Arial" panose="020B0604020202020204"/>
                <a:cs typeface="Arial" panose="020B0604020202020204"/>
              </a:rPr>
              <a:t>Choice</a:t>
            </a:r>
            <a:r>
              <a:rPr sz="2400" b="1" u="sng" spc="-114" dirty="0">
                <a:solidFill>
                  <a:srgbClr val="003300"/>
                </a:solidFill>
                <a:uFill>
                  <a:solidFill>
                    <a:srgbClr val="0033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spc="-145" dirty="0">
                <a:solidFill>
                  <a:srgbClr val="003300"/>
                </a:solidFill>
                <a:uFill>
                  <a:solidFill>
                    <a:srgbClr val="003300"/>
                  </a:solidFill>
                </a:uFill>
                <a:latin typeface="Arial" panose="020B0604020202020204"/>
                <a:cs typeface="Arial" panose="020B0604020202020204"/>
              </a:rPr>
              <a:t>1:</a:t>
            </a:r>
            <a:r>
              <a:rPr sz="2400" b="1" spc="-100" dirty="0">
                <a:solidFill>
                  <a:srgbClr val="00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Being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4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3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e.g.,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1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cancer)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followed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death.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1300" marR="233045" indent="-229235">
              <a:lnSpc>
                <a:spcPts val="2590"/>
              </a:lnSpc>
              <a:spcBef>
                <a:spcPts val="1050"/>
              </a:spcBef>
              <a:tabLst>
                <a:tab pos="6861175" algn="l"/>
              </a:tabLst>
            </a:pPr>
            <a:r>
              <a:rPr sz="2400" b="1" u="sng" spc="-240" dirty="0">
                <a:solidFill>
                  <a:srgbClr val="003300"/>
                </a:solidFill>
                <a:uFill>
                  <a:solidFill>
                    <a:srgbClr val="003300"/>
                  </a:solidFill>
                </a:uFill>
                <a:latin typeface="Arial" panose="020B0604020202020204"/>
                <a:cs typeface="Arial" panose="020B0604020202020204"/>
              </a:rPr>
              <a:t>Choice</a:t>
            </a:r>
            <a:r>
              <a:rPr sz="2400" b="1" u="sng" spc="-114" dirty="0">
                <a:solidFill>
                  <a:srgbClr val="003300"/>
                </a:solidFill>
                <a:uFill>
                  <a:solidFill>
                    <a:srgbClr val="0033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spc="-145" dirty="0">
                <a:solidFill>
                  <a:srgbClr val="003300"/>
                </a:solidFill>
                <a:uFill>
                  <a:solidFill>
                    <a:srgbClr val="003300"/>
                  </a:solidFill>
                </a:uFill>
                <a:latin typeface="Arial" panose="020B0604020202020204"/>
                <a:cs typeface="Arial" panose="020B0604020202020204"/>
              </a:rPr>
              <a:t>2:</a:t>
            </a:r>
            <a:r>
              <a:rPr sz="2400" b="1" spc="-105" dirty="0">
                <a:solidFill>
                  <a:srgbClr val="00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Being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“full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health”</a:t>
            </a:r>
            <a:r>
              <a:rPr sz="2400" b="1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period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2400" b="1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(where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X&lt;t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followed</a:t>
            </a:r>
            <a:r>
              <a:rPr sz="24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by </a:t>
            </a:r>
            <a:r>
              <a:rPr sz="2400" b="1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death.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241300" marR="5080" indent="-229235">
              <a:lnSpc>
                <a:spcPct val="90000"/>
              </a:lnSpc>
              <a:spcBef>
                <a:spcPts val="980"/>
              </a:spcBef>
            </a:pPr>
            <a:r>
              <a:rPr sz="2400" b="1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Time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varied</a:t>
            </a:r>
            <a:r>
              <a:rPr sz="2400" b="1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until</a:t>
            </a:r>
            <a:r>
              <a:rPr sz="24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respondent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4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spc="-114" dirty="0">
                <a:solidFill>
                  <a:srgbClr val="4B8DE1"/>
                </a:solidFill>
                <a:uFill>
                  <a:solidFill>
                    <a:srgbClr val="4B8DE1"/>
                  </a:solidFill>
                </a:uFill>
                <a:latin typeface="Arial" panose="020B0604020202020204"/>
                <a:cs typeface="Arial" panose="020B0604020202020204"/>
              </a:rPr>
              <a:t>indifferent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24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alternatives, </a:t>
            </a:r>
            <a:r>
              <a:rPr sz="24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which</a:t>
            </a:r>
            <a:r>
              <a:rPr sz="24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preference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400" b="1" spc="-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3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9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given</a:t>
            </a:r>
            <a:r>
              <a:rPr sz="2400" b="1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X/t</a:t>
            </a:r>
            <a:r>
              <a:rPr sz="24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00" b="1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400" b="1" spc="-1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value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2400" b="1" spc="-8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3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death</a:t>
            </a:r>
            <a:r>
              <a:rPr sz="24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(0)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400" b="1" spc="-9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full </a:t>
            </a:r>
            <a:r>
              <a:rPr sz="2400" b="1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400" b="1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(1)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400">
              <a:latin typeface="Arial" panose="020B0604020202020204"/>
              <a:cs typeface="Arial" panose="020B0604020202020204"/>
            </a:endParaRPr>
          </a:p>
          <a:p>
            <a:pPr marL="145415" algn="ctr">
              <a:lnSpc>
                <a:spcPct val="100000"/>
              </a:lnSpc>
            </a:pPr>
            <a:r>
              <a:rPr sz="3200" b="1" spc="-1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Utility</a:t>
            </a:r>
            <a:r>
              <a:rPr sz="3200" b="1" spc="-1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16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200" b="1" spc="-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1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3200" b="1" spc="-15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1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3200" b="1" spc="-17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39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3200" b="1" spc="-14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28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3200" b="1" spc="-1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X/</a:t>
            </a:r>
            <a:r>
              <a:rPr sz="3200" b="1" spc="-14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5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t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35C6DA-499C-4C07-209E-5BB1D6AFEACE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32</a:t>
            </a:fld>
            <a:endParaRPr lang="en-K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425" dirty="0">
                <a:latin typeface="Arial" panose="020B0604020202020204"/>
                <a:cs typeface="Arial" panose="020B0604020202020204"/>
              </a:rPr>
              <a:t>Time</a:t>
            </a:r>
            <a:r>
              <a:rPr sz="6000" b="1" spc="-300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500" dirty="0">
                <a:latin typeface="Arial" panose="020B0604020202020204"/>
                <a:cs typeface="Arial" panose="020B0604020202020204"/>
              </a:rPr>
              <a:t>Trade</a:t>
            </a:r>
            <a:r>
              <a:rPr sz="6000" b="1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6000" b="1" spc="-320" dirty="0">
                <a:latin typeface="Arial" panose="020B0604020202020204"/>
                <a:cs typeface="Arial" panose="020B0604020202020204"/>
              </a:rPr>
              <a:t>Off</a:t>
            </a:r>
            <a:endParaRPr sz="6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72649" y="2324100"/>
            <a:ext cx="5948680" cy="2672080"/>
            <a:chOff x="3672649" y="2324100"/>
            <a:chExt cx="5948680" cy="2672080"/>
          </a:xfrm>
        </p:grpSpPr>
        <p:sp>
          <p:nvSpPr>
            <p:cNvPr id="4" name="object 4"/>
            <p:cNvSpPr/>
            <p:nvPr/>
          </p:nvSpPr>
          <p:spPr>
            <a:xfrm>
              <a:off x="3677411" y="2324100"/>
              <a:ext cx="5943600" cy="2667000"/>
            </a:xfrm>
            <a:custGeom>
              <a:avLst/>
              <a:gdLst/>
              <a:ahLst/>
              <a:cxnLst/>
              <a:rect l="l" t="t" r="r" b="b"/>
              <a:pathLst>
                <a:path w="5943600" h="2667000">
                  <a:moveTo>
                    <a:pt x="0" y="0"/>
                  </a:moveTo>
                  <a:lnTo>
                    <a:pt x="0" y="2667000"/>
                  </a:lnTo>
                </a:path>
                <a:path w="5943600" h="2667000">
                  <a:moveTo>
                    <a:pt x="0" y="2667000"/>
                  </a:moveTo>
                  <a:lnTo>
                    <a:pt x="5943599" y="2667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77411" y="2628900"/>
              <a:ext cx="4419600" cy="2362200"/>
            </a:xfrm>
            <a:custGeom>
              <a:avLst/>
              <a:gdLst/>
              <a:ahLst/>
              <a:cxnLst/>
              <a:rect l="l" t="t" r="r" b="b"/>
              <a:pathLst>
                <a:path w="4419600" h="2362200">
                  <a:moveTo>
                    <a:pt x="0" y="2362200"/>
                  </a:moveTo>
                  <a:lnTo>
                    <a:pt x="1828800" y="23622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2362200"/>
                  </a:lnTo>
                  <a:close/>
                </a:path>
                <a:path w="4419600" h="2362200">
                  <a:moveTo>
                    <a:pt x="0" y="2362200"/>
                  </a:moveTo>
                  <a:lnTo>
                    <a:pt x="4419599" y="2362200"/>
                  </a:lnTo>
                  <a:lnTo>
                    <a:pt x="4419599" y="1143000"/>
                  </a:lnTo>
                  <a:lnTo>
                    <a:pt x="0" y="1143000"/>
                  </a:lnTo>
                  <a:lnTo>
                    <a:pt x="0" y="2362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64994" y="2270506"/>
            <a:ext cx="4533265" cy="265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9550">
              <a:lnSpc>
                <a:spcPts val="21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Choice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5600">
              <a:lnSpc>
                <a:spcPts val="2100"/>
              </a:lnSpc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healthy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 marL="3460750">
              <a:lnSpc>
                <a:spcPts val="2265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Choice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265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state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i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 marL="469900">
              <a:lnSpc>
                <a:spcPct val="100000"/>
              </a:lnSpc>
            </a:pPr>
            <a:r>
              <a:rPr sz="2000" b="1" spc="-20" dirty="0">
                <a:latin typeface="Arial" panose="020B0604020202020204"/>
                <a:cs typeface="Arial" panose="020B0604020202020204"/>
              </a:rPr>
              <a:t>Dead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3375" y="5090541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 panose="020B0604020202020204"/>
                <a:cs typeface="Arial" panose="020B0604020202020204"/>
              </a:rPr>
              <a:t>x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42529" y="5090541"/>
            <a:ext cx="110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 panose="020B0604020202020204"/>
                <a:cs typeface="Arial" panose="020B0604020202020204"/>
              </a:rPr>
              <a:t>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61806" y="5109717"/>
            <a:ext cx="633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Arial" panose="020B0604020202020204"/>
                <a:cs typeface="Arial" panose="020B0604020202020204"/>
              </a:rPr>
              <a:t>TIME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7665" y="3502568"/>
            <a:ext cx="309880" cy="7029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utility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91555" y="5516879"/>
            <a:ext cx="2232660" cy="584200"/>
          </a:xfrm>
          <a:prstGeom prst="rect">
            <a:avLst/>
          </a:prstGeom>
          <a:solidFill>
            <a:srgbClr val="44536A"/>
          </a:solidFill>
        </p:spPr>
        <p:txBody>
          <a:bodyPr vert="horz" wrap="square" lIns="0" tIns="16510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30"/>
              </a:spcBef>
            </a:pPr>
            <a:r>
              <a:rPr sz="3200" b="1" spc="-51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3150" b="1" spc="-772" baseline="-210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3150" b="1" spc="202" baseline="-2100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54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3200" b="1" spc="-165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spc="-340" dirty="0">
                <a:solidFill>
                  <a:srgbClr val="F1F1F1"/>
                </a:solidFill>
                <a:latin typeface="Arial" panose="020B0604020202020204"/>
                <a:cs typeface="Arial" panose="020B0604020202020204"/>
              </a:rPr>
              <a:t>x/t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90141FC-A17F-BC97-5639-FE0AE3CB4791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33</a:t>
            </a:fld>
            <a:endParaRPr lang="en-K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8184" y="0"/>
            <a:ext cx="8433816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691" y="2251075"/>
            <a:ext cx="3325495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70" dirty="0">
                <a:latin typeface="Arial" panose="020B0604020202020204"/>
                <a:cs typeface="Arial" panose="020B0604020202020204"/>
              </a:rPr>
              <a:t>EQ-</a:t>
            </a:r>
            <a:r>
              <a:rPr b="1" spc="-254" dirty="0">
                <a:latin typeface="Arial" panose="020B0604020202020204"/>
                <a:cs typeface="Arial" panose="020B0604020202020204"/>
              </a:rPr>
              <a:t>5D-</a:t>
            </a:r>
            <a:r>
              <a:rPr b="1" spc="-565" dirty="0">
                <a:latin typeface="Arial" panose="020B0604020202020204"/>
                <a:cs typeface="Arial" panose="020B0604020202020204"/>
              </a:rPr>
              <a:t>5L</a:t>
            </a:r>
          </a:p>
          <a:p>
            <a:pPr marL="12700" marR="5080">
              <a:lnSpc>
                <a:spcPct val="100000"/>
              </a:lnSpc>
            </a:pPr>
            <a:r>
              <a:rPr b="1" spc="-65" dirty="0">
                <a:latin typeface="Arial" panose="020B0604020202020204"/>
                <a:cs typeface="Arial" panose="020B0604020202020204"/>
              </a:rPr>
              <a:t>Health </a:t>
            </a:r>
            <a:r>
              <a:rPr b="1" spc="-310" dirty="0">
                <a:latin typeface="Arial" panose="020B0604020202020204"/>
                <a:cs typeface="Arial" panose="020B0604020202020204"/>
              </a:rPr>
              <a:t>Questionnaire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649" y="1849577"/>
            <a:ext cx="2862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80" dirty="0">
                <a:latin typeface="Arial" panose="020B0604020202020204"/>
                <a:cs typeface="Arial" panose="020B0604020202020204"/>
              </a:rPr>
              <a:t>Using</a:t>
            </a:r>
            <a:r>
              <a:rPr sz="28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125" dirty="0">
                <a:latin typeface="Arial" panose="020B0604020202020204"/>
                <a:cs typeface="Arial" panose="020B0604020202020204"/>
              </a:rPr>
              <a:t>the</a:t>
            </a:r>
            <a:r>
              <a:rPr sz="2800" b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300" dirty="0">
                <a:latin typeface="Arial" panose="020B0604020202020204"/>
                <a:cs typeface="Arial" panose="020B0604020202020204"/>
              </a:rPr>
              <a:t>EQ-</a:t>
            </a:r>
            <a:r>
              <a:rPr sz="2800" b="1" spc="-175" dirty="0">
                <a:latin typeface="Arial" panose="020B0604020202020204"/>
                <a:cs typeface="Arial" panose="020B0604020202020204"/>
              </a:rPr>
              <a:t>5D-</a:t>
            </a:r>
            <a:r>
              <a:rPr sz="2800" b="1" spc="-375" dirty="0">
                <a:latin typeface="Arial" panose="020B0604020202020204"/>
                <a:cs typeface="Arial" panose="020B0604020202020204"/>
              </a:rPr>
              <a:t>5L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649" y="2424531"/>
            <a:ext cx="3248025" cy="285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28270">
              <a:lnSpc>
                <a:spcPct val="132000"/>
              </a:lnSpc>
              <a:spcBef>
                <a:spcPts val="90"/>
              </a:spcBef>
            </a:pP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20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means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no </a:t>
            </a:r>
            <a:r>
              <a:rPr sz="20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problems </a:t>
            </a: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20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means</a:t>
            </a:r>
            <a:r>
              <a:rPr sz="20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slight problems </a:t>
            </a: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2000" spc="-6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means</a:t>
            </a:r>
            <a:r>
              <a:rPr sz="2000" spc="-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moderate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problems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2000" spc="-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0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means</a:t>
            </a:r>
            <a:r>
              <a:rPr sz="20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severe</a:t>
            </a:r>
            <a:r>
              <a:rPr sz="20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problems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80390">
              <a:lnSpc>
                <a:spcPts val="2160"/>
              </a:lnSpc>
              <a:spcBef>
                <a:spcPts val="1025"/>
              </a:spcBef>
            </a:pP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20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means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unable </a:t>
            </a:r>
            <a:r>
              <a:rPr sz="20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partake</a:t>
            </a:r>
            <a:r>
              <a:rPr sz="20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000" spc="-1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000" spc="-7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5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activity,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or </a:t>
            </a:r>
            <a:r>
              <a:rPr sz="2000" spc="-8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extreme</a:t>
            </a:r>
            <a:r>
              <a:rPr sz="2000" spc="-2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problems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8052" y="1397508"/>
            <a:ext cx="6388608" cy="40721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73302" y="5744717"/>
            <a:ext cx="4823460" cy="828040"/>
          </a:xfrm>
          <a:prstGeom prst="rect">
            <a:avLst/>
          </a:prstGeom>
          <a:ln w="38100">
            <a:solidFill>
              <a:srgbClr val="F86D46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3600" spc="-405" dirty="0">
                <a:latin typeface="Arial" panose="020B0604020202020204"/>
                <a:cs typeface="Arial" panose="020B0604020202020204"/>
              </a:rPr>
              <a:t>EQ-</a:t>
            </a:r>
            <a:r>
              <a:rPr sz="3600" spc="-245" dirty="0">
                <a:latin typeface="Arial" panose="020B0604020202020204"/>
                <a:cs typeface="Arial" panose="020B0604020202020204"/>
              </a:rPr>
              <a:t>5D-</a:t>
            </a:r>
            <a:r>
              <a:rPr sz="3600" spc="-345" dirty="0">
                <a:latin typeface="Arial" panose="020B0604020202020204"/>
                <a:cs typeface="Arial" panose="020B0604020202020204"/>
              </a:rPr>
              <a:t>5L</a:t>
            </a:r>
            <a:r>
              <a:rPr sz="36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3600" spc="-315" dirty="0">
                <a:latin typeface="Arial" panose="020B0604020202020204"/>
                <a:cs typeface="Arial" panose="020B0604020202020204"/>
              </a:rPr>
              <a:t>=</a:t>
            </a:r>
            <a:r>
              <a:rPr sz="3600" spc="-170" dirty="0">
                <a:latin typeface="Arial" panose="020B0604020202020204"/>
                <a:cs typeface="Arial" panose="020B0604020202020204"/>
              </a:rPr>
              <a:t> </a:t>
            </a:r>
            <a:r>
              <a:rPr sz="3600" spc="-10" dirty="0">
                <a:latin typeface="Arial" panose="020B0604020202020204"/>
                <a:cs typeface="Arial" panose="020B0604020202020204"/>
              </a:rPr>
              <a:t>21235</a:t>
            </a:r>
            <a:endParaRPr sz="3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6005C-473B-A452-58E3-BD89B20FA2AE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35</a:t>
            </a:fld>
            <a:endParaRPr lang="en-K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1999" cy="68564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EDCAE5-FC40-3ADE-AA50-B22E612591FE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36</a:t>
            </a:fld>
            <a:endParaRPr lang="en-KE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More</a:t>
            </a:r>
            <a:r>
              <a:rPr spc="-190" dirty="0"/>
              <a:t> </a:t>
            </a:r>
            <a:r>
              <a:rPr spc="-80" dirty="0"/>
              <a:t>information</a:t>
            </a:r>
            <a:r>
              <a:rPr spc="-190" dirty="0"/>
              <a:t> </a:t>
            </a:r>
            <a:r>
              <a:rPr spc="-155" dirty="0"/>
              <a:t>on</a:t>
            </a:r>
            <a:r>
              <a:rPr spc="-190" dirty="0"/>
              <a:t> </a:t>
            </a:r>
            <a:r>
              <a:rPr spc="-495" dirty="0"/>
              <a:t>EQ-</a:t>
            </a:r>
            <a:r>
              <a:rPr spc="-400" dirty="0"/>
              <a:t>5D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30" marR="34925" indent="-227965">
              <a:lnSpc>
                <a:spcPts val="2690"/>
              </a:lnSpc>
              <a:spcBef>
                <a:spcPts val="740"/>
              </a:spcBef>
              <a:buChar char="•"/>
              <a:tabLst>
                <a:tab pos="241300" algn="l"/>
              </a:tabLst>
            </a:pPr>
            <a:r>
              <a:rPr spc="-90" dirty="0"/>
              <a:t>Questionnaires/instr 	</a:t>
            </a:r>
            <a:r>
              <a:rPr spc="-10" dirty="0"/>
              <a:t>uments</a:t>
            </a:r>
          </a:p>
          <a:p>
            <a:pPr marL="697230" lvl="1" indent="-227330">
              <a:lnSpc>
                <a:spcPts val="2805"/>
              </a:lnSpc>
              <a:spcBef>
                <a:spcPts val="5"/>
              </a:spcBef>
              <a:buChar char="•"/>
              <a:tabLst>
                <a:tab pos="697230" algn="l"/>
              </a:tabLst>
            </a:pPr>
            <a:r>
              <a:rPr sz="2400" spc="-2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EQ-</a:t>
            </a:r>
            <a:r>
              <a:rPr sz="24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5D-</a:t>
            </a:r>
            <a:r>
              <a:rPr sz="24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5L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ts val="2805"/>
              </a:lnSpc>
              <a:buChar char="•"/>
              <a:tabLst>
                <a:tab pos="697230" algn="l"/>
              </a:tabLst>
            </a:pPr>
            <a:r>
              <a:rPr sz="2400" spc="-2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EQ-</a:t>
            </a:r>
            <a:r>
              <a:rPr sz="24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5D-</a:t>
            </a:r>
            <a:r>
              <a:rPr sz="24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3L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697230" lvl="1" indent="-227330">
              <a:lnSpc>
                <a:spcPts val="2845"/>
              </a:lnSpc>
              <a:buChar char="•"/>
              <a:tabLst>
                <a:tab pos="697230" algn="l"/>
              </a:tabLst>
            </a:pPr>
            <a:r>
              <a:rPr sz="2400" spc="-2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EQ-</a:t>
            </a:r>
            <a:r>
              <a:rPr sz="2400" spc="-17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5D-</a:t>
            </a:r>
            <a:r>
              <a:rPr sz="2400" spc="-26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Y-</a:t>
            </a:r>
            <a:r>
              <a:rPr sz="24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3L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240665" indent="-227965">
              <a:lnSpc>
                <a:spcPts val="3330"/>
              </a:lnSpc>
              <a:spcBef>
                <a:spcPts val="305"/>
              </a:spcBef>
              <a:buChar char="•"/>
              <a:tabLst>
                <a:tab pos="240665" algn="l"/>
              </a:tabLst>
            </a:pPr>
            <a:r>
              <a:rPr spc="-190" dirty="0"/>
              <a:t>Value</a:t>
            </a:r>
            <a:r>
              <a:rPr spc="-110" dirty="0"/>
              <a:t> </a:t>
            </a:r>
            <a:r>
              <a:rPr spc="-20" dirty="0"/>
              <a:t>sets</a:t>
            </a:r>
          </a:p>
          <a:p>
            <a:pPr marL="697230" lvl="1" indent="-227330">
              <a:lnSpc>
                <a:spcPts val="2565"/>
              </a:lnSpc>
              <a:buChar char="•"/>
              <a:tabLst>
                <a:tab pos="697230" algn="l"/>
              </a:tabLst>
            </a:pPr>
            <a:r>
              <a:rPr sz="2400" spc="-13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Index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4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values</a:t>
            </a:r>
            <a:r>
              <a:rPr sz="2400" spc="-1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spc="-114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all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698500">
              <a:lnSpc>
                <a:spcPts val="2555"/>
              </a:lnSpc>
            </a:pPr>
            <a:r>
              <a:rPr sz="2400" spc="-120" dirty="0">
                <a:solidFill>
                  <a:srgbClr val="F86D46"/>
                </a:solidFill>
              </a:rPr>
              <a:t>possible</a:t>
            </a:r>
            <a:r>
              <a:rPr sz="2400" spc="-110" dirty="0">
                <a:solidFill>
                  <a:srgbClr val="F86D46"/>
                </a:solidFill>
              </a:rPr>
              <a:t> </a:t>
            </a:r>
            <a:r>
              <a:rPr sz="2400" spc="-10" dirty="0">
                <a:solidFill>
                  <a:srgbClr val="F86D46"/>
                </a:solidFill>
              </a:rPr>
              <a:t>states</a:t>
            </a:r>
            <a:endParaRPr sz="2400" dirty="0"/>
          </a:p>
          <a:p>
            <a:pPr marL="697230" marR="5080" lvl="1" indent="-227330">
              <a:lnSpc>
                <a:spcPct val="80000"/>
              </a:lnSpc>
              <a:spcBef>
                <a:spcPts val="540"/>
              </a:spcBef>
              <a:buChar char="•"/>
              <a:tabLst>
                <a:tab pos="698500" algn="l"/>
              </a:tabLst>
            </a:pP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Derived</a:t>
            </a:r>
            <a:r>
              <a:rPr sz="2400" spc="-13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400" spc="-14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a 	</a:t>
            </a:r>
            <a:r>
              <a:rPr sz="2400" spc="-3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standardised 	</a:t>
            </a:r>
            <a:r>
              <a:rPr sz="2400" spc="-7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valuation</a:t>
            </a:r>
            <a:r>
              <a:rPr sz="2400" spc="-1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3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exercise, 	</a:t>
            </a:r>
            <a:r>
              <a:rPr sz="2400" spc="-8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representativeof</a:t>
            </a:r>
            <a:r>
              <a:rPr sz="2400" spc="-3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the 	</a:t>
            </a:r>
            <a:r>
              <a:rPr sz="2400" spc="-10" dirty="0">
                <a:solidFill>
                  <a:srgbClr val="F86D46"/>
                </a:solidFill>
                <a:latin typeface="Arial" panose="020B0604020202020204"/>
                <a:cs typeface="Arial" panose="020B0604020202020204"/>
              </a:rPr>
              <a:t>population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6444" y="1970532"/>
            <a:ext cx="6693408" cy="3810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11390" y="5894323"/>
            <a:ext cx="1924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2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Value</a:t>
            </a:r>
            <a:r>
              <a:rPr sz="1800" u="sng" spc="-6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 </a:t>
            </a:r>
            <a:r>
              <a:rPr sz="1800" u="sng" spc="-1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sets</a:t>
            </a:r>
            <a:r>
              <a:rPr sz="1800" u="sng" spc="-9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 </a:t>
            </a:r>
            <a:r>
              <a:rPr sz="1800" u="sng" spc="36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|</a:t>
            </a:r>
            <a:r>
              <a:rPr sz="1800" u="sng" spc="-7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 </a:t>
            </a:r>
            <a:r>
              <a:rPr sz="1800" u="sng" spc="-8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EuroQol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7947" y="1659128"/>
            <a:ext cx="177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latin typeface="Arial" panose="020B0604020202020204"/>
                <a:cs typeface="Arial" panose="020B0604020202020204"/>
              </a:rPr>
              <a:t>Value</a:t>
            </a:r>
            <a:r>
              <a:rPr sz="1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10" dirty="0">
                <a:latin typeface="Arial" panose="020B0604020202020204"/>
                <a:cs typeface="Arial" panose="020B0604020202020204"/>
              </a:rPr>
              <a:t>sets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in</a:t>
            </a:r>
            <a:r>
              <a:rPr sz="18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0" dirty="0">
                <a:latin typeface="Arial" panose="020B0604020202020204"/>
                <a:cs typeface="Arial" panose="020B0604020202020204"/>
              </a:rPr>
              <a:t>Africa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C867C44-AD7A-49FB-182C-B812C875FF6C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37</a:t>
            </a:fld>
            <a:endParaRPr lang="en-KE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0" dirty="0"/>
              <a:t>Resources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255" y="1234440"/>
            <a:ext cx="9557004" cy="50794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89452" y="6331102"/>
            <a:ext cx="34404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8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GEAR</a:t>
            </a:r>
            <a:r>
              <a:rPr sz="1800" u="sng" spc="-9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 </a:t>
            </a:r>
            <a:r>
              <a:rPr sz="1800" u="sng" spc="-6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-</a:t>
            </a:r>
            <a:r>
              <a:rPr sz="1800" u="sng" spc="-8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 </a:t>
            </a:r>
            <a:r>
              <a:rPr sz="1800" u="sng" spc="-2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Mind</a:t>
            </a:r>
            <a:r>
              <a:rPr sz="1800" u="sng" spc="-6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 Map</a:t>
            </a:r>
            <a:r>
              <a:rPr sz="1800" u="sng" spc="-8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 </a:t>
            </a:r>
            <a:r>
              <a:rPr sz="1800" u="sng" spc="-6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 panose="020B0604020202020204"/>
                <a:cs typeface="Arial" panose="020B0604020202020204"/>
                <a:hlinkClick r:id="rId3"/>
              </a:rPr>
              <a:t>(gear4health.com)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305A984-F072-1953-DA33-5BE4DEB0C59A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38</a:t>
            </a:fld>
            <a:endParaRPr lang="en-KE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4810" y="6331102"/>
            <a:ext cx="2947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8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2"/>
              </a:rPr>
              <a:t>GEAR</a:t>
            </a:r>
            <a:r>
              <a:rPr sz="1800" u="sng" spc="-9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2"/>
              </a:rPr>
              <a:t> </a:t>
            </a:r>
            <a:r>
              <a:rPr sz="1800" u="sng" spc="-6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2"/>
              </a:rPr>
              <a:t>-</a:t>
            </a:r>
            <a:r>
              <a:rPr sz="1800" u="sng" spc="-9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2"/>
              </a:rPr>
              <a:t> </a:t>
            </a:r>
            <a:r>
              <a:rPr sz="1800" u="sng" spc="-14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2"/>
              </a:rPr>
              <a:t>Tools</a:t>
            </a:r>
            <a:r>
              <a:rPr sz="1800" u="sng" spc="-7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2"/>
              </a:rPr>
              <a:t> </a:t>
            </a:r>
            <a:r>
              <a:rPr sz="1800" u="sng" spc="-6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Arial" panose="020B0604020202020204"/>
                <a:cs typeface="Arial" panose="020B0604020202020204"/>
                <a:hlinkClick r:id="rId2"/>
              </a:rPr>
              <a:t>(gear4health.com)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" y="1865376"/>
            <a:ext cx="12144756" cy="394716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32BC2E-8764-5BFF-413C-C2213E022D97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39</a:t>
            </a:fld>
            <a:endParaRPr lang="en-KE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844" y="3429000"/>
            <a:ext cx="8339328" cy="31440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8799" y="352453"/>
            <a:ext cx="9783417" cy="893706"/>
          </a:xfrm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5" dirty="0"/>
              <a:t>Discussion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93493"/>
            <a:ext cx="5946775" cy="1475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“A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4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6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800" spc="-1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4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0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QALY”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Clr>
                <a:srgbClr val="4B8DE1"/>
              </a:buClr>
              <a:buFont typeface="Arial" panose="020B0604020202020204"/>
              <a:buChar char="•"/>
            </a:pPr>
            <a:endParaRPr sz="2800">
              <a:latin typeface="Arial" panose="020B0604020202020204"/>
              <a:cs typeface="Arial" panose="020B0604020202020204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sz="2800" spc="-17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Regional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(or,</a:t>
            </a:r>
            <a:r>
              <a:rPr sz="2800" spc="-11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context)</a:t>
            </a:r>
            <a:r>
              <a:rPr sz="2800" spc="-114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2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specific</a:t>
            </a:r>
            <a:r>
              <a:rPr sz="2800" spc="-90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45" dirty="0">
                <a:solidFill>
                  <a:srgbClr val="4B8DE1"/>
                </a:solidFill>
                <a:latin typeface="Arial" panose="020B0604020202020204"/>
                <a:cs typeface="Arial" panose="020B0604020202020204"/>
              </a:rPr>
              <a:t>measures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F1AF47-8046-D437-8C24-59D1DCFF3731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40</a:t>
            </a:fld>
            <a:endParaRPr lang="en-K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0B856-10B7-855F-1FC0-766368D3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6844C9-1709-FAF8-5C95-00AAC98E4766}"/>
              </a:ext>
            </a:extLst>
          </p:cNvPr>
          <p:cNvSpPr txBox="1">
            <a:spLocks/>
          </p:cNvSpPr>
          <p:nvPr/>
        </p:nvSpPr>
        <p:spPr>
          <a:xfrm>
            <a:off x="10326757" y="6311900"/>
            <a:ext cx="1865243" cy="5461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91440" tIns="45720" rIns="91440" bIns="45720" rtlCol="0" anchor="ctr"/>
          <a:lstStyle>
            <a:defPPr>
              <a:defRPr lang="en-K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3B0BE7-F562-C247-B5C8-DE5F899201FB}" type="slidenum">
              <a:rPr lang="en-KE" smtClean="0"/>
              <a:pPr/>
              <a:t>41</a:t>
            </a:fld>
            <a:endParaRPr lang="en-K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AE9A55-DA4C-D0B4-55D7-7E9326EC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078144"/>
              </p:ext>
            </p:extLst>
          </p:nvPr>
        </p:nvGraphicFramePr>
        <p:xfrm>
          <a:off x="353567" y="1070848"/>
          <a:ext cx="11484865" cy="541636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901952">
                  <a:extLst>
                    <a:ext uri="{9D8B030D-6E8A-4147-A177-3AD203B41FA5}">
                      <a16:colId xmlns:a16="http://schemas.microsoft.com/office/drawing/2014/main" val="27099717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3429928339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711463413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1550065071"/>
                    </a:ext>
                  </a:extLst>
                </a:gridCol>
                <a:gridCol w="2734057">
                  <a:extLst>
                    <a:ext uri="{9D8B030D-6E8A-4147-A177-3AD203B41FA5}">
                      <a16:colId xmlns:a16="http://schemas.microsoft.com/office/drawing/2014/main" val="187190544"/>
                    </a:ext>
                  </a:extLst>
                </a:gridCol>
              </a:tblGrid>
              <a:tr h="38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Type of Outcome</a:t>
                      </a:r>
                      <a:endParaRPr lang="en-US" sz="16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Unit of Measurement</a:t>
                      </a:r>
                      <a:endParaRPr lang="en-US" sz="16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Description</a:t>
                      </a:r>
                      <a:endParaRPr lang="en-US" sz="16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Example in Economic Evaluation</a:t>
                      </a:r>
                      <a:endParaRPr lang="en-US" sz="1600" dirty="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When Commonly Used</a:t>
                      </a:r>
                      <a:endParaRPr lang="en-US" sz="1600"/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960477076"/>
                  </a:ext>
                </a:extLst>
              </a:tr>
              <a:tr h="88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Natural Units</a:t>
                      </a:r>
                      <a:endParaRPr lang="en-US" sz="16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Cases prevented, deaths averted, life-years gained, hospitalizations avoided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Direct clinical or epidemiological outcomes that are easy to interpret.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Cost per malaria case prevented 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Cost per life-year saved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Early vaccine/drug trials, program evaluations with clear clinical endpoints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4082761826"/>
                  </a:ext>
                </a:extLst>
              </a:tr>
              <a:tr h="1047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QALYs (Quality-Adjusted Life Years)</a:t>
                      </a:r>
                      <a:endParaRPr lang="en-US" sz="1600" dirty="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QALYs gained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Combines both the </a:t>
                      </a:r>
                      <a:r>
                        <a:rPr lang="en-US" sz="1600" b="1"/>
                        <a:t>quantity</a:t>
                      </a:r>
                      <a:r>
                        <a:rPr lang="en-US" sz="1600"/>
                        <a:t> and </a:t>
                      </a:r>
                      <a:r>
                        <a:rPr lang="en-US" sz="1600" b="1"/>
                        <a:t>quality</a:t>
                      </a:r>
                      <a:r>
                        <a:rPr lang="en-US" sz="1600"/>
                        <a:t> of life lived. One QALY = 1 year in perfect health.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Cost per QALY gained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High-income countries, health technology assessments, decisions involving quality of life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37983114"/>
                  </a:ext>
                </a:extLst>
              </a:tr>
              <a:tr h="1378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DALYs (Disability-Adjusted Life Years)</a:t>
                      </a:r>
                      <a:endParaRPr lang="en-US" sz="16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DALYs averted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Burden of disease measure combining years of life lost (YLL) and years lived with disability (YLD). Lower DALYs = better health.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Cost per DALY averted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Global health, LMIC (low- and middle-income countries), WHO cost-effectiveness thresholds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794151205"/>
                  </a:ext>
                </a:extLst>
              </a:tr>
              <a:tr h="1047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ICER (Incremental Cost-Effectiveness Ratio)</a:t>
                      </a:r>
                      <a:endParaRPr lang="en-US" sz="16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Cost per unit of outcome (e.g., cost per QALY gained, cost per DALY averted)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Compares the additional cost of an intervention relative to its additional benefit vs comparator.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$500 per DALY averted $10,000 per QALY gained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universally to summarize whether an intervention provides value for money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356596617"/>
                  </a:ext>
                </a:extLst>
              </a:tr>
            </a:tbl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F17B269B-042B-F494-2A06-6726372A7262}"/>
              </a:ext>
            </a:extLst>
          </p:cNvPr>
          <p:cNvSpPr txBox="1">
            <a:spLocks/>
          </p:cNvSpPr>
          <p:nvPr/>
        </p:nvSpPr>
        <p:spPr>
          <a:xfrm>
            <a:off x="1591055" y="177142"/>
            <a:ext cx="9783417" cy="893706"/>
          </a:xfrm>
          <a:prstGeom prst="rect">
            <a:avLst/>
          </a:prstGeom>
        </p:spPr>
        <p:txBody>
          <a:bodyPr vert="horz" wrap="square" lIns="0" tIns="214503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85" dirty="0"/>
              <a:t>In Summary…</a:t>
            </a:r>
          </a:p>
        </p:txBody>
      </p:sp>
    </p:spTree>
    <p:extLst>
      <p:ext uri="{BB962C8B-B14F-4D97-AF65-F5344CB8AC3E}">
        <p14:creationId xmlns:p14="http://schemas.microsoft.com/office/powerpoint/2010/main" val="1215138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06A28E6-9F5D-FE43-839E-F67AAEA1825B}" vid="{708B8EA6-0011-3C48-AB07-1B036F2159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CEMA ppt template</Template>
  <TotalTime>3446</TotalTime>
  <Words>2094</Words>
  <Application>Microsoft Office PowerPoint</Application>
  <PresentationFormat>Widescreen</PresentationFormat>
  <Paragraphs>342</Paragraphs>
  <Slides>41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Arial Unicode MS</vt:lpstr>
      <vt:lpstr>STIX Two Math</vt:lpstr>
      <vt:lpstr>Tahoma</vt:lpstr>
      <vt:lpstr>Times New Roman</vt:lpstr>
      <vt:lpstr>Office Theme</vt:lpstr>
      <vt:lpstr>Health Outcome Measurement in Economic Evaluation August 28, 2025</vt:lpstr>
      <vt:lpstr>Outline</vt:lpstr>
      <vt:lpstr>Economic Evaluations</vt:lpstr>
      <vt:lpstr>Type of health outcomes</vt:lpstr>
      <vt:lpstr>Outline</vt:lpstr>
      <vt:lpstr>Unit of outcome measurement in cost-effectiveness analysis</vt:lpstr>
      <vt:lpstr>Examples of “Clinical outcome”</vt:lpstr>
      <vt:lpstr>Pros and Cons of using “Clinical” outcomes</vt:lpstr>
      <vt:lpstr>Efficacy VS Effectiveness</vt:lpstr>
      <vt:lpstr>Final VS intermediate outcome</vt:lpstr>
      <vt:lpstr>PowerPoint Presentation</vt:lpstr>
      <vt:lpstr>Measurement of Treatment effects</vt:lpstr>
      <vt:lpstr>Recap</vt:lpstr>
      <vt:lpstr>Sensitivity and Specificity</vt:lpstr>
      <vt:lpstr>Outline</vt:lpstr>
      <vt:lpstr>Unit of outcome measurement in cost-utility analysis</vt:lpstr>
      <vt:lpstr>QALY vs. DALY</vt:lpstr>
      <vt:lpstr>QALYs</vt:lpstr>
      <vt:lpstr>Concept of Quality-adjusted life years (QALYs)</vt:lpstr>
      <vt:lpstr>PowerPoint Presentation</vt:lpstr>
      <vt:lpstr>DALYs</vt:lpstr>
      <vt:lpstr>About the Global Burden Disease (GBD)</vt:lpstr>
      <vt:lpstr>DALYs</vt:lpstr>
      <vt:lpstr>Application of DALYs </vt:lpstr>
      <vt:lpstr>Kenya’s disease burden in 2021</vt:lpstr>
      <vt:lpstr>Kenya’s disease burden in 2021</vt:lpstr>
      <vt:lpstr>QALY vs. DALY</vt:lpstr>
      <vt:lpstr>Utility: Valuation techniques</vt:lpstr>
      <vt:lpstr>Visual Analogue Scale</vt:lpstr>
      <vt:lpstr>Standard gamble</vt:lpstr>
      <vt:lpstr>Standard Gamble</vt:lpstr>
      <vt:lpstr>Time trade-off</vt:lpstr>
      <vt:lpstr>Time Trade Off</vt:lpstr>
      <vt:lpstr>EQ-5D-5L Health Questionnaire</vt:lpstr>
      <vt:lpstr>Using the EQ-5D-5L</vt:lpstr>
      <vt:lpstr>PowerPoint Presentation</vt:lpstr>
      <vt:lpstr>More information on EQ-5D</vt:lpstr>
      <vt:lpstr>Resources</vt:lpstr>
      <vt:lpstr>Resources</vt:lpstr>
      <vt:lpstr>Discussion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Tabitha Okech</dc:creator>
  <cp:lastModifiedBy>Tabitha Okech</cp:lastModifiedBy>
  <cp:revision>5</cp:revision>
  <dcterms:created xsi:type="dcterms:W3CDTF">2025-08-18T06:24:42Z</dcterms:created>
  <dcterms:modified xsi:type="dcterms:W3CDTF">2025-08-28T06:42:26Z</dcterms:modified>
</cp:coreProperties>
</file>