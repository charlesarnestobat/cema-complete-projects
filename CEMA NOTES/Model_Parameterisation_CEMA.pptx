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64" r:id="rId5"/>
    <p:sldId id="265" r:id="rId6"/>
    <p:sldId id="271" r:id="rId7"/>
    <p:sldId id="276" r:id="rId8"/>
    <p:sldId id="277" r:id="rId9"/>
    <p:sldId id="262" r:id="rId10"/>
    <p:sldId id="259" r:id="rId11"/>
    <p:sldId id="272" r:id="rId12"/>
    <p:sldId id="260" r:id="rId13"/>
    <p:sldId id="273" r:id="rId14"/>
    <p:sldId id="275" r:id="rId15"/>
    <p:sldId id="263" r:id="rId16"/>
    <p:sldId id="274" r:id="rId17"/>
  </p:sldIdLst>
  <p:sldSz cx="9144000" cy="6858000" type="screen4x3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2"/>
  </p:normalViewPr>
  <p:slideViewPr>
    <p:cSldViewPr snapToGrid="0" snapToObjects="1">
      <p:cViewPr varScale="1">
        <p:scale>
          <a:sx n="81" d="100"/>
          <a:sy n="81" d="100"/>
        </p:scale>
        <p:origin x="1459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C40DD3-9FF9-48B3-AF0A-BE65E5CB866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5" csCatId="colorful" phldr="1"/>
      <dgm:spPr/>
      <dgm:t>
        <a:bodyPr/>
        <a:lstStyle/>
        <a:p>
          <a:endParaRPr lang="en-US"/>
        </a:p>
      </dgm:t>
    </dgm:pt>
    <dgm:pt modelId="{D927D726-4AAD-41C4-9803-6F3208CB09A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Parameterisation; literature values &amp; units.</a:t>
          </a:r>
          <a:endParaRPr lang="en-US" dirty="0"/>
        </a:p>
      </dgm:t>
    </dgm:pt>
    <dgm:pt modelId="{F7975A78-B11C-4324-9D51-8BDCB87C1742}" type="parTrans" cxnId="{ABB50FF1-9CA4-4F2F-8CAE-A45AEC55B713}">
      <dgm:prSet/>
      <dgm:spPr/>
      <dgm:t>
        <a:bodyPr/>
        <a:lstStyle/>
        <a:p>
          <a:endParaRPr lang="en-US"/>
        </a:p>
      </dgm:t>
    </dgm:pt>
    <dgm:pt modelId="{B6F5298C-990E-4EF0-834A-15092CB722F2}" type="sibTrans" cxnId="{ABB50FF1-9CA4-4F2F-8CAE-A45AEC55B713}">
      <dgm:prSet/>
      <dgm:spPr/>
      <dgm:t>
        <a:bodyPr/>
        <a:lstStyle/>
        <a:p>
          <a:endParaRPr lang="en-US"/>
        </a:p>
      </dgm:t>
    </dgm:pt>
    <dgm:pt modelId="{DD87EC50-8C06-42DB-AD08-E06A6D375B6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Scale SIS; re-parameterise to (R₀, </a:t>
          </a:r>
          <a:r>
            <a:rPr lang="el-GR"/>
            <a:t>γ).</a:t>
          </a:r>
          <a:endParaRPr lang="en-US"/>
        </a:p>
      </dgm:t>
    </dgm:pt>
    <dgm:pt modelId="{1BA0805D-B120-40E7-8296-A4E1C152AAEF}" type="parTrans" cxnId="{EAD2BC7D-7481-43AD-BE5E-DC5E8B596A0A}">
      <dgm:prSet/>
      <dgm:spPr/>
      <dgm:t>
        <a:bodyPr/>
        <a:lstStyle/>
        <a:p>
          <a:endParaRPr lang="en-US"/>
        </a:p>
      </dgm:t>
    </dgm:pt>
    <dgm:pt modelId="{A1AE7AC4-827B-4CFF-AC38-25D5C9665CBD}" type="sibTrans" cxnId="{EAD2BC7D-7481-43AD-BE5E-DC5E8B596A0A}">
      <dgm:prSet/>
      <dgm:spPr/>
      <dgm:t>
        <a:bodyPr/>
        <a:lstStyle/>
        <a:p>
          <a:endParaRPr lang="en-US"/>
        </a:p>
      </dgm:t>
    </dgm:pt>
    <dgm:pt modelId="{3D524530-0A34-4979-8567-C69F74905FE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Identifiability: structural vs practical; use profiles/surfaces.</a:t>
          </a:r>
          <a:endParaRPr lang="en-US"/>
        </a:p>
      </dgm:t>
    </dgm:pt>
    <dgm:pt modelId="{91E2C6CD-6D57-4E61-ADB7-5185C49C07EE}" type="parTrans" cxnId="{93ED37DE-914B-4483-84FE-E56AEE79B216}">
      <dgm:prSet/>
      <dgm:spPr/>
      <dgm:t>
        <a:bodyPr/>
        <a:lstStyle/>
        <a:p>
          <a:endParaRPr lang="en-US"/>
        </a:p>
      </dgm:t>
    </dgm:pt>
    <dgm:pt modelId="{4BD86ACB-7223-434F-AD36-07FCA02E59C1}" type="sibTrans" cxnId="{93ED37DE-914B-4483-84FE-E56AEE79B216}">
      <dgm:prSet/>
      <dgm:spPr/>
      <dgm:t>
        <a:bodyPr/>
        <a:lstStyle/>
        <a:p>
          <a:endParaRPr lang="en-US"/>
        </a:p>
      </dgm:t>
    </dgm:pt>
    <dgm:pt modelId="{E058FD31-0D61-47B6-A86B-A9E719A9BE5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Units &amp; time steps; hazard → probability mapping.</a:t>
          </a:r>
          <a:endParaRPr lang="en-US"/>
        </a:p>
      </dgm:t>
    </dgm:pt>
    <dgm:pt modelId="{3CD7EAA9-CDB4-4BFD-B4AC-DF1C46749942}" type="parTrans" cxnId="{56399909-E98E-4438-8AE6-C759130B7BA4}">
      <dgm:prSet/>
      <dgm:spPr/>
      <dgm:t>
        <a:bodyPr/>
        <a:lstStyle/>
        <a:p>
          <a:endParaRPr lang="en-US"/>
        </a:p>
      </dgm:t>
    </dgm:pt>
    <dgm:pt modelId="{C0953BCB-69DE-4EBB-B961-D666A9271EDE}" type="sibTrans" cxnId="{56399909-E98E-4438-8AE6-C759130B7BA4}">
      <dgm:prSet/>
      <dgm:spPr/>
      <dgm:t>
        <a:bodyPr/>
        <a:lstStyle/>
        <a:p>
          <a:endParaRPr lang="en-US"/>
        </a:p>
      </dgm:t>
    </dgm:pt>
    <dgm:pt modelId="{8D91FB91-25A0-4FDA-AE63-626EC75965F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Incidence: standard vs mass-action; effects on R₀ and units.</a:t>
          </a:r>
          <a:endParaRPr lang="en-US"/>
        </a:p>
      </dgm:t>
    </dgm:pt>
    <dgm:pt modelId="{BBAE586E-785F-4EEB-BD0E-5482C710F404}" type="parTrans" cxnId="{618D3AD0-2645-4E0B-B5DB-18C169197621}">
      <dgm:prSet/>
      <dgm:spPr/>
      <dgm:t>
        <a:bodyPr/>
        <a:lstStyle/>
        <a:p>
          <a:endParaRPr lang="en-US"/>
        </a:p>
      </dgm:t>
    </dgm:pt>
    <dgm:pt modelId="{3621F687-2069-4CC9-B6EF-6DB066D9D8A8}" type="sibTrans" cxnId="{618D3AD0-2645-4E0B-B5DB-18C169197621}">
      <dgm:prSet/>
      <dgm:spPr/>
      <dgm:t>
        <a:bodyPr/>
        <a:lstStyle/>
        <a:p>
          <a:endParaRPr lang="en-US"/>
        </a:p>
      </dgm:t>
    </dgm:pt>
    <dgm:pt modelId="{13410E28-143B-4E8B-B783-C8D52678CD9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Uncertainty &amp; model comparison: parameter CIs/posteriors; AIC/BIC  </a:t>
          </a:r>
          <a:endParaRPr lang="en-US" dirty="0"/>
        </a:p>
      </dgm:t>
    </dgm:pt>
    <dgm:pt modelId="{914E201E-90AB-46B8-AF7B-3392DD4E2145}" type="parTrans" cxnId="{AA281EC9-57FC-4C30-976D-942271AA8832}">
      <dgm:prSet/>
      <dgm:spPr/>
      <dgm:t>
        <a:bodyPr/>
        <a:lstStyle/>
        <a:p>
          <a:endParaRPr lang="en-US"/>
        </a:p>
      </dgm:t>
    </dgm:pt>
    <dgm:pt modelId="{3A91C691-40D8-457B-BD4C-75D9654FD4E7}" type="sibTrans" cxnId="{AA281EC9-57FC-4C30-976D-942271AA8832}">
      <dgm:prSet/>
      <dgm:spPr/>
      <dgm:t>
        <a:bodyPr/>
        <a:lstStyle/>
        <a:p>
          <a:endParaRPr lang="en-US"/>
        </a:p>
      </dgm:t>
    </dgm:pt>
    <dgm:pt modelId="{7BBB613C-6B3D-4CB9-95EF-EEE84148F885}" type="pres">
      <dgm:prSet presAssocID="{AEC40DD3-9FF9-48B3-AF0A-BE65E5CB8663}" presName="root" presStyleCnt="0">
        <dgm:presLayoutVars>
          <dgm:dir/>
          <dgm:resizeHandles val="exact"/>
        </dgm:presLayoutVars>
      </dgm:prSet>
      <dgm:spPr/>
    </dgm:pt>
    <dgm:pt modelId="{C4F01C96-B3DC-429D-94C2-8B291D70A623}" type="pres">
      <dgm:prSet presAssocID="{D927D726-4AAD-41C4-9803-6F3208CB09A1}" presName="compNode" presStyleCnt="0"/>
      <dgm:spPr/>
    </dgm:pt>
    <dgm:pt modelId="{5FE11752-33B8-4B6C-9A71-60E913958BBD}" type="pres">
      <dgm:prSet presAssocID="{D927D726-4AAD-41C4-9803-6F3208CB09A1}" presName="bgRect" presStyleLbl="bgShp" presStyleIdx="0" presStyleCnt="6"/>
      <dgm:spPr/>
    </dgm:pt>
    <dgm:pt modelId="{D7D5CFBD-24F1-4527-A7D6-92DBF33B6933}" type="pres">
      <dgm:prSet presAssocID="{D927D726-4AAD-41C4-9803-6F3208CB09A1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B73A69F0-2E66-44F6-9EDC-EC32597EC402}" type="pres">
      <dgm:prSet presAssocID="{D927D726-4AAD-41C4-9803-6F3208CB09A1}" presName="spaceRect" presStyleCnt="0"/>
      <dgm:spPr/>
    </dgm:pt>
    <dgm:pt modelId="{612C4544-ED7F-4E04-A090-3E5594700721}" type="pres">
      <dgm:prSet presAssocID="{D927D726-4AAD-41C4-9803-6F3208CB09A1}" presName="parTx" presStyleLbl="revTx" presStyleIdx="0" presStyleCnt="6">
        <dgm:presLayoutVars>
          <dgm:chMax val="0"/>
          <dgm:chPref val="0"/>
        </dgm:presLayoutVars>
      </dgm:prSet>
      <dgm:spPr/>
    </dgm:pt>
    <dgm:pt modelId="{DCEB83E4-C0D1-4847-8D40-A1204EC05A26}" type="pres">
      <dgm:prSet presAssocID="{B6F5298C-990E-4EF0-834A-15092CB722F2}" presName="sibTrans" presStyleCnt="0"/>
      <dgm:spPr/>
    </dgm:pt>
    <dgm:pt modelId="{A084281D-CC27-4501-9BF5-D84E91BC97CC}" type="pres">
      <dgm:prSet presAssocID="{DD87EC50-8C06-42DB-AD08-E06A6D375B68}" presName="compNode" presStyleCnt="0"/>
      <dgm:spPr/>
    </dgm:pt>
    <dgm:pt modelId="{8F3336EC-3ADD-4641-A14E-E5D66059012F}" type="pres">
      <dgm:prSet presAssocID="{DD87EC50-8C06-42DB-AD08-E06A6D375B68}" presName="bgRect" presStyleLbl="bgShp" presStyleIdx="1" presStyleCnt="6"/>
      <dgm:spPr/>
    </dgm:pt>
    <dgm:pt modelId="{EA724CF1-627C-4FB4-B093-FAFA4FB3360C}" type="pres">
      <dgm:prSet presAssocID="{DD87EC50-8C06-42DB-AD08-E06A6D375B68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0F629D59-79E7-469E-8D88-B736F10D2541}" type="pres">
      <dgm:prSet presAssocID="{DD87EC50-8C06-42DB-AD08-E06A6D375B68}" presName="spaceRect" presStyleCnt="0"/>
      <dgm:spPr/>
    </dgm:pt>
    <dgm:pt modelId="{E1D5F9E5-06BA-4E5F-9D33-4BCF6ECE352A}" type="pres">
      <dgm:prSet presAssocID="{DD87EC50-8C06-42DB-AD08-E06A6D375B68}" presName="parTx" presStyleLbl="revTx" presStyleIdx="1" presStyleCnt="6">
        <dgm:presLayoutVars>
          <dgm:chMax val="0"/>
          <dgm:chPref val="0"/>
        </dgm:presLayoutVars>
      </dgm:prSet>
      <dgm:spPr/>
    </dgm:pt>
    <dgm:pt modelId="{5E394C09-5BE3-45A2-B4F1-583C133638DE}" type="pres">
      <dgm:prSet presAssocID="{A1AE7AC4-827B-4CFF-AC38-25D5C9665CBD}" presName="sibTrans" presStyleCnt="0"/>
      <dgm:spPr/>
    </dgm:pt>
    <dgm:pt modelId="{A3CDAE04-04EB-44ED-93DC-965805933C41}" type="pres">
      <dgm:prSet presAssocID="{3D524530-0A34-4979-8567-C69F74905FEF}" presName="compNode" presStyleCnt="0"/>
      <dgm:spPr/>
    </dgm:pt>
    <dgm:pt modelId="{34A58CDB-8D48-4846-9587-6C23DDABBF82}" type="pres">
      <dgm:prSet presAssocID="{3D524530-0A34-4979-8567-C69F74905FEF}" presName="bgRect" presStyleLbl="bgShp" presStyleIdx="2" presStyleCnt="6"/>
      <dgm:spPr/>
    </dgm:pt>
    <dgm:pt modelId="{9E20D667-D406-4F04-9C7F-4D3FB3A84079}" type="pres">
      <dgm:prSet presAssocID="{3D524530-0A34-4979-8567-C69F74905FEF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58FA1022-3CBE-46DE-8D2F-2D2F16BAF251}" type="pres">
      <dgm:prSet presAssocID="{3D524530-0A34-4979-8567-C69F74905FEF}" presName="spaceRect" presStyleCnt="0"/>
      <dgm:spPr/>
    </dgm:pt>
    <dgm:pt modelId="{0FB52928-AACB-4753-BB80-290BE4E768F2}" type="pres">
      <dgm:prSet presAssocID="{3D524530-0A34-4979-8567-C69F74905FEF}" presName="parTx" presStyleLbl="revTx" presStyleIdx="2" presStyleCnt="6">
        <dgm:presLayoutVars>
          <dgm:chMax val="0"/>
          <dgm:chPref val="0"/>
        </dgm:presLayoutVars>
      </dgm:prSet>
      <dgm:spPr/>
    </dgm:pt>
    <dgm:pt modelId="{4CF0BA24-AF7F-4460-ACB0-9D0E44BAE16F}" type="pres">
      <dgm:prSet presAssocID="{4BD86ACB-7223-434F-AD36-07FCA02E59C1}" presName="sibTrans" presStyleCnt="0"/>
      <dgm:spPr/>
    </dgm:pt>
    <dgm:pt modelId="{69F35EAF-5068-4F8A-BA1F-EDD0486A5CEE}" type="pres">
      <dgm:prSet presAssocID="{E058FD31-0D61-47B6-A86B-A9E719A9BE59}" presName="compNode" presStyleCnt="0"/>
      <dgm:spPr/>
    </dgm:pt>
    <dgm:pt modelId="{58C4B081-3410-44D7-8986-14C9EB06F5BC}" type="pres">
      <dgm:prSet presAssocID="{E058FD31-0D61-47B6-A86B-A9E719A9BE59}" presName="bgRect" presStyleLbl="bgShp" presStyleIdx="3" presStyleCnt="6"/>
      <dgm:spPr/>
    </dgm:pt>
    <dgm:pt modelId="{BDEEE616-A71C-40CB-8A7E-89B2F80E2477}" type="pres">
      <dgm:prSet presAssocID="{E058FD31-0D61-47B6-A86B-A9E719A9BE5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839880FB-2091-4A27-88AE-F053BF21B14F}" type="pres">
      <dgm:prSet presAssocID="{E058FD31-0D61-47B6-A86B-A9E719A9BE59}" presName="spaceRect" presStyleCnt="0"/>
      <dgm:spPr/>
    </dgm:pt>
    <dgm:pt modelId="{BAE13846-17D0-4C7F-9BFB-9C3590212DEE}" type="pres">
      <dgm:prSet presAssocID="{E058FD31-0D61-47B6-A86B-A9E719A9BE59}" presName="parTx" presStyleLbl="revTx" presStyleIdx="3" presStyleCnt="6">
        <dgm:presLayoutVars>
          <dgm:chMax val="0"/>
          <dgm:chPref val="0"/>
        </dgm:presLayoutVars>
      </dgm:prSet>
      <dgm:spPr/>
    </dgm:pt>
    <dgm:pt modelId="{F61755B1-F714-45A6-89E5-9F502492F592}" type="pres">
      <dgm:prSet presAssocID="{C0953BCB-69DE-4EBB-B961-D666A9271EDE}" presName="sibTrans" presStyleCnt="0"/>
      <dgm:spPr/>
    </dgm:pt>
    <dgm:pt modelId="{8D9411F2-C5C4-4A28-967B-4C1A70FE4BD3}" type="pres">
      <dgm:prSet presAssocID="{8D91FB91-25A0-4FDA-AE63-626EC75965F4}" presName="compNode" presStyleCnt="0"/>
      <dgm:spPr/>
    </dgm:pt>
    <dgm:pt modelId="{B7883F76-2C10-4B46-957F-0013445223AA}" type="pres">
      <dgm:prSet presAssocID="{8D91FB91-25A0-4FDA-AE63-626EC75965F4}" presName="bgRect" presStyleLbl="bgShp" presStyleIdx="4" presStyleCnt="6"/>
      <dgm:spPr/>
    </dgm:pt>
    <dgm:pt modelId="{09BC9CA2-E54B-4119-A6E6-E15D57E21669}" type="pres">
      <dgm:prSet presAssocID="{8D91FB91-25A0-4FDA-AE63-626EC75965F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3A28D617-9A70-4946-A7F1-645647282B62}" type="pres">
      <dgm:prSet presAssocID="{8D91FB91-25A0-4FDA-AE63-626EC75965F4}" presName="spaceRect" presStyleCnt="0"/>
      <dgm:spPr/>
    </dgm:pt>
    <dgm:pt modelId="{718B220F-022E-48E6-966E-9D740C9C7E63}" type="pres">
      <dgm:prSet presAssocID="{8D91FB91-25A0-4FDA-AE63-626EC75965F4}" presName="parTx" presStyleLbl="revTx" presStyleIdx="4" presStyleCnt="6">
        <dgm:presLayoutVars>
          <dgm:chMax val="0"/>
          <dgm:chPref val="0"/>
        </dgm:presLayoutVars>
      </dgm:prSet>
      <dgm:spPr/>
    </dgm:pt>
    <dgm:pt modelId="{A7B8D911-585E-48E3-92EA-BAB6EEA9D3EA}" type="pres">
      <dgm:prSet presAssocID="{3621F687-2069-4CC9-B6EF-6DB066D9D8A8}" presName="sibTrans" presStyleCnt="0"/>
      <dgm:spPr/>
    </dgm:pt>
    <dgm:pt modelId="{BD4DAA40-9BB1-425E-98EF-5FA13D54A5E4}" type="pres">
      <dgm:prSet presAssocID="{13410E28-143B-4E8B-B783-C8D52678CD93}" presName="compNode" presStyleCnt="0"/>
      <dgm:spPr/>
    </dgm:pt>
    <dgm:pt modelId="{14425F83-9674-42FC-949D-D2731C3BF32C}" type="pres">
      <dgm:prSet presAssocID="{13410E28-143B-4E8B-B783-C8D52678CD93}" presName="bgRect" presStyleLbl="bgShp" presStyleIdx="5" presStyleCnt="6"/>
      <dgm:spPr/>
    </dgm:pt>
    <dgm:pt modelId="{DC5E5B4F-D541-4E3B-9EDC-75AFA3AD2FDC}" type="pres">
      <dgm:prSet presAssocID="{13410E28-143B-4E8B-B783-C8D52678CD9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F0DB7BEA-A552-4708-8178-9DC3A40BBF98}" type="pres">
      <dgm:prSet presAssocID="{13410E28-143B-4E8B-B783-C8D52678CD93}" presName="spaceRect" presStyleCnt="0"/>
      <dgm:spPr/>
    </dgm:pt>
    <dgm:pt modelId="{4BE9A32E-B79C-415E-86CC-EDB2ECF59630}" type="pres">
      <dgm:prSet presAssocID="{13410E28-143B-4E8B-B783-C8D52678CD9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56399909-E98E-4438-8AE6-C759130B7BA4}" srcId="{AEC40DD3-9FF9-48B3-AF0A-BE65E5CB8663}" destId="{E058FD31-0D61-47B6-A86B-A9E719A9BE59}" srcOrd="3" destOrd="0" parTransId="{3CD7EAA9-CDB4-4BFD-B4AC-DF1C46749942}" sibTransId="{C0953BCB-69DE-4EBB-B961-D666A9271EDE}"/>
    <dgm:cxn modelId="{18E71926-33C4-4BAA-A06D-57F83A8AAEAE}" type="presOf" srcId="{3D524530-0A34-4979-8567-C69F74905FEF}" destId="{0FB52928-AACB-4753-BB80-290BE4E768F2}" srcOrd="0" destOrd="0" presId="urn:microsoft.com/office/officeart/2018/2/layout/IconVerticalSolidList"/>
    <dgm:cxn modelId="{B4332F2A-772A-4307-BEBC-9C1C3AD72D50}" type="presOf" srcId="{E058FD31-0D61-47B6-A86B-A9E719A9BE59}" destId="{BAE13846-17D0-4C7F-9BFB-9C3590212DEE}" srcOrd="0" destOrd="0" presId="urn:microsoft.com/office/officeart/2018/2/layout/IconVerticalSolidList"/>
    <dgm:cxn modelId="{EAD2BC7D-7481-43AD-BE5E-DC5E8B596A0A}" srcId="{AEC40DD3-9FF9-48B3-AF0A-BE65E5CB8663}" destId="{DD87EC50-8C06-42DB-AD08-E06A6D375B68}" srcOrd="1" destOrd="0" parTransId="{1BA0805D-B120-40E7-8296-A4E1C152AAEF}" sibTransId="{A1AE7AC4-827B-4CFF-AC38-25D5C9665CBD}"/>
    <dgm:cxn modelId="{1A3F909F-67C1-4045-B591-8EBB5E922148}" type="presOf" srcId="{8D91FB91-25A0-4FDA-AE63-626EC75965F4}" destId="{718B220F-022E-48E6-966E-9D740C9C7E63}" srcOrd="0" destOrd="0" presId="urn:microsoft.com/office/officeart/2018/2/layout/IconVerticalSolidList"/>
    <dgm:cxn modelId="{9F9D49B9-CECE-4D81-BFFE-D5C452E86C80}" type="presOf" srcId="{D927D726-4AAD-41C4-9803-6F3208CB09A1}" destId="{612C4544-ED7F-4E04-A090-3E5594700721}" srcOrd="0" destOrd="0" presId="urn:microsoft.com/office/officeart/2018/2/layout/IconVerticalSolidList"/>
    <dgm:cxn modelId="{AA281EC9-57FC-4C30-976D-942271AA8832}" srcId="{AEC40DD3-9FF9-48B3-AF0A-BE65E5CB8663}" destId="{13410E28-143B-4E8B-B783-C8D52678CD93}" srcOrd="5" destOrd="0" parTransId="{914E201E-90AB-46B8-AF7B-3392DD4E2145}" sibTransId="{3A91C691-40D8-457B-BD4C-75D9654FD4E7}"/>
    <dgm:cxn modelId="{618D3AD0-2645-4E0B-B5DB-18C169197621}" srcId="{AEC40DD3-9FF9-48B3-AF0A-BE65E5CB8663}" destId="{8D91FB91-25A0-4FDA-AE63-626EC75965F4}" srcOrd="4" destOrd="0" parTransId="{BBAE586E-785F-4EEB-BD0E-5482C710F404}" sibTransId="{3621F687-2069-4CC9-B6EF-6DB066D9D8A8}"/>
    <dgm:cxn modelId="{AC382CD9-CE2F-4A0E-B952-F36553430D0F}" type="presOf" srcId="{13410E28-143B-4E8B-B783-C8D52678CD93}" destId="{4BE9A32E-B79C-415E-86CC-EDB2ECF59630}" srcOrd="0" destOrd="0" presId="urn:microsoft.com/office/officeart/2018/2/layout/IconVerticalSolidList"/>
    <dgm:cxn modelId="{A7300BDE-51DB-41A5-8D98-BE697EF45005}" type="presOf" srcId="{DD87EC50-8C06-42DB-AD08-E06A6D375B68}" destId="{E1D5F9E5-06BA-4E5F-9D33-4BCF6ECE352A}" srcOrd="0" destOrd="0" presId="urn:microsoft.com/office/officeart/2018/2/layout/IconVerticalSolidList"/>
    <dgm:cxn modelId="{93ED37DE-914B-4483-84FE-E56AEE79B216}" srcId="{AEC40DD3-9FF9-48B3-AF0A-BE65E5CB8663}" destId="{3D524530-0A34-4979-8567-C69F74905FEF}" srcOrd="2" destOrd="0" parTransId="{91E2C6CD-6D57-4E61-ADB7-5185C49C07EE}" sibTransId="{4BD86ACB-7223-434F-AD36-07FCA02E59C1}"/>
    <dgm:cxn modelId="{ABB50FF1-9CA4-4F2F-8CAE-A45AEC55B713}" srcId="{AEC40DD3-9FF9-48B3-AF0A-BE65E5CB8663}" destId="{D927D726-4AAD-41C4-9803-6F3208CB09A1}" srcOrd="0" destOrd="0" parTransId="{F7975A78-B11C-4324-9D51-8BDCB87C1742}" sibTransId="{B6F5298C-990E-4EF0-834A-15092CB722F2}"/>
    <dgm:cxn modelId="{96A501FE-124E-4213-82AF-9D0353C6E167}" type="presOf" srcId="{AEC40DD3-9FF9-48B3-AF0A-BE65E5CB8663}" destId="{7BBB613C-6B3D-4CB9-95EF-EEE84148F885}" srcOrd="0" destOrd="0" presId="urn:microsoft.com/office/officeart/2018/2/layout/IconVerticalSolidList"/>
    <dgm:cxn modelId="{4569D7CC-CF1E-4746-BC73-9745319A4F86}" type="presParOf" srcId="{7BBB613C-6B3D-4CB9-95EF-EEE84148F885}" destId="{C4F01C96-B3DC-429D-94C2-8B291D70A623}" srcOrd="0" destOrd="0" presId="urn:microsoft.com/office/officeart/2018/2/layout/IconVerticalSolidList"/>
    <dgm:cxn modelId="{4C3E8476-2772-4E77-B70F-FE9F7544AC1C}" type="presParOf" srcId="{C4F01C96-B3DC-429D-94C2-8B291D70A623}" destId="{5FE11752-33B8-4B6C-9A71-60E913958BBD}" srcOrd="0" destOrd="0" presId="urn:microsoft.com/office/officeart/2018/2/layout/IconVerticalSolidList"/>
    <dgm:cxn modelId="{18F3A539-0348-4F86-A814-E2D45918FDAA}" type="presParOf" srcId="{C4F01C96-B3DC-429D-94C2-8B291D70A623}" destId="{D7D5CFBD-24F1-4527-A7D6-92DBF33B6933}" srcOrd="1" destOrd="0" presId="urn:microsoft.com/office/officeart/2018/2/layout/IconVerticalSolidList"/>
    <dgm:cxn modelId="{5B3A114D-FEBB-449E-A773-6AD8BAED1645}" type="presParOf" srcId="{C4F01C96-B3DC-429D-94C2-8B291D70A623}" destId="{B73A69F0-2E66-44F6-9EDC-EC32597EC402}" srcOrd="2" destOrd="0" presId="urn:microsoft.com/office/officeart/2018/2/layout/IconVerticalSolidList"/>
    <dgm:cxn modelId="{1F2F3232-7682-4EF8-AE8F-0821A615D7F4}" type="presParOf" srcId="{C4F01C96-B3DC-429D-94C2-8B291D70A623}" destId="{612C4544-ED7F-4E04-A090-3E5594700721}" srcOrd="3" destOrd="0" presId="urn:microsoft.com/office/officeart/2018/2/layout/IconVerticalSolidList"/>
    <dgm:cxn modelId="{A73BD258-727E-43DA-96E2-A2799ABE2ED9}" type="presParOf" srcId="{7BBB613C-6B3D-4CB9-95EF-EEE84148F885}" destId="{DCEB83E4-C0D1-4847-8D40-A1204EC05A26}" srcOrd="1" destOrd="0" presId="urn:microsoft.com/office/officeart/2018/2/layout/IconVerticalSolidList"/>
    <dgm:cxn modelId="{2DF056EF-C396-45BF-AAF1-25A76C280F12}" type="presParOf" srcId="{7BBB613C-6B3D-4CB9-95EF-EEE84148F885}" destId="{A084281D-CC27-4501-9BF5-D84E91BC97CC}" srcOrd="2" destOrd="0" presId="urn:microsoft.com/office/officeart/2018/2/layout/IconVerticalSolidList"/>
    <dgm:cxn modelId="{02D57AA5-39A5-4052-A903-A5A48767D038}" type="presParOf" srcId="{A084281D-CC27-4501-9BF5-D84E91BC97CC}" destId="{8F3336EC-3ADD-4641-A14E-E5D66059012F}" srcOrd="0" destOrd="0" presId="urn:microsoft.com/office/officeart/2018/2/layout/IconVerticalSolidList"/>
    <dgm:cxn modelId="{9BC28204-04D9-4E9B-B649-7F3CD50B4DF4}" type="presParOf" srcId="{A084281D-CC27-4501-9BF5-D84E91BC97CC}" destId="{EA724CF1-627C-4FB4-B093-FAFA4FB3360C}" srcOrd="1" destOrd="0" presId="urn:microsoft.com/office/officeart/2018/2/layout/IconVerticalSolidList"/>
    <dgm:cxn modelId="{54D1C7B2-395C-4A05-A0AB-0CD448AC9431}" type="presParOf" srcId="{A084281D-CC27-4501-9BF5-D84E91BC97CC}" destId="{0F629D59-79E7-469E-8D88-B736F10D2541}" srcOrd="2" destOrd="0" presId="urn:microsoft.com/office/officeart/2018/2/layout/IconVerticalSolidList"/>
    <dgm:cxn modelId="{DA428740-DE94-438F-80AC-E27AFF72D542}" type="presParOf" srcId="{A084281D-CC27-4501-9BF5-D84E91BC97CC}" destId="{E1D5F9E5-06BA-4E5F-9D33-4BCF6ECE352A}" srcOrd="3" destOrd="0" presId="urn:microsoft.com/office/officeart/2018/2/layout/IconVerticalSolidList"/>
    <dgm:cxn modelId="{286E7198-B8BD-476C-B100-581A79A78E2C}" type="presParOf" srcId="{7BBB613C-6B3D-4CB9-95EF-EEE84148F885}" destId="{5E394C09-5BE3-45A2-B4F1-583C133638DE}" srcOrd="3" destOrd="0" presId="urn:microsoft.com/office/officeart/2018/2/layout/IconVerticalSolidList"/>
    <dgm:cxn modelId="{E5E890EB-AD89-4685-8A82-A1D16D5BC5D0}" type="presParOf" srcId="{7BBB613C-6B3D-4CB9-95EF-EEE84148F885}" destId="{A3CDAE04-04EB-44ED-93DC-965805933C41}" srcOrd="4" destOrd="0" presId="urn:microsoft.com/office/officeart/2018/2/layout/IconVerticalSolidList"/>
    <dgm:cxn modelId="{AC788B3E-55F2-4C92-9E82-F24CC716DDC7}" type="presParOf" srcId="{A3CDAE04-04EB-44ED-93DC-965805933C41}" destId="{34A58CDB-8D48-4846-9587-6C23DDABBF82}" srcOrd="0" destOrd="0" presId="urn:microsoft.com/office/officeart/2018/2/layout/IconVerticalSolidList"/>
    <dgm:cxn modelId="{E8AF3888-5EEB-4D22-A458-09B8FE9F3033}" type="presParOf" srcId="{A3CDAE04-04EB-44ED-93DC-965805933C41}" destId="{9E20D667-D406-4F04-9C7F-4D3FB3A84079}" srcOrd="1" destOrd="0" presId="urn:microsoft.com/office/officeart/2018/2/layout/IconVerticalSolidList"/>
    <dgm:cxn modelId="{865CCD8B-4058-42CE-898E-DB2C7E47E809}" type="presParOf" srcId="{A3CDAE04-04EB-44ED-93DC-965805933C41}" destId="{58FA1022-3CBE-46DE-8D2F-2D2F16BAF251}" srcOrd="2" destOrd="0" presId="urn:microsoft.com/office/officeart/2018/2/layout/IconVerticalSolidList"/>
    <dgm:cxn modelId="{15DA533F-8AE5-4E9B-8B42-B68A9D4265A7}" type="presParOf" srcId="{A3CDAE04-04EB-44ED-93DC-965805933C41}" destId="{0FB52928-AACB-4753-BB80-290BE4E768F2}" srcOrd="3" destOrd="0" presId="urn:microsoft.com/office/officeart/2018/2/layout/IconVerticalSolidList"/>
    <dgm:cxn modelId="{71DB4228-BC93-4724-84B1-88A7E2A01522}" type="presParOf" srcId="{7BBB613C-6B3D-4CB9-95EF-EEE84148F885}" destId="{4CF0BA24-AF7F-4460-ACB0-9D0E44BAE16F}" srcOrd="5" destOrd="0" presId="urn:microsoft.com/office/officeart/2018/2/layout/IconVerticalSolidList"/>
    <dgm:cxn modelId="{6A4D11C0-F88F-45CA-A490-3DC94BDCF3C9}" type="presParOf" srcId="{7BBB613C-6B3D-4CB9-95EF-EEE84148F885}" destId="{69F35EAF-5068-4F8A-BA1F-EDD0486A5CEE}" srcOrd="6" destOrd="0" presId="urn:microsoft.com/office/officeart/2018/2/layout/IconVerticalSolidList"/>
    <dgm:cxn modelId="{36280ECA-DD75-4B8C-A32E-77715E82BC40}" type="presParOf" srcId="{69F35EAF-5068-4F8A-BA1F-EDD0486A5CEE}" destId="{58C4B081-3410-44D7-8986-14C9EB06F5BC}" srcOrd="0" destOrd="0" presId="urn:microsoft.com/office/officeart/2018/2/layout/IconVerticalSolidList"/>
    <dgm:cxn modelId="{858668EF-E3DE-4C71-9993-8DC1D320E27B}" type="presParOf" srcId="{69F35EAF-5068-4F8A-BA1F-EDD0486A5CEE}" destId="{BDEEE616-A71C-40CB-8A7E-89B2F80E2477}" srcOrd="1" destOrd="0" presId="urn:microsoft.com/office/officeart/2018/2/layout/IconVerticalSolidList"/>
    <dgm:cxn modelId="{6ADC916D-579F-42A6-9F4B-E3E53BEFECFC}" type="presParOf" srcId="{69F35EAF-5068-4F8A-BA1F-EDD0486A5CEE}" destId="{839880FB-2091-4A27-88AE-F053BF21B14F}" srcOrd="2" destOrd="0" presId="urn:microsoft.com/office/officeart/2018/2/layout/IconVerticalSolidList"/>
    <dgm:cxn modelId="{EC88A034-9609-4DC9-A4F8-97D32D1E480A}" type="presParOf" srcId="{69F35EAF-5068-4F8A-BA1F-EDD0486A5CEE}" destId="{BAE13846-17D0-4C7F-9BFB-9C3590212DEE}" srcOrd="3" destOrd="0" presId="urn:microsoft.com/office/officeart/2018/2/layout/IconVerticalSolidList"/>
    <dgm:cxn modelId="{ACAD46DC-AB46-4D27-B53B-28AB5FB62E62}" type="presParOf" srcId="{7BBB613C-6B3D-4CB9-95EF-EEE84148F885}" destId="{F61755B1-F714-45A6-89E5-9F502492F592}" srcOrd="7" destOrd="0" presId="urn:microsoft.com/office/officeart/2018/2/layout/IconVerticalSolidList"/>
    <dgm:cxn modelId="{4965BC46-2618-4C5F-BA90-BA6BFC752943}" type="presParOf" srcId="{7BBB613C-6B3D-4CB9-95EF-EEE84148F885}" destId="{8D9411F2-C5C4-4A28-967B-4C1A70FE4BD3}" srcOrd="8" destOrd="0" presId="urn:microsoft.com/office/officeart/2018/2/layout/IconVerticalSolidList"/>
    <dgm:cxn modelId="{5AC36C98-C638-4601-B16E-9245E8B12FD6}" type="presParOf" srcId="{8D9411F2-C5C4-4A28-967B-4C1A70FE4BD3}" destId="{B7883F76-2C10-4B46-957F-0013445223AA}" srcOrd="0" destOrd="0" presId="urn:microsoft.com/office/officeart/2018/2/layout/IconVerticalSolidList"/>
    <dgm:cxn modelId="{9FE7DECA-FC07-482C-9C9A-CF98F3409777}" type="presParOf" srcId="{8D9411F2-C5C4-4A28-967B-4C1A70FE4BD3}" destId="{09BC9CA2-E54B-4119-A6E6-E15D57E21669}" srcOrd="1" destOrd="0" presId="urn:microsoft.com/office/officeart/2018/2/layout/IconVerticalSolidList"/>
    <dgm:cxn modelId="{F6E515FA-526C-45AB-8CCD-257FD5650179}" type="presParOf" srcId="{8D9411F2-C5C4-4A28-967B-4C1A70FE4BD3}" destId="{3A28D617-9A70-4946-A7F1-645647282B62}" srcOrd="2" destOrd="0" presId="urn:microsoft.com/office/officeart/2018/2/layout/IconVerticalSolidList"/>
    <dgm:cxn modelId="{7424B446-91CA-4CAD-8643-CE0AE31A9FFE}" type="presParOf" srcId="{8D9411F2-C5C4-4A28-967B-4C1A70FE4BD3}" destId="{718B220F-022E-48E6-966E-9D740C9C7E63}" srcOrd="3" destOrd="0" presId="urn:microsoft.com/office/officeart/2018/2/layout/IconVerticalSolidList"/>
    <dgm:cxn modelId="{AF0C31B1-4C98-4E47-B44E-ADD8724420FB}" type="presParOf" srcId="{7BBB613C-6B3D-4CB9-95EF-EEE84148F885}" destId="{A7B8D911-585E-48E3-92EA-BAB6EEA9D3EA}" srcOrd="9" destOrd="0" presId="urn:microsoft.com/office/officeart/2018/2/layout/IconVerticalSolidList"/>
    <dgm:cxn modelId="{9661E957-469C-478E-9F42-D1727AC53919}" type="presParOf" srcId="{7BBB613C-6B3D-4CB9-95EF-EEE84148F885}" destId="{BD4DAA40-9BB1-425E-98EF-5FA13D54A5E4}" srcOrd="10" destOrd="0" presId="urn:microsoft.com/office/officeart/2018/2/layout/IconVerticalSolidList"/>
    <dgm:cxn modelId="{C12F8E3E-6286-4462-9EA4-07A59E2DDEF3}" type="presParOf" srcId="{BD4DAA40-9BB1-425E-98EF-5FA13D54A5E4}" destId="{14425F83-9674-42FC-949D-D2731C3BF32C}" srcOrd="0" destOrd="0" presId="urn:microsoft.com/office/officeart/2018/2/layout/IconVerticalSolidList"/>
    <dgm:cxn modelId="{C5C5A3E3-2116-4FB9-B03F-98BCD21D7098}" type="presParOf" srcId="{BD4DAA40-9BB1-425E-98EF-5FA13D54A5E4}" destId="{DC5E5B4F-D541-4E3B-9EDC-75AFA3AD2FDC}" srcOrd="1" destOrd="0" presId="urn:microsoft.com/office/officeart/2018/2/layout/IconVerticalSolidList"/>
    <dgm:cxn modelId="{FE847A39-CBF2-43D3-AFEB-AACF1BEFF829}" type="presParOf" srcId="{BD4DAA40-9BB1-425E-98EF-5FA13D54A5E4}" destId="{F0DB7BEA-A552-4708-8178-9DC3A40BBF98}" srcOrd="2" destOrd="0" presId="urn:microsoft.com/office/officeart/2018/2/layout/IconVerticalSolidList"/>
    <dgm:cxn modelId="{1F4D5838-8517-4FE0-8BE8-5F508169AEA9}" type="presParOf" srcId="{BD4DAA40-9BB1-425E-98EF-5FA13D54A5E4}" destId="{4BE9A32E-B79C-415E-86CC-EDB2ECF5963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11752-33B8-4B6C-9A71-60E913958BBD}">
      <dsp:nvSpPr>
        <dsp:cNvPr id="0" name=""/>
        <dsp:cNvSpPr/>
      </dsp:nvSpPr>
      <dsp:spPr>
        <a:xfrm>
          <a:off x="0" y="1254"/>
          <a:ext cx="7879842" cy="53440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D5CFBD-24F1-4527-A7D6-92DBF33B6933}">
      <dsp:nvSpPr>
        <dsp:cNvPr id="0" name=""/>
        <dsp:cNvSpPr/>
      </dsp:nvSpPr>
      <dsp:spPr>
        <a:xfrm>
          <a:off x="161657" y="121495"/>
          <a:ext cx="293923" cy="2939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2C4544-ED7F-4E04-A090-3E5594700721}">
      <dsp:nvSpPr>
        <dsp:cNvPr id="0" name=""/>
        <dsp:cNvSpPr/>
      </dsp:nvSpPr>
      <dsp:spPr>
        <a:xfrm>
          <a:off x="617238" y="1254"/>
          <a:ext cx="7262603" cy="534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558" tIns="56558" rIns="56558" bIns="565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Parameterisation; literature values &amp; units.</a:t>
          </a:r>
          <a:endParaRPr lang="en-US" sz="1900" kern="1200" dirty="0"/>
        </a:p>
      </dsp:txBody>
      <dsp:txXfrm>
        <a:off x="617238" y="1254"/>
        <a:ext cx="7262603" cy="534405"/>
      </dsp:txXfrm>
    </dsp:sp>
    <dsp:sp modelId="{8F3336EC-3ADD-4641-A14E-E5D66059012F}">
      <dsp:nvSpPr>
        <dsp:cNvPr id="0" name=""/>
        <dsp:cNvSpPr/>
      </dsp:nvSpPr>
      <dsp:spPr>
        <a:xfrm>
          <a:off x="0" y="669260"/>
          <a:ext cx="7879842" cy="534405"/>
        </a:xfrm>
        <a:prstGeom prst="roundRect">
          <a:avLst>
            <a:gd name="adj" fmla="val 10000"/>
          </a:avLst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724CF1-627C-4FB4-B093-FAFA4FB3360C}">
      <dsp:nvSpPr>
        <dsp:cNvPr id="0" name=""/>
        <dsp:cNvSpPr/>
      </dsp:nvSpPr>
      <dsp:spPr>
        <a:xfrm>
          <a:off x="161657" y="789502"/>
          <a:ext cx="293923" cy="2939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D5F9E5-06BA-4E5F-9D33-4BCF6ECE352A}">
      <dsp:nvSpPr>
        <dsp:cNvPr id="0" name=""/>
        <dsp:cNvSpPr/>
      </dsp:nvSpPr>
      <dsp:spPr>
        <a:xfrm>
          <a:off x="617238" y="669260"/>
          <a:ext cx="7262603" cy="534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558" tIns="56558" rIns="56558" bIns="565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Scale SIS; re-parameterise to (R₀, </a:t>
          </a:r>
          <a:r>
            <a:rPr lang="el-GR" sz="1900" kern="1200"/>
            <a:t>γ).</a:t>
          </a:r>
          <a:endParaRPr lang="en-US" sz="1900" kern="1200"/>
        </a:p>
      </dsp:txBody>
      <dsp:txXfrm>
        <a:off x="617238" y="669260"/>
        <a:ext cx="7262603" cy="534405"/>
      </dsp:txXfrm>
    </dsp:sp>
    <dsp:sp modelId="{34A58CDB-8D48-4846-9587-6C23DDABBF82}">
      <dsp:nvSpPr>
        <dsp:cNvPr id="0" name=""/>
        <dsp:cNvSpPr/>
      </dsp:nvSpPr>
      <dsp:spPr>
        <a:xfrm>
          <a:off x="0" y="1337267"/>
          <a:ext cx="7879842" cy="534405"/>
        </a:xfrm>
        <a:prstGeom prst="roundRect">
          <a:avLst>
            <a:gd name="adj" fmla="val 10000"/>
          </a:avLst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20D667-D406-4F04-9C7F-4D3FB3A84079}">
      <dsp:nvSpPr>
        <dsp:cNvPr id="0" name=""/>
        <dsp:cNvSpPr/>
      </dsp:nvSpPr>
      <dsp:spPr>
        <a:xfrm>
          <a:off x="161657" y="1457509"/>
          <a:ext cx="293923" cy="2939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B52928-AACB-4753-BB80-290BE4E768F2}">
      <dsp:nvSpPr>
        <dsp:cNvPr id="0" name=""/>
        <dsp:cNvSpPr/>
      </dsp:nvSpPr>
      <dsp:spPr>
        <a:xfrm>
          <a:off x="617238" y="1337267"/>
          <a:ext cx="7262603" cy="534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558" tIns="56558" rIns="56558" bIns="565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Identifiability: structural vs practical; use profiles/surfaces.</a:t>
          </a:r>
          <a:endParaRPr lang="en-US" sz="1900" kern="1200"/>
        </a:p>
      </dsp:txBody>
      <dsp:txXfrm>
        <a:off x="617238" y="1337267"/>
        <a:ext cx="7262603" cy="534405"/>
      </dsp:txXfrm>
    </dsp:sp>
    <dsp:sp modelId="{58C4B081-3410-44D7-8986-14C9EB06F5BC}">
      <dsp:nvSpPr>
        <dsp:cNvPr id="0" name=""/>
        <dsp:cNvSpPr/>
      </dsp:nvSpPr>
      <dsp:spPr>
        <a:xfrm>
          <a:off x="0" y="2005274"/>
          <a:ext cx="7879842" cy="534405"/>
        </a:xfrm>
        <a:prstGeom prst="roundRect">
          <a:avLst>
            <a:gd name="adj" fmla="val 10000"/>
          </a:avLst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EEE616-A71C-40CB-8A7E-89B2F80E2477}">
      <dsp:nvSpPr>
        <dsp:cNvPr id="0" name=""/>
        <dsp:cNvSpPr/>
      </dsp:nvSpPr>
      <dsp:spPr>
        <a:xfrm>
          <a:off x="161657" y="2125515"/>
          <a:ext cx="293923" cy="2939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E13846-17D0-4C7F-9BFB-9C3590212DEE}">
      <dsp:nvSpPr>
        <dsp:cNvPr id="0" name=""/>
        <dsp:cNvSpPr/>
      </dsp:nvSpPr>
      <dsp:spPr>
        <a:xfrm>
          <a:off x="617238" y="2005274"/>
          <a:ext cx="7262603" cy="534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558" tIns="56558" rIns="56558" bIns="565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Units &amp; time steps; hazard → probability mapping.</a:t>
          </a:r>
          <a:endParaRPr lang="en-US" sz="1900" kern="1200"/>
        </a:p>
      </dsp:txBody>
      <dsp:txXfrm>
        <a:off x="617238" y="2005274"/>
        <a:ext cx="7262603" cy="534405"/>
      </dsp:txXfrm>
    </dsp:sp>
    <dsp:sp modelId="{B7883F76-2C10-4B46-957F-0013445223AA}">
      <dsp:nvSpPr>
        <dsp:cNvPr id="0" name=""/>
        <dsp:cNvSpPr/>
      </dsp:nvSpPr>
      <dsp:spPr>
        <a:xfrm>
          <a:off x="0" y="2673281"/>
          <a:ext cx="7879842" cy="534405"/>
        </a:xfrm>
        <a:prstGeom prst="roundRect">
          <a:avLst>
            <a:gd name="adj" fmla="val 10000"/>
          </a:avLst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BC9CA2-E54B-4119-A6E6-E15D57E21669}">
      <dsp:nvSpPr>
        <dsp:cNvPr id="0" name=""/>
        <dsp:cNvSpPr/>
      </dsp:nvSpPr>
      <dsp:spPr>
        <a:xfrm>
          <a:off x="161657" y="2793522"/>
          <a:ext cx="293923" cy="29392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8B220F-022E-48E6-966E-9D740C9C7E63}">
      <dsp:nvSpPr>
        <dsp:cNvPr id="0" name=""/>
        <dsp:cNvSpPr/>
      </dsp:nvSpPr>
      <dsp:spPr>
        <a:xfrm>
          <a:off x="617238" y="2673281"/>
          <a:ext cx="7262603" cy="534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558" tIns="56558" rIns="56558" bIns="565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Incidence: standard vs mass-action; effects on R₀ and units.</a:t>
          </a:r>
          <a:endParaRPr lang="en-US" sz="1900" kern="1200"/>
        </a:p>
      </dsp:txBody>
      <dsp:txXfrm>
        <a:off x="617238" y="2673281"/>
        <a:ext cx="7262603" cy="534405"/>
      </dsp:txXfrm>
    </dsp:sp>
    <dsp:sp modelId="{14425F83-9674-42FC-949D-D2731C3BF32C}">
      <dsp:nvSpPr>
        <dsp:cNvPr id="0" name=""/>
        <dsp:cNvSpPr/>
      </dsp:nvSpPr>
      <dsp:spPr>
        <a:xfrm>
          <a:off x="0" y="3341288"/>
          <a:ext cx="7879842" cy="534405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5E5B4F-D541-4E3B-9EDC-75AFA3AD2FDC}">
      <dsp:nvSpPr>
        <dsp:cNvPr id="0" name=""/>
        <dsp:cNvSpPr/>
      </dsp:nvSpPr>
      <dsp:spPr>
        <a:xfrm>
          <a:off x="161657" y="3461529"/>
          <a:ext cx="293923" cy="29392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E9A32E-B79C-415E-86CC-EDB2ECF59630}">
      <dsp:nvSpPr>
        <dsp:cNvPr id="0" name=""/>
        <dsp:cNvSpPr/>
      </dsp:nvSpPr>
      <dsp:spPr>
        <a:xfrm>
          <a:off x="617238" y="3341288"/>
          <a:ext cx="7262603" cy="534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558" tIns="56558" rIns="56558" bIns="565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Uncertainty &amp; model comparison: parameter CIs/posteriors; AIC/BIC  </a:t>
          </a:r>
          <a:endParaRPr lang="en-US" sz="1900" kern="1200" dirty="0"/>
        </a:p>
      </dsp:txBody>
      <dsp:txXfrm>
        <a:off x="617238" y="3341288"/>
        <a:ext cx="7262603" cy="5344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75B1F-52F7-6529-7D71-F594DE59C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8FD36C-DD56-6F5B-3198-C97F814C7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900B3-A0A8-37BF-E4C0-E547A31D3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6FB33-09EA-E0A4-323E-F30B676C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FCB7B-D29B-B8F2-E038-2C6CAB995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6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6928-5951-D683-8158-3915FD82E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F53B0-F6CB-214E-06EE-554794656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833ED-A0A0-742D-4FD7-ACC52BD62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814D3-77E0-6190-388E-C7D6AA300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89264-3224-6E06-B9AC-E73AA8BD3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55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FB1A3-0D18-0727-6B37-7F984225D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5203C-D764-6966-0588-D876B3828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EAB4C-BDEB-97F7-7B33-7B946A85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8C1E7-BED0-FBD5-3BD2-F32303E54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14E95-9221-A95A-B3AD-46D10E78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718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44FDD-3FF0-7FCD-ABA8-BACFB44E4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020B3-BFC8-6CE3-C3AA-A4CDAB065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3FC88-B1ED-5679-9810-7BAFEC701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13E5E-57EF-8115-0AAC-370802155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D0CCB-15B1-C29B-E580-45094CDBF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DBE917-CF78-C430-BDBF-9B5ACD883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843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E64F6-6574-9CC9-A402-C87F50CB3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8F48D-4C07-CFD3-249E-24E2E9367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CD2A3-88DF-72A3-EA8A-EA78FBD5E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1A08D2-4F4A-CADC-082E-86EA1F9A1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EE84B-ADEA-0193-7373-3E8329AC69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33AB2E-ACF2-F659-B95D-4DA736CCC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702C9-3CDE-C29C-0D05-086F6402D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C05640-CFE0-4ED5-CA6B-452E959F8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39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962E9-A4F9-65D8-B92F-598C6C1D8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C8D911-87BF-AFA7-ACC9-D9FA26E96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B21BB-8F31-0136-EDB5-5E29869D6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1CFD1-C5DA-CB2B-8FF0-298431F3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131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B2D641-D977-8406-F8D2-7FBE70301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A93F9E-5A22-23FA-48EA-510E0E576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A9DCE-EB90-0F65-AB1E-DB8DEB03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1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4C59-64AE-A42A-5E79-54BABEB49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0889A-6A0D-A68C-EFC3-B4BD39292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C8288-03B1-F7EC-C679-36289D21F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51080-8833-ED6B-AAF2-4805F8423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B4C37-6BB4-5EE3-E389-252401A35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DE738-511F-3AC3-AF02-3615F61D6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42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97436-F013-964D-B201-7CF7C299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08420E-682B-5F49-4240-C448BE233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53E58F-7193-E05D-72DF-03A9F47A9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EFF9B-6D5C-1FF3-5BFA-B921E235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45A3E-F878-0C7D-223C-A9835D48C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129EC-8E49-10B7-E60C-F620F5631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901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7E53-3506-EB99-5280-C1772DBC4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98CB5E-2197-333C-1150-7A5E40801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F808B-C315-4D15-DCC7-C476281DC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2B42D-ADCD-6487-EA04-7EC62281B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D5DB5-BCEE-0239-652B-4C137BC6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7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E44DE9-92FD-9A52-EFAA-D16587310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D4296-F2E1-3B77-6488-1AAE3CDB9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EAD3B-3F8E-B78B-6B80-5F3E38FC4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1E1D9-BE57-25EC-2D28-F09ED9597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0BD1D-AED9-AEB3-413D-A5D50AEF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46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904FC2-19EE-1FD9-06D3-8D61E6C89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0DD43-97F4-3657-2058-7172376FA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67887-8266-04B2-4EBD-F2C81295A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F4EFB-412E-725C-2BC0-1A42760007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E614F-B58E-F297-2228-908CE4729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41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451381"/>
            <a:ext cx="7884414" cy="4066540"/>
          </a:xfrm>
        </p:spPr>
        <p:txBody>
          <a:bodyPr anchor="b">
            <a:normAutofit/>
          </a:bodyPr>
          <a:lstStyle/>
          <a:p>
            <a:pPr algn="l"/>
            <a:r>
              <a:rPr lang="en-GB" sz="5700" dirty="0"/>
              <a:t>Model Parameterisation, Scaling &amp; Identifiability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49" y="4983276"/>
            <a:ext cx="7884414" cy="1126680"/>
          </a:xfrm>
        </p:spPr>
        <p:txBody>
          <a:bodyPr>
            <a:normAutofit/>
          </a:bodyPr>
          <a:lstStyle/>
          <a:p>
            <a:pPr algn="l"/>
            <a:r>
              <a:rPr lang="en-GB"/>
              <a:t>SIS case study • parameter choices, units, scaling, and identifiability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onnsiteX0" fmla="*/ 0 w 4057650"/>
              <a:gd name="connsiteY0" fmla="*/ 0 h 18288"/>
              <a:gd name="connsiteX1" fmla="*/ 757428 w 4057650"/>
              <a:gd name="connsiteY1" fmla="*/ 0 h 18288"/>
              <a:gd name="connsiteX2" fmla="*/ 1474279 w 4057650"/>
              <a:gd name="connsiteY2" fmla="*/ 0 h 18288"/>
              <a:gd name="connsiteX3" fmla="*/ 2191131 w 4057650"/>
              <a:gd name="connsiteY3" fmla="*/ 0 h 18288"/>
              <a:gd name="connsiteX4" fmla="*/ 2745676 w 4057650"/>
              <a:gd name="connsiteY4" fmla="*/ 0 h 18288"/>
              <a:gd name="connsiteX5" fmla="*/ 3340798 w 4057650"/>
              <a:gd name="connsiteY5" fmla="*/ 0 h 18288"/>
              <a:gd name="connsiteX6" fmla="*/ 4057650 w 4057650"/>
              <a:gd name="connsiteY6" fmla="*/ 0 h 18288"/>
              <a:gd name="connsiteX7" fmla="*/ 4057650 w 4057650"/>
              <a:gd name="connsiteY7" fmla="*/ 18288 h 18288"/>
              <a:gd name="connsiteX8" fmla="*/ 3381375 w 4057650"/>
              <a:gd name="connsiteY8" fmla="*/ 18288 h 18288"/>
              <a:gd name="connsiteX9" fmla="*/ 2826830 w 4057650"/>
              <a:gd name="connsiteY9" fmla="*/ 18288 h 18288"/>
              <a:gd name="connsiteX10" fmla="*/ 2272284 w 4057650"/>
              <a:gd name="connsiteY10" fmla="*/ 18288 h 18288"/>
              <a:gd name="connsiteX11" fmla="*/ 1555432 w 4057650"/>
              <a:gd name="connsiteY11" fmla="*/ 18288 h 18288"/>
              <a:gd name="connsiteX12" fmla="*/ 960310 w 4057650"/>
              <a:gd name="connsiteY12" fmla="*/ 18288 h 18288"/>
              <a:gd name="connsiteX13" fmla="*/ 0 w 4057650"/>
              <a:gd name="connsiteY13" fmla="*/ 18288 h 18288"/>
              <a:gd name="connsiteX14" fmla="*/ 0 w 405765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D377EB-C9D2-4ED0-86A6-740A297E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85800"/>
            <a:ext cx="7879842" cy="1157005"/>
          </a:xfrm>
        </p:spPr>
        <p:txBody>
          <a:bodyPr anchor="b">
            <a:normAutofit/>
          </a:bodyPr>
          <a:lstStyle/>
          <a:p>
            <a:r>
              <a:rPr lang="en-GB" sz="4200"/>
              <a:t>Learning objectives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1817" y="122104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195805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75269F-9519-0080-B0E3-3DFC247A8B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3076910"/>
              </p:ext>
            </p:extLst>
          </p:nvPr>
        </p:nvGraphicFramePr>
        <p:xfrm>
          <a:off x="628650" y="2295252"/>
          <a:ext cx="7879842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/>
              <a:t>Parameterisation (what &amp; why)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74904" y="1929383"/>
                <a:ext cx="8140446" cy="4563491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GB" sz="1800" b="1" dirty="0"/>
                  <a:t>Model parameterisation</a:t>
                </a:r>
                <a:r>
                  <a:rPr lang="en-GB" sz="1800" dirty="0"/>
                  <a:t> is how we choose and express the numbers a model needs - what the parameters are, their </a:t>
                </a:r>
                <a:r>
                  <a:rPr lang="en-GB" sz="1800" b="1" dirty="0"/>
                  <a:t>meaning</a:t>
                </a:r>
                <a:r>
                  <a:rPr lang="en-GB" sz="1800" dirty="0"/>
                  <a:t>, </a:t>
                </a:r>
                <a:r>
                  <a:rPr lang="en-GB" sz="1800" b="1" dirty="0"/>
                  <a:t>units</a:t>
                </a:r>
                <a:r>
                  <a:rPr lang="en-GB" sz="1800" dirty="0"/>
                  <a:t>, and </a:t>
                </a:r>
                <a:r>
                  <a:rPr lang="en-GB" sz="1800" b="1" dirty="0"/>
                  <a:t>constraints - </a:t>
                </a:r>
                <a:r>
                  <a:rPr lang="en-GB" sz="1800" dirty="0"/>
                  <a:t>and how they enter the </a:t>
                </a:r>
                <a:r>
                  <a:rPr lang="en-GB" sz="1800" b="1" dirty="0"/>
                  <a:t>process</a:t>
                </a:r>
                <a:r>
                  <a:rPr lang="en-GB" sz="1800" dirty="0"/>
                  <a:t> (ODEs) and </a:t>
                </a:r>
                <a:r>
                  <a:rPr lang="en-GB" sz="1800" b="1" dirty="0"/>
                  <a:t>measurement</a:t>
                </a:r>
                <a:r>
                  <a:rPr lang="en-GB" sz="1800" dirty="0"/>
                  <a:t> (data/likelihood) parts of the model so they can be estimated from data.</a:t>
                </a:r>
              </a:p>
              <a:p>
                <a:pPr marL="0" indent="0">
                  <a:buNone/>
                </a:pPr>
                <a:endParaRPr lang="en-GB" sz="1800" dirty="0"/>
              </a:p>
              <a:p>
                <a:pPr lvl="1"/>
                <a:r>
                  <a:rPr lang="en-GB" b="1" dirty="0"/>
                  <a:t>What:</a:t>
                </a:r>
                <a:r>
                  <a:rPr lang="en-GB" dirty="0"/>
                  <a:t> the set of unknowns (e.g., </a:t>
                </a:r>
                <a:r>
                  <a:rPr lang="el-GR" dirty="0"/>
                  <a:t>β, γ, </a:t>
                </a:r>
                <a:r>
                  <a:rPr lang="en-GB" dirty="0"/>
                  <a:t>reporting </a:t>
                </a:r>
                <a:r>
                  <a:rPr lang="el-GR" dirty="0"/>
                  <a:t>ρ, </a:t>
                </a:r>
                <a:r>
                  <a:rPr lang="en-GB" dirty="0"/>
                  <a:t>overdispersion k, initial states).</a:t>
                </a:r>
              </a:p>
              <a:p>
                <a:pPr lvl="1"/>
                <a:r>
                  <a:rPr lang="en-GB" b="1" dirty="0"/>
                  <a:t>How expressed:</a:t>
                </a:r>
                <a:r>
                  <a:rPr lang="en-GB" dirty="0"/>
                  <a:t> with clear </a:t>
                </a:r>
                <a:r>
                  <a:rPr lang="en-GB" b="1" dirty="0"/>
                  <a:t>units</a:t>
                </a:r>
                <a:r>
                  <a:rPr lang="en-GB" dirty="0"/>
                  <a:t> and safe </a:t>
                </a:r>
                <a:r>
                  <a:rPr lang="en-GB" b="1" dirty="0"/>
                  <a:t>transforms</a:t>
                </a:r>
                <a:r>
                  <a:rPr lang="en-GB" dirty="0"/>
                  <a:t> (log for rates, logit for probabilities).</a:t>
                </a:r>
              </a:p>
              <a:p>
                <a:pPr lvl="1"/>
                <a:r>
                  <a:rPr lang="en-GB" b="1" dirty="0"/>
                  <a:t>Why:</a:t>
                </a:r>
                <a:r>
                  <a:rPr lang="en-GB" dirty="0"/>
                  <a:t> interpretability, </a:t>
                </a:r>
                <a:r>
                  <a:rPr lang="en-GB" b="1" dirty="0" err="1"/>
                  <a:t>estimability</a:t>
                </a:r>
                <a:r>
                  <a:rPr lang="en-GB" b="1" dirty="0"/>
                  <a:t>/identifiability</a:t>
                </a:r>
                <a:r>
                  <a:rPr lang="en-GB" dirty="0"/>
                  <a:t>, and </a:t>
                </a:r>
                <a:r>
                  <a:rPr lang="en-GB" b="1" dirty="0"/>
                  <a:t>numerical stability</a:t>
                </a:r>
                <a:r>
                  <a:rPr lang="en-GB" dirty="0"/>
                  <a:t>.</a:t>
                </a:r>
              </a:p>
              <a:p>
                <a:pPr marL="342900" lvl="1" indent="0">
                  <a:buNone/>
                </a:pPr>
                <a:endParaRPr lang="en-GB" dirty="0"/>
              </a:p>
              <a:p>
                <a:r>
                  <a:rPr lang="en-GB" sz="1800" b="1" dirty="0"/>
                  <a:t>Re-parameterise when helpful:</a:t>
                </a:r>
                <a:r>
                  <a:rPr lang="en-GB" sz="1800" dirty="0"/>
                  <a:t> e.g., use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ar-AE" sz="180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m:rPr>
                            <m:nor/>
                          </m:rPr>
                          <a:rPr lang="en-US" sz="1800" b="0" i="1"/>
                          <m:t>,</m:t>
                        </m:r>
                        <m:r>
                          <m:rPr>
                            <m:nor/>
                          </m:rPr>
                          <a:rPr lang="ar-AE" sz="1800" i="1"/>
                          <m:t> </m:t>
                        </m:r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r>
                  <a:rPr lang="en-GB" sz="1800" dirty="0"/>
                  <a:t> or mean duration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𝛾</m:t>
                        </m:r>
                      </m:den>
                    </m:f>
                  </m:oMath>
                </a14:m>
                <a:r>
                  <a:rPr lang="en-GB" sz="1800" dirty="0"/>
                  <a:t>instead of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r>
                  <a:rPr lang="ar-AE" sz="1800" dirty="0"/>
                  <a:t>.</a:t>
                </a:r>
              </a:p>
              <a:p>
                <a:r>
                  <a:rPr lang="en-GB" sz="1800" b="1" dirty="0"/>
                  <a:t>Process:</a:t>
                </a:r>
                <a:r>
                  <a:rPr lang="en-GB" sz="1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𝑑𝐼</m:t>
                        </m:r>
                      </m:num>
                      <m:den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 i="1">
                        <a:latin typeface="Cambria Math" panose="02040503050406030204" pitchFamily="18" charset="0"/>
                      </a:rPr>
                      <m:t>𝛽</m:t>
                    </m:r>
                    <m:r>
                      <m:rPr>
                        <m:nor/>
                      </m:rPr>
                      <a:rPr lang="ar-AE" sz="1800" i="1"/>
                      <m:t> </m:t>
                    </m:r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ar-AE" sz="1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18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ar-AE" sz="18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ar-AE" sz="1800" dirty="0"/>
              </a:p>
              <a:p>
                <a:r>
                  <a:rPr lang="en-GB" sz="1800" b="1" dirty="0"/>
                  <a:t>Parameterisations:</a:t>
                </a:r>
                <a:endParaRPr lang="en-GB" sz="1800" dirty="0"/>
              </a:p>
              <a:p>
                <a:pPr lvl="1"/>
                <a:r>
                  <a:rPr lang="en-GB" dirty="0"/>
                  <a:t>Natural: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ar-AE" dirty="0"/>
                  <a:t>(</a:t>
                </a:r>
                <a:r>
                  <a:rPr lang="en-GB" dirty="0"/>
                  <a:t>rates per day)</a:t>
                </a:r>
              </a:p>
              <a:p>
                <a:pPr lvl="1"/>
                <a:r>
                  <a:rPr lang="en-GB" dirty="0"/>
                  <a:t>Re-param: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num>
                          <m:den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den>
                        </m:f>
                        <m:r>
                          <a:rPr lang="en-US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r>
                  <a:rPr lang="en-GB" dirty="0"/>
                  <a:t> for better conditioning</a:t>
                </a:r>
              </a:p>
              <a:p>
                <a:pPr lvl="1"/>
                <a:r>
                  <a:rPr lang="en-GB" dirty="0"/>
                  <a:t>Alternative: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r>
                  <a:rPr lang="en-GB" dirty="0"/>
                  <a:t> with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dirty="0"/>
                  <a:t> (contacts/day × per-contact risk)</a:t>
                </a:r>
              </a:p>
              <a:p>
                <a:pPr marL="0" indent="0">
                  <a:buNone/>
                </a:pPr>
                <a:endParaRPr lang="en-US" sz="13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4904" y="1929383"/>
                <a:ext cx="8140446" cy="4563491"/>
              </a:xfrm>
              <a:blipFill>
                <a:blip r:embed="rId2"/>
                <a:stretch>
                  <a:fillRect l="-312" t="-1108" r="-156"/>
                </a:stretch>
              </a:blipFill>
            </p:spPr>
            <p:txBody>
              <a:bodyPr/>
              <a:lstStyle/>
              <a:p>
                <a:r>
                  <a:rPr lang="en-K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868101" cy="5431536"/>
          </a:xfrm>
        </p:spPr>
        <p:txBody>
          <a:bodyPr>
            <a:normAutofit/>
          </a:bodyPr>
          <a:lstStyle/>
          <a:p>
            <a:r>
              <a:rPr lang="en-GB" sz="2800" dirty="0"/>
              <a:t>Human–Mosquito Model (minimal)</a:t>
            </a:r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44813" y="552091"/>
                <a:ext cx="4668251" cy="5431536"/>
              </a:xfrm>
            </p:spPr>
            <p:txBody>
              <a:bodyPr anchor="ctr">
                <a:normAutofit/>
              </a:bodyPr>
              <a:lstStyle/>
              <a:p>
                <a:r>
                  <a:rPr lang="en-GB" sz="1900" dirty="0"/>
                  <a:t>Humans (SIS, total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19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900" dirty="0"/>
                  <a:t>:</a:t>
                </a:r>
              </a:p>
              <a:p>
                <a:pPr marL="0" indent="0">
                  <a:buNone/>
                </a:pPr>
                <a:endParaRPr lang="ar-AE" sz="1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9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ar-AE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19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r>
                            <a:rPr lang="ar-AE" sz="19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ar-AE" sz="19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sz="19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ar-AE" sz="19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ar-AE" sz="19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19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ar-AE" sz="19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19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m:rPr>
                          <m:nor/>
                        </m:rPr>
                        <a:rPr lang="ar-AE" sz="1900" i="1"/>
                        <m:t> </m:t>
                      </m:r>
                      <m:sSub>
                        <m:sSub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19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ar-AE" sz="190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sz="19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ar-AE" sz="19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9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19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 sz="1900" i="1"/>
                            <m:t>EIR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sz="1900" i="1"/>
                            <m:t>day</m:t>
                          </m:r>
                        </m:sub>
                      </m:sSub>
                    </m:oMath>
                  </m:oMathPara>
                </a14:m>
                <a:endParaRPr lang="ar-AE" sz="1900" b="0" dirty="0"/>
              </a:p>
              <a:p>
                <a:pPr marL="0" indent="0">
                  <a:buNone/>
                </a:pPr>
                <a:endParaRPr lang="ar-AE" sz="1900" b="0" dirty="0"/>
              </a:p>
              <a:p>
                <a:r>
                  <a:rPr lang="en-GB" sz="1900" dirty="0"/>
                  <a:t>Mosquitoes (SI, total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1900" b="0" i="0" smtClean="0"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endParaRPr lang="en-US" sz="1900" dirty="0"/>
              </a:p>
              <a:p>
                <a:pPr marL="0" indent="0">
                  <a:buNone/>
                </a:pPr>
                <a:endParaRPr lang="ar-AE" sz="1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9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ar-AE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19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num>
                        <m:den>
                          <m:r>
                            <a:rPr lang="ar-AE" sz="19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ar-AE" sz="19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9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nor/>
                        </m:rPr>
                        <a:rPr lang="ar-AE" sz="1900" i="1"/>
                        <m:t> </m:t>
                      </m:r>
                      <m:sSub>
                        <m:sSub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sz="1900" i="1"/>
                            <m:t>eff</m:t>
                          </m:r>
                        </m:sub>
                      </m:sSub>
                      <m:f>
                        <m:f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19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ar-AE" sz="19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ar-AE" sz="19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ar-AE" sz="19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19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</m:d>
                      <m:r>
                        <a:rPr lang="ar-AE" sz="19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19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sSub>
                        <m:sSub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19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ar-AE" sz="190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sz="1900" i="1"/>
                            <m:t>eff</m:t>
                          </m:r>
                        </m:sub>
                      </m:sSub>
                      <m:r>
                        <a:rPr lang="ar-AE" sz="190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19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m:rPr>
                          <m:nor/>
                        </m:rPr>
                        <a:rPr lang="ar-AE" sz="1900" i="1"/>
                        <m:t> </m:t>
                      </m:r>
                      <m:sSup>
                        <m:sSup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ar-AE" sz="19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ar-AE" sz="1900" b="0" dirty="0"/>
              </a:p>
              <a:p>
                <a:endParaRPr lang="ar-AE" sz="1900" dirty="0"/>
              </a:p>
              <a:p>
                <a:pPr marL="0" indent="0">
                  <a:buNone/>
                </a:pPr>
                <a:r>
                  <a:rPr lang="en-GB" sz="1200" dirty="0"/>
                  <a:t>Here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200" dirty="0"/>
                  <a:t>=bites per mosquito per day;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200" dirty="0"/>
                  <a:t>=probability a human becomes infected from an infectious bite;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200" dirty="0"/>
                  <a:t>=</a:t>
                </a:r>
                <a:r>
                  <a:rPr lang="en-GB" sz="1200" dirty="0" err="1"/>
                  <a:t>human→mosquito</a:t>
                </a:r>
                <a:r>
                  <a:rPr lang="en-GB" sz="1200" dirty="0"/>
                  <a:t> infectivity per bite;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dirty="0"/>
                  <a:t>=daily mosquito survival;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200" dirty="0"/>
                  <a:t>=EIP (days);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ar-AE" sz="1200" dirty="0"/>
                  <a:t>=</a:t>
                </a:r>
                <a:r>
                  <a:rPr lang="en-GB" sz="1200" dirty="0"/>
                  <a:t>mosquito death rate;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1200" i="1"/>
                          <m:t>eff</m:t>
                        </m:r>
                      </m:sub>
                    </m:sSub>
                  </m:oMath>
                </a14:m>
                <a:r>
                  <a:rPr lang="en-GB" sz="1200" dirty="0"/>
                  <a:t> bundles EIP survival into transmission to mosquitoes.</a:t>
                </a:r>
              </a:p>
              <a:p>
                <a:pPr marL="0" indent="0">
                  <a:buNone/>
                </a:pPr>
                <a:endParaRPr lang="en-GB" sz="19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44813" y="552091"/>
                <a:ext cx="4668251" cy="5431536"/>
              </a:xfrm>
              <a:blipFill>
                <a:blip r:embed="rId2"/>
                <a:stretch>
                  <a:fillRect l="-1084" r="-2710"/>
                </a:stretch>
              </a:blipFill>
            </p:spPr>
            <p:txBody>
              <a:bodyPr/>
              <a:lstStyle/>
              <a:p>
                <a:r>
                  <a:rPr lang="en-K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6543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714"/>
            <a:ext cx="8229600" cy="777128"/>
          </a:xfrm>
        </p:spPr>
        <p:txBody>
          <a:bodyPr>
            <a:normAutofit/>
          </a:bodyPr>
          <a:lstStyle/>
          <a:p>
            <a:r>
              <a:rPr lang="en-GB" sz="2800"/>
              <a:t>Numbers from literature (and explicit assumptions)</a:t>
            </a:r>
            <a:endParaRPr lang="en-GB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DDF3EE-664D-0B00-30D0-55701AC11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63" y="1262738"/>
            <a:ext cx="4264637" cy="18809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ED4E0D-E0EF-66D5-4C18-C439B9E53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12434"/>
            <a:ext cx="4434524" cy="183128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3C6C2EA-2022-0FC1-F7F0-D0996EE17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300" y="3429000"/>
            <a:ext cx="7537301" cy="2999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4521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595DE5-1CF6-992B-B36B-ECB0BE559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114A7A-A1E7-2740-F83F-3E558DB2A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Pulling numbers from literature</a:t>
            </a:r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D714E2E-D50C-82BF-D92F-E16263A994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929384"/>
                <a:ext cx="7886700" cy="4251960"/>
              </a:xfrm>
            </p:spPr>
            <p:txBody>
              <a:bodyPr>
                <a:normAutofit/>
              </a:bodyPr>
              <a:lstStyle/>
              <a:p>
                <a:r>
                  <a:rPr lang="en-GB" sz="1800" b="1" dirty="0"/>
                  <a:t>Transmission level (site):</a:t>
                </a:r>
                <a:r>
                  <a:rPr lang="en-GB" sz="1800" dirty="0"/>
                  <a:t> Choose a </a:t>
                </a:r>
                <a:r>
                  <a:rPr lang="en-GB" sz="1800" b="1" dirty="0"/>
                  <a:t>moderate</a:t>
                </a:r>
                <a:r>
                  <a:rPr lang="en-GB" sz="1800" dirty="0"/>
                  <a:t> setting from Griffin et al. (2010), who summarise six sites by </a:t>
                </a:r>
                <a:r>
                  <a:rPr lang="en-GB" sz="1800" b="1" dirty="0"/>
                  <a:t>annual EIR</a:t>
                </a:r>
                <a:r>
                  <a:rPr lang="en-GB" sz="1800" dirty="0"/>
                  <a:t> (infectious bites/person/year), including ≈ </a:t>
                </a:r>
                <a:r>
                  <a:rPr lang="en-GB" sz="1800" b="1" dirty="0"/>
                  <a:t>43 </a:t>
                </a:r>
                <a:r>
                  <a:rPr lang="en-GB" sz="1800" b="1" dirty="0" err="1"/>
                  <a:t>ibppy</a:t>
                </a:r>
                <a:r>
                  <a:rPr lang="en-GB" sz="1800" dirty="0"/>
                  <a:t> (moderate). Convert to </a:t>
                </a:r>
                <a:r>
                  <a:rPr lang="en-GB" sz="1800" b="1" dirty="0"/>
                  <a:t>per day</a:t>
                </a:r>
                <a:r>
                  <a:rPr lang="en-GB" sz="1800" dirty="0"/>
                  <a:t>:</a:t>
                </a:r>
                <a:br>
                  <a:rPr lang="en-GB" sz="18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GB" sz="1800" b="0"/>
                          <m:t>EIR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1800" b="0" i="1"/>
                          <m:t>day</m:t>
                        </m:r>
                      </m:sub>
                    </m:sSub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43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365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25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118</m:t>
                    </m:r>
                  </m:oMath>
                </a14:m>
                <a:r>
                  <a:rPr lang="en-GB" sz="1800" dirty="0"/>
                  <a:t> infectious bites/person/day.</a:t>
                </a:r>
              </a:p>
              <a:p>
                <a:endParaRPr lang="en-GB" sz="1800" dirty="0"/>
              </a:p>
              <a:p>
                <a:r>
                  <a:rPr lang="en-GB" sz="1800" b="1" dirty="0" err="1"/>
                  <a:t>Human→mosquito</a:t>
                </a:r>
                <a:r>
                  <a:rPr lang="en-GB" sz="1800" b="1" dirty="0"/>
                  <a:t> infectivity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800" b="1" dirty="0"/>
                  <a:t>:</a:t>
                </a:r>
                <a:r>
                  <a:rPr lang="en-GB" sz="1800" dirty="0"/>
                  <a:t> Smith et al. (2007) use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8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80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GB" sz="1800" dirty="0"/>
                  <a:t> as a representative value from direct-feeding studies (naïve hosts).</a:t>
                </a:r>
              </a:p>
              <a:p>
                <a:endParaRPr lang="en-GB" sz="1800" dirty="0"/>
              </a:p>
              <a:p>
                <a:r>
                  <a:rPr lang="en-GB" sz="1800" b="1" dirty="0"/>
                  <a:t>Mosquito lifespan (for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ar-AE" sz="1800" b="1" dirty="0"/>
                  <a:t>):</a:t>
                </a:r>
                <a:r>
                  <a:rPr lang="ar-AE" sz="1800" dirty="0"/>
                  <a:t> </a:t>
                </a:r>
                <a:r>
                  <a:rPr lang="en-GB" sz="1800" dirty="0"/>
                  <a:t>Smith et al. note an average lifespan of </a:t>
                </a:r>
                <a:r>
                  <a:rPr lang="en-GB" sz="1800" b="1" dirty="0"/>
                  <a:t>10–20 days</a:t>
                </a:r>
                <a:r>
                  <a:rPr lang="en-GB" sz="1800" dirty="0"/>
                  <a:t>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ar-AE" sz="1800">
                        <a:latin typeface="Cambria Math" panose="02040503050406030204" pitchFamily="18" charset="0"/>
                      </a:rPr>
                      <m:t>∼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05</m:t>
                    </m:r>
                    <m:r>
                      <a:rPr lang="en-US" sz="1800" b="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1800" dirty="0"/>
                  <a:t> </a:t>
                </a:r>
                <a:r>
                  <a:rPr lang="en-GB" sz="1800" dirty="0"/>
                  <a:t>per day</a:t>
                </a:r>
                <a:r>
                  <a:rPr lang="ar-AE" sz="1800" dirty="0"/>
                  <a:t>. </a:t>
                </a:r>
                <a:r>
                  <a:rPr lang="en-GB" sz="1800" dirty="0"/>
                  <a:t>We’ll 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ar-AE" sz="1800" i="1"/>
                      <m:t> </m:t>
                    </m:r>
                    <m:sSup>
                      <m:sSup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sz="1800" i="1"/>
                          <m:t>day</m:t>
                        </m:r>
                      </m:e>
                      <m:sup>
                        <m:r>
                          <a:rPr lang="ar-AE" sz="18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8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ar-AE" sz="1800" dirty="0"/>
                  <a:t>(≈10-</a:t>
                </a:r>
                <a:r>
                  <a:rPr lang="en-GB" sz="1800" dirty="0"/>
                  <a:t>day average). </a:t>
                </a:r>
              </a:p>
              <a:p>
                <a:endParaRPr lang="en-GB" sz="1800" dirty="0"/>
              </a:p>
              <a:p>
                <a:r>
                  <a:rPr lang="en-GB" sz="1800" dirty="0"/>
                  <a:t>These are the </a:t>
                </a:r>
                <a:r>
                  <a:rPr lang="en-GB" sz="1800" b="1" dirty="0"/>
                  <a:t>only</a:t>
                </a:r>
                <a:r>
                  <a:rPr lang="en-GB" sz="1800" dirty="0"/>
                  <a:t> values we assert from the papers; the rest are explicit </a:t>
                </a:r>
                <a:r>
                  <a:rPr lang="en-GB" sz="1800" b="1" dirty="0"/>
                  <a:t>teaching assumptions</a:t>
                </a:r>
                <a:r>
                  <a:rPr lang="en-GB" sz="1800" dirty="0"/>
                  <a:t> to keep the example self-contained.</a:t>
                </a:r>
              </a:p>
              <a:p>
                <a:endParaRPr lang="en-KE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D714E2E-D50C-82BF-D92F-E16263A994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929384"/>
                <a:ext cx="7886700" cy="4251960"/>
              </a:xfrm>
              <a:blipFill>
                <a:blip r:embed="rId2"/>
                <a:stretch>
                  <a:fillRect l="-482" t="-1493" r="-643"/>
                </a:stretch>
              </a:blipFill>
            </p:spPr>
            <p:txBody>
              <a:bodyPr/>
              <a:lstStyle/>
              <a:p>
                <a:r>
                  <a:rPr lang="en-K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5333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76CBC-22A0-E748-A31E-365E16A0D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60155A41-4FCC-248D-807E-27DDFBDB1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F2E90-C7A3-E3CB-1D0B-4D519BCD9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2800" dirty="0"/>
              <a:t>Minimal parameterisation using EIR (human side)</a:t>
            </a:r>
            <a:endParaRPr lang="en-US" sz="2800" dirty="0"/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E8914F92-4101-1175-6D0D-401C19D09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6FC3F63-BF56-06F3-56E5-1C2964186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0797" y="1994908"/>
                <a:ext cx="8608807" cy="5228217"/>
              </a:xfrm>
            </p:spPr>
            <p:txBody>
              <a:bodyPr>
                <a:normAutofit/>
              </a:bodyPr>
              <a:lstStyle/>
              <a:p>
                <a:r>
                  <a:rPr lang="en-GB" sz="1600" dirty="0"/>
                  <a:t>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ar-AE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6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GB" sz="1600" i="1"/>
                          <m:t>EIR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1600" i="1"/>
                          <m:t>day</m:t>
                        </m:r>
                      </m:sub>
                    </m:sSub>
                  </m:oMath>
                </a14:m>
                <a:r>
                  <a:rPr lang="ar-AE" sz="1600" dirty="0"/>
                  <a:t>,</a:t>
                </a:r>
              </a:p>
              <a:p>
                <a:pPr marL="0" indent="0">
                  <a:buNone/>
                </a:pPr>
                <a:r>
                  <a:rPr lang="en-GB" sz="1600" dirty="0"/>
                  <a:t>	choose an illustrative </a:t>
                </a:r>
                <a:r>
                  <a:rPr lang="en-GB" sz="1600" b="1" dirty="0"/>
                  <a:t>per-bite infection prob.</a:t>
                </a: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6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600">
                        <a:latin typeface="Cambria Math" panose="02040503050406030204" pitchFamily="18" charset="0"/>
                      </a:rPr>
                      <m:t>05</m:t>
                    </m:r>
                  </m:oMath>
                </a14:m>
                <a:r>
                  <a:rPr lang="en-GB" sz="1600" dirty="0"/>
                  <a:t>(</a:t>
                </a:r>
                <a:r>
                  <a:rPr lang="en-GB" sz="1600" dirty="0" err="1"/>
                  <a:t>assump</a:t>
                </a:r>
                <a:r>
                  <a:rPr lang="en-GB" sz="1600" dirty="0"/>
                  <a:t>),</a:t>
                </a:r>
              </a:p>
              <a:p>
                <a:pPr marL="0" indent="0">
                  <a:buNone/>
                </a:pPr>
                <a:r>
                  <a:rPr lang="en-GB" sz="1600" dirty="0"/>
                  <a:t>	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ar-AE" sz="16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05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118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0059</m:t>
                    </m:r>
                    <m:r>
                      <m:rPr>
                        <m:nor/>
                      </m:rPr>
                      <a:rPr lang="ar-AE" sz="1600" i="1"/>
                      <m:t> </m:t>
                    </m:r>
                    <m:sSup>
                      <m:sSup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sz="1600" i="1"/>
                          <m:t>day</m:t>
                        </m:r>
                      </m:e>
                      <m:sup>
                        <m:r>
                          <a:rPr lang="ar-AE" sz="1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6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ar-AE" sz="1600" dirty="0"/>
                  <a:t>.</a:t>
                </a:r>
                <a:endParaRPr lang="en-US" sz="1600" dirty="0"/>
              </a:p>
              <a:p>
                <a:endParaRPr lang="ar-AE" sz="1600" dirty="0"/>
              </a:p>
              <a:p>
                <a:r>
                  <a:rPr lang="en-GB" sz="1600" dirty="0"/>
                  <a:t>choose a </a:t>
                </a:r>
                <a:r>
                  <a:rPr lang="en-GB" sz="1600" b="1" dirty="0"/>
                  <a:t>mean infectious duration</a:t>
                </a:r>
                <a:r>
                  <a:rPr lang="en-GB" sz="1600" dirty="0"/>
                  <a:t> of </a:t>
                </a:r>
                <a:r>
                  <a:rPr lang="en-GB" sz="1600" b="1" dirty="0"/>
                  <a:t>200 days</a:t>
                </a:r>
                <a:r>
                  <a:rPr lang="en-GB" sz="1600" dirty="0"/>
                  <a:t> (</a:t>
                </a:r>
                <a:r>
                  <a:rPr lang="en-GB" sz="1600" dirty="0" err="1"/>
                  <a:t>assump</a:t>
                </a:r>
                <a:r>
                  <a:rPr lang="en-GB" sz="1600" dirty="0"/>
                  <a:t>) →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6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1600">
                        <a:latin typeface="Cambria Math" panose="02040503050406030204" pitchFamily="18" charset="0"/>
                      </a:rPr>
                      <m:t>200</m:t>
                    </m:r>
                    <m:r>
                      <a:rPr lang="en-GB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6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600">
                        <a:latin typeface="Cambria Math" panose="02040503050406030204" pitchFamily="18" charset="0"/>
                      </a:rPr>
                      <m:t>005</m:t>
                    </m:r>
                    <m:r>
                      <m:rPr>
                        <m:nor/>
                      </m:rPr>
                      <a:rPr lang="en-GB" sz="1600" i="1"/>
                      <m:t> </m:t>
                    </m:r>
                    <m:sSup>
                      <m:sSup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sz="1600" i="1"/>
                          <m:t>day</m:t>
                        </m:r>
                      </m:e>
                      <m:sup>
                        <m:r>
                          <a:rPr lang="ar-AE" sz="1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6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ar-AE" sz="1600" dirty="0"/>
                  <a:t>.</a:t>
                </a:r>
                <a:endParaRPr lang="en-US" sz="1600" dirty="0"/>
              </a:p>
              <a:p>
                <a:endParaRPr lang="ar-AE" sz="1600" dirty="0"/>
              </a:p>
              <a:p>
                <a:r>
                  <a:rPr lang="en-GB" sz="1600" b="1" dirty="0"/>
                  <a:t>Equilibrium human prevalence</a:t>
                </a:r>
                <a:r>
                  <a:rPr lang="en-GB" sz="1600" dirty="0"/>
                  <a:t> (from SIS with constant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ar-AE" sz="1600" i="1"/>
                            <m:t>\</m:t>
                          </m:r>
                          <m:r>
                            <m:rPr>
                              <m:nor/>
                            </m:rPr>
                            <a:rPr lang="ar-AE" sz="1600" i="1"/>
                            <m:t>∗</m:t>
                          </m:r>
                        </m:sup>
                      </m:sSubSup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ar-AE" sz="1600" i="1"/>
                                <m:t>\</m:t>
                              </m:r>
                              <m:r>
                                <m:rPr>
                                  <m:nor/>
                                </m:rPr>
                                <a:rPr lang="ar-AE" sz="1600" i="1"/>
                                <m:t>∗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0059</m:t>
                          </m:r>
                        </m:num>
                        <m:den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0059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005</m:t>
                          </m:r>
                        </m:den>
                      </m:f>
                      <m:r>
                        <a:rPr lang="ar-AE" sz="160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54</m:t>
                      </m:r>
                      <m:r>
                        <m:rPr>
                          <m:nor/>
                        </m:rPr>
                        <a:rPr lang="ar-AE" sz="1600" i="1"/>
                        <m:t>  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GB" sz="1600" i="1"/>
                            <m:t>about</m:t>
                          </m:r>
                          <m:r>
                            <m:rPr>
                              <m:nor/>
                            </m:rPr>
                            <a:rPr lang="en-GB" sz="1600" i="1"/>
                            <m:t> </m:t>
                          </m:r>
                          <m:r>
                            <a:rPr lang="en-GB" sz="1600">
                              <a:latin typeface="Cambria Math" panose="02040503050406030204" pitchFamily="18" charset="0"/>
                            </a:rPr>
                            <m:t>54</m:t>
                          </m:r>
                          <m:r>
                            <a:rPr lang="en-GB" sz="1600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1600" b="0" dirty="0"/>
              </a:p>
              <a:p>
                <a:pPr marL="0" indent="0">
                  <a:buNone/>
                </a:pPr>
                <a:endParaRPr lang="ar-AE" sz="1600" b="0" dirty="0"/>
              </a:p>
              <a:p>
                <a:r>
                  <a:rPr lang="en-GB" sz="1600" dirty="0"/>
                  <a:t>This shows how </a:t>
                </a:r>
                <a:r>
                  <a:rPr lang="en-GB" sz="1600" b="1" dirty="0"/>
                  <a:t>EIR +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 pins down the </a:t>
                </a:r>
                <a:r>
                  <a:rPr lang="en-GB" sz="1600" b="1" dirty="0"/>
                  <a:t>force of infection</a:t>
                </a:r>
                <a:r>
                  <a:rPr lang="en-GB" sz="1600" dirty="0"/>
                  <a:t> and, together with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sz="1600" dirty="0"/>
                  <a:t>, fixes the endemic prevalence in a simple SIS.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6FC3F63-BF56-06F3-56E5-1C2964186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0797" y="1994908"/>
                <a:ext cx="8608807" cy="5228217"/>
              </a:xfrm>
              <a:blipFill>
                <a:blip r:embed="rId2"/>
                <a:stretch>
                  <a:fillRect l="-295" t="-726"/>
                </a:stretch>
              </a:blipFill>
            </p:spPr>
            <p:txBody>
              <a:bodyPr/>
              <a:lstStyle/>
              <a:p>
                <a:r>
                  <a:rPr lang="en-K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4926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5D6C60-8A59-4394-4BC5-B7834A5B2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F85D41A5-1F56-2076-1F34-6597BC693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1B3BF7-B96E-D6A5-4DF7-8C145D6AC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2800" dirty="0"/>
              <a:t>Adding the mosquito SI block (consistency check)</a:t>
            </a:r>
            <a:endParaRPr lang="en-US" sz="2800" dirty="0"/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3492C3BD-E0CE-56F3-ACFE-247884394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B7AC6A21-1FE3-7832-EB2E-0982FE8A13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6184" y="1709873"/>
                <a:ext cx="8691632" cy="4783002"/>
              </a:xfrm>
            </p:spPr>
            <p:txBody>
              <a:bodyPr>
                <a:noAutofit/>
              </a:bodyPr>
              <a:lstStyle/>
              <a:p>
                <a:r>
                  <a:rPr lang="en-GB" sz="1400" dirty="0"/>
                  <a:t>Pick </a:t>
                </a:r>
                <a:r>
                  <a:rPr lang="en-GB" sz="1400" b="1" dirty="0"/>
                  <a:t>illustrative entomology</a:t>
                </a:r>
                <a:r>
                  <a:rPr lang="en-GB" sz="1400" dirty="0"/>
                  <a:t> (assumptions):</a:t>
                </a:r>
              </a:p>
              <a:p>
                <a:pPr lvl="1"/>
                <a:r>
                  <a:rPr lang="en-GB" sz="1400" dirty="0"/>
                  <a:t>biting rate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400"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nor/>
                      </m:rPr>
                      <a:rPr lang="en-GB" sz="1400" i="1"/>
                      <m:t> 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sz="1400" i="1"/>
                          <m:t>day</m:t>
                        </m:r>
                      </m:e>
                      <m:sup>
                        <m:r>
                          <a:rPr lang="ar-AE" sz="14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ar-AE" sz="1400" dirty="0"/>
                  <a:t>(</a:t>
                </a:r>
                <a:r>
                  <a:rPr lang="en-GB" sz="1400" dirty="0"/>
                  <a:t>roughly one human-seeking bite every ~3 days),</a:t>
                </a:r>
              </a:p>
              <a:p>
                <a:pPr lvl="1"/>
                <a:r>
                  <a:rPr lang="en-GB" sz="1400" dirty="0"/>
                  <a:t>daily survival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40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GB" sz="1400" dirty="0"/>
                  <a:t>, EIP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400" dirty="0"/>
                  <a:t>days 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ar-AE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ar-AE" sz="1400" dirty="0"/>
                  <a:t>,</a:t>
                </a:r>
              </a:p>
              <a:p>
                <a:pPr marL="0" indent="0">
                  <a:buNone/>
                </a:pPr>
                <a:r>
                  <a:rPr lang="en-GB" sz="1400" dirty="0"/>
                  <a:t>	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1400" i="1"/>
                          <m:t>eff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nor/>
                      </m:rPr>
                      <a:rPr lang="ar-AE" sz="1400" i="1"/>
                      <m:t> 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ar-AE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35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175</m:t>
                    </m:r>
                  </m:oMath>
                </a14:m>
                <a:r>
                  <a:rPr lang="ar-AE" sz="1400" dirty="0"/>
                  <a:t>.</a:t>
                </a:r>
              </a:p>
              <a:p>
                <a:pPr marL="0" indent="0">
                  <a:buNone/>
                </a:pPr>
                <a:r>
                  <a:rPr lang="en-GB" sz="1400" dirty="0"/>
                  <a:t>	With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m:rPr>
                            <m:nor/>
                          </m:rPr>
                          <a:rPr lang="ar-AE" sz="1400" i="1"/>
                          <m:t>\</m:t>
                        </m:r>
                        <m:r>
                          <m:rPr>
                            <m:nor/>
                          </m:rPr>
                          <a:rPr lang="ar-AE" sz="1400" i="1"/>
                          <m:t>∗</m:t>
                        </m:r>
                      </m:sup>
                    </m:sSubSup>
                    <m:r>
                      <a:rPr lang="ar-AE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lang="ar-AE" sz="1400" dirty="0"/>
                  <a:t>:</a:t>
                </a:r>
              </a:p>
              <a:p>
                <a:pPr marL="0" indent="0">
                  <a:buNone/>
                </a:pPr>
                <a:r>
                  <a:rPr lang="en-GB" sz="1400" b="0" dirty="0"/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1400" b="0"/>
                      <m:t>mosquito</m:t>
                    </m:r>
                    <m:r>
                      <m:rPr>
                        <m:nor/>
                      </m:rPr>
                      <a:rPr lang="en-GB" sz="1400" b="0" i="1"/>
                      <m:t> </m:t>
                    </m:r>
                    <m:r>
                      <m:rPr>
                        <m:nor/>
                      </m:rPr>
                      <a:rPr lang="en-GB" sz="1400" b="0" i="1"/>
                      <m:t>infection</m:t>
                    </m:r>
                    <m:r>
                      <m:rPr>
                        <m:nor/>
                      </m:rPr>
                      <a:rPr lang="en-GB" sz="1400" b="0" i="1"/>
                      <m:t> </m:t>
                    </m:r>
                    <m:r>
                      <m:rPr>
                        <m:nor/>
                      </m:rPr>
                      <a:rPr lang="en-GB" sz="1400" b="0" i="1"/>
                      <m:t>pressure</m:t>
                    </m:r>
                    <m:r>
                      <m:rPr>
                        <m:nor/>
                      </m:rPr>
                      <a:rPr lang="en-GB" sz="1400" b="0" i="1"/>
                      <m:t> </m:t>
                    </m:r>
                    <m:r>
                      <a:rPr lang="en-GB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en-GB" sz="1400" i="1"/>
                      <m:t> 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1400" i="1"/>
                          <m:t>eff</m:t>
                        </m:r>
                      </m:sub>
                    </m:sSub>
                    <m:sSubSup>
                      <m:sSub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m:rPr>
                            <m:nor/>
                          </m:rPr>
                          <a:rPr lang="ar-AE" sz="1400" i="1"/>
                          <m:t>\</m:t>
                        </m:r>
                        <m:r>
                          <m:rPr>
                            <m:nor/>
                          </m:rPr>
                          <a:rPr lang="ar-AE" sz="1400" i="1"/>
                          <m:t>∗</m:t>
                        </m:r>
                      </m:sup>
                    </m:sSubSup>
                    <m:r>
                      <a:rPr lang="ar-AE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30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175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54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028</m:t>
                    </m:r>
                    <m:r>
                      <m:rPr>
                        <m:nor/>
                      </m:rPr>
                      <a:rPr lang="ar-AE" sz="1400" i="1"/>
                      <m:t> 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sz="1400" i="1"/>
                          <m:t>day</m:t>
                        </m:r>
                      </m:e>
                      <m:sup>
                        <m:r>
                          <a:rPr lang="ar-AE" sz="14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400" b="0" dirty="0"/>
              </a:p>
              <a:p>
                <a:pPr marL="0" indent="0">
                  <a:buNone/>
                </a:pPr>
                <a:endParaRPr lang="ar-AE" sz="1400" b="0" dirty="0"/>
              </a:p>
              <a:p>
                <a:r>
                  <a:rPr lang="en-GB" sz="1400" dirty="0"/>
                  <a:t>Mosquito </a:t>
                </a:r>
                <a:r>
                  <a:rPr lang="en-GB" sz="1400" b="1" dirty="0"/>
                  <a:t>equilibrium infectious fraction</a:t>
                </a:r>
                <a:r>
                  <a:rPr lang="en-GB" sz="1400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m:rPr>
                            <m:nor/>
                          </m:rPr>
                          <a:rPr lang="ar-AE" sz="1400" i="1"/>
                          <m:t>\</m:t>
                        </m:r>
                        <m:r>
                          <m:rPr>
                            <m:nor/>
                          </m:rPr>
                          <a:rPr lang="ar-AE" sz="1400" i="1"/>
                          <m:t>∗</m:t>
                        </m:r>
                      </m:sup>
                    </m:sSubSup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ar-AE" sz="1400" i="1"/>
                              <m:t>\</m:t>
                            </m:r>
                            <m:r>
                              <m:rPr>
                                <m:nor/>
                              </m:rPr>
                              <a:rPr lang="ar-AE" sz="1400" i="1"/>
                              <m:t>∗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den>
                    </m:f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ar-AE" sz="1400" i="1"/>
                          <m:t> </m:t>
                        </m:r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GB" sz="1400" i="1"/>
                              <m:t>eff</m:t>
                            </m:r>
                          </m:sub>
                        </m:sSub>
                        <m:sSubSup>
                          <m:sSub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ar-AE" sz="1400" i="1"/>
                              <m:t>\</m:t>
                            </m:r>
                            <m:r>
                              <m:rPr>
                                <m:nor/>
                              </m:rPr>
                              <a:rPr lang="ar-AE" sz="1400" i="1"/>
                              <m:t>∗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ar-AE" sz="1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ar-AE" sz="1400" i="1"/>
                          <m:t> </m:t>
                        </m:r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GB" sz="1400" i="1"/>
                              <m:t>eff</m:t>
                            </m:r>
                          </m:sub>
                        </m:sSub>
                        <m:sSubSup>
                          <m:sSub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ar-AE" sz="1400" i="1"/>
                              <m:t>\</m:t>
                            </m:r>
                            <m:r>
                              <m:rPr>
                                <m:nor/>
                              </m:rPr>
                              <a:rPr lang="ar-AE" sz="1400" i="1"/>
                              <m:t>∗</m:t>
                            </m:r>
                          </m:sup>
                        </m:sSubSup>
                      </m:den>
                    </m:f>
                    <m:r>
                      <a:rPr lang="ar-AE" sz="140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4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028</m:t>
                        </m:r>
                      </m:num>
                      <m:den>
                        <m:r>
                          <a:rPr lang="ar-AE" sz="14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028</m:t>
                        </m:r>
                      </m:den>
                    </m:f>
                    <m:r>
                      <a:rPr lang="ar-AE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nor/>
                      </m:rPr>
                      <a:rPr lang="ar-AE" sz="1400" i="1"/>
                      <m:t>  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GB" sz="1400" i="1"/>
                          <m:t>about</m:t>
                        </m:r>
                        <m:r>
                          <m:rPr>
                            <m:nor/>
                          </m:rPr>
                          <a:rPr lang="en-GB" sz="1400" i="1"/>
                          <m:t> </m:t>
                        </m:r>
                        <m:r>
                          <a:rPr lang="en-GB" sz="1400"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a:rPr lang="en-GB" sz="1400">
                            <a:latin typeface="Cambria Math" panose="02040503050406030204" pitchFamily="18" charset="0"/>
                          </a:rPr>
                          <m:t>%</m:t>
                        </m:r>
                      </m:e>
                    </m:d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400" b="0" dirty="0"/>
              </a:p>
              <a:p>
                <a:pPr marL="342900" lvl="1" indent="0">
                  <a:buNone/>
                </a:pPr>
                <a:endParaRPr lang="ar-AE" sz="1400" b="0" dirty="0"/>
              </a:p>
              <a:p>
                <a:r>
                  <a:rPr lang="en-GB" sz="1400" b="1" dirty="0"/>
                  <a:t>Check vs EIR:</a:t>
                </a:r>
                <a:r>
                  <a:rPr lang="en-GB" sz="1400" dirty="0"/>
                  <a:t> by definition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GB" sz="1400" b="0"/>
                          <m:t>EIR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1400" b="0" i="1"/>
                          <m:t>day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m:rPr>
                            <m:nor/>
                          </m:rPr>
                          <a:rPr lang="ar-AE" sz="1400" i="1"/>
                          <m:t>\</m:t>
                        </m:r>
                        <m:r>
                          <m:rPr>
                            <m:nor/>
                          </m:rPr>
                          <a:rPr lang="ar-AE" sz="1400" i="1"/>
                          <m:t>∗</m:t>
                        </m:r>
                      </m:sup>
                    </m:sSubSup>
                  </m:oMath>
                </a14:m>
                <a:r>
                  <a:rPr lang="ar-AE" sz="1400" dirty="0"/>
                  <a:t>, </a:t>
                </a:r>
                <a:r>
                  <a:rPr lang="en-GB" sz="1400" dirty="0"/>
                  <a:t>where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1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ar-AE" sz="1400" dirty="0"/>
                  <a:t>.</a:t>
                </a:r>
                <a:endParaRPr lang="en-US" sz="1400" dirty="0"/>
              </a:p>
              <a:p>
                <a:pPr marL="0" indent="0">
                  <a:buNone/>
                </a:pPr>
                <a:br>
                  <a:rPr lang="ar-AE" sz="1400" dirty="0"/>
                </a:br>
                <a:r>
                  <a:rPr lang="en-US" sz="1400" dirty="0"/>
                  <a:t>	</a:t>
                </a:r>
                <a:r>
                  <a:rPr lang="en-GB" sz="1400" dirty="0"/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GB" sz="1400" b="0"/>
                          <m:t>EIR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1400" b="0" i="1"/>
                          <m:t>day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118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400" dirty="0"/>
                  <a:t>and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40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GB" sz="1400" dirty="0"/>
                  <a:t>, we’d need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140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4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118</m:t>
                        </m:r>
                      </m:num>
                      <m:den>
                        <m:r>
                          <a:rPr lang="ar-AE" sz="14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a:rPr lang="ar-AE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nor/>
                      </m:rPr>
                      <a:rPr lang="ar-AE" sz="1400" i="1"/>
                      <m:t> </m:t>
                    </m:r>
                    <m:r>
                      <m:rPr>
                        <m:nor/>
                      </m:rPr>
                      <a:rPr lang="en-GB" sz="1400" i="1"/>
                      <m:t>mosquitoes</m:t>
                    </m:r>
                    <m:r>
                      <m:rPr>
                        <m:nor/>
                      </m:rPr>
                      <a:rPr lang="en-GB" sz="1400" i="1"/>
                      <m:t> </m:t>
                    </m:r>
                    <m:r>
                      <m:rPr>
                        <m:nor/>
                      </m:rPr>
                      <a:rPr lang="en-GB" sz="1400" i="1"/>
                      <m:t>per</m:t>
                    </m:r>
                    <m:r>
                      <m:rPr>
                        <m:nor/>
                      </m:rPr>
                      <a:rPr lang="en-GB" sz="1400" i="1"/>
                      <m:t> </m:t>
                    </m:r>
                    <m:r>
                      <m:rPr>
                        <m:nor/>
                      </m:rPr>
                      <a:rPr lang="en-GB" sz="1400" i="1"/>
                      <m:t>human</m:t>
                    </m:r>
                  </m:oMath>
                </a14:m>
                <a:endParaRPr lang="en-GB" sz="1400" dirty="0"/>
              </a:p>
              <a:p>
                <a:pPr marL="0" indent="0">
                  <a:buNone/>
                </a:pPr>
                <a:endParaRPr lang="en-GB" sz="1400" dirty="0"/>
              </a:p>
              <a:p>
                <a:r>
                  <a:rPr lang="en-GB" sz="1400" dirty="0"/>
                  <a:t>to reconcile the mosquito SI block with the chosen EIR. (If you had set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1400" dirty="0"/>
                  <a:t>in advance, this calculation would instead </a:t>
                </a:r>
                <a:r>
                  <a:rPr lang="en-GB" sz="1400" b="1" dirty="0"/>
                  <a:t>diagnose</a:t>
                </a:r>
                <a:r>
                  <a:rPr lang="en-GB" sz="1400" dirty="0"/>
                  <a:t> inconsistencies and prompt re-tuning—this is exactly where </a:t>
                </a:r>
                <a:r>
                  <a:rPr lang="en-GB" sz="1400" b="1" dirty="0"/>
                  <a:t>parameterisation + identifiability</a:t>
                </a:r>
                <a:r>
                  <a:rPr lang="en-GB" sz="1400" dirty="0"/>
                  <a:t> thinking pays off.)</a:t>
                </a:r>
              </a:p>
              <a:p>
                <a:pPr marL="0" indent="0">
                  <a:buNone/>
                </a:pPr>
                <a:endParaRPr sz="14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B7AC6A21-1FE3-7832-EB2E-0982FE8A1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6184" y="1709873"/>
                <a:ext cx="8691632" cy="4783002"/>
              </a:xfrm>
              <a:blipFill>
                <a:blip r:embed="rId2"/>
                <a:stretch>
                  <a:fillRect l="-146" t="-794" b="-6878"/>
                </a:stretch>
              </a:blipFill>
            </p:spPr>
            <p:txBody>
              <a:bodyPr/>
              <a:lstStyle/>
              <a:p>
                <a:r>
                  <a:rPr lang="en-K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9998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r>
              <a:rPr lang="en-GB" sz="2900" dirty="0"/>
              <a:t>Incidence choice: mass-action vs standard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r>
              <a:rPr lang="en-GB" sz="1900" dirty="0"/>
              <a:t>Mass-action/Force </a:t>
            </a:r>
            <a:r>
              <a:rPr lang="en-GB" sz="1900"/>
              <a:t>of Infection: </a:t>
            </a:r>
            <a:r>
              <a:rPr lang="el-GR" sz="1900" dirty="0"/>
              <a:t>λ = β </a:t>
            </a:r>
            <a:r>
              <a:rPr lang="en-GB" sz="1900" dirty="0"/>
              <a:t>I  → r ≈ </a:t>
            </a:r>
            <a:r>
              <a:rPr lang="el-GR" sz="1900" dirty="0"/>
              <a:t>β</a:t>
            </a:r>
            <a:r>
              <a:rPr lang="en-GB" sz="1900" dirty="0"/>
              <a:t>N − </a:t>
            </a:r>
            <a:r>
              <a:rPr lang="el-GR" sz="1900" dirty="0"/>
              <a:t>γ (</a:t>
            </a:r>
            <a:r>
              <a:rPr lang="en-GB" sz="1900" dirty="0"/>
              <a:t>depends on N).</a:t>
            </a:r>
          </a:p>
          <a:p>
            <a:r>
              <a:rPr lang="en-GB" sz="1900" dirty="0"/>
              <a:t>Standard: </a:t>
            </a:r>
            <a:r>
              <a:rPr lang="el-GR" sz="1900" dirty="0"/>
              <a:t>λ = β </a:t>
            </a:r>
            <a:r>
              <a:rPr lang="en-GB" sz="1900" dirty="0"/>
              <a:t>I/N → r ≈ </a:t>
            </a:r>
            <a:r>
              <a:rPr lang="el-GR" sz="1900" dirty="0"/>
              <a:t>β − γ (</a:t>
            </a:r>
            <a:r>
              <a:rPr lang="en-GB" sz="1900" dirty="0"/>
              <a:t>independent of N).</a:t>
            </a:r>
          </a:p>
          <a:p>
            <a:r>
              <a:rPr lang="el-GR" sz="1900" dirty="0"/>
              <a:t>β </a:t>
            </a:r>
            <a:r>
              <a:rPr lang="en-GB" sz="1900" dirty="0"/>
              <a:t>units differ: mass-action 1/(</a:t>
            </a:r>
            <a:r>
              <a:rPr lang="en-GB" sz="1900" dirty="0" err="1"/>
              <a:t>person·time</a:t>
            </a:r>
            <a:r>
              <a:rPr lang="en-GB" sz="1900" dirty="0"/>
              <a:t>) vs standard 1/time.</a:t>
            </a:r>
          </a:p>
        </p:txBody>
      </p:sp>
      <p:pic>
        <p:nvPicPr>
          <p:cNvPr id="4" name="Picture 3" descr="early_growth_vs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586" y="1571624"/>
            <a:ext cx="5987414" cy="35924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GB" sz="4700" dirty="0"/>
              <a:t>Scaling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44813" y="552091"/>
                <a:ext cx="4668251" cy="5431536"/>
              </a:xfrm>
            </p:spPr>
            <p:txBody>
              <a:bodyPr anchor="ctr">
                <a:normAutofit/>
              </a:bodyPr>
              <a:lstStyle/>
              <a:p>
                <a:r>
                  <a:rPr lang="en-GB" sz="1300" b="1"/>
                  <a:t>Idea (why):</a:t>
                </a:r>
                <a:r>
                  <a:rPr lang="en-GB" sz="1300"/>
                  <a:t> Remove units and redundant scales so estimation is easier and interpretation is cleaner (fewer, better-behaved parameters).</a:t>
                </a:r>
              </a:p>
              <a:p>
                <a:endParaRPr lang="en-GB" sz="1300"/>
              </a:p>
              <a:p>
                <a:r>
                  <a:rPr lang="en-GB" sz="1300" b="1"/>
                  <a:t>State scaling:</a:t>
                </a:r>
                <a:r>
                  <a:rPr lang="en-GB" sz="1300"/>
                  <a:t> work with </a:t>
                </a:r>
                <a:r>
                  <a:rPr lang="en-GB" sz="1300" b="1"/>
                  <a:t>prevalence</a:t>
                </a:r>
                <a:r>
                  <a:rPr lang="en-GB" sz="1300"/>
                  <a:t>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300"/>
                  <a:t> instead of counts; keeps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3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GB" sz="1300"/>
                  <a:t>and avoids carrying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300"/>
                  <a:t>.</a:t>
                </a:r>
              </a:p>
              <a:p>
                <a:endParaRPr lang="en-GB" sz="1300"/>
              </a:p>
              <a:p>
                <a:r>
                  <a:rPr lang="en-GB" sz="1300" b="1"/>
                  <a:t>Time scaling:</a:t>
                </a:r>
                <a:r>
                  <a:rPr lang="en-GB" sz="1300"/>
                  <a:t> set </a:t>
                </a:r>
                <a:r>
                  <a:rPr lang="en-GB" sz="1300" b="1"/>
                  <a:t>dimensionless time</a:t>
                </a:r>
                <a:r>
                  <a:rPr lang="en-GB" sz="1300"/>
                  <a:t>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300"/>
                  <a:t>(measure time in infectious-period units).</a:t>
                </a:r>
              </a:p>
              <a:p>
                <a:endParaRPr lang="en-GB" sz="1300"/>
              </a:p>
              <a:p>
                <a:r>
                  <a:rPr lang="en-GB" sz="1300" b="1"/>
                  <a:t>SIS result (standard incidence):</a:t>
                </a:r>
              </a:p>
              <a:p>
                <a:endParaRPr lang="en-GB" sz="1300"/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3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3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ar-AE" sz="13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ar-AE" sz="1300" i="1"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ar-AE" sz="13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3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{"/>
                          <m:endChr m:val="}"/>
                          <m:ctrlPr>
                            <a:rPr lang="ar-AE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ar-AE" sz="1300" i="1"/>
                            <m:t> </m:t>
                          </m:r>
                          <m:sSub>
                            <m:sSubPr>
                              <m:ctrlPr>
                                <a:rPr lang="ar-AE" sz="1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3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13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1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3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3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3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ar-AE" sz="13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3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ar-AE" sz="1300" i="1"/>
                            <m:t> </m:t>
                          </m:r>
                        </m:e>
                      </m:d>
                      <m:r>
                        <a:rPr lang="ar-AE" sz="130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3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13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13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3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ar-AE" sz="130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ar-AE" sz="1300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ar-AE" sz="13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sz="1300" b="0"/>
              </a:p>
              <a:p>
                <a:pPr marL="342900" lvl="1" indent="0">
                  <a:buNone/>
                </a:pPr>
                <a:endParaRPr lang="ar-AE" sz="1300" b="0"/>
              </a:p>
              <a:p>
                <a:pPr marL="0" indent="0">
                  <a:buNone/>
                </a:pPr>
                <a:r>
                  <a:rPr lang="en-GB" sz="1300"/>
                  <a:t>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13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1300"/>
                  <a:t> </a:t>
                </a:r>
                <a:r>
                  <a:rPr lang="en-GB" sz="1300"/>
                  <a:t>and the </a:t>
                </a:r>
                <a:r>
                  <a:rPr lang="en-GB" sz="1300" b="1"/>
                  <a:t>initial prevalence</a:t>
                </a:r>
                <a:r>
                  <a:rPr lang="en-GB" sz="13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3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300"/>
                  <a:t>remain (plus any measurement params).</a:t>
                </a:r>
              </a:p>
              <a:p>
                <a:pPr marL="0" indent="0">
                  <a:buNone/>
                </a:pPr>
                <a:endParaRPr lang="en-GB" sz="1300"/>
              </a:p>
              <a:p>
                <a:r>
                  <a:rPr lang="en-GB" sz="1300" b="1"/>
                  <a:t>Benefits:</a:t>
                </a:r>
                <a:r>
                  <a:rPr lang="en-GB" sz="1300"/>
                  <a:t> fewer parameters, improved </a:t>
                </a:r>
                <a:r>
                  <a:rPr lang="en-GB" sz="1300" b="1"/>
                  <a:t>conditioning</a:t>
                </a:r>
                <a:r>
                  <a:rPr lang="en-GB" sz="1300"/>
                  <a:t> (less correlation of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GB" sz="1300"/>
                  <a:t>), simpler sensitivity/identifiability, easier comparison across settings.</a:t>
                </a:r>
              </a:p>
              <a:p>
                <a:endParaRPr lang="en-GB" sz="130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44813" y="552091"/>
                <a:ext cx="4668251" cy="5431536"/>
              </a:xfrm>
              <a:blipFill>
                <a:blip r:embed="rId2"/>
                <a:stretch>
                  <a:fillRect l="-271" r="-271"/>
                </a:stretch>
              </a:blipFill>
            </p:spPr>
            <p:txBody>
              <a:bodyPr/>
              <a:lstStyle/>
              <a:p>
                <a:r>
                  <a:rPr lang="en-K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24932A-6121-BA97-D618-413D8C027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KE" sz="4700"/>
              <a:t>Scaling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84AC79-E571-084D-C8C9-AE15E1AEAC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44813" y="552091"/>
                <a:ext cx="4668251" cy="5431536"/>
              </a:xfrm>
            </p:spPr>
            <p:txBody>
              <a:bodyPr anchor="ctr">
                <a:noAutofit/>
              </a:bodyPr>
              <a:lstStyle/>
              <a:p>
                <a:r>
                  <a:rPr lang="en-GB" sz="1300" b="1" dirty="0"/>
                  <a:t>Time units &amp; the model time step (keep them aligned)</a:t>
                </a:r>
              </a:p>
              <a:p>
                <a:endParaRPr lang="en-GB" sz="1300" dirty="0"/>
              </a:p>
              <a:p>
                <a:r>
                  <a:rPr lang="en-GB" sz="1300" b="1" dirty="0"/>
                  <a:t>Pick a base time unit</a:t>
                </a:r>
                <a:r>
                  <a:rPr lang="en-GB" sz="1300" dirty="0"/>
                  <a:t> for </a:t>
                </a:r>
                <a:r>
                  <a:rPr lang="en-GB" sz="1300" i="1" dirty="0"/>
                  <a:t>rates</a:t>
                </a:r>
                <a:r>
                  <a:rPr lang="en-GB" sz="1300" dirty="0"/>
                  <a:t> (usually </a:t>
                </a:r>
                <a:r>
                  <a:rPr lang="en-GB" sz="1300" b="1" dirty="0"/>
                  <a:t>per day</a:t>
                </a:r>
                <a:r>
                  <a:rPr lang="en-GB" sz="1300" dirty="0"/>
                  <a:t>). Make </a:t>
                </a:r>
                <a:r>
                  <a:rPr lang="en-GB" sz="1300" b="1" dirty="0"/>
                  <a:t>all</a:t>
                </a:r>
                <a:r>
                  <a:rPr lang="en-GB" sz="1300" dirty="0"/>
                  <a:t> rates (</a:t>
                </a:r>
                <a:r>
                  <a:rPr lang="el-GR" sz="1300" dirty="0"/>
                  <a:t>β, γ, μ, ν, …) </a:t>
                </a:r>
                <a:r>
                  <a:rPr lang="en-GB" sz="1300" dirty="0"/>
                  <a:t>use that unit.</a:t>
                </a:r>
              </a:p>
              <a:p>
                <a:endParaRPr lang="en-GB" sz="1300" dirty="0"/>
              </a:p>
              <a:p>
                <a:r>
                  <a:rPr lang="en-GB" sz="1300" b="1" dirty="0"/>
                  <a:t>Model time step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300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3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3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300" dirty="0"/>
                  <a:t>is the interval your model advances by.</a:t>
                </a:r>
              </a:p>
              <a:p>
                <a:pPr lvl="1"/>
                <a:r>
                  <a:rPr lang="en-GB" sz="1300" b="1" dirty="0"/>
                  <a:t>Continuous ODEs:</a:t>
                </a:r>
                <a:r>
                  <a:rPr lang="en-GB" sz="1300" dirty="0"/>
                  <a:t> </a:t>
                </a:r>
                <a:r>
                  <a:rPr lang="el-GR" sz="1300" dirty="0"/>
                  <a:t>β, γ </a:t>
                </a:r>
                <a:r>
                  <a:rPr lang="en-GB" sz="1300" dirty="0"/>
                  <a:t>are per-day; the solver’s internal step can be tiny—no change to meaning. Compare model to data at observation times.</a:t>
                </a:r>
              </a:p>
              <a:p>
                <a:pPr lvl="1"/>
                <a:r>
                  <a:rPr lang="en-GB" sz="1300" b="1" dirty="0"/>
                  <a:t>Discrete updates:</a:t>
                </a:r>
                <a:r>
                  <a:rPr lang="en-GB" sz="1300" dirty="0"/>
                  <a:t> convert rates (hazards) to per-step probabilities:</a:t>
                </a:r>
              </a:p>
              <a:p>
                <a:pPr lvl="1"/>
                <a:r>
                  <a:rPr lang="en-GB" sz="1300" i="1" dirty="0"/>
                  <a:t>Example:</a:t>
                </a:r>
                <a:r>
                  <a:rPr lang="en-GB" sz="1300" dirty="0"/>
                  <a:t>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GB" sz="1300" i="1"/>
                      <m:t>day</m:t>
                    </m:r>
                  </m:oMath>
                </a14:m>
                <a:r>
                  <a:rPr lang="en-GB" sz="1300" dirty="0"/>
                  <a:t>, weekly step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300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3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l-GR" sz="130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130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l-GR" sz="1300" dirty="0"/>
                  <a:t>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1300" i="1"/>
                          <m:t>rec</m:t>
                        </m:r>
                      </m:sub>
                    </m:sSub>
                    <m:r>
                      <a:rPr lang="ar-AE" sz="13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30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130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sz="13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3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3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3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sz="13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130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ar-AE" sz="13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3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3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300"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lang="ar-AE" sz="1300" dirty="0"/>
                  <a:t>.</a:t>
                </a:r>
                <a:endParaRPr lang="en-US" sz="1300" dirty="0"/>
              </a:p>
              <a:p>
                <a:pPr marL="342900" lvl="1" indent="0">
                  <a:buNone/>
                </a:pPr>
                <a:endParaRPr lang="ar-AE" sz="1300" dirty="0"/>
              </a:p>
              <a:p>
                <a:r>
                  <a:rPr lang="en-GB" sz="1300" b="1" dirty="0"/>
                  <a:t>Incidence affects </a:t>
                </a:r>
                <a:r>
                  <a:rPr lang="el-GR" sz="1300" b="1" dirty="0"/>
                  <a:t>β’</a:t>
                </a:r>
                <a:r>
                  <a:rPr lang="en-GB" sz="1300" b="1" dirty="0"/>
                  <a:t>s units:</a:t>
                </a:r>
                <a:br>
                  <a:rPr lang="en-GB" sz="1300" dirty="0"/>
                </a:br>
                <a:r>
                  <a:rPr lang="en-GB" sz="1300" i="1" dirty="0"/>
                  <a:t>Standard:</a:t>
                </a:r>
                <a:r>
                  <a:rPr lang="en-GB" sz="1300" dirty="0"/>
                  <a:t>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𝛽</m:t>
                    </m:r>
                    <m:r>
                      <m:rPr>
                        <m:nor/>
                      </m:rPr>
                      <a:rPr lang="en-GB" sz="1300" i="1"/>
                      <m:t> 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sz="1300" dirty="0"/>
                  <a:t>in </a:t>
                </a:r>
                <a14:m>
                  <m:oMath xmlns:m="http://schemas.openxmlformats.org/officeDocument/2006/math">
                    <m:r>
                      <a:rPr lang="en-GB" sz="13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GB" sz="1300" i="1"/>
                      <m:t>time</m:t>
                    </m:r>
                  </m:oMath>
                </a14:m>
                <a:r>
                  <a:rPr lang="en-GB" sz="1300" dirty="0"/>
                  <a:t>.</a:t>
                </a:r>
                <a:br>
                  <a:rPr lang="en-GB" sz="1300" dirty="0"/>
                </a:br>
                <a:r>
                  <a:rPr lang="en-GB" sz="1300" i="1" dirty="0"/>
                  <a:t>Mass-action:</a:t>
                </a:r>
                <a:r>
                  <a:rPr lang="en-GB" sz="1300" dirty="0"/>
                  <a:t>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𝛽</m:t>
                    </m:r>
                    <m:r>
                      <m:rPr>
                        <m:nor/>
                      </m:rPr>
                      <a:rPr lang="en-GB" sz="1300" i="1"/>
                      <m:t> 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sz="1300" dirty="0"/>
                  <a:t>in </a:t>
                </a:r>
                <a14:m>
                  <m:oMath xmlns:m="http://schemas.openxmlformats.org/officeDocument/2006/math">
                    <m:r>
                      <a:rPr lang="en-GB" sz="13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GB" sz="1300" i="1"/>
                          <m:t>person</m:t>
                        </m:r>
                        <m:r>
                          <a:rPr lang="en-GB" sz="130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nor/>
                          </m:rPr>
                          <a:rPr lang="en-GB" sz="1300" i="1"/>
                          <m:t>time</m:t>
                        </m:r>
                      </m:e>
                    </m:d>
                  </m:oMath>
                </a14:m>
                <a:r>
                  <a:rPr lang="ar-AE" sz="1300" dirty="0"/>
                  <a:t>.</a:t>
                </a:r>
              </a:p>
              <a:p>
                <a:pPr marL="0" indent="0">
                  <a:buNone/>
                </a:pPr>
                <a:r>
                  <a:rPr lang="en-GB" sz="1300" dirty="0"/>
                  <a:t>	switching incidence assumption without updating </a:t>
                </a:r>
                <a:r>
                  <a:rPr lang="el-GR" sz="1300" dirty="0"/>
                  <a:t>β’</a:t>
                </a:r>
                <a:r>
                  <a:rPr lang="en-GB" sz="1300" dirty="0"/>
                  <a:t>s units.</a:t>
                </a:r>
              </a:p>
              <a:p>
                <a:pPr marL="0" indent="0">
                  <a:buNone/>
                </a:pPr>
                <a:endParaRPr lang="en-GB" sz="1300" dirty="0"/>
              </a:p>
              <a:p>
                <a:r>
                  <a:rPr lang="en-GB" sz="1300" b="1" dirty="0"/>
                  <a:t>Pitfalls to avoid:</a:t>
                </a:r>
                <a:r>
                  <a:rPr lang="en-GB" sz="1300" dirty="0"/>
                  <a:t> mixing per-week and per-day rates; using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l-GR" sz="1300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3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300" dirty="0"/>
                  <a:t> when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300" dirty="0"/>
                  <a:t> is not small; </a:t>
                </a:r>
              </a:p>
              <a:p>
                <a:pPr marL="0" indent="0">
                  <a:buNone/>
                </a:pPr>
                <a:endParaRPr lang="en-GB" sz="1300" b="1" dirty="0"/>
              </a:p>
              <a:p>
                <a:r>
                  <a:rPr lang="en-GB" sz="1300" b="1" dirty="0"/>
                  <a:t>Check list:  </a:t>
                </a:r>
                <a:r>
                  <a:rPr lang="en-GB" sz="1300" dirty="0"/>
                  <a:t>choose base unit → convert all literature values →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300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3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l-GR" sz="1300" dirty="0"/>
                  <a:t>→ </a:t>
                </a:r>
                <a:r>
                  <a:rPr lang="en-GB" sz="1300" dirty="0"/>
                  <a:t>use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sz="13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sty m:val="p"/>
                          </m:rPr>
                          <a:rPr lang="el-GR" sz="13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l-GR" sz="13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GB" sz="1300" dirty="0"/>
                  <a:t> for discrete steps → report values </a:t>
                </a:r>
                <a:r>
                  <a:rPr lang="en-GB" sz="1300" b="1" dirty="0"/>
                  <a:t>with units</a:t>
                </a:r>
                <a:r>
                  <a:rPr lang="en-GB" sz="1300" dirty="0"/>
                  <a:t> and the chosen incidence assumption.</a:t>
                </a:r>
              </a:p>
              <a:p>
                <a:endParaRPr lang="en-KE" sz="13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84AC79-E571-084D-C8C9-AE15E1AEAC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44813" y="552091"/>
                <a:ext cx="4668251" cy="5431536"/>
              </a:xfrm>
              <a:blipFill>
                <a:blip r:embed="rId2"/>
                <a:stretch>
                  <a:fillRect l="-271" t="-7692" r="-813" b="-3263"/>
                </a:stretch>
              </a:blipFill>
            </p:spPr>
            <p:txBody>
              <a:bodyPr/>
              <a:lstStyle/>
              <a:p>
                <a:r>
                  <a:rPr lang="en-K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6943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/>
              <a:t>Identifiability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929384"/>
                <a:ext cx="7886700" cy="4251960"/>
              </a:xfrm>
            </p:spPr>
            <p:txBody>
              <a:bodyPr>
                <a:normAutofit/>
              </a:bodyPr>
              <a:lstStyle/>
              <a:p>
                <a:r>
                  <a:rPr lang="en-GB" sz="1300" b="1"/>
                  <a:t>Identifiability</a:t>
                </a:r>
                <a:r>
                  <a:rPr lang="en-GB" sz="1300"/>
                  <a:t> asks: </a:t>
                </a:r>
                <a:r>
                  <a:rPr lang="en-GB" sz="1300" i="1"/>
                  <a:t>Can the data uniquely tell us the parameter values?</a:t>
                </a:r>
              </a:p>
              <a:p>
                <a:endParaRPr lang="en-GB" sz="1300"/>
              </a:p>
              <a:p>
                <a:r>
                  <a:rPr lang="en-GB" sz="1300"/>
                  <a:t>In an SIS model with </a:t>
                </a:r>
                <a:r>
                  <a:rPr lang="en-GB" sz="1300" b="1"/>
                  <a:t>standard incidence</a:t>
                </a:r>
                <a:r>
                  <a:rPr lang="en-GB" sz="1300"/>
                  <a:t>, the </a:t>
                </a:r>
                <a:r>
                  <a:rPr lang="en-GB" sz="1300" b="1"/>
                  <a:t>equilibrium prevalence</a:t>
                </a:r>
                <a:r>
                  <a:rPr lang="en-GB" sz="1300"/>
                  <a:t> depends mainly on the </a:t>
                </a:r>
                <a:r>
                  <a:rPr lang="en-GB" sz="1300" b="1"/>
                  <a:t>ratio</a:t>
                </a:r>
                <a:r>
                  <a:rPr lang="en-GB" sz="13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13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13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3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ar-AE" sz="130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13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ar-AE" sz="1300"/>
                  <a:t>.</a:t>
                </a:r>
                <a:br>
                  <a:rPr lang="ar-AE" sz="1300"/>
                </a:br>
                <a:endParaRPr lang="en-US" sz="1300"/>
              </a:p>
              <a:p>
                <a:pPr marL="342900" lvl="1" indent="0">
                  <a:buNone/>
                </a:pPr>
                <a:r>
                  <a:rPr lang="en-GB" sz="1300" dirty="0"/>
                  <a:t>So, if your data are only near equilibrium, many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r>
                  <a:rPr lang="en-GB" sz="1300" dirty="0"/>
                  <a:t>pairs with the </a:t>
                </a:r>
                <a:r>
                  <a:rPr lang="en-GB" sz="1300" b="1" dirty="0"/>
                  <a:t>same ratio</a:t>
                </a:r>
                <a:r>
                  <a:rPr lang="en-GB" sz="1300" dirty="0"/>
                  <a:t> fit </a:t>
                </a:r>
                <a:r>
                  <a:rPr lang="en-GB" sz="1300" b="1" dirty="0"/>
                  <a:t>equally well</a:t>
                </a:r>
                <a:r>
                  <a:rPr lang="en-GB" sz="1300" dirty="0"/>
                  <a:t> → a </a:t>
                </a:r>
                <a:r>
                  <a:rPr lang="en-GB" sz="1300" b="1" dirty="0"/>
                  <a:t>ridge</a:t>
                </a:r>
                <a:r>
                  <a:rPr lang="en-GB" sz="1300" dirty="0"/>
                  <a:t> (poor/“practical” identifiability of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sz="1300" dirty="0"/>
                  <a:t>and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GB" sz="1300" dirty="0"/>
                  <a:t> separately).</a:t>
                </a:r>
              </a:p>
              <a:p>
                <a:endParaRPr lang="en-GB" sz="1300"/>
              </a:p>
              <a:p>
                <a:r>
                  <a:rPr lang="en-GB" sz="1300"/>
                  <a:t>If you also observe </a:t>
                </a:r>
                <a:r>
                  <a:rPr lang="en-GB" sz="1300" b="1"/>
                  <a:t>transient (early) dynamics</a:t>
                </a:r>
                <a:r>
                  <a:rPr lang="en-GB" sz="1300"/>
                  <a:t>, the early </a:t>
                </a:r>
                <a:r>
                  <a:rPr lang="en-GB" sz="1300" b="1"/>
                  <a:t>growth rate</a:t>
                </a:r>
                <a:r>
                  <a:rPr lang="en-GB" sz="1300"/>
                  <a:t>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GB" sz="1300"/>
                  <a:t> plus the ratio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13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13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3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ar-AE" sz="130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13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GB" sz="1300"/>
                  <a:t> helps pin down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sz="1300"/>
                  <a:t>and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GB" sz="1300"/>
                  <a:t> much more tightly → </a:t>
                </a:r>
                <a:r>
                  <a:rPr lang="en-GB" sz="1300" b="1"/>
                  <a:t>better identifiability</a:t>
                </a:r>
                <a:r>
                  <a:rPr lang="en-GB" sz="1300"/>
                  <a:t>.</a:t>
                </a:r>
              </a:p>
              <a:p>
                <a:endParaRPr lang="en-GB" sz="1300"/>
              </a:p>
              <a:p>
                <a:r>
                  <a:rPr lang="en-GB" sz="1300"/>
                  <a:t>Two parameter sets: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  <m:r>
                      <a:rPr lang="ar-AE" sz="13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3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30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e>
                        <m:r>
                          <a:rPr lang="ar-AE" sz="13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3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3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GB" sz="1300"/>
                  <a:t> and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3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30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e>
                        <m:r>
                          <a:rPr lang="ar-AE" sz="13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3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3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sz="1300"/>
                  <a:t>.</a:t>
                </a:r>
                <a:endParaRPr lang="en-US" sz="1300"/>
              </a:p>
              <a:p>
                <a:pPr marL="0" indent="0">
                  <a:buNone/>
                </a:pPr>
                <a:br>
                  <a:rPr lang="ar-AE" sz="1300"/>
                </a:br>
                <a:r>
                  <a:rPr lang="en-US" sz="1300"/>
                  <a:t>	</a:t>
                </a:r>
                <a:r>
                  <a:rPr lang="en-GB" sz="1300"/>
                  <a:t>Both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13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13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3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ar-AE" sz="130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13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ar-AE" sz="13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30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ar-AE" sz="1300"/>
                  <a:t>→ </a:t>
                </a:r>
                <a:r>
                  <a:rPr lang="en-GB" sz="1300" b="1"/>
                  <a:t>same equilibrium prevalence</a:t>
                </a:r>
                <a:endParaRPr lang="en-US" sz="1300"/>
              </a:p>
              <a:p>
                <a:pPr marL="0" indent="0">
                  <a:buNone/>
                </a:pPr>
                <a:r>
                  <a:rPr lang="en-US" sz="1300"/>
                  <a:t>	</a:t>
                </a:r>
                <a:r>
                  <a:rPr lang="en-GB" sz="1300"/>
                  <a:t>But their </a:t>
                </a:r>
                <a:r>
                  <a:rPr lang="en-GB" sz="1300" b="1"/>
                  <a:t>growth rates differ</a:t>
                </a:r>
                <a:r>
                  <a:rPr lang="en-GB" sz="1300"/>
                  <a:t>: </a:t>
                </a:r>
                <a14:m>
                  <m:oMath xmlns:m="http://schemas.openxmlformats.org/officeDocument/2006/math">
                    <m:r>
                      <a:rPr lang="en-GB" sz="13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6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GB" sz="1300"/>
                  <a:t> vs </a:t>
                </a:r>
                <a14:m>
                  <m:oMath xmlns:m="http://schemas.openxmlformats.org/officeDocument/2006/math">
                    <m:r>
                      <a:rPr lang="en-GB" sz="13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3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sz="1300"/>
                  <a:t> per day.</a:t>
                </a:r>
              </a:p>
              <a:p>
                <a:pPr marL="0" indent="0">
                  <a:buNone/>
                </a:pPr>
                <a:r>
                  <a:rPr lang="en-GB" sz="1300"/>
                  <a:t>	Result: they look the </a:t>
                </a:r>
                <a:r>
                  <a:rPr lang="en-GB" sz="1300" b="1"/>
                  <a:t>same</a:t>
                </a:r>
                <a:r>
                  <a:rPr lang="en-GB" sz="1300"/>
                  <a:t> at equilibrium, </a:t>
                </a:r>
                <a:r>
                  <a:rPr lang="en-GB" sz="1300" b="1"/>
                  <a:t>different</a:t>
                </a:r>
                <a:r>
                  <a:rPr lang="en-GB" sz="1300"/>
                  <a:t> in early growth.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929384"/>
                <a:ext cx="7886700" cy="4251960"/>
              </a:xfrm>
              <a:blipFill>
                <a:blip r:embed="rId2"/>
                <a:stretch>
                  <a:fillRect l="-161" t="-597"/>
                </a:stretch>
              </a:blipFill>
            </p:spPr>
            <p:txBody>
              <a:bodyPr/>
              <a:lstStyle/>
              <a:p>
                <a:r>
                  <a:rPr lang="en-K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0BC108-7FFA-89CD-1E7D-6D1AA5173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/>
              <a:t>Identifiability</a:t>
            </a:r>
            <a:endParaRPr lang="en-KE" sz="47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FB1C9B-2297-3CB4-58D7-2CEB905184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929384"/>
                <a:ext cx="7886700" cy="4251960"/>
              </a:xfrm>
            </p:spPr>
            <p:txBody>
              <a:bodyPr>
                <a:normAutofit/>
              </a:bodyPr>
              <a:lstStyle/>
              <a:p>
                <a:r>
                  <a:rPr lang="en-GB" sz="1200" b="1"/>
                  <a:t>Structural vs practical vs observability</a:t>
                </a:r>
                <a:br>
                  <a:rPr lang="en-GB" sz="1200"/>
                </a:br>
                <a:r>
                  <a:rPr lang="en-GB" sz="1200" i="1"/>
                  <a:t>Is it identifiable in principle (noise-free) vs with real data; can latent states be reconstructed from outputs?</a:t>
                </a:r>
                <a:endParaRPr lang="en-GB" sz="1200"/>
              </a:p>
              <a:p>
                <a:r>
                  <a:rPr lang="en-GB" sz="1200" b="1"/>
                  <a:t>Global vs local identifiability</a:t>
                </a:r>
                <a:br>
                  <a:rPr lang="en-GB" sz="1200"/>
                </a:br>
                <a:r>
                  <a:rPr lang="en-GB" sz="1200" i="1"/>
                  <a:t>Unique solution everywhere vs only near the truth; matters for multimodal posteriors.</a:t>
                </a:r>
                <a:endParaRPr lang="en-GB" sz="1200"/>
              </a:p>
              <a:p>
                <a:r>
                  <a:rPr lang="en-GB" sz="1200" b="1"/>
                  <a:t>Parameter confounding &amp; symmetries</a:t>
                </a:r>
                <a:br>
                  <a:rPr lang="en-GB" sz="1200"/>
                </a:br>
                <a:r>
                  <a:rPr lang="en-GB" sz="1200" i="1"/>
                  <a:t>Scale/ratio confounds (e.g.,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sz="1200" i="1"/>
                  <a:t>–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GB" sz="1200" i="1"/>
                  <a:t> via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12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1200" i="1"/>
                  <a:t>; </a:t>
                </a:r>
                <a14:m>
                  <m:oMath xmlns:m="http://schemas.openxmlformats.org/officeDocument/2006/math">
                    <m:r>
                      <a:rPr lang="ar-AE" sz="12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ar-AE" sz="1200" i="1"/>
                  <a:t>–</a:t>
                </a:r>
                <a14:m>
                  <m:oMath xmlns:m="http://schemas.openxmlformats.org/officeDocument/2006/math">
                    <m:r>
                      <a:rPr lang="ar-AE" sz="12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ar-AE" sz="1200" i="1"/>
                  <a:t> </a:t>
                </a:r>
                <a:r>
                  <a:rPr lang="en-GB" sz="1200" i="1"/>
                  <a:t>under mass-action;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sz="1200" i="1"/>
                  <a:t>–contact-matrix scale in age models).</a:t>
                </a:r>
                <a:endParaRPr lang="en-GB" sz="1200"/>
              </a:p>
              <a:p>
                <a:r>
                  <a:rPr lang="en-GB" sz="1200" b="1"/>
                  <a:t>Initial conditions as parameters</a:t>
                </a:r>
                <a:br>
                  <a:rPr lang="en-GB" sz="120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 sz="12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1200" i="1"/>
                  <a:t>, </a:t>
                </a:r>
                <a:r>
                  <a:rPr lang="en-GB" sz="1200" i="1"/>
                  <a:t>hidden seeding, or imported cases often confound with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sz="1200" i="1"/>
                  <a:t>; profile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 sz="12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200" i="1"/>
                  <a:t>explicitly.</a:t>
                </a:r>
                <a:endParaRPr lang="en-GB" sz="1200"/>
              </a:p>
              <a:p>
                <a:r>
                  <a:rPr lang="en-GB" sz="1200" b="1"/>
                  <a:t>Data regime matters</a:t>
                </a:r>
                <a:br>
                  <a:rPr lang="en-GB" sz="1200"/>
                </a:br>
                <a:r>
                  <a:rPr lang="en-GB" sz="1200" i="1"/>
                  <a:t>Equilibrium identifies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12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1200" i="1"/>
                  <a:t>; </a:t>
                </a:r>
                <a:r>
                  <a:rPr lang="en-GB" sz="1200" i="1"/>
                  <a:t>transients add growth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12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GB" sz="1200" i="1"/>
                  <a:t>; interventions/seasonality (amplitude–phase confounding).</a:t>
                </a:r>
              </a:p>
              <a:p>
                <a:r>
                  <a:rPr lang="en-GB" sz="1200" b="1"/>
                  <a:t>Measurement model confounds</a:t>
                </a:r>
                <a:br>
                  <a:rPr lang="en-GB" sz="1200"/>
                </a:br>
                <a:r>
                  <a:rPr lang="en-GB" sz="1200" i="1"/>
                  <a:t>Reporting rate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2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200" i="1"/>
                  <a:t>vs prevalence/scale; overdispersion (beta-binomial) vs process noise; misclassification.</a:t>
                </a:r>
                <a:endParaRPr lang="en-GB" sz="1200"/>
              </a:p>
              <a:p>
                <a:r>
                  <a:rPr lang="en-GB" sz="1200" b="1"/>
                  <a:t>Multiple data streams to break confounds</a:t>
                </a:r>
                <a:br>
                  <a:rPr lang="en-GB" sz="1200"/>
                </a:br>
                <a:r>
                  <a:rPr lang="en-GB" sz="1200" i="1"/>
                  <a:t>Cases + serology + prevalence + hospitalization severities; e.g., add serology to separate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GB" sz="1200" i="1"/>
                  <a:t>from true incidence.</a:t>
                </a:r>
                <a:endParaRPr lang="en-GB" sz="1200"/>
              </a:p>
              <a:p>
                <a:r>
                  <a:rPr lang="en-GB" sz="1200" b="1"/>
                  <a:t>Design for identifiability</a:t>
                </a:r>
                <a:br>
                  <a:rPr lang="en-GB" sz="1200"/>
                </a:br>
                <a:r>
                  <a:rPr lang="en-GB" sz="1200" i="1"/>
                  <a:t>Choose sampling times (early dynamics), increase frequency/size, perturb system (e.g., known intervention).</a:t>
                </a:r>
                <a:endParaRPr lang="en-GB" sz="1200"/>
              </a:p>
              <a:p>
                <a:r>
                  <a:rPr lang="en-GB" sz="1200" b="1"/>
                  <a:t>Remedies</a:t>
                </a:r>
                <a:br>
                  <a:rPr lang="en-GB" sz="1200"/>
                </a:br>
                <a:r>
                  <a:rPr lang="en-GB" sz="1200" i="1"/>
                  <a:t>Re-parameterise (e.g.,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12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12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sz="1200" i="1"/>
                      <m:t> </m:t>
                    </m:r>
                    <m:r>
                      <a:rPr lang="ar-AE" sz="120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120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12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ar-AE" sz="1200" i="1"/>
                  <a:t>); </a:t>
                </a:r>
                <a:r>
                  <a:rPr lang="en-GB" sz="1200" i="1"/>
                  <a:t>fix/bound weak parameters; add informative priors; reduce model dimension; state assumptions.</a:t>
                </a:r>
                <a:endParaRPr lang="en-GB" sz="1200"/>
              </a:p>
              <a:p>
                <a:endParaRPr lang="en-KE" sz="12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FB1C9B-2297-3CB4-58D7-2CEB905184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929384"/>
                <a:ext cx="7886700" cy="4251960"/>
              </a:xfrm>
              <a:blipFill>
                <a:blip r:embed="rId2"/>
                <a:stretch>
                  <a:fillRect t="-597" b="-299"/>
                </a:stretch>
              </a:blipFill>
            </p:spPr>
            <p:txBody>
              <a:bodyPr/>
              <a:lstStyle/>
              <a:p>
                <a:r>
                  <a:rPr lang="en-K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6501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727718-E11F-C3D7-8279-B022FB969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300"/>
              <a:t>Uncertainty and model selection</a:t>
            </a:r>
            <a:endParaRPr lang="en-KE" sz="43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18CD20-23CD-1624-2B1D-F83DBEB36C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929384"/>
                <a:ext cx="7886700" cy="4251960"/>
              </a:xfrm>
            </p:spPr>
            <p:txBody>
              <a:bodyPr>
                <a:noAutofit/>
              </a:bodyPr>
              <a:lstStyle/>
              <a:p>
                <a:r>
                  <a:rPr lang="en-GB" sz="1400" b="1" dirty="0"/>
                  <a:t>1) Parameter uncertainty = “give a range, not just a number.”</a:t>
                </a:r>
                <a:endParaRPr lang="en-GB" sz="1400" dirty="0"/>
              </a:p>
              <a:p>
                <a:pPr lvl="1"/>
                <a:r>
                  <a:rPr lang="en-GB" sz="1400" dirty="0"/>
                  <a:t>When we estimate a parameter (like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sz="1400" dirty="0"/>
                  <a:t>or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GB" sz="1400" dirty="0"/>
                  <a:t>), we’re never 100% sure.</a:t>
                </a:r>
              </a:p>
              <a:p>
                <a:pPr lvl="1"/>
                <a:r>
                  <a:rPr lang="en-GB" sz="1400" dirty="0"/>
                  <a:t>A </a:t>
                </a:r>
                <a:r>
                  <a:rPr lang="en-GB" sz="1400" b="1" dirty="0"/>
                  <a:t>confidence interval (CI)</a:t>
                </a:r>
                <a:r>
                  <a:rPr lang="en-GB" sz="1400" dirty="0"/>
                  <a:t> or </a:t>
                </a:r>
                <a:r>
                  <a:rPr lang="en-GB" sz="1400" b="1" dirty="0"/>
                  <a:t>posterior interval</a:t>
                </a:r>
                <a:r>
                  <a:rPr lang="en-GB" sz="1400" dirty="0"/>
                  <a:t> is the </a:t>
                </a:r>
                <a:r>
                  <a:rPr lang="en-GB" sz="1400" i="1" dirty="0"/>
                  <a:t>sensible range</a:t>
                </a:r>
                <a:r>
                  <a:rPr lang="en-GB" sz="1400" dirty="0"/>
                  <a:t> of values that still agree with the data.</a:t>
                </a:r>
              </a:p>
              <a:p>
                <a:pPr lvl="1"/>
                <a:r>
                  <a:rPr lang="en-GB" sz="1400" dirty="0"/>
                  <a:t>Bigger intervals ⇒ the data weren’t very informative; smaller intervals ⇒ tighter information.</a:t>
                </a:r>
              </a:p>
              <a:p>
                <a:pPr lvl="1"/>
                <a:endParaRPr lang="en-GB" sz="1400" dirty="0"/>
              </a:p>
              <a:p>
                <a:r>
                  <a:rPr lang="en-GB" sz="1400" b="1" dirty="0"/>
                  <a:t>2) How to get that range (no heavy math):</a:t>
                </a:r>
                <a:endParaRPr lang="en-GB" sz="1400" dirty="0"/>
              </a:p>
              <a:p>
                <a:pPr lvl="1"/>
                <a:r>
                  <a:rPr lang="en-GB" sz="1400" b="1" dirty="0"/>
                  <a:t>Profile/scan one parameter:</a:t>
                </a:r>
                <a:r>
                  <a:rPr lang="en-GB" sz="1400" dirty="0"/>
                  <a:t> wiggle one parameter, refit the others, and see where the fit is still good → that gives a CI.</a:t>
                </a:r>
              </a:p>
              <a:p>
                <a:pPr lvl="1"/>
                <a:r>
                  <a:rPr lang="en-GB" sz="1400" b="1" dirty="0"/>
                  <a:t>Bootstrap:</a:t>
                </a:r>
                <a:r>
                  <a:rPr lang="en-GB" sz="1400" dirty="0"/>
                  <a:t> re-sample your data on the computer, refit many times, and look at the spread of the answers.</a:t>
                </a:r>
              </a:p>
              <a:p>
                <a:pPr lvl="1"/>
                <a:r>
                  <a:rPr lang="en-GB" sz="1400" dirty="0"/>
                  <a:t>(Bayesian: combine “what we thought before” + data to get a range called a </a:t>
                </a:r>
                <a:r>
                  <a:rPr lang="en-GB" sz="1400" b="1" dirty="0"/>
                  <a:t>posterior</a:t>
                </a:r>
                <a:r>
                  <a:rPr lang="en-GB" sz="1400" dirty="0"/>
                  <a:t>.)</a:t>
                </a:r>
              </a:p>
              <a:p>
                <a:pPr lvl="1"/>
                <a:endParaRPr lang="en-GB" sz="1400" dirty="0"/>
              </a:p>
              <a:p>
                <a:r>
                  <a:rPr lang="en-GB" sz="1400" b="1" dirty="0"/>
                  <a:t>3) Model comparison = “score card: fit vs simplicity.”</a:t>
                </a:r>
                <a:endParaRPr lang="en-GB" sz="1400" dirty="0"/>
              </a:p>
              <a:p>
                <a:pPr lvl="1"/>
                <a:r>
                  <a:rPr lang="en-GB" sz="1400" dirty="0"/>
                  <a:t>We don’t just want the model that fits best; we want </a:t>
                </a:r>
                <a:r>
                  <a:rPr lang="en-GB" sz="1400" b="1" dirty="0"/>
                  <a:t>good fit with few knobs</a:t>
                </a:r>
                <a:r>
                  <a:rPr lang="en-GB" sz="1400" dirty="0"/>
                  <a:t>.</a:t>
                </a:r>
              </a:p>
              <a:p>
                <a:pPr lvl="1"/>
                <a:r>
                  <a:rPr lang="en-GB" sz="1400" b="1" dirty="0"/>
                  <a:t>AIC / </a:t>
                </a:r>
                <a:r>
                  <a:rPr lang="en-GB" sz="1400" b="1" dirty="0" err="1"/>
                  <a:t>AICc</a:t>
                </a:r>
                <a:r>
                  <a:rPr lang="en-GB" sz="1400" b="1" dirty="0"/>
                  <a:t> / BIC</a:t>
                </a:r>
                <a:r>
                  <a:rPr lang="en-GB" sz="1400" dirty="0"/>
                  <a:t> are </a:t>
                </a:r>
                <a:r>
                  <a:rPr lang="en-GB" sz="1400" i="1" dirty="0"/>
                  <a:t>scores</a:t>
                </a:r>
                <a:r>
                  <a:rPr lang="en-GB" sz="1400" dirty="0"/>
                  <a:t> that do exactly that. </a:t>
                </a:r>
                <a:r>
                  <a:rPr lang="en-GB" sz="1400" b="1" dirty="0"/>
                  <a:t>Lower is better.</a:t>
                </a:r>
                <a:endParaRPr lang="en-GB" sz="1400" dirty="0"/>
              </a:p>
              <a:p>
                <a:pPr lvl="2"/>
                <a:r>
                  <a:rPr lang="en-GB" sz="1400" dirty="0" err="1"/>
                  <a:t>AICc</a:t>
                </a:r>
                <a:r>
                  <a:rPr lang="en-GB" sz="1400" dirty="0"/>
                  <a:t> is AIC with an extra small-sample fix.</a:t>
                </a:r>
              </a:p>
              <a:p>
                <a:pPr lvl="2"/>
                <a:r>
                  <a:rPr lang="en-GB" sz="1400" dirty="0"/>
                  <a:t>BIC punishes extra knobs a bit more (tends to favour simpler models).</a:t>
                </a:r>
              </a:p>
              <a:p>
                <a:pPr marL="0" indent="0">
                  <a:buNone/>
                </a:pPr>
                <a:endParaRPr lang="en-KE" sz="1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18CD20-23CD-1624-2B1D-F83DBEB36C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929384"/>
                <a:ext cx="7886700" cy="4251960"/>
              </a:xfrm>
              <a:blipFill>
                <a:blip r:embed="rId2"/>
                <a:stretch>
                  <a:fillRect l="-161" t="-1194" b="-4179"/>
                </a:stretch>
              </a:blipFill>
            </p:spPr>
            <p:txBody>
              <a:bodyPr/>
              <a:lstStyle/>
              <a:p>
                <a:r>
                  <a:rPr lang="en-K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0372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/>
              <a:t>R practical (scaling)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929384"/>
                <a:ext cx="7886700" cy="425196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sz="1900" b="1" dirty="0"/>
                  <a:t>Download:</a:t>
                </a:r>
                <a:r>
                  <a:rPr lang="en-GB" sz="1900" dirty="0"/>
                  <a:t> </a:t>
                </a:r>
                <a:r>
                  <a:rPr lang="en-GB" sz="1900" dirty="0" err="1"/>
                  <a:t>mixing_units_practical.R</a:t>
                </a:r>
                <a:endParaRPr lang="en-GB" sz="1900" dirty="0"/>
              </a:p>
              <a:p>
                <a:pPr marL="0" indent="0">
                  <a:buNone/>
                </a:pPr>
                <a:endParaRPr lang="en-GB" sz="1900" dirty="0"/>
              </a:p>
              <a:p>
                <a:pPr marL="0" indent="0">
                  <a:buNone/>
                </a:pPr>
                <a:r>
                  <a:rPr lang="en-GB" sz="1900" dirty="0"/>
                  <a:t>What it does:</a:t>
                </a:r>
              </a:p>
              <a:p>
                <a:r>
                  <a:rPr lang="en-GB" sz="1900" dirty="0"/>
                  <a:t>Starts from a </a:t>
                </a:r>
                <a:r>
                  <a:rPr lang="en-GB" sz="1900" b="1" dirty="0"/>
                  <a:t>weekly recovery probability</a:t>
                </a:r>
                <a:r>
                  <a:rPr lang="en-GB" sz="19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1900" i="1"/>
                          <m:t>week</m:t>
                        </m:r>
                      </m:sub>
                    </m:sSub>
                    <m:r>
                      <a:rPr lang="ar-AE" sz="19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ar-AE" sz="1900" dirty="0"/>
                  <a:t>.</a:t>
                </a:r>
                <a:endParaRPr lang="en-US" sz="1900" dirty="0"/>
              </a:p>
              <a:p>
                <a:endParaRPr lang="ar-AE" sz="1900" dirty="0"/>
              </a:p>
              <a:p>
                <a:r>
                  <a:rPr lang="en-GB" sz="1900" dirty="0"/>
                  <a:t>Computes the </a:t>
                </a:r>
                <a:r>
                  <a:rPr lang="en-GB" sz="1900" b="1" dirty="0"/>
                  <a:t>correct</a:t>
                </a:r>
                <a:r>
                  <a:rPr lang="en-GB" sz="1900" dirty="0"/>
                  <a:t> daily rate , and two common mistakes:</a:t>
                </a:r>
              </a:p>
              <a:p>
                <a:pPr lvl="1"/>
                <a:r>
                  <a:rPr lang="en-GB" sz="1900" b="1" dirty="0"/>
                  <a:t>Naive:</a:t>
                </a:r>
                <a:r>
                  <a:rPr lang="en-GB" sz="1900" dirty="0"/>
                  <a:t> </a:t>
                </a:r>
                <a14:m>
                  <m:oMath xmlns:m="http://schemas.openxmlformats.org/officeDocument/2006/math">
                    <m:r>
                      <a:rPr lang="en-GB" sz="19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GB" sz="190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1900" i="1"/>
                          <m:t>week</m:t>
                        </m:r>
                      </m:sub>
                    </m:sSub>
                    <m:r>
                      <a:rPr lang="ar-AE" sz="190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ar-AE" sz="1900" dirty="0"/>
                  <a:t>(</a:t>
                </a:r>
                <a:r>
                  <a:rPr lang="en-GB" sz="1900" dirty="0"/>
                  <a:t>linear </a:t>
                </a:r>
                <a:r>
                  <a:rPr lang="en-GB" sz="1900" dirty="0" err="1"/>
                  <a:t>approx</a:t>
                </a:r>
                <a:r>
                  <a:rPr lang="en-GB" sz="1900" dirty="0"/>
                  <a:t>—bad when </a:t>
                </a:r>
                <a14:m>
                  <m:oMath xmlns:m="http://schemas.openxmlformats.org/officeDocument/2006/math">
                    <m:r>
                      <a:rPr lang="en-GB" sz="19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900" dirty="0"/>
                  <a:t>is large).</a:t>
                </a:r>
              </a:p>
              <a:p>
                <a:pPr lvl="1"/>
                <a:r>
                  <a:rPr lang="en-GB" sz="1900" b="1" dirty="0"/>
                  <a:t>Wrong:</a:t>
                </a:r>
                <a:r>
                  <a:rPr lang="en-GB" sz="1900" dirty="0"/>
                  <a:t> use </a:t>
                </a:r>
                <a14:m>
                  <m:oMath xmlns:m="http://schemas.openxmlformats.org/officeDocument/2006/math">
                    <m:r>
                      <a:rPr lang="en-GB" sz="19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9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90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GB" sz="1900" b="1" dirty="0"/>
                  <a:t>as if it were a daily rate</a:t>
                </a:r>
                <a:r>
                  <a:rPr lang="en-GB" sz="1900" dirty="0"/>
                  <a:t> (very wrong).</a:t>
                </a:r>
              </a:p>
              <a:p>
                <a:pPr marL="342900" lvl="1" indent="0">
                  <a:buNone/>
                </a:pPr>
                <a:endParaRPr lang="en-GB" sz="1900" dirty="0"/>
              </a:p>
              <a:p>
                <a:r>
                  <a:rPr lang="en-GB" sz="1900" dirty="0"/>
                  <a:t>Simulates an SIS model (standard incidence), generates </a:t>
                </a:r>
                <a:r>
                  <a:rPr lang="en-GB" sz="1900" b="1" dirty="0"/>
                  <a:t>weekly</a:t>
                </a:r>
                <a:r>
                  <a:rPr lang="en-GB" sz="1900" dirty="0"/>
                  <a:t> prevalence data, and compares:</a:t>
                </a:r>
              </a:p>
              <a:p>
                <a:pPr lvl="1"/>
                <a:r>
                  <a:rPr lang="en-GB" sz="1900" b="1" dirty="0"/>
                  <a:t>Early growth</a:t>
                </a:r>
                <a:r>
                  <a:rPr lang="en-GB" sz="1900" dirty="0"/>
                  <a:t> </a:t>
                </a:r>
                <a14:m>
                  <m:oMath xmlns:m="http://schemas.openxmlformats.org/officeDocument/2006/math">
                    <m:r>
                      <a:rPr lang="en-GB" sz="19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9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9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19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9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GB" sz="1900" dirty="0"/>
                  <a:t>, </a:t>
                </a:r>
                <a:r>
                  <a:rPr lang="en-GB" sz="1900" b="1" dirty="0"/>
                  <a:t>doubling time</a:t>
                </a:r>
                <a:r>
                  <a:rPr lang="en-GB" sz="1900" dirty="0"/>
                  <a:t>, and</a:t>
                </a:r>
              </a:p>
              <a:p>
                <a:pPr lvl="1"/>
                <a:r>
                  <a:rPr lang="en-GB" sz="1900" b="1" dirty="0"/>
                  <a:t>Fit quality</a:t>
                </a:r>
                <a:r>
                  <a:rPr lang="en-GB" sz="1900" dirty="0"/>
                  <a:t> (Binomial NLL) and </a:t>
                </a:r>
                <a:r>
                  <a:rPr lang="en-GB" sz="1900" b="1" dirty="0"/>
                  <a:t>trajectories</a:t>
                </a:r>
                <a:r>
                  <a:rPr lang="en-GB" sz="1900" dirty="0"/>
                  <a:t> for the correct vs the two mistaken versions.</a:t>
                </a:r>
              </a:p>
              <a:p>
                <a:pPr marL="0" indent="0">
                  <a:buNone/>
                </a:pPr>
                <a:endParaRPr lang="en-GB" sz="19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929384"/>
                <a:ext cx="7886700" cy="4251960"/>
              </a:xfrm>
              <a:blipFill>
                <a:blip r:embed="rId2"/>
                <a:stretch>
                  <a:fillRect l="-643" t="-2090" b="-1791"/>
                </a:stretch>
              </a:blipFill>
            </p:spPr>
            <p:txBody>
              <a:bodyPr/>
              <a:lstStyle/>
              <a:p>
                <a:r>
                  <a:rPr lang="en-K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B6BB16-19D5-87BC-9B05-804F6122D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1381"/>
            <a:ext cx="7884414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Discussion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onnsiteX0" fmla="*/ 0 w 4057650"/>
              <a:gd name="connsiteY0" fmla="*/ 0 h 18288"/>
              <a:gd name="connsiteX1" fmla="*/ 757428 w 4057650"/>
              <a:gd name="connsiteY1" fmla="*/ 0 h 18288"/>
              <a:gd name="connsiteX2" fmla="*/ 1474279 w 4057650"/>
              <a:gd name="connsiteY2" fmla="*/ 0 h 18288"/>
              <a:gd name="connsiteX3" fmla="*/ 2191131 w 4057650"/>
              <a:gd name="connsiteY3" fmla="*/ 0 h 18288"/>
              <a:gd name="connsiteX4" fmla="*/ 2745676 w 4057650"/>
              <a:gd name="connsiteY4" fmla="*/ 0 h 18288"/>
              <a:gd name="connsiteX5" fmla="*/ 3340798 w 4057650"/>
              <a:gd name="connsiteY5" fmla="*/ 0 h 18288"/>
              <a:gd name="connsiteX6" fmla="*/ 4057650 w 4057650"/>
              <a:gd name="connsiteY6" fmla="*/ 0 h 18288"/>
              <a:gd name="connsiteX7" fmla="*/ 4057650 w 4057650"/>
              <a:gd name="connsiteY7" fmla="*/ 18288 h 18288"/>
              <a:gd name="connsiteX8" fmla="*/ 3381375 w 4057650"/>
              <a:gd name="connsiteY8" fmla="*/ 18288 h 18288"/>
              <a:gd name="connsiteX9" fmla="*/ 2826830 w 4057650"/>
              <a:gd name="connsiteY9" fmla="*/ 18288 h 18288"/>
              <a:gd name="connsiteX10" fmla="*/ 2272284 w 4057650"/>
              <a:gd name="connsiteY10" fmla="*/ 18288 h 18288"/>
              <a:gd name="connsiteX11" fmla="*/ 1555432 w 4057650"/>
              <a:gd name="connsiteY11" fmla="*/ 18288 h 18288"/>
              <a:gd name="connsiteX12" fmla="*/ 960310 w 4057650"/>
              <a:gd name="connsiteY12" fmla="*/ 18288 h 18288"/>
              <a:gd name="connsiteX13" fmla="*/ 0 w 4057650"/>
              <a:gd name="connsiteY13" fmla="*/ 18288 h 18288"/>
              <a:gd name="connsiteX14" fmla="*/ 0 w 405765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8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1236</TotalTime>
  <Words>1962</Words>
  <Application>Microsoft Office PowerPoint</Application>
  <PresentationFormat>On-screen Show (4:3)</PresentationFormat>
  <Paragraphs>154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 Math</vt:lpstr>
      <vt:lpstr>Office Theme</vt:lpstr>
      <vt:lpstr>Model Parameterisation, Scaling &amp; Identifiability</vt:lpstr>
      <vt:lpstr>Learning objectives</vt:lpstr>
      <vt:lpstr>Parameterisation (what &amp; why)</vt:lpstr>
      <vt:lpstr>Human–Mosquito Model (minimal)</vt:lpstr>
      <vt:lpstr>Numbers from literature (and explicit assumptions)</vt:lpstr>
      <vt:lpstr>Pulling numbers from literature</vt:lpstr>
      <vt:lpstr>Minimal parameterisation using EIR (human side)</vt:lpstr>
      <vt:lpstr>Adding the mosquito SI block (consistency check)</vt:lpstr>
      <vt:lpstr>Incidence choice: mass-action vs standard</vt:lpstr>
      <vt:lpstr>Scaling</vt:lpstr>
      <vt:lpstr>Scaling</vt:lpstr>
      <vt:lpstr>Identifiability</vt:lpstr>
      <vt:lpstr>Identifiability</vt:lpstr>
      <vt:lpstr>Uncertainty and model selection</vt:lpstr>
      <vt:lpstr>R practical (scaling)</vt:lpstr>
      <vt:lpstr>Discussion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Bernard Karanja</cp:lastModifiedBy>
  <cp:revision>37</cp:revision>
  <dcterms:created xsi:type="dcterms:W3CDTF">2013-01-27T09:14:16Z</dcterms:created>
  <dcterms:modified xsi:type="dcterms:W3CDTF">2025-08-27T06:10:57Z</dcterms:modified>
  <cp:category/>
</cp:coreProperties>
</file>